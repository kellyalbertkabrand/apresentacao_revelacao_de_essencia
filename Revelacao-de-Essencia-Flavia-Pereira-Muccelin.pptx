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61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</p:sldIdLst>
  <p:sldSz cx="18288000" cy="10287000"/>
  <p:notesSz cx="6858000" cy="9144000"/>
  <p:embeddedFontLst>
    <p:embeddedFont>
      <p:font typeface="Outfit 1 Heavy" charset="1" panose="00000000000000000000"/>
      <p:regular r:id="rId49"/>
    </p:embeddedFont>
    <p:embeddedFont>
      <p:font typeface="IBM Plex Sans Thai" charset="1" panose="020B0503050203000203"/>
      <p:regular r:id="rId50"/>
    </p:embeddedFont>
    <p:embeddedFont>
      <p:font typeface="Outfit 2 Light" charset="1" panose="00000000000000000000"/>
      <p:regular r:id="rId51"/>
    </p:embeddedFont>
    <p:embeddedFont>
      <p:font typeface="Outfit 2 Medium" charset="1" panose="00000000000000000000"/>
      <p:regular r:id="rId52"/>
    </p:embeddedFont>
    <p:embeddedFont>
      <p:font typeface="Outfit 2 Semi-Bold" charset="1" panose="00000000000000000000"/>
      <p:regular r:id="rId53"/>
    </p:embeddedFont>
    <p:embeddedFont>
      <p:font typeface="Playfair Display" charset="1" panose="02000503000000020003"/>
      <p:regular r:id="rId54"/>
    </p:embeddedFont>
    <p:embeddedFont>
      <p:font typeface="Outfit 2" charset="1" panose="00000000000000000000"/>
      <p:regular r:id="rId55"/>
    </p:embeddedFont>
    <p:embeddedFont>
      <p:font typeface="Muli" charset="1" panose="00000500000000000000"/>
      <p:regular r:id="rId56"/>
    </p:embeddedFont>
    <p:embeddedFont>
      <p:font typeface="Outfit 1 Ultra-Bold" charset="1" panose="00000000000000000000"/>
      <p:regular r:id="rId57"/>
    </p:embeddedFont>
    <p:embeddedFont>
      <p:font typeface="Outfit 1" charset="1" panose="00000000000000000000"/>
      <p:regular r:id="rId58"/>
    </p:embeddedFont>
    <p:embeddedFont>
      <p:font typeface="Outfit 1 Bold" charset="1" panose="00000000000000000000"/>
      <p:regular r:id="rId59"/>
    </p:embeddedFont>
    <p:embeddedFont>
      <p:font typeface="Open Sans Bold" charset="1" panose="020B0806030504020204"/>
      <p:regular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9" Type="http://schemas.openxmlformats.org/officeDocument/2006/relationships/font" Target="fonts/font49.fntdata"/><Relationship Id="rId50" Type="http://schemas.openxmlformats.org/officeDocument/2006/relationships/font" Target="fonts/font50.fntdata"/><Relationship Id="rId51" Type="http://schemas.openxmlformats.org/officeDocument/2006/relationships/font" Target="fonts/font51.fntdata"/><Relationship Id="rId52" Type="http://schemas.openxmlformats.org/officeDocument/2006/relationships/font" Target="fonts/font52.fntdata"/><Relationship Id="rId53" Type="http://schemas.openxmlformats.org/officeDocument/2006/relationships/font" Target="fonts/font53.fntdata"/><Relationship Id="rId54" Type="http://schemas.openxmlformats.org/officeDocument/2006/relationships/font" Target="fonts/font54.fntdata"/><Relationship Id="rId55" Type="http://schemas.openxmlformats.org/officeDocument/2006/relationships/font" Target="fonts/font55.fntdata"/><Relationship Id="rId56" Type="http://schemas.openxmlformats.org/officeDocument/2006/relationships/font" Target="fonts/font56.fntdata"/><Relationship Id="rId57" Type="http://schemas.openxmlformats.org/officeDocument/2006/relationships/font" Target="fonts/font57.fntdata"/><Relationship Id="rId58" Type="http://schemas.openxmlformats.org/officeDocument/2006/relationships/font" Target="fonts/font58.fntdata"/><Relationship Id="rId59" Type="http://schemas.openxmlformats.org/officeDocument/2006/relationships/font" Target="fonts/font59.fntdata"/><Relationship Id="rId60" Type="http://schemas.openxmlformats.org/officeDocument/2006/relationships/font" Target="fonts/font60.fntdata"/><Relationship Id="rId61" Type="http://schemas.openxmlformats.org/officeDocument/2006/relationships/notesMaster" Target="notesMasters/notesMaster1.xml"/><Relationship Id="rId62" Type="http://schemas.openxmlformats.org/officeDocument/2006/relationships/theme" Target="theme/them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7640" y="6035040"/>
            <a:ext cx="141732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2880360"/>
            <a:ext cx="15727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0" b="1" i="0">
                <a:solidFill>
                  <a:srgbClr val="000000"/>
                </a:solidFill>
                <a:latin typeface="Outfit 1 Heavy"/>
              </a:rPr>
              <a:t>REVELAÇÃO 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4434840"/>
            <a:ext cx="12801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700" b="1" i="0">
                <a:solidFill>
                  <a:srgbClr val="000000"/>
                </a:solidFill>
                <a:latin typeface="Outfit 2 Semi-Bold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532120"/>
            <a:ext cx="12435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História, Ikigai e os padrões que existem na origem da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Forma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 e da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My Home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36192" y="7790688"/>
            <a:ext cx="18288" cy="1188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7882128"/>
            <a:ext cx="38404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80" b="0" i="0">
                <a:solidFill>
                  <a:srgbClr val="000000"/>
                </a:solidFill>
                <a:latin typeface="Outfit 2 Light"/>
              </a:rPr>
              <a:t>Método </a:t>
            </a:r>
            <a:r>
              <a:rPr sz="2680" b="1" i="0">
                <a:solidFill>
                  <a:srgbClr val="000000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112000"/>
              </a:lnSpc>
            </a:pPr>
            <a:r>
              <a:rPr sz="2680" b="1" i="0">
                <a:solidFill>
                  <a:srgbClr val="000000"/>
                </a:solidFill>
                <a:latin typeface="Outfit 2 Semi-Bold"/>
              </a:rPr>
              <a:t>com Essência</a:t>
            </a:r>
            <a:r>
              <a:rPr sz="1500" b="1" i="0">
                <a:solidFill>
                  <a:srgbClr val="000000"/>
                </a:solidFill>
                <a:latin typeface="Outfit 2 Semi-Bold"/>
              </a:rPr>
              <a:t> 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7790688"/>
            <a:ext cx="18288" cy="1188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7790688"/>
            <a:ext cx="4572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0" i="0" spc="200">
                <a:solidFill>
                  <a:srgbClr val="000000"/>
                </a:solidFill>
                <a:latin typeface="Outfit 2"/>
              </a:rPr>
              <a:t>FORMA  ·  MY HOME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37360" y="146304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800" b="1" i="0">
                <a:solidFill>
                  <a:srgbClr val="000000"/>
                </a:solidFill>
                <a:latin typeface="Outfit 1 Ultra-Bold"/>
              </a:rPr>
              <a:t>SUMÁRIO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37360" y="306324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365760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3547872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Metodologia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4498848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4773168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4663440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História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5614416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5888736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5779008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A linha-mestra da história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37360" y="6729984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7004304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6894576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Ikigai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7845552"/>
            <a:ext cx="13716000" cy="36576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8119872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E2E2A"/>
                </a:solidFill>
                <a:latin typeface="Outfit 1 Bol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8010144"/>
            <a:ext cx="11887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000000"/>
                </a:solidFill>
                <a:latin typeface="Outfit 2"/>
              </a:rPr>
              <a:t>A essência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0" name="Picture 1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80160" y="301752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342900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A PERGUNTA QUE NOS GUIA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160520"/>
            <a:ext cx="15727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200" b="1" i="0">
                <a:solidFill>
                  <a:srgbClr val="1A1A1A"/>
                </a:solidFill>
                <a:latin typeface="Outfit 1 Bold"/>
              </a:rPr>
              <a:t>O QUE EXISTE EM FLÁVIA</a:t>
            </a:r>
          </a:p>
          <a:p>
            <a:pPr algn="l">
              <a:lnSpc>
                <a:spcPct val="108000"/>
              </a:lnSpc>
            </a:pPr>
            <a:r>
              <a:rPr sz="6200" b="1" i="0">
                <a:solidFill>
                  <a:srgbClr val="1A1A1A"/>
                </a:solidFill>
                <a:latin typeface="Outfit 1 Bold"/>
              </a:rPr>
              <a:t>ANTES MESMO DE EXISTIREM</a:t>
            </a:r>
          </a:p>
          <a:p>
            <a:pPr algn="l">
              <a:lnSpc>
                <a:spcPct val="108000"/>
              </a:lnSpc>
            </a:pPr>
            <a:r>
              <a:rPr sz="6200" b="1" i="0">
                <a:solidFill>
                  <a:srgbClr val="1A1A1A"/>
                </a:solidFill>
                <a:latin typeface="Outfit 1 Bold"/>
              </a:rPr>
              <a:t>A FORMA E A MY HOME?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POR QUE COMEÇAMOS PELA ESSÊNCIA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63240"/>
            <a:ext cx="14264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AEAEAA"/>
                </a:solidFill>
                <a:latin typeface="Outfit 1"/>
              </a:rPr>
              <a:t>Em marcas fortemente ligadas à fundadora, compreender a sua história ajuda a identificar as crenças, os padrões e os princípios que podem ter influenciado a criação, a cultura e a expressão das marcas.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5349240"/>
            <a:ext cx="15727680" cy="1325880"/>
          </a:xfrm>
          <a:prstGeom prst="roundRect">
            <a:avLst>
              <a:gd name="adj" fmla="val 16551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5360213"/>
            <a:ext cx="15705734" cy="1303934"/>
          </a:xfrm>
          <a:prstGeom prst="roundRect">
            <a:avLst>
              <a:gd name="adj" fmla="val 15988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568696"/>
            <a:ext cx="91440" cy="88696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5349240"/>
            <a:ext cx="146304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1">
                <a:solidFill>
                  <a:srgbClr val="AEAEAA"/>
                </a:solidFill>
                <a:latin typeface="Outfit 1"/>
              </a:rPr>
              <a:t>Não estamos fazendo uma análise psicológica.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717804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7543800"/>
            <a:ext cx="1463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400" b="0" i="0">
                <a:solidFill>
                  <a:srgbClr val="1A1A1A"/>
                </a:solidFill>
                <a:latin typeface="Outfit 2"/>
              </a:rPr>
              <a:t>Estamos investigando a </a:t>
            </a:r>
            <a:r>
              <a:rPr sz="3400" b="1" i="0">
                <a:solidFill>
                  <a:srgbClr val="1A1A1A"/>
                </a:solidFill>
                <a:latin typeface="Outfit 2 Semi-Bold"/>
              </a:rPr>
              <a:t>origem identitária da Forma e da My Home</a:t>
            </a:r>
            <a:r>
              <a:rPr sz="34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2" name="Picture 1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808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Outfit 1 Bold"/>
              </a:rPr>
              <a:t>COMO ESSA ETAPA CONTRIBUI PARA O BRANDING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1176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HISTÓRIA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Revela as referências e as crenças de origem.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30368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41341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01384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1848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41848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IKIGAI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Revela as motivações e a razão de 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0576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91549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1592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92056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92056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PADRÕES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92056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Revela as formas recorrentes de agir e de decidir.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30784" y="315468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141757" y="316565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401800" y="3355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42264" y="356616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42264" y="448056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ESSÊNCIA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42264" y="5047488"/>
            <a:ext cx="286207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Sintetiza aquilo que pode estar na raiz das marcas.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713232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7498080"/>
            <a:ext cx="15179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2E2E2A"/>
                </a:solidFill>
                <a:latin typeface="Outfit 1 Bold"/>
              </a:rPr>
              <a:t>NA ETAPA SEGUINTE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800100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Base Estratégica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 determinará o que disso deve se transformar em estratégia para cada marca.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COMO CHEGAMOS À REVELAÇÃO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352044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99693" y="353141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08860" y="37216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359359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HISTÓRIA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4370832"/>
            <a:ext cx="676656" cy="676656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37083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352044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25973" y="353141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35140" y="37216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16168" y="359359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IKIGAI</a:t>
            </a:r>
          </a:p>
        </p:txBody>
      </p:sp>
      <p:sp>
        <p:nvSpPr>
          <p:cNvPr id="14" name="Oval 13"/>
          <p:cNvSpPr/>
          <p:nvPr/>
        </p:nvSpPr>
        <p:spPr>
          <a:xfrm>
            <a:off x="9372600" y="4370832"/>
            <a:ext cx="676656" cy="676656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37083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352044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52253" y="353141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361420" y="37216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2448" y="359359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PADRÕES</a:t>
            </a:r>
          </a:p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RECORRENTES</a:t>
            </a:r>
          </a:p>
        </p:txBody>
      </p:sp>
      <p:sp>
        <p:nvSpPr>
          <p:cNvPr id="20" name="Oval 19"/>
          <p:cNvSpPr/>
          <p:nvPr/>
        </p:nvSpPr>
        <p:spPr>
          <a:xfrm>
            <a:off x="13898880" y="4370832"/>
            <a:ext cx="676656" cy="676656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0" y="437083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=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813280" y="3520440"/>
            <a:ext cx="2194560" cy="2377440"/>
          </a:xfrm>
          <a:prstGeom prst="roundRect">
            <a:avLst>
              <a:gd name="adj" fmla="val 1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904720" y="3520440"/>
            <a:ext cx="201168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Outfit 1 Bold"/>
              </a:rPr>
              <a:t>HIPÓTESE</a:t>
            </a:r>
          </a:p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Outfit 1 Bold"/>
              </a:rPr>
              <a:t>DE ESSÊNCIA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672084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708660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0" i="0">
                <a:solidFill>
                  <a:srgbClr val="1A1A1A"/>
                </a:solidFill>
                <a:latin typeface="Outfit 2"/>
              </a:rPr>
              <a:t>A apresentação cruza a trajetória, a razão de ser e o comportamento recorrente para revelar </a:t>
            </a:r>
            <a:r>
              <a:rPr sz="3200" b="1" i="0">
                <a:solidFill>
                  <a:srgbClr val="1A1A1A"/>
                </a:solidFill>
                <a:latin typeface="Outfit 2 Semi-Bold"/>
              </a:rPr>
              <a:t>a raiz que antecede as marcas</a:t>
            </a:r>
            <a:r>
              <a:rPr sz="32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7" name="Picture 26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HISTÓRIA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ONDE ESSA HISTÓRIA COMEÇA</a:t>
            </a:r>
          </a:p>
        </p:txBody>
      </p:sp>
      <p:pic>
        <p:nvPicPr>
          <p:cNvPr id="4" name="Picture 3" descr="foto_B.jpg"/>
          <p:cNvPicPr>
            <a:picLocks noChangeAspect="1"/>
          </p:cNvPicPr>
          <p:nvPr/>
        </p:nvPicPr>
        <p:blipFill>
          <a:blip r:embed="rId2"/>
          <a:srcRect l="17840" r="17840"/>
          <a:stretch>
            <a:fillRect/>
          </a:stretch>
        </p:blipFill>
        <p:spPr>
          <a:xfrm>
            <a:off x="10424160" y="3017520"/>
            <a:ext cx="6583680" cy="5760720"/>
          </a:xfrm>
          <a:prstGeom prst="roundRect">
            <a:avLst>
              <a:gd name="adj" fmla="val 5714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1752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2849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323697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331012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71246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Família muito humilde, mudança para Primavera do Leste, fé, trabalho e recomeço.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502920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1133" y="504017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1133" y="524865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532180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CONTEXTO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414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O pai trabalhando como caseiro/vaqueiro, a mãe presente, a rotina de esforço e honestidade.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704088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705185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91133" y="726033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733348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MARCA INICIAL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773582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Desde cedo, a realidade presente nunca pareceu definir a realidade que Flávia conseguia imaginar.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1" name="Picture 2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B.jpg"/>
          <p:cNvPicPr>
            <a:picLocks noChangeAspect="1"/>
          </p:cNvPicPr>
          <p:nvPr/>
        </p:nvPicPr>
        <p:blipFill>
          <a:blip r:embed="rId2"/>
          <a:srcRect l="25140" r="25140"/>
          <a:stretch>
            <a:fillRect/>
          </a:stretch>
        </p:blipFill>
        <p:spPr>
          <a:xfrm>
            <a:off x="10424160" y="1325880"/>
            <a:ext cx="6583680" cy="7452360"/>
          </a:xfrm>
          <a:prstGeom prst="roundRect">
            <a:avLst>
              <a:gd name="adj" fmla="val 5000"/>
            </a:avLst>
          </a:prstGeom>
        </p:spPr>
      </p:pic>
      <p:sp>
        <p:nvSpPr>
          <p:cNvPr id="3" name="TextBox 2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OS PRIMEIROS SINAIS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920240"/>
            <a:ext cx="8595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“PAI, EU VOU</a:t>
            </a:r>
          </a:p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COMPRAR</a:t>
            </a:r>
          </a:p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ISSO AQUI.”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539496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806440"/>
            <a:ext cx="8595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AEAEAA"/>
                </a:solidFill>
                <a:latin typeface="Outfit 1"/>
              </a:rPr>
              <a:t>Ainda adolescente, Flávia imaginava outra vida antes de ela existir. O portão e a casa tornaram-se símbolos dessa visão de futuro.</a:t>
            </a:r>
          </a:p>
        </p:txBody>
      </p:sp>
      <p:sp>
        <p:nvSpPr>
          <p:cNvPr id="7" name="Oval 6"/>
          <p:cNvSpPr/>
          <p:nvPr/>
        </p:nvSpPr>
        <p:spPr>
          <a:xfrm>
            <a:off x="1316736" y="7699248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7635240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DESEJO DE CRESCER</a:t>
            </a:r>
          </a:p>
        </p:txBody>
      </p:sp>
      <p:sp>
        <p:nvSpPr>
          <p:cNvPr id="9" name="Oval 8"/>
          <p:cNvSpPr/>
          <p:nvPr/>
        </p:nvSpPr>
        <p:spPr>
          <a:xfrm>
            <a:off x="1316736" y="8174736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8110728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IMAGINAÇÃO DE FUTURO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865022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8586216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INCONFORMISMO COM A CONDIÇÃO DADA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4" name="Picture 13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PROFUNDIDADE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AS EXPERIÊNCIAS QUE A FORMARAM</a:t>
            </a:r>
          </a:p>
        </p:txBody>
      </p:sp>
      <p:pic>
        <p:nvPicPr>
          <p:cNvPr id="4" name="Picture 3" descr="foto_C.jpg"/>
          <p:cNvPicPr>
            <a:picLocks noChangeAspect="1"/>
          </p:cNvPicPr>
          <p:nvPr/>
        </p:nvPicPr>
        <p:blipFill>
          <a:blip r:embed="rId2"/>
          <a:srcRect l="22768" r="22768"/>
          <a:stretch>
            <a:fillRect/>
          </a:stretch>
        </p:blipFill>
        <p:spPr>
          <a:xfrm>
            <a:off x="11521440" y="3017520"/>
            <a:ext cx="5486400" cy="566928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865376" y="3246120"/>
            <a:ext cx="27432" cy="5349240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3017520"/>
            <a:ext cx="603504" cy="603504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30175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971800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TRABALHO PRECOCE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55848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Cozinhava com o pai no garimpo e aprendeu cedo a relação entre esforço e conquista.</a:t>
            </a:r>
          </a:p>
        </p:txBody>
      </p:sp>
      <p:sp>
        <p:nvSpPr>
          <p:cNvPr id="10" name="Oval 9"/>
          <p:cNvSpPr/>
          <p:nvPr/>
        </p:nvSpPr>
        <p:spPr>
          <a:xfrm>
            <a:off x="1572768" y="4517136"/>
            <a:ext cx="603504" cy="603504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72768" y="451713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471416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DISCIPLINA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855464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Bicicleta, trabalho, faculdade e futsal para conquistar a bolsa e seguir estudando.</a:t>
            </a:r>
          </a:p>
        </p:txBody>
      </p:sp>
      <p:sp>
        <p:nvSpPr>
          <p:cNvPr id="14" name="Oval 13"/>
          <p:cNvSpPr/>
          <p:nvPr/>
        </p:nvSpPr>
        <p:spPr>
          <a:xfrm>
            <a:off x="1572768" y="6016752"/>
            <a:ext cx="603504" cy="603504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768" y="601675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971032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MÓVEIS PLANEJADOS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6355080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Dez anos de aprendizado técnico, de conhecimento e de domínio do setor.</a:t>
            </a:r>
          </a:p>
        </p:txBody>
      </p:sp>
      <p:sp>
        <p:nvSpPr>
          <p:cNvPr id="18" name="Oval 17"/>
          <p:cNvSpPr/>
          <p:nvPr/>
        </p:nvSpPr>
        <p:spPr>
          <a:xfrm>
            <a:off x="1572768" y="7516368"/>
            <a:ext cx="603504" cy="6035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75163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Outfit 1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7470648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MATERNIDADE E RETORNO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7854696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Pausa, reconfiguração e volta mais madura ao empreendedorismo.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3" name="Picture 2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CONTRASTE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808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Outfit 1 Bold"/>
              </a:rPr>
              <a:t>AS TENSÕES QUE A COLOCARAM EM MOVIMENTO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29184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1129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329184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 CONDIÇÃO DE VIDA DIZIA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329184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AEAEAA"/>
                </a:solidFill>
                <a:latin typeface="Outfit 1"/>
              </a:rPr>
              <a:t>“essa é a realidade disponível.”</a:t>
            </a:r>
          </a:p>
        </p:txBody>
      </p:sp>
      <p:sp>
        <p:nvSpPr>
          <p:cNvPr id="8" name="Oval 7"/>
          <p:cNvSpPr/>
          <p:nvPr/>
        </p:nvSpPr>
        <p:spPr>
          <a:xfrm>
            <a:off x="12207240" y="382219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0" y="329184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outra.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470916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1133" y="492861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470916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O CARGO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470916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AEAEAA"/>
                </a:solidFill>
                <a:latin typeface="Outfit 1"/>
              </a:rPr>
              <a:t>“até aqui você pode chegar.”</a:t>
            </a:r>
          </a:p>
        </p:txBody>
      </p:sp>
      <p:sp>
        <p:nvSpPr>
          <p:cNvPr id="14" name="Oval 13"/>
          <p:cNvSpPr/>
          <p:nvPr/>
        </p:nvSpPr>
        <p:spPr>
          <a:xfrm>
            <a:off x="12207240" y="523951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93040" y="470916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crescer.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612648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91133" y="634593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612648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AS FRANQUIAS DIZIAM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612648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AEAEAA"/>
                </a:solidFill>
                <a:latin typeface="Outfit 1"/>
              </a:rPr>
              <a:t>“é assim que deve ser feito.”</a:t>
            </a:r>
          </a:p>
        </p:txBody>
      </p:sp>
      <p:sp>
        <p:nvSpPr>
          <p:cNvPr id="20" name="Oval 19"/>
          <p:cNvSpPr/>
          <p:nvPr/>
        </p:nvSpPr>
        <p:spPr>
          <a:xfrm>
            <a:off x="12207240" y="665683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93040" y="612648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fazer do seu jeito.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754380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91133" y="776325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754380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AS SOBRAS DIZIAM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754380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AEAEAA"/>
                </a:solidFill>
                <a:latin typeface="Outfit 1"/>
              </a:rPr>
              <a:t>“isso terminou aqui.”</a:t>
            </a:r>
          </a:p>
        </p:txBody>
      </p:sp>
      <p:sp>
        <p:nvSpPr>
          <p:cNvPr id="26" name="Oval 25"/>
          <p:cNvSpPr/>
          <p:nvPr/>
        </p:nvSpPr>
        <p:spPr>
          <a:xfrm>
            <a:off x="12207240" y="8074152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93040" y="754380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enxergou começo.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9" name="Picture 28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AS GRANDES VIRADAS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88920" y="4114800"/>
            <a:ext cx="658368" cy="658368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8920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MONTA SUA LOJA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Sai do papel de funcionária e assume uma trajetória própria.</a:t>
            </a:r>
          </a:p>
        </p:txBody>
      </p:sp>
      <p:sp>
        <p:nvSpPr>
          <p:cNvPr id="10" name="Oval 9"/>
          <p:cNvSpPr/>
          <p:nvPr/>
        </p:nvSpPr>
        <p:spPr>
          <a:xfrm>
            <a:off x="5047488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8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41341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39128" y="4114800"/>
            <a:ext cx="658368" cy="658368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FAZ UMA PAUSA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Escolhe a maternidade, reorganiza a vida e se fortalece.</a:t>
            </a:r>
          </a:p>
        </p:txBody>
      </p:sp>
      <p:sp>
        <p:nvSpPr>
          <p:cNvPr id="17" name="Oval 16"/>
          <p:cNvSpPr/>
          <p:nvPr/>
        </p:nvSpPr>
        <p:spPr>
          <a:xfrm>
            <a:off x="8997696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80576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91549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89336" y="4114800"/>
            <a:ext cx="658368" cy="658368"/>
          </a:xfrm>
          <a:prstGeom prst="ellipse">
            <a:avLst/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9336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4896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RETORNA PELA FORMA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Volta ao setor e reencontra o lugar onde quer construir.</a:t>
            </a:r>
          </a:p>
        </p:txBody>
      </p:sp>
      <p:sp>
        <p:nvSpPr>
          <p:cNvPr id="24" name="Oval 23"/>
          <p:cNvSpPr/>
          <p:nvPr/>
        </p:nvSpPr>
        <p:spPr>
          <a:xfrm>
            <a:off x="12947904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130784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141757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639544" y="4114800"/>
            <a:ext cx="658368" cy="658368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9544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05104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CRIA A MY HOME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05104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Transforma o descarte em uma nova possibilidade de negócio.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PADRÕES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PADRÃO INVISÍVEL</a:t>
            </a:r>
          </a:p>
        </p:txBody>
      </p:sp>
      <p:pic>
        <p:nvPicPr>
          <p:cNvPr id="4" name="Picture 3" descr="foto_D.jpg"/>
          <p:cNvPicPr>
            <a:picLocks noChangeAspect="1"/>
          </p:cNvPicPr>
          <p:nvPr/>
        </p:nvPicPr>
        <p:blipFill>
          <a:blip r:embed="rId2"/>
          <a:srcRect l="10237" r="10237"/>
          <a:stretch>
            <a:fillRect/>
          </a:stretch>
        </p:blipFill>
        <p:spPr>
          <a:xfrm>
            <a:off x="11064240" y="3063240"/>
            <a:ext cx="5943600" cy="4206240"/>
          </a:xfrm>
          <a:prstGeom prst="roundRect">
            <a:avLst>
              <a:gd name="adj" fmla="val 7826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6324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7421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718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ESCASSEZ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93192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Não aceita a condição como destino.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306324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1733" y="307421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CARREIRA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2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Não aceita o cargo como limite final.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525780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526877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71800" y="545896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69671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FRANQUIAS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612648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Não aceita o modelo pronto como a única forma.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525780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91733" y="526877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0" y="545896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69671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SOBRAS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612648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AEAEAA"/>
                </a:solidFill>
                <a:latin typeface="Outfit 1"/>
              </a:rPr>
              <a:t>Não aceita o descarte como o fim.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0160" y="745236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781812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 i="0">
                <a:solidFill>
                  <a:srgbClr val="1A1A1A"/>
                </a:solidFill>
                <a:latin typeface="Outfit 2"/>
              </a:rPr>
              <a:t>Em histórias diferentes, aparece o mesmo movimento: </a:t>
            </a:r>
            <a:r>
              <a:rPr sz="3000" b="1" i="0">
                <a:solidFill>
                  <a:srgbClr val="1A1A1A"/>
                </a:solidFill>
                <a:latin typeface="Outfit 2 Semi-Bold"/>
              </a:rPr>
              <a:t>a realidade presente nunca é tratada como a versão final do possível</a:t>
            </a:r>
            <a:r>
              <a:rPr sz="30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8" name="Picture 2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MOVIMENTO QUE SE REPETE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64715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PERCEBE 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CONDIÇÃO</a:t>
            </a:r>
          </a:p>
        </p:txBody>
      </p:sp>
      <p:sp>
        <p:nvSpPr>
          <p:cNvPr id="8" name="Oval 7"/>
          <p:cNvSpPr/>
          <p:nvPr/>
        </p:nvSpPr>
        <p:spPr>
          <a:xfrm>
            <a:off x="3785616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59936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70909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4491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9664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IMAGINA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ALGO ALÉM</a:t>
            </a:r>
          </a:p>
        </p:txBody>
      </p:sp>
      <p:sp>
        <p:nvSpPr>
          <p:cNvPr id="13" name="Oval 12"/>
          <p:cNvSpPr/>
          <p:nvPr/>
        </p:nvSpPr>
        <p:spPr>
          <a:xfrm>
            <a:off x="6565392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39712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0685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24267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BUSCA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CONHECIMENTO</a:t>
            </a:r>
          </a:p>
        </p:txBody>
      </p:sp>
      <p:sp>
        <p:nvSpPr>
          <p:cNvPr id="18" name="Oval 17"/>
          <p:cNvSpPr/>
          <p:nvPr/>
        </p:nvSpPr>
        <p:spPr>
          <a:xfrm>
            <a:off x="9345168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19488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0461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04043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9216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MOBILIZA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PESSOAS</a:t>
            </a:r>
          </a:p>
        </p:txBody>
      </p:sp>
      <p:sp>
        <p:nvSpPr>
          <p:cNvPr id="23" name="Oval 22"/>
          <p:cNvSpPr/>
          <p:nvPr/>
        </p:nvSpPr>
        <p:spPr>
          <a:xfrm>
            <a:off x="12124944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399264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10237" y="357713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183819" y="376732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08992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CONSTRÓI</a:t>
            </a:r>
          </a:p>
        </p:txBody>
      </p:sp>
      <p:sp>
        <p:nvSpPr>
          <p:cNvPr id="28" name="Oval 27"/>
          <p:cNvSpPr/>
          <p:nvPr/>
        </p:nvSpPr>
        <p:spPr>
          <a:xfrm>
            <a:off x="14904720" y="4672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5179040" y="356616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288768" y="363931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TRANSFORMA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EM REALIDADE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672084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708660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0" i="0">
                <a:solidFill>
                  <a:srgbClr val="1A1A1A"/>
                </a:solidFill>
                <a:latin typeface="Outfit 2"/>
              </a:rPr>
              <a:t>A mudança não nasce de um impulso isolado. Ela segue uma </a:t>
            </a:r>
            <a:r>
              <a:rPr sz="3200" b="1" i="0">
                <a:solidFill>
                  <a:srgbClr val="1A1A1A"/>
                </a:solidFill>
                <a:latin typeface="Outfit 2 Semi-Bold"/>
              </a:rPr>
              <a:t>sequência reconhecível de visão, aprendizado e realização</a:t>
            </a:r>
            <a:r>
              <a:rPr sz="32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4" name="Picture 33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239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7600" b="1" i="0">
                <a:solidFill>
                  <a:srgbClr val="000000"/>
                </a:solidFill>
                <a:latin typeface="Outfit 1 Bold"/>
              </a:rPr>
              <a:t>A LINHA-MESTRA</a:t>
            </a:r>
          </a:p>
          <a:p>
            <a:pPr algn="r">
              <a:lnSpc>
                <a:spcPct val="102000"/>
              </a:lnSpc>
            </a:pPr>
            <a:r>
              <a:rPr sz="7600" b="1" i="0">
                <a:solidFill>
                  <a:srgbClr val="000000"/>
                </a:solidFill>
                <a:latin typeface="Outfit 1 Bold"/>
              </a:rPr>
              <a:t>DA 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0" y="7040880"/>
            <a:ext cx="1234440" cy="1472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187452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A LINHA-MESTRA DA HISTÓRIA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 i="0">
                <a:solidFill>
                  <a:srgbClr val="AEAEAA"/>
                </a:solidFill>
                <a:latin typeface="Outfit 1"/>
              </a:rPr>
              <a:t>Ao longo da trajetória, Flávia parece repetir um mesmo movimento: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3520440"/>
            <a:ext cx="16916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023360"/>
            <a:ext cx="14630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1A1A1A"/>
                </a:solidFill>
                <a:latin typeface="Outfit 1 Bold"/>
              </a:rPr>
              <a:t>ELA NÃO ACEITA QUE</a:t>
            </a:r>
          </a:p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1A1A1A"/>
                </a:solidFill>
                <a:latin typeface="Outfit 1 Bold"/>
              </a:rPr>
              <a:t>O QUE EXISTE DETERMINE</a:t>
            </a:r>
          </a:p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1A1A1A"/>
                </a:solidFill>
                <a:latin typeface="Outfit 1 Bold"/>
              </a:rPr>
              <a:t>O QUE PODE EXISTIR.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6916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057400"/>
            <a:ext cx="9144000" cy="1889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A1A1A"/>
                </a:solidFill>
                <a:latin typeface="Outfit 1 Bold"/>
              </a:rPr>
              <a:t>O QUE MOVE</a:t>
            </a:r>
          </a:p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A1A1A"/>
                </a:solidFill>
                <a:latin typeface="Outfit 1 Bold"/>
              </a:rPr>
              <a:t>A TRAJETÓRIA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461772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to_C.jpg"/>
          <p:cNvPicPr>
            <a:picLocks noChangeAspect="1"/>
          </p:cNvPicPr>
          <p:nvPr/>
        </p:nvPicPr>
        <p:blipFill>
          <a:blip r:embed="rId2"/>
          <a:srcRect l="20379" r="20379"/>
          <a:stretch>
            <a:fillRect/>
          </a:stretch>
        </p:blipFill>
        <p:spPr>
          <a:xfrm>
            <a:off x="9692640" y="1691640"/>
            <a:ext cx="7315200" cy="6949440"/>
          </a:xfrm>
          <a:prstGeom prst="roundRect">
            <a:avLst>
              <a:gd name="adj" fmla="val 4736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120640"/>
            <a:ext cx="7863840" cy="3520440"/>
          </a:xfrm>
          <a:prstGeom prst="roundRect">
            <a:avLst>
              <a:gd name="adj" fmla="val 6233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131613"/>
            <a:ext cx="7841894" cy="3498494"/>
          </a:xfrm>
          <a:prstGeom prst="roundRect">
            <a:avLst>
              <a:gd name="adj" fmla="val 5959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91133" y="5340096"/>
            <a:ext cx="91440" cy="308152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532120"/>
            <a:ext cx="6903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0">
                <a:solidFill>
                  <a:srgbClr val="AEAEAA"/>
                </a:solidFill>
                <a:latin typeface="Outfit 1"/>
              </a:rPr>
              <a:t>A história mostra como Flávia se formou e como age diante da vida.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6903720"/>
            <a:ext cx="6903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1" i="0">
                <a:solidFill>
                  <a:srgbClr val="1A1A1A"/>
                </a:solidFill>
                <a:latin typeface="Outfit 1 Bold"/>
              </a:rPr>
              <a:t>O Ikigai entra para revelar o que gera sentido, realização e vontade de contribuir.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2" name="Picture 11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MAPA DO IKIGAI</a:t>
            </a:r>
          </a:p>
        </p:txBody>
      </p:sp>
      <p:pic>
        <p:nvPicPr>
          <p:cNvPr id="4" name="Picture 3" descr="foto_E.jpg"/>
          <p:cNvPicPr>
            <a:picLocks noChangeAspect="1"/>
          </p:cNvPicPr>
          <p:nvPr/>
        </p:nvPicPr>
        <p:blipFill>
          <a:blip r:embed="rId2"/>
          <a:srcRect l="27122" r="27122"/>
          <a:stretch>
            <a:fillRect/>
          </a:stretch>
        </p:blipFill>
        <p:spPr>
          <a:xfrm>
            <a:off x="12435840" y="3063240"/>
            <a:ext cx="4572000" cy="5623560"/>
          </a:xfrm>
          <a:prstGeom prst="roundRect">
            <a:avLst>
              <a:gd name="adj" fmla="val 7199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632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742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8318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35204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0690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Família, pessoas, trocas, proximidade.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0632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0573" y="30742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3262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35204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NO QUE É BOA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0690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Conhecimento, persuasão, liderança, persistência.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60350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60460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3180" y="62362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64922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CONTRIBUI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70408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Ajuda, compartilha, gera crescimento.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60350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0573" y="60460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32620" y="62362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ONDE SE REALIZA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70408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Ver os sonhos tomando forma e as pessoas felizes.</a:t>
            </a:r>
          </a:p>
        </p:txBody>
      </p:sp>
      <p:sp>
        <p:nvSpPr>
          <p:cNvPr id="25" name="Oval 24"/>
          <p:cNvSpPr/>
          <p:nvPr/>
        </p:nvSpPr>
        <p:spPr>
          <a:xfrm>
            <a:off x="5230368" y="4480560"/>
            <a:ext cx="2788920" cy="2788920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4480560"/>
            <a:ext cx="2606040" cy="2788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SENTIDO</a:t>
            </a:r>
          </a:p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E</a:t>
            </a:r>
          </a:p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REALIZAÇÃO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8" name="Picture 2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O CENTRO DO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27632"/>
            <a:ext cx="1572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150">
                <a:solidFill>
                  <a:srgbClr val="2E2E2A"/>
                </a:solidFill>
                <a:latin typeface="Outfit 1 Bold"/>
              </a:rPr>
              <a:t>RAZÃO DE 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377440"/>
            <a:ext cx="1572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TRANSFORMAR POSSIBILIDADES EM</a:t>
            </a:r>
          </a:p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REALIZAÇÕES CONCRETAS QUE FAÇAM</a:t>
            </a:r>
          </a:p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DIFERENÇA NA VIDA DAS PESSOAS.</a:t>
            </a:r>
          </a:p>
        </p:txBody>
      </p:sp>
      <p:pic>
        <p:nvPicPr>
          <p:cNvPr id="5" name="Picture 4" descr="foto_E.jpg"/>
          <p:cNvPicPr>
            <a:picLocks noChangeAspect="1"/>
          </p:cNvPicPr>
          <p:nvPr/>
        </p:nvPicPr>
        <p:blipFill>
          <a:blip r:embed="rId2"/>
          <a:srcRect t="37603" b="37603"/>
          <a:stretch>
            <a:fillRect/>
          </a:stretch>
        </p:blipFill>
        <p:spPr>
          <a:xfrm>
            <a:off x="1280160" y="5029200"/>
            <a:ext cx="15727680" cy="2194560"/>
          </a:xfrm>
          <a:prstGeom prst="roundRect">
            <a:avLst>
              <a:gd name="adj" fmla="val 15000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1280160" y="749808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786384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A satisfação não termina nela: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ganha força quando o que constrói também amplia algo para o outro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ONDE HISTÓRIA E IKIGAI SE ENCONTRAM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06324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07421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VISÃO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5935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Enxerga além da condição presente.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81560" y="306324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2533" y="307421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732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473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IMPULSO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47320" y="395935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Não se conforma com os limites dados.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66928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91133" y="568025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71800" y="58704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610819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MODO DE AGIR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656539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Aprende, organiza, mobiliza e executa.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481560" y="566928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492533" y="568025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73200" y="58704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47320" y="610819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IMPACTO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47320" y="656539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Quer realizar e gerar transformação para outras pessoas.</a:t>
            </a:r>
          </a:p>
        </p:txBody>
      </p:sp>
      <p:sp>
        <p:nvSpPr>
          <p:cNvPr id="24" name="Oval 23"/>
          <p:cNvSpPr/>
          <p:nvPr/>
        </p:nvSpPr>
        <p:spPr>
          <a:xfrm>
            <a:off x="7178040" y="3611880"/>
            <a:ext cx="3931920" cy="3931920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3611880"/>
            <a:ext cx="356616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Outfit 1 Bold"/>
              </a:rPr>
              <a:t>CONVERGÊNCIA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20624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420624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681228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018520" y="681228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B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864108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i="0">
                <a:solidFill>
                  <a:srgbClr val="1A1A1A"/>
                </a:solidFill>
                <a:latin typeface="Outfit 2"/>
              </a:rPr>
              <a:t>A história mostra o movimento. O Ikigai revela o sentido. </a:t>
            </a:r>
            <a:r>
              <a:rPr sz="2600" b="1" i="0">
                <a:solidFill>
                  <a:srgbClr val="1A1A1A"/>
                </a:solidFill>
                <a:latin typeface="Outfit 2 Semi-Bold"/>
              </a:rPr>
              <a:t>Juntos, apontam a raiz</a:t>
            </a:r>
            <a:r>
              <a:rPr sz="26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56432" y="3246120"/>
            <a:ext cx="1380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 i="0" spc="200">
                <a:solidFill>
                  <a:srgbClr val="2E2E2A"/>
                </a:solidFill>
                <a:latin typeface="Outfit 1 Bol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840480"/>
            <a:ext cx="15252192" cy="1671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2000"/>
              </a:lnSpc>
            </a:pPr>
            <a:r>
              <a:rPr sz="10000" b="1" i="0">
                <a:solidFill>
                  <a:srgbClr val="000000"/>
                </a:solidFill>
                <a:latin typeface="Outfit 1 Bold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6" name="Picture 5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00200"/>
            <a:ext cx="15727680" cy="865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A REVELAÇÃO DA ESSÊNCIA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880360"/>
            <a:ext cx="14630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291840"/>
            <a:ext cx="15727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ENXERGAR ALÉM DO QUE ESTÁ POSTO</a:t>
            </a:r>
          </a:p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E FAZER EXISTIR O QUE AINDA É POSSIBILIDADE.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51176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ENXERGA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O presente não precisa ser a versão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41341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1384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96128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A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A distância entre o que existe e o que ela imagina.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0576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91549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1592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46336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Aprende, trabalha, cria, reorganiza e materializa.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130784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3141757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4401800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96544" y="5833872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TRANSFORMA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96544" y="6382512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AEAEAA"/>
                </a:solidFill>
                <a:latin typeface="Outfit 1"/>
              </a:rPr>
              <a:t>Realidades, inclusive a de outras pessoas.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7" name="Picture 26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AEAEAA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00200"/>
            <a:ext cx="1572768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COMO ESSA ESSÊNCIA PODE TRANSBORDAR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PARA AS MARCAS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154680"/>
            <a:ext cx="109728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520440"/>
            <a:ext cx="15179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2E2E2A"/>
                </a:solidFill>
                <a:latin typeface="Outfit 1 Bold"/>
              </a:rPr>
              <a:t>FLÁVIA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023360"/>
            <a:ext cx="15179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 i="0">
                <a:solidFill>
                  <a:srgbClr val="1A1A1A"/>
                </a:solidFill>
                <a:latin typeface="Outfit 2"/>
              </a:rPr>
              <a:t>Enxerga além do que está posto e </a:t>
            </a:r>
            <a:r>
              <a:rPr sz="3000" b="1" i="0">
                <a:solidFill>
                  <a:srgbClr val="1A1A1A"/>
                </a:solidFill>
                <a:latin typeface="Outfit 2 Semi-Bold"/>
              </a:rPr>
              <a:t>faz existir o que ainda é possibilidade</a:t>
            </a:r>
            <a:r>
              <a:rPr sz="30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846320"/>
            <a:ext cx="7680960" cy="3063240"/>
          </a:xfrm>
          <a:prstGeom prst="roundRect">
            <a:avLst>
              <a:gd name="adj" fmla="val 7164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91133" y="4857293"/>
            <a:ext cx="7659014" cy="3041294"/>
          </a:xfrm>
          <a:prstGeom prst="roundRect">
            <a:avLst>
              <a:gd name="adj" fmla="val 6855"/>
            </a:avLst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49140" y="504748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5349240"/>
            <a:ext cx="658368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760720"/>
            <a:ext cx="6583680" cy="632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 i="0">
                <a:solidFill>
                  <a:srgbClr val="1A1A1A"/>
                </a:solidFill>
                <a:latin typeface="Outfit 1 Bold"/>
              </a:rPr>
              <a:t>Dar forma às possibilidades.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492240"/>
            <a:ext cx="6583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Partir da matéria, da técnica e do projeto para construir algo que antes existia apenas como ideia ou sonho.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4846320"/>
            <a:ext cx="7680960" cy="3063240"/>
          </a:xfrm>
          <a:prstGeom prst="roundRect">
            <a:avLst>
              <a:gd name="adj" fmla="val 7164"/>
            </a:avLst>
          </a:prstGeom>
          <a:solidFill>
            <a:srgbClr val="E3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37853" y="4857293"/>
            <a:ext cx="7659014" cy="3041294"/>
          </a:xfrm>
          <a:prstGeom prst="roundRect">
            <a:avLst>
              <a:gd name="adj" fmla="val 6855"/>
            </a:avLst>
          </a:prstGeom>
          <a:solidFill>
            <a:srgbClr val="EF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595860" y="504748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5349240"/>
            <a:ext cx="658368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5760720"/>
            <a:ext cx="6583680" cy="632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 i="0">
                <a:solidFill>
                  <a:srgbClr val="1A1A1A"/>
                </a:solidFill>
                <a:latin typeface="Outfit 1 Bold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92240"/>
            <a:ext cx="6583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AEAEAA"/>
                </a:solidFill>
                <a:latin typeface="Outfit 1"/>
              </a:rPr>
              <a:t>Onde o processo enxergava sobra, Flávia viu matéria para criar outra coisa.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8275320"/>
            <a:ext cx="15179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 i="1">
                <a:solidFill>
                  <a:srgbClr val="AEAEAA"/>
                </a:solidFill>
                <a:latin typeface="Outfit 2"/>
              </a:rPr>
              <a:t>A Revelação identifica a raiz. A Base Estratégica determinará como essa raiz deve, ou não, se transformar em estratégia para cada marca.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1" name="Picture 20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DAHDB5KFpRw</dc:identifier>
  <dcterms:modified xsi:type="dcterms:W3CDTF">2011-08-01T06:04:30Z</dcterms:modified>
  <cp:revision>1</cp:revision>
  <dc:title>SABRE odonto - Lapidação de Essência</dc:title>
</cp:coreProperties>
</file>