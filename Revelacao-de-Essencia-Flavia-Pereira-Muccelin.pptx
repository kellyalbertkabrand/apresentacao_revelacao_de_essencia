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61"/>
  </p:notes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  <p:sldId id="263" r:id="rId27"/>
    <p:sldId id="264" r:id="rId28"/>
    <p:sldId id="265" r:id="rId29"/>
    <p:sldId id="266" r:id="rId30"/>
    <p:sldId id="267" r:id="rId31"/>
    <p:sldId id="268" r:id="rId32"/>
    <p:sldId id="269" r:id="rId33"/>
    <p:sldId id="270" r:id="rId34"/>
    <p:sldId id="271" r:id="rId35"/>
    <p:sldId id="272" r:id="rId36"/>
    <p:sldId id="273" r:id="rId37"/>
    <p:sldId id="274" r:id="rId38"/>
    <p:sldId id="275" r:id="rId39"/>
    <p:sldId id="276" r:id="rId40"/>
    <p:sldId id="277" r:id="rId41"/>
    <p:sldId id="278" r:id="rId42"/>
    <p:sldId id="279" r:id="rId43"/>
    <p:sldId id="280" r:id="rId44"/>
  </p:sldIdLst>
  <p:sldSz cx="18288000" cy="10287000"/>
  <p:notesSz cx="6858000" cy="9144000"/>
  <p:embeddedFontLst>
    <p:embeddedFont>
      <p:font typeface="Outfit 1 Heavy" charset="1" panose="00000000000000000000"/>
      <p:regular r:id="rId49"/>
    </p:embeddedFont>
    <p:embeddedFont>
      <p:font typeface="IBM Plex Sans Thai" charset="1" panose="020B0503050203000203"/>
      <p:regular r:id="rId50"/>
    </p:embeddedFont>
    <p:embeddedFont>
      <p:font typeface="Outfit 2 Light" charset="1" panose="00000000000000000000"/>
      <p:regular r:id="rId51"/>
    </p:embeddedFont>
    <p:embeddedFont>
      <p:font typeface="Outfit 2 Medium" charset="1" panose="00000000000000000000"/>
      <p:regular r:id="rId52"/>
    </p:embeddedFont>
    <p:embeddedFont>
      <p:font typeface="Outfit 2 Semi-Bold" charset="1" panose="00000000000000000000"/>
      <p:regular r:id="rId53"/>
    </p:embeddedFont>
    <p:embeddedFont>
      <p:font typeface="Playfair Display" charset="1" panose="02000503000000020003"/>
      <p:regular r:id="rId54"/>
    </p:embeddedFont>
    <p:embeddedFont>
      <p:font typeface="Outfit 2" charset="1" panose="00000000000000000000"/>
      <p:regular r:id="rId55"/>
    </p:embeddedFont>
    <p:embeddedFont>
      <p:font typeface="Muli" charset="1" panose="00000500000000000000"/>
      <p:regular r:id="rId56"/>
    </p:embeddedFont>
    <p:embeddedFont>
      <p:font typeface="Outfit 1 Ultra-Bold" charset="1" panose="00000000000000000000"/>
      <p:regular r:id="rId57"/>
    </p:embeddedFont>
    <p:embeddedFont>
      <p:font typeface="Outfit 1" charset="1" panose="00000000000000000000"/>
      <p:regular r:id="rId58"/>
    </p:embeddedFont>
    <p:embeddedFont>
      <p:font typeface="Outfit 1 Bold" charset="1" panose="00000000000000000000"/>
      <p:regular r:id="rId59"/>
    </p:embeddedFont>
    <p:embeddedFont>
      <p:font typeface="Open Sans Bold" charset="1" panose="020B0806030504020204"/>
      <p:regular r:id="rId6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2" Type="http://schemas.openxmlformats.org/officeDocument/2006/relationships/slide" Target="slides/slide13.xml"/><Relationship Id="rId33" Type="http://schemas.openxmlformats.org/officeDocument/2006/relationships/slide" Target="slides/slide14.xml"/><Relationship Id="rId34" Type="http://schemas.openxmlformats.org/officeDocument/2006/relationships/slide" Target="slides/slide15.xml"/><Relationship Id="rId35" Type="http://schemas.openxmlformats.org/officeDocument/2006/relationships/slide" Target="slides/slide16.xml"/><Relationship Id="rId36" Type="http://schemas.openxmlformats.org/officeDocument/2006/relationships/slide" Target="slides/slide17.xml"/><Relationship Id="rId37" Type="http://schemas.openxmlformats.org/officeDocument/2006/relationships/slide" Target="slides/slide18.xml"/><Relationship Id="rId38" Type="http://schemas.openxmlformats.org/officeDocument/2006/relationships/slide" Target="slides/slide19.xml"/><Relationship Id="rId39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2" Type="http://schemas.openxmlformats.org/officeDocument/2006/relationships/slide" Target="slides/slide23.xml"/><Relationship Id="rId43" Type="http://schemas.openxmlformats.org/officeDocument/2006/relationships/slide" Target="slides/slide24.xml"/><Relationship Id="rId44" Type="http://schemas.openxmlformats.org/officeDocument/2006/relationships/slide" Target="slides/slide25.xml"/><Relationship Id="rId49" Type="http://schemas.openxmlformats.org/officeDocument/2006/relationships/font" Target="fonts/font49.fntdata"/><Relationship Id="rId50" Type="http://schemas.openxmlformats.org/officeDocument/2006/relationships/font" Target="fonts/font50.fntdata"/><Relationship Id="rId51" Type="http://schemas.openxmlformats.org/officeDocument/2006/relationships/font" Target="fonts/font51.fntdata"/><Relationship Id="rId52" Type="http://schemas.openxmlformats.org/officeDocument/2006/relationships/font" Target="fonts/font52.fntdata"/><Relationship Id="rId53" Type="http://schemas.openxmlformats.org/officeDocument/2006/relationships/font" Target="fonts/font53.fntdata"/><Relationship Id="rId54" Type="http://schemas.openxmlformats.org/officeDocument/2006/relationships/font" Target="fonts/font54.fntdata"/><Relationship Id="rId55" Type="http://schemas.openxmlformats.org/officeDocument/2006/relationships/font" Target="fonts/font55.fntdata"/><Relationship Id="rId56" Type="http://schemas.openxmlformats.org/officeDocument/2006/relationships/font" Target="fonts/font56.fntdata"/><Relationship Id="rId57" Type="http://schemas.openxmlformats.org/officeDocument/2006/relationships/font" Target="fonts/font57.fntdata"/><Relationship Id="rId58" Type="http://schemas.openxmlformats.org/officeDocument/2006/relationships/font" Target="fonts/font58.fntdata"/><Relationship Id="rId59" Type="http://schemas.openxmlformats.org/officeDocument/2006/relationships/font" Target="fonts/font59.fntdata"/><Relationship Id="rId60" Type="http://schemas.openxmlformats.org/officeDocument/2006/relationships/font" Target="fonts/font60.fntdata"/><Relationship Id="rId61" Type="http://schemas.openxmlformats.org/officeDocument/2006/relationships/notesMaster" Target="notesMasters/notesMaster1.xml"/><Relationship Id="rId62" Type="http://schemas.openxmlformats.org/officeDocument/2006/relationships/theme" Target="theme/them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A.jpg"/>
          <p:cNvPicPr>
            <a:picLocks noChangeAspect="1"/>
          </p:cNvPicPr>
          <p:nvPr/>
        </p:nvPicPr>
        <p:blipFill>
          <a:blip r:embed="rId2"/>
          <a:srcRect l="23986" r="23986"/>
          <a:stretch>
            <a:fillRect/>
          </a:stretch>
        </p:blipFill>
        <p:spPr>
          <a:xfrm>
            <a:off x="8778240" y="0"/>
            <a:ext cx="950976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17830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MÉTODO MARCA COM ESSÊNCIA 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3520440"/>
            <a:ext cx="6766560" cy="244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8200" i="0" b="0">
                <a:solidFill>
                  <a:srgbClr val="1C1C1A"/>
                </a:solidFill>
                <a:latin typeface="Outfit 2 Light"/>
              </a:rPr>
              <a:t>Revelação</a:t>
            </a:r>
          </a:p>
          <a:p>
            <a:pPr algn="l">
              <a:lnSpc>
                <a:spcPct val="104000"/>
              </a:lnSpc>
            </a:pPr>
            <a:r>
              <a:rPr sz="8200" i="0" b="0">
                <a:solidFill>
                  <a:srgbClr val="1C1C1A"/>
                </a:solidFill>
                <a:latin typeface="Outfit 2 Light"/>
              </a:rPr>
              <a:t>de Essência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63550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68122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0" b="0" spc="240">
                <a:solidFill>
                  <a:srgbClr val="1C1C1A"/>
                </a:solidFill>
                <a:latin typeface="Outfit 2 Semi-Bold"/>
              </a:rPr>
              <a:t>Flávia Pereira Muccelin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7406640"/>
            <a:ext cx="6309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História, Ikigai e os padrões que existem na origem da Forma e da My Home.</a:t>
            </a:r>
          </a:p>
        </p:txBody>
      </p:sp>
      <p:pic>
        <p:nvPicPr>
          <p:cNvPr id="8" name="Picture 7" descr="logo-k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9098280"/>
            <a:ext cx="1691640" cy="3984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SUMÁRIO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2011680" y="2651760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303580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2871216"/>
            <a:ext cx="10058400" cy="805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Metodologia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3986784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437083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4206240"/>
            <a:ext cx="10058400" cy="805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História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5321808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70585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5541264"/>
            <a:ext cx="10058400" cy="805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 linha-mestra da história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6656832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11680" y="704088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6876288"/>
            <a:ext cx="10058400" cy="805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Ikigai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7991856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837590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8211312"/>
            <a:ext cx="10058400" cy="8051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i="0" b="0">
                <a:solidFill>
                  <a:srgbClr val="1C1C1A"/>
                </a:solidFill>
                <a:latin typeface="Outfit 2 Light"/>
              </a:rPr>
              <a:t>A essência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9326880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2918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 PERGUNTA QUE NOS GUIA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3977640"/>
            <a:ext cx="13716000" cy="29702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5800" i="0" b="0">
                <a:solidFill>
                  <a:srgbClr val="1C1C1A"/>
                </a:solidFill>
                <a:latin typeface="Outfit 2 Light"/>
              </a:rPr>
              <a:t>O que existe em Flávia</a:t>
            </a:r>
          </a:p>
          <a:p>
            <a:pPr algn="l">
              <a:lnSpc>
                <a:spcPct val="122000"/>
              </a:lnSpc>
            </a:pPr>
            <a:r>
              <a:rPr sz="5800" i="0" b="0">
                <a:solidFill>
                  <a:srgbClr val="1C1C1A"/>
                </a:solidFill>
                <a:latin typeface="Outfit 2 Light"/>
              </a:rPr>
              <a:t>antes mesmo de existirem</a:t>
            </a:r>
          </a:p>
          <a:p>
            <a:pPr algn="l">
              <a:lnSpc>
                <a:spcPct val="122000"/>
              </a:lnSpc>
            </a:pPr>
            <a:r>
              <a:rPr sz="5800" i="0" b="0">
                <a:solidFill>
                  <a:srgbClr val="1C1C1A"/>
                </a:solidFill>
                <a:latin typeface="Outfit 2 Light"/>
              </a:rPr>
              <a:t>a Forma e a My Home?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Metodologia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CONCEITO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Por que começamos pela essência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86200"/>
            <a:ext cx="11521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i="0" b="0">
                <a:solidFill>
                  <a:srgbClr val="6B6B66"/>
                </a:solidFill>
                <a:latin typeface="Outfit 2 Light"/>
              </a:rPr>
              <a:t>Em marcas fortemente ligadas à fundadora, compreender a sua história ajuda a identificar as crenças, os padrões e os princípios que podem ter influenciado a criação, a cultura e a expressão das marcas.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0" y="644652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8122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NÃO 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726948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i="0" b="0">
                <a:solidFill>
                  <a:srgbClr val="6B6B66"/>
                </a:solidFill>
                <a:latin typeface="Outfit 2 Light"/>
              </a:rPr>
              <a:t>Não estamos fazendo uma análise psicológica.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0" y="6812280"/>
            <a:ext cx="12802" cy="1920240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0" y="68122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0" y="7269480"/>
            <a:ext cx="6400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i="0" b="0">
                <a:solidFill>
                  <a:srgbClr val="1C1C1A"/>
                </a:solidFill>
                <a:latin typeface="Outfit 2 Light"/>
              </a:rPr>
              <a:t>Estamos investigando a origem identitária da Forma e da My Home.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Como essa etapa contribui para o branding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0" y="406908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34340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i="0" b="0">
                <a:solidFill>
                  <a:srgbClr val="D4D2CC"/>
                </a:solidFill>
                <a:latin typeface="Outfit 2 Ligh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548640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i="0" b="0">
                <a:solidFill>
                  <a:srgbClr val="1C1C1A"/>
                </a:solidFill>
                <a:latin typeface="Outfit 2"/>
              </a:rPr>
              <a:t>História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603504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Revela as referências e as crenças de origem.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406908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434340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i="0" b="0">
                <a:solidFill>
                  <a:srgbClr val="D4D2CC"/>
                </a:solidFill>
                <a:latin typeface="Outfit 2 Light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0" y="548640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i="0" b="0">
                <a:solidFill>
                  <a:srgbClr val="1C1C1A"/>
                </a:solidFill>
                <a:latin typeface="Outfit 2"/>
              </a:rPr>
              <a:t>Ikigai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15000" y="603504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Revela as motivações e a razão de ser.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406908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34340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i="0" b="0">
                <a:solidFill>
                  <a:srgbClr val="D4D2CC"/>
                </a:solidFill>
                <a:latin typeface="Outfit 2 Light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548640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i="0" b="0">
                <a:solidFill>
                  <a:srgbClr val="1C1C1A"/>
                </a:solidFill>
                <a:latin typeface="Outfit 2"/>
              </a:rPr>
              <a:t>Padrões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603504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Revela as formas recorrentes de agir e de decidir.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121640" y="4069080"/>
            <a:ext cx="315468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21640" y="4343400"/>
            <a:ext cx="3154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i="0" b="0">
                <a:solidFill>
                  <a:srgbClr val="D4D2CC"/>
                </a:solidFill>
                <a:latin typeface="Outfit 2 Light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121640" y="5486400"/>
            <a:ext cx="3154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i="0" b="0">
                <a:solidFill>
                  <a:srgbClr val="1C1C1A"/>
                </a:solidFill>
                <a:latin typeface="Outfit 2"/>
              </a:rPr>
              <a:t>Essência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121640" y="6035040"/>
            <a:ext cx="31546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Sintetiza aquilo que pode estar na raiz das marcas.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818388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11680" y="8503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9724A"/>
                </a:solidFill>
                <a:latin typeface="Outfit 2 Semi-Bold"/>
              </a:rPr>
              <a:t>NA ETAPA SEGUINTE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8430768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A Base Estratégica determinará o que disso deve se transformar em estratégia para cada marca.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Como chegamos à revelação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24612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480560"/>
            <a:ext cx="14264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i="0" b="0">
                <a:solidFill>
                  <a:srgbClr val="6B6B66"/>
                </a:solidFill>
                <a:latin typeface="Outfit 2 Light"/>
              </a:rPr>
              <a:t>História</a:t>
            </a:r>
            <a:r>
              <a:rPr sz="3400" i="0" b="0">
                <a:solidFill>
                  <a:srgbClr val="A9724A"/>
                </a:solidFill>
                <a:latin typeface="Outfit 2 Light"/>
              </a:rPr>
              <a:t>     +     </a:t>
            </a:r>
            <a:r>
              <a:rPr sz="3400" i="0" b="0">
                <a:solidFill>
                  <a:srgbClr val="6B6B66"/>
                </a:solidFill>
                <a:latin typeface="Outfit 2 Light"/>
              </a:rPr>
              <a:t>Ikigai</a:t>
            </a:r>
            <a:r>
              <a:rPr sz="3400" i="0" b="0">
                <a:solidFill>
                  <a:srgbClr val="A9724A"/>
                </a:solidFill>
                <a:latin typeface="Outfit 2 Light"/>
              </a:rPr>
              <a:t>     +     </a:t>
            </a:r>
            <a:r>
              <a:rPr sz="3400" i="0" b="0">
                <a:solidFill>
                  <a:srgbClr val="6B6B66"/>
                </a:solidFill>
                <a:latin typeface="Outfit 2 Light"/>
              </a:rPr>
              <a:t>Padrões recorrentes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5806440"/>
            <a:ext cx="128016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11680" y="6263640"/>
            <a:ext cx="14264640" cy="1084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5800" i="0" b="0">
                <a:solidFill>
                  <a:srgbClr val="1C1C1A"/>
                </a:solidFill>
                <a:latin typeface="Outfit 2 Light"/>
              </a:rPr>
              <a:t>Hipótese de essência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786384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900" i="0" b="0">
                <a:solidFill>
                  <a:srgbClr val="A5A49F"/>
                </a:solidFill>
                <a:latin typeface="Outfit 2 Light"/>
              </a:rPr>
              <a:t>A apresentação cruza a trajetória, a razão de ser e o comportamento recorrente para revelar a raiz que antecede as marcas.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História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B.jpg"/>
          <p:cNvPicPr>
            <a:picLocks noChangeAspect="1"/>
          </p:cNvPicPr>
          <p:nvPr/>
        </p:nvPicPr>
        <p:blipFill>
          <a:blip r:embed="rId2"/>
          <a:srcRect l="28989" r="28989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HISTÓRIA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148840"/>
            <a:ext cx="7863840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i="0" b="0">
                <a:solidFill>
                  <a:srgbClr val="1C1C1A"/>
                </a:solidFill>
                <a:latin typeface="Outfit 2 Light"/>
              </a:rPr>
              <a:t>Onde essa história começa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54680"/>
            <a:ext cx="7863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7033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ORIGEM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142232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Família muito humilde, mudança para Primavera do Leste, fé, trabalho e recomeço.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5184648"/>
            <a:ext cx="7863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54589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CONTEXTO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5897880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O pai trabalhando como caseiro/vaqueiro, a mãe presente, a rotina de esforço e honestidade.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6940296"/>
            <a:ext cx="7863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72146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MARCA INICIAL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7653528"/>
            <a:ext cx="7680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Desde cedo, a realidade presente nunca pareceu definir a realidade que Flávia conseguia imaginar.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B.jpg"/>
          <p:cNvPicPr>
            <a:picLocks noChangeAspect="1"/>
          </p:cNvPicPr>
          <p:nvPr/>
        </p:nvPicPr>
        <p:blipFill>
          <a:blip r:embed="rId2"/>
          <a:srcRect l="28489" r="28489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0" y="21031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OS PRIMEIROS SINAIS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697480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i="0" b="0">
                <a:solidFill>
                  <a:srgbClr val="A9724A"/>
                </a:solidFill>
                <a:latin typeface="Outfit 2 Light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3611880"/>
            <a:ext cx="7315200" cy="17129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4800" i="0" b="0">
                <a:solidFill>
                  <a:srgbClr val="1C1C1A"/>
                </a:solidFill>
                <a:latin typeface="Outfit 2 Light"/>
              </a:rPr>
              <a:t>Pai, eu vou comprar</a:t>
            </a:r>
          </a:p>
          <a:p>
            <a:pPr algn="l">
              <a:lnSpc>
                <a:spcPct val="118000"/>
              </a:lnSpc>
            </a:pPr>
            <a:r>
              <a:rPr sz="4800" i="0" b="0">
                <a:solidFill>
                  <a:srgbClr val="1C1C1A"/>
                </a:solidFill>
                <a:latin typeface="Outfit 2 Light"/>
              </a:rPr>
              <a:t>isso aqui.”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0" y="589788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0" y="6355080"/>
            <a:ext cx="71323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Ainda adolescente, Flávia imaginava outra vida antes de ela existir. O portão e a casa tornaram-se símbolos dessa visão de futuro.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8046720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i="0" b="0" spc="240">
                <a:solidFill>
                  <a:srgbClr val="A5A49F"/>
                </a:solidFill>
                <a:latin typeface="Outfit 2 Semi-Bold"/>
              </a:rPr>
              <a:t>DESEJO DE CRESCER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8430768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i="0" b="0" spc="240">
                <a:solidFill>
                  <a:srgbClr val="A5A49F"/>
                </a:solidFill>
                <a:latin typeface="Outfit 2 Semi-Bold"/>
              </a:rPr>
              <a:t>IMAGINAÇÃO DE FUTURO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8814816"/>
            <a:ext cx="7132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i="0" b="0" spc="240">
                <a:solidFill>
                  <a:srgbClr val="A5A49F"/>
                </a:solidFill>
                <a:latin typeface="Outfit 2 Semi-Bold"/>
              </a:rPr>
              <a:t>INCONFORMISMO COM A CONDIÇÃO DADA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9555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C.jpg"/>
          <p:cNvPicPr>
            <a:picLocks noChangeAspect="1"/>
          </p:cNvPicPr>
          <p:nvPr/>
        </p:nvPicPr>
        <p:blipFill>
          <a:blip r:embed="rId2"/>
          <a:srcRect l="28989" r="28989"/>
          <a:stretch>
            <a:fillRect/>
          </a:stretch>
        </p:blipFill>
        <p:spPr>
          <a:xfrm>
            <a:off x="10607040" y="0"/>
            <a:ext cx="768096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PROFUNDIDADE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148840"/>
            <a:ext cx="7863840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i="0" b="0">
                <a:solidFill>
                  <a:srgbClr val="1C1C1A"/>
                </a:solidFill>
                <a:latin typeface="Outfit 2 Light"/>
              </a:rPr>
              <a:t>As experiências que a formaram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54680"/>
            <a:ext cx="7863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53872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0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35204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1C1C1A"/>
                </a:solidFill>
                <a:latin typeface="Outfit 2 Semi-Bold"/>
              </a:rPr>
              <a:t>TRABALHO PRECOCE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931920"/>
            <a:ext cx="6675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Cozinhava com o pai no garimpo e aprendeu cedo a relação entre esforço e conquista.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4709160"/>
            <a:ext cx="7863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928616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0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9103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1C1C1A"/>
                </a:solidFill>
                <a:latin typeface="Outfit 2 Semi-Bold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5321808"/>
            <a:ext cx="6675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Bicicleta, trabalho, faculdade e futsal para conquistar a bolsa e seguir estudando.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6099048"/>
            <a:ext cx="7863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631850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0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630021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1C1C1A"/>
                </a:solidFill>
                <a:latin typeface="Outfit 2 Semi-Bold"/>
              </a:rPr>
              <a:t>MÓVEIS PLANEJADOS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6711696"/>
            <a:ext cx="6675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Dez anos de aprendizado técnico, de conhecimento e de domínio do setor.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488936"/>
            <a:ext cx="7863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770839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0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76901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1C1C1A"/>
                </a:solidFill>
                <a:latin typeface="Outfit 2 Semi-Bold"/>
              </a:rPr>
              <a:t>MATERNIDADE E RETORNO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8101584"/>
            <a:ext cx="6675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50" i="0" b="0">
                <a:solidFill>
                  <a:srgbClr val="6B6B66"/>
                </a:solidFill>
                <a:latin typeface="Outfit 2 Light"/>
              </a:rPr>
              <a:t>Pausa, reconfiguração e volta mais madura ao empreendedorismo.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CONTRASTE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As tensões que a colocaram em movimento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406908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4531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A CONDIÇÃO DE VIDA DIZIA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379976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1" b="0">
                <a:solidFill>
                  <a:srgbClr val="6B6B66"/>
                </a:solidFill>
                <a:latin typeface="Outfit 2 Light"/>
              </a:rPr>
              <a:t>“essa é a realidade disponível.”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75720" y="4617720"/>
            <a:ext cx="384048" cy="16459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98680" y="434340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2 Light"/>
              </a:rPr>
              <a:t>Flávia queria outra.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53492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573328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CARGO DIZIA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60136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1" b="0">
                <a:solidFill>
                  <a:srgbClr val="6B6B66"/>
                </a:solidFill>
                <a:latin typeface="Outfit 2 Light"/>
              </a:rPr>
              <a:t>“até aqui você pode chegar.”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75720" y="5897880"/>
            <a:ext cx="384048" cy="16459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298680" y="562356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2 Light"/>
              </a:rPr>
              <a:t>Flávia queria crescer.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662940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701344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AS FRANQUIAS DIZIAM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940296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1" b="0">
                <a:solidFill>
                  <a:srgbClr val="6B6B66"/>
                </a:solidFill>
                <a:latin typeface="Outfit 2 Light"/>
              </a:rPr>
              <a:t>“é assim que deve ser feito.”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75720" y="7178040"/>
            <a:ext cx="384048" cy="16459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298680" y="690372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2 Light"/>
              </a:rPr>
              <a:t>Flávia queria fazer do seu jeito.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11680" y="790956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829360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AS SOBRAS DIZIAM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8220456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1" b="0">
                <a:solidFill>
                  <a:srgbClr val="6B6B66"/>
                </a:solidFill>
                <a:latin typeface="Outfit 2 Light"/>
              </a:rPr>
              <a:t>“isso terminou aqui.”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75720" y="8458200"/>
            <a:ext cx="384048" cy="16459"/>
          </a:xfrm>
          <a:prstGeom prst="rect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298680" y="8183880"/>
            <a:ext cx="4023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i="0" b="0">
                <a:solidFill>
                  <a:srgbClr val="1C1C1A"/>
                </a:solidFill>
                <a:latin typeface="Outfit 2 Light"/>
              </a:rPr>
              <a:t>Flávia enxergou começo.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918972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MÉTODO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As grandes viradas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0" y="461772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40690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01</a:t>
            </a:r>
          </a:p>
        </p:txBody>
      </p:sp>
      <p:sp>
        <p:nvSpPr>
          <p:cNvPr id="7" name="Oval 6"/>
          <p:cNvSpPr/>
          <p:nvPr/>
        </p:nvSpPr>
        <p:spPr>
          <a:xfrm>
            <a:off x="2011680" y="4572000"/>
            <a:ext cx="109728" cy="109728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49834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i="0" b="0">
                <a:solidFill>
                  <a:srgbClr val="1C1C1A"/>
                </a:solidFill>
                <a:latin typeface="Outfit 2"/>
              </a:rPr>
              <a:t>Monta sua loja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566928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Sai do papel de funcionária e assume uma trajetória própria.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000" y="40690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02</a:t>
            </a:r>
          </a:p>
        </p:txBody>
      </p:sp>
      <p:sp>
        <p:nvSpPr>
          <p:cNvPr id="11" name="Oval 10"/>
          <p:cNvSpPr/>
          <p:nvPr/>
        </p:nvSpPr>
        <p:spPr>
          <a:xfrm>
            <a:off x="5715000" y="4572000"/>
            <a:ext cx="109728" cy="109728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49834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i="0" b="0">
                <a:solidFill>
                  <a:srgbClr val="1C1C1A"/>
                </a:solidFill>
                <a:latin typeface="Outfit 2"/>
              </a:rPr>
              <a:t>Faz uma pausa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566928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Escolhe a maternidade, reorganiza a vida e se fortalece.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40690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15" name="Oval 14"/>
          <p:cNvSpPr/>
          <p:nvPr/>
        </p:nvSpPr>
        <p:spPr>
          <a:xfrm>
            <a:off x="9418320" y="4572000"/>
            <a:ext cx="109728" cy="109728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0" y="49834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i="0" b="0">
                <a:solidFill>
                  <a:srgbClr val="1C1C1A"/>
                </a:solidFill>
                <a:latin typeface="Outfit 2"/>
              </a:rPr>
              <a:t>Retorna pela 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566928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Volta ao setor e reencontra o lugar onde quer construir.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21640" y="40690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24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19" name="Oval 18"/>
          <p:cNvSpPr/>
          <p:nvPr/>
        </p:nvSpPr>
        <p:spPr>
          <a:xfrm>
            <a:off x="13121640" y="4572000"/>
            <a:ext cx="109728" cy="109728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21640" y="4983480"/>
            <a:ext cx="3154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i="0" b="0">
                <a:solidFill>
                  <a:srgbClr val="1C1C1A"/>
                </a:solidFill>
                <a:latin typeface="Outfit 2"/>
              </a:rPr>
              <a:t>Cria a My Home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121640" y="566928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Transforma o descarte em uma nova possibilidade de negócio.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D.jpg"/>
          <p:cNvPicPr>
            <a:picLocks noChangeAspect="1"/>
          </p:cNvPicPr>
          <p:nvPr/>
        </p:nvPicPr>
        <p:blipFill>
          <a:blip r:embed="rId2"/>
          <a:srcRect l="30990" r="30990"/>
          <a:stretch>
            <a:fillRect/>
          </a:stretch>
        </p:blipFill>
        <p:spPr>
          <a:xfrm>
            <a:off x="11338560" y="0"/>
            <a:ext cx="694944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PADRÕES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148840"/>
            <a:ext cx="8595360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i="0" b="0">
                <a:solidFill>
                  <a:srgbClr val="1C1C1A"/>
                </a:solidFill>
                <a:latin typeface="Outfit 2 Light"/>
              </a:rPr>
              <a:t>O padrão invisível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154680"/>
            <a:ext cx="859536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38313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ESCASSEZ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3703320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i="0" b="0">
                <a:solidFill>
                  <a:srgbClr val="6B6B66"/>
                </a:solidFill>
                <a:latin typeface="Outfit 2 Light"/>
              </a:rPr>
              <a:t>Não aceita a condição como destino.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4544568"/>
            <a:ext cx="859536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80" y="49103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CARREIRA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4782312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i="0" b="0">
                <a:solidFill>
                  <a:srgbClr val="6B6B66"/>
                </a:solidFill>
                <a:latin typeface="Outfit 2 Light"/>
              </a:rPr>
              <a:t>Não aceita o cargo como limite final.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5623560"/>
            <a:ext cx="859536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59893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FRANQUIAS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5861304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i="0" b="0">
                <a:solidFill>
                  <a:srgbClr val="6B6B66"/>
                </a:solidFill>
                <a:latin typeface="Outfit 2 Light"/>
              </a:rPr>
              <a:t>Não aceita o modelo pronto como a única forma.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11680" y="6702552"/>
            <a:ext cx="859536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706831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SOBRAS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6940296"/>
            <a:ext cx="5943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i="0" b="0">
                <a:solidFill>
                  <a:srgbClr val="6B6B66"/>
                </a:solidFill>
                <a:latin typeface="Outfit 2 Light"/>
              </a:rPr>
              <a:t>Não aceita o descarte como o fim.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781812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8183880"/>
            <a:ext cx="8412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i="0" b="0">
                <a:solidFill>
                  <a:srgbClr val="1C1C1A"/>
                </a:solidFill>
                <a:latin typeface="Outfit 2 Light"/>
              </a:rPr>
              <a:t>Em histórias diferentes, aparece o mesmo movimento: a realidade presente nunca é tratada como a versão final do possível.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O movimento que se repete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926080" y="4892040"/>
            <a:ext cx="124358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66644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83080" y="525780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Percebe</a:t>
            </a:r>
          </a:p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a condição</a:t>
            </a:r>
          </a:p>
        </p:txBody>
      </p:sp>
      <p:sp>
        <p:nvSpPr>
          <p:cNvPr id="8" name="Oval 7"/>
          <p:cNvSpPr/>
          <p:nvPr/>
        </p:nvSpPr>
        <p:spPr>
          <a:xfrm>
            <a:off x="5353812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0248" y="525780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Imagina</a:t>
            </a:r>
          </a:p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algo além</a:t>
            </a:r>
          </a:p>
        </p:txBody>
      </p:sp>
      <p:sp>
        <p:nvSpPr>
          <p:cNvPr id="10" name="Oval 9"/>
          <p:cNvSpPr/>
          <p:nvPr/>
        </p:nvSpPr>
        <p:spPr>
          <a:xfrm>
            <a:off x="7840980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57416" y="525780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Busca</a:t>
            </a:r>
          </a:p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conhecimento</a:t>
            </a:r>
          </a:p>
        </p:txBody>
      </p:sp>
      <p:sp>
        <p:nvSpPr>
          <p:cNvPr id="12" name="Oval 11"/>
          <p:cNvSpPr/>
          <p:nvPr/>
        </p:nvSpPr>
        <p:spPr>
          <a:xfrm>
            <a:off x="10328148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44584" y="525780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Mobiliza</a:t>
            </a:r>
          </a:p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pessoas</a:t>
            </a:r>
          </a:p>
        </p:txBody>
      </p:sp>
      <p:sp>
        <p:nvSpPr>
          <p:cNvPr id="14" name="Oval 13"/>
          <p:cNvSpPr/>
          <p:nvPr/>
        </p:nvSpPr>
        <p:spPr>
          <a:xfrm>
            <a:off x="12815316" y="4832604"/>
            <a:ext cx="118872" cy="118872"/>
          </a:xfrm>
          <a:prstGeom prst="ellipse">
            <a:avLst/>
          </a:prstGeom>
          <a:solidFill>
            <a:srgbClr val="A5A4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31752" y="525780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Constrói</a:t>
            </a:r>
          </a:p>
        </p:txBody>
      </p:sp>
      <p:sp>
        <p:nvSpPr>
          <p:cNvPr id="16" name="Oval 15"/>
          <p:cNvSpPr/>
          <p:nvPr/>
        </p:nvSpPr>
        <p:spPr>
          <a:xfrm>
            <a:off x="15302484" y="4832604"/>
            <a:ext cx="118872" cy="118872"/>
          </a:xfrm>
          <a:prstGeom prst="ellipse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218920" y="525780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1C1C1A"/>
                </a:solidFill>
                <a:latin typeface="Outfit 2"/>
              </a:rPr>
              <a:t>Transforma</a:t>
            </a:r>
          </a:p>
          <a:p>
            <a:pPr algn="ctr">
              <a:lnSpc>
                <a:spcPct val="130000"/>
              </a:lnSpc>
            </a:pPr>
            <a:r>
              <a:rPr sz="1900" i="0" b="0">
                <a:solidFill>
                  <a:srgbClr val="1C1C1A"/>
                </a:solidFill>
                <a:latin typeface="Outfit 2"/>
              </a:rPr>
              <a:t>em realidade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71780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7589520"/>
            <a:ext cx="11887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i="0" b="0">
                <a:solidFill>
                  <a:srgbClr val="1C1C1A"/>
                </a:solidFill>
                <a:latin typeface="Outfit 2 Light"/>
              </a:rPr>
              <a:t>A mudança não nasce de um impulso isolado. Ela segue uma sequência reconhecível de visão, aprendizado e realização.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A linha-mestra da história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23774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A LINHA-MESTRA DA HISTÓRIA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926080"/>
            <a:ext cx="1188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i="0" b="0">
                <a:solidFill>
                  <a:srgbClr val="A5A49F"/>
                </a:solidFill>
                <a:latin typeface="Outfit 2 Light"/>
              </a:rPr>
              <a:t>Ao longo da trajetória, Flávia parece repetir um mesmo movimento: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4160520"/>
            <a:ext cx="14081760" cy="222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Ela não aceita que o que existe</a:t>
            </a:r>
          </a:p>
          <a:p>
            <a:pPr algn="l">
              <a:lnSpc>
                <a:spcPct val="124000"/>
              </a:lnSpc>
            </a:pPr>
            <a:r>
              <a:rPr sz="6200" i="0" b="0">
                <a:solidFill>
                  <a:srgbClr val="1C1C1A"/>
                </a:solidFill>
                <a:latin typeface="Outfit 2 Light"/>
              </a:rPr>
              <a:t>determine o que pode existir.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745236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Ikigai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oto_C.jpg"/>
          <p:cNvPicPr>
            <a:picLocks noChangeAspect="1"/>
          </p:cNvPicPr>
          <p:nvPr/>
        </p:nvPicPr>
        <p:blipFill>
          <a:blip r:embed="rId2"/>
          <a:srcRect l="28489" r="28489"/>
          <a:stretch>
            <a:fillRect/>
          </a:stretch>
        </p:blipFill>
        <p:spPr>
          <a:xfrm>
            <a:off x="0" y="0"/>
            <a:ext cx="7863840" cy="10287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0" y="237744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IKIGAI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2926080"/>
            <a:ext cx="7132320" cy="1780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5200" i="0" b="0">
                <a:solidFill>
                  <a:srgbClr val="1C1C1A"/>
                </a:solidFill>
                <a:latin typeface="Outfit 2 Light"/>
              </a:rPr>
              <a:t>O que move</a:t>
            </a:r>
          </a:p>
          <a:p>
            <a:pPr algn="l">
              <a:lnSpc>
                <a:spcPct val="114000"/>
              </a:lnSpc>
            </a:pPr>
            <a:r>
              <a:rPr sz="5200" i="0" b="0">
                <a:solidFill>
                  <a:srgbClr val="1C1C1A"/>
                </a:solidFill>
                <a:latin typeface="Outfit 2 Light"/>
              </a:rPr>
              <a:t>a trajetória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0" y="5074920"/>
            <a:ext cx="713232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0" y="5486400"/>
            <a:ext cx="6949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6B6B66"/>
                </a:solidFill>
                <a:latin typeface="Outfit 2 Light"/>
              </a:rPr>
              <a:t>A história mostra como Flávia se formou e como age diante da 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9037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100" i="0" b="0">
                <a:solidFill>
                  <a:srgbClr val="1C1C1A"/>
                </a:solidFill>
                <a:latin typeface="Outfit 2"/>
              </a:rPr>
              <a:t>O Ikigai entra para revelar o que gera sentido, realização e vontade de contribuir.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9555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MODELO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O mapa do Ikigai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690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5262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Família, pessoas, trocas, proximidade.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40690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NO QUE É BOA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45262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Conhecimento, persuasão, liderança, persistência.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662940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COMO CONTRIBUI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708660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Ajuda, compartilha, gera crescimento.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62940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ONDE SE REALIZA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708660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Ver os sonhos tomando forma e as pessoas felizes.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0" y="4343400"/>
            <a:ext cx="3291840" cy="3291840"/>
          </a:xfrm>
          <a:prstGeom prst="ellipse">
            <a:avLst/>
          </a:prstGeom>
          <a:noFill/>
          <a:ln w="11430">
            <a:solidFill>
              <a:srgbClr val="E2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0" y="5532120"/>
            <a:ext cx="3108960" cy="967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Sentido</a:t>
            </a:r>
          </a:p>
          <a:p>
            <a:pPr algn="ctr">
              <a:lnSpc>
                <a:spcPct val="13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e realização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O CENTRO DO IKIGAI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40">
                <a:solidFill>
                  <a:srgbClr val="A9724A"/>
                </a:solidFill>
                <a:latin typeface="Outfit 2 Semi-Bold"/>
              </a:rPr>
              <a:t>RAZÃO DE 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2788920"/>
            <a:ext cx="13898880" cy="2353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4400" i="0" b="0">
                <a:solidFill>
                  <a:srgbClr val="1C1C1A"/>
                </a:solidFill>
                <a:latin typeface="Outfit 2 Light"/>
              </a:rPr>
              <a:t>Transformar possibilidades</a:t>
            </a:r>
          </a:p>
          <a:p>
            <a:pPr algn="l">
              <a:lnSpc>
                <a:spcPct val="124000"/>
              </a:lnSpc>
            </a:pPr>
            <a:r>
              <a:rPr sz="4400" i="0" b="0">
                <a:solidFill>
                  <a:srgbClr val="1C1C1A"/>
                </a:solidFill>
                <a:latin typeface="Outfit 2 Light"/>
              </a:rPr>
              <a:t>em realizações concretas que façam</a:t>
            </a:r>
          </a:p>
          <a:p>
            <a:pPr algn="l">
              <a:lnSpc>
                <a:spcPct val="124000"/>
              </a:lnSpc>
            </a:pPr>
            <a:r>
              <a:rPr sz="4400" i="0" b="0">
                <a:solidFill>
                  <a:srgbClr val="1C1C1A"/>
                </a:solidFill>
                <a:latin typeface="Outfit 2 Light"/>
              </a:rPr>
              <a:t>diferença na vida das pessoas.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5577840"/>
            <a:ext cx="1188720" cy="27432"/>
          </a:xfrm>
          <a:prstGeom prst="rect">
            <a:avLst/>
          </a:prstGeom>
          <a:solidFill>
            <a:srgbClr val="A97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5943600"/>
            <a:ext cx="12801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A satisfação não termina nela: ganha força quando o que constrói também amplia algo para o outro.</a:t>
            </a:r>
          </a:p>
        </p:txBody>
      </p:sp>
      <p:pic>
        <p:nvPicPr>
          <p:cNvPr id="7" name="Picture 6" descr="foto_E.jpg"/>
          <p:cNvPicPr>
            <a:picLocks noChangeAspect="1"/>
          </p:cNvPicPr>
          <p:nvPr/>
        </p:nvPicPr>
        <p:blipFill>
          <a:blip r:embed="rId2"/>
          <a:srcRect t="33564" b="33564"/>
          <a:stretch>
            <a:fillRect/>
          </a:stretch>
        </p:blipFill>
        <p:spPr>
          <a:xfrm>
            <a:off x="0" y="6903720"/>
            <a:ext cx="1828800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928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i="0" b="0">
                <a:solidFill>
                  <a:srgbClr val="1C1C1A"/>
                </a:solidFill>
                <a:latin typeface="Outfit 2 Light"/>
              </a:rPr>
              <a:t>Onde história e Ikigai se encontram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87192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690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VISÃO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5262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Enxerga além da condição presente.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40690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IMPULSO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45262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Não se conforma com os limites dados.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64465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MODO DE AGIR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690372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Aprende, organiza, mobiliza e executa.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4465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IMPACTO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21440" y="690372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Quer realizar e gerar transformação para outras pessoas.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0" y="4160520"/>
            <a:ext cx="3291840" cy="3291840"/>
          </a:xfrm>
          <a:prstGeom prst="ellipse">
            <a:avLst/>
          </a:prstGeom>
          <a:noFill/>
          <a:ln w="11430">
            <a:solidFill>
              <a:srgbClr val="E2E1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80" y="5577840"/>
            <a:ext cx="2834640" cy="621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100" i="0" b="0">
                <a:solidFill>
                  <a:srgbClr val="1C1C1A"/>
                </a:solidFill>
                <a:latin typeface="Outfit 2 Light"/>
              </a:rPr>
              <a:t>Convergência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8549640"/>
            <a:ext cx="1371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900" i="0" b="0">
                <a:solidFill>
                  <a:srgbClr val="A5A49F"/>
                </a:solidFill>
                <a:latin typeface="Outfit 2 Light"/>
              </a:rPr>
              <a:t>A história mostra o movimento. O Ikigai revela o sentido. Juntos, apontam a raiz.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3977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i="0" b="0" spc="300">
                <a:solidFill>
                  <a:srgbClr val="A9724A"/>
                </a:solidFill>
                <a:latin typeface="Outfit 2 Semi-Bold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4526280"/>
            <a:ext cx="14264640" cy="1468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400" i="0" b="0">
                <a:solidFill>
                  <a:srgbClr val="1C1C1A"/>
                </a:solidFill>
                <a:latin typeface="Outfit 2 Light"/>
              </a:rPr>
              <a:t>A essência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67208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081760" cy="1859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i="0" b="0">
                <a:solidFill>
                  <a:srgbClr val="1C1C1A"/>
                </a:solidFill>
                <a:latin typeface="Outfit 2 Light"/>
              </a:rPr>
              <a:t>Enxergar além do que está posto e fazer</a:t>
            </a:r>
          </a:p>
          <a:p>
            <a:pPr algn="l">
              <a:lnSpc>
                <a:spcPct val="120000"/>
              </a:lnSpc>
            </a:pPr>
            <a:r>
              <a:rPr sz="5200" i="0" b="0">
                <a:solidFill>
                  <a:srgbClr val="1C1C1A"/>
                </a:solidFill>
                <a:latin typeface="Outfit 2 Light"/>
              </a:rPr>
              <a:t>existir o que ainda é possibilidade.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534924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57607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COMO ENXERGA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621792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O presente não precisa ser a versão final.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57607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A MOVE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621792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A distância entre o que existe e o que ela imagina.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57607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COMO 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621792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Aprende, trabalha, cria, reorganiza e materializa.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21640" y="576072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O QUE TRANSFORMA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121640" y="6217920"/>
            <a:ext cx="31546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Realidades, inclusive a de outras pessoas.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011680" y="1600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300">
                <a:solidFill>
                  <a:srgbClr val="A5A49F"/>
                </a:solidFill>
                <a:latin typeface="Outfit 1"/>
              </a:rPr>
              <a:t>SÍNTESE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11680" y="2148840"/>
            <a:ext cx="14264640" cy="871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i="0" b="0">
                <a:solidFill>
                  <a:srgbClr val="1C1C1A"/>
                </a:solidFill>
                <a:latin typeface="Outfit 2 Light"/>
              </a:rPr>
              <a:t>Como essa essência transborda para as marcas</a:t>
            </a:r>
          </a:p>
        </p:txBody>
      </p:sp>
      <p:sp>
        <p:nvSpPr>
          <p:cNvPr id="4" name="Rectangle 3"/>
          <p:cNvSpPr/>
          <p:nvPr/>
        </p:nvSpPr>
        <p:spPr>
          <a:xfrm>
            <a:off x="2011680" y="3130296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38404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9724A"/>
                </a:solidFill>
                <a:latin typeface="Outfit 2 Semi-Bold"/>
              </a:rPr>
              <a:t>FLÁVIA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4297680"/>
            <a:ext cx="1371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i="0" b="0">
                <a:solidFill>
                  <a:srgbClr val="1C1C1A"/>
                </a:solidFill>
                <a:latin typeface="Outfit 2 Light"/>
              </a:rPr>
              <a:t>Enxerga além do que está posto e faz existir o que ainda é possibilidade.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5715000"/>
            <a:ext cx="14264640" cy="12802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6126480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6583680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2 Light"/>
              </a:rPr>
              <a:t>Dar forma às possibilidades.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7498080"/>
            <a:ext cx="6217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Partir da matéria, da técnica e do projeto para construir algo que antes existia apenas como ideia ou sonho.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6126480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i="0" b="0" spc="220">
                <a:solidFill>
                  <a:srgbClr val="A5A49F"/>
                </a:solidFill>
                <a:latin typeface="Outfit 2 Semi-Bold"/>
              </a:rPr>
              <a:t>MY HOME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6583680"/>
            <a:ext cx="6400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i="0" b="0">
                <a:solidFill>
                  <a:srgbClr val="1C1C1A"/>
                </a:solidFill>
                <a:latin typeface="Outfit 2 Light"/>
              </a:rPr>
              <a:t>Reabrir possibilidades.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7498080"/>
            <a:ext cx="62179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900" i="0" b="0">
                <a:solidFill>
                  <a:srgbClr val="6B6B66"/>
                </a:solidFill>
                <a:latin typeface="Outfit 2 Light"/>
              </a:rPr>
              <a:t>Onde o processo enxergava sobra, Flávia viu matéria para criar outra coisa.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6126480"/>
            <a:ext cx="12802" cy="2743200"/>
          </a:xfrm>
          <a:prstGeom prst="rect">
            <a:avLst/>
          </a:prstGeom>
          <a:solidFill>
            <a:srgbClr val="E2E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11680" y="8778240"/>
            <a:ext cx="1371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i="0" b="0">
                <a:solidFill>
                  <a:srgbClr val="A5A49F"/>
                </a:solidFill>
                <a:latin typeface="Outfit 2 Light"/>
              </a:rPr>
              <a:t>A Revelação identifica a raiz. A Base Estratégica determinará como essa raiz deve, ou não, se transformar em estratégia para cada marca.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955548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i="0" b="0" spc="240">
                <a:solidFill>
                  <a:srgbClr val="A5A49F"/>
                </a:solidFill>
                <a:latin typeface="Outfit 1"/>
              </a:rPr>
              <a:t>REVELAÇÃO DE ESSÊNCIA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   ·   </a:t>
            </a:r>
            <a:r>
              <a:rPr sz="1050" i="0" b="0" spc="240">
                <a:solidFill>
                  <a:srgbClr val="A5A49F"/>
                </a:solidFill>
                <a:latin typeface="Outfit 1"/>
              </a:rPr>
              <a:t>FLÁVIA PEREIRA MUCCELIN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47520" y="95554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i="0" b="0" spc="160">
                <a:solidFill>
                  <a:srgbClr val="A5A49F"/>
                </a:solidFill>
                <a:latin typeface="Outfit 1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DAHDB5KFpRw</dc:identifier>
  <dcterms:modified xsi:type="dcterms:W3CDTF">2011-08-01T06:04:30Z</dcterms:modified>
  <cp:revision>1</cp:revision>
  <dc:title>SABRE odonto - Lapidação de Essência</dc:title>
</cp:coreProperties>
</file>