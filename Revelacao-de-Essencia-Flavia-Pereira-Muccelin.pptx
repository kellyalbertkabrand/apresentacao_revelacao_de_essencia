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61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</p:sldIdLst>
  <p:sldSz cx="18288000" cy="10287000"/>
  <p:notesSz cx="6858000" cy="9144000"/>
  <p:embeddedFontLst>
    <p:embeddedFont>
      <p:font typeface="Outfit 1 Heavy" charset="1" panose="00000000000000000000"/>
      <p:regular r:id="rId49"/>
    </p:embeddedFont>
    <p:embeddedFont>
      <p:font typeface="IBM Plex Sans Thai" charset="1" panose="020B0503050203000203"/>
      <p:regular r:id="rId50"/>
    </p:embeddedFont>
    <p:embeddedFont>
      <p:font typeface="Outfit 2 Light" charset="1" panose="00000000000000000000"/>
      <p:regular r:id="rId51"/>
    </p:embeddedFont>
    <p:embeddedFont>
      <p:font typeface="Outfit 2 Medium" charset="1" panose="00000000000000000000"/>
      <p:regular r:id="rId52"/>
    </p:embeddedFont>
    <p:embeddedFont>
      <p:font typeface="Outfit 2 Semi-Bold" charset="1" panose="00000000000000000000"/>
      <p:regular r:id="rId53"/>
    </p:embeddedFont>
    <p:embeddedFont>
      <p:font typeface="Playfair Display" charset="1" panose="02000503000000020003"/>
      <p:regular r:id="rId54"/>
    </p:embeddedFont>
    <p:embeddedFont>
      <p:font typeface="Outfit 2" charset="1" panose="00000000000000000000"/>
      <p:regular r:id="rId55"/>
    </p:embeddedFont>
    <p:embeddedFont>
      <p:font typeface="Muli" charset="1" panose="00000500000000000000"/>
      <p:regular r:id="rId56"/>
    </p:embeddedFont>
    <p:embeddedFont>
      <p:font typeface="Outfit 1 Ultra-Bold" charset="1" panose="00000000000000000000"/>
      <p:regular r:id="rId57"/>
    </p:embeddedFont>
    <p:embeddedFont>
      <p:font typeface="Outfit 1" charset="1" panose="00000000000000000000"/>
      <p:regular r:id="rId58"/>
    </p:embeddedFont>
    <p:embeddedFont>
      <p:font typeface="Outfit 1 Bold" charset="1" panose="00000000000000000000"/>
      <p:regular r:id="rId59"/>
    </p:embeddedFont>
    <p:embeddedFont>
      <p:font typeface="Open Sans Bold" charset="1" panose="020B0806030504020204"/>
      <p:regular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49" Type="http://schemas.openxmlformats.org/officeDocument/2006/relationships/font" Target="fonts/font49.fntdata"/><Relationship Id="rId50" Type="http://schemas.openxmlformats.org/officeDocument/2006/relationships/font" Target="fonts/font50.fntdata"/><Relationship Id="rId51" Type="http://schemas.openxmlformats.org/officeDocument/2006/relationships/font" Target="fonts/font51.fntdata"/><Relationship Id="rId52" Type="http://schemas.openxmlformats.org/officeDocument/2006/relationships/font" Target="fonts/font52.fntdata"/><Relationship Id="rId53" Type="http://schemas.openxmlformats.org/officeDocument/2006/relationships/font" Target="fonts/font53.fntdata"/><Relationship Id="rId54" Type="http://schemas.openxmlformats.org/officeDocument/2006/relationships/font" Target="fonts/font54.fntdata"/><Relationship Id="rId55" Type="http://schemas.openxmlformats.org/officeDocument/2006/relationships/font" Target="fonts/font55.fntdata"/><Relationship Id="rId56" Type="http://schemas.openxmlformats.org/officeDocument/2006/relationships/font" Target="fonts/font56.fntdata"/><Relationship Id="rId57" Type="http://schemas.openxmlformats.org/officeDocument/2006/relationships/font" Target="fonts/font57.fntdata"/><Relationship Id="rId58" Type="http://schemas.openxmlformats.org/officeDocument/2006/relationships/font" Target="fonts/font58.fntdata"/><Relationship Id="rId59" Type="http://schemas.openxmlformats.org/officeDocument/2006/relationships/font" Target="fonts/font59.fntdata"/><Relationship Id="rId60" Type="http://schemas.openxmlformats.org/officeDocument/2006/relationships/font" Target="fonts/font60.fntdata"/><Relationship Id="rId61" Type="http://schemas.openxmlformats.org/officeDocument/2006/relationships/notesMaster" Target="notesMasters/notesMaster1.xml"/><Relationship Id="rId62" Type="http://schemas.openxmlformats.org/officeDocument/2006/relationships/theme" Target="theme/them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640" y="6035040"/>
            <a:ext cx="1417320" cy="1691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2880360"/>
            <a:ext cx="15727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000000"/>
                </a:solidFill>
                <a:latin typeface="Outfit 1 Heavy"/>
              </a:rPr>
              <a:t>REVELAÇÃO DE ESSÊNCIA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4434840"/>
            <a:ext cx="12801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00" b="1" i="0">
                <a:solidFill>
                  <a:srgbClr val="000000"/>
                </a:solidFill>
                <a:latin typeface="Outfit 2 Semi-Bold"/>
              </a:rPr>
              <a:t>Flávia Pereira Muccelin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5532120"/>
            <a:ext cx="12435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1A1A1A"/>
                </a:solidFill>
                <a:latin typeface="Outfit 2"/>
              </a:rPr>
              <a:t>História, Ikigai e os padrões que existem na origem da </a:t>
            </a:r>
            <a:r>
              <a:rPr sz="2800" b="1" i="0">
                <a:solidFill>
                  <a:srgbClr val="1A1A1A"/>
                </a:solidFill>
                <a:latin typeface="Outfit 2 Semi-Bold"/>
              </a:rPr>
              <a:t>Forma</a:t>
            </a:r>
            <a:r>
              <a:rPr sz="2800" b="0" i="0">
                <a:solidFill>
                  <a:srgbClr val="1A1A1A"/>
                </a:solidFill>
                <a:latin typeface="Outfit 2"/>
              </a:rPr>
              <a:t> e da </a:t>
            </a:r>
            <a:r>
              <a:rPr sz="2800" b="1" i="0">
                <a:solidFill>
                  <a:srgbClr val="1A1A1A"/>
                </a:solidFill>
                <a:latin typeface="Outfit 2 Semi-Bold"/>
              </a:rPr>
              <a:t>My Home</a:t>
            </a:r>
            <a:r>
              <a:rPr sz="2800" b="0" i="0">
                <a:solidFill>
                  <a:srgbClr val="1A1A1A"/>
                </a:solidFill>
                <a:latin typeface="Outfit 2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6192" y="7790688"/>
            <a:ext cx="18288" cy="1188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7882128"/>
            <a:ext cx="3840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680" b="0" i="0">
                <a:solidFill>
                  <a:srgbClr val="000000"/>
                </a:solidFill>
                <a:latin typeface="Outfit 2 Light"/>
              </a:rPr>
              <a:t>Método </a:t>
            </a:r>
            <a:r>
              <a:rPr sz="2680" b="1" i="0">
                <a:solidFill>
                  <a:srgbClr val="000000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112000"/>
              </a:lnSpc>
            </a:pPr>
            <a:r>
              <a:rPr sz="2680" b="1" i="0">
                <a:solidFill>
                  <a:srgbClr val="000000"/>
                </a:solidFill>
                <a:latin typeface="Outfit 2 Semi-Bold"/>
              </a:rPr>
              <a:t>com Essência</a:t>
            </a:r>
            <a:r>
              <a:rPr sz="1470" b="1" i="0">
                <a:solidFill>
                  <a:srgbClr val="000000"/>
                </a:solidFill>
                <a:latin typeface="Playfair Display"/>
              </a:rPr>
              <a:t> ©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7790688"/>
            <a:ext cx="18288" cy="1188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7790688"/>
            <a:ext cx="45720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0" i="0" spc="200">
                <a:solidFill>
                  <a:srgbClr val="000000"/>
                </a:solidFill>
                <a:latin typeface="IBM Plex Sans Thai"/>
              </a:rPr>
              <a:t>FORMA  ·  MY HOME</a:t>
            </a:r>
          </a:p>
        </p:txBody>
      </p:sp>
      <p:pic>
        <p:nvPicPr>
          <p:cNvPr id="11" name="Picture 10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CONCEITO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83080"/>
            <a:ext cx="15727680" cy="922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1A1A"/>
                </a:solidFill>
                <a:latin typeface="Outfit 1 Bold"/>
              </a:rPr>
              <a:t>POR QUE COMEÇAMOS PELA ESSÊNCIA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63240"/>
            <a:ext cx="1426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B5B5AD"/>
                </a:solidFill>
                <a:latin typeface="Outfit 1"/>
              </a:rPr>
              <a:t>Em marcas fortemente ligadas à fundadora, compreender sua história ajuda a identificar crenças, padrões e princípios que podem ter influenciado a criação, a cultura e a expressão das marcas.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5212080"/>
            <a:ext cx="15727680" cy="14173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1133" y="5223053"/>
            <a:ext cx="15705734" cy="13953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5212080"/>
            <a:ext cx="91440" cy="14173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5212080"/>
            <a:ext cx="1463040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1">
                <a:solidFill>
                  <a:srgbClr val="B5B5AD"/>
                </a:solidFill>
                <a:latin typeface="Outfit 1"/>
              </a:rPr>
              <a:t>Não estamos fazendo uma análise psicológica.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7086600"/>
            <a:ext cx="15727680" cy="14173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7086600"/>
            <a:ext cx="149961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500" b="1" i="1">
                <a:solidFill>
                  <a:srgbClr val="1A1A1A"/>
                </a:solidFill>
                <a:latin typeface="Outfit 1 Bold"/>
              </a:rPr>
              <a:t>ESTAMOS INVESTIGANDO A ORIGEM IDENTITÁRIA DA FORMA E DA MY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12" name="Picture 11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83080"/>
            <a:ext cx="15727680" cy="808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A1A1A"/>
                </a:solidFill>
                <a:latin typeface="Outfit 1 Bold"/>
              </a:rPr>
              <a:t>COMO ESSA ETAPA CONTRIBUI PARA O BRANDING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3337560"/>
            <a:ext cx="3685032" cy="37033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1133" y="3348533"/>
            <a:ext cx="3663086" cy="36813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33375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3703320"/>
            <a:ext cx="2862072" cy="902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i="0">
                <a:solidFill>
                  <a:srgbClr val="2E2E2A"/>
                </a:solidFill>
                <a:latin typeface="Outfit 1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617720"/>
            <a:ext cx="2862072" cy="5125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A1A1A"/>
                </a:solidFill>
                <a:latin typeface="Outfit 1 Bold"/>
              </a:rPr>
              <a:t>HISTÓRIA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5212080"/>
            <a:ext cx="28620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Revela referências e crenças de origem.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0368" y="3337560"/>
            <a:ext cx="3685032" cy="37033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41341" y="3348533"/>
            <a:ext cx="3663086" cy="368137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30368" y="33375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1848" y="3703320"/>
            <a:ext cx="2862072" cy="902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i="0">
                <a:solidFill>
                  <a:srgbClr val="2E2E2A"/>
                </a:solidFill>
                <a:latin typeface="Outfit 1 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1848" y="4617720"/>
            <a:ext cx="2862072" cy="5125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A1A1A"/>
                </a:solidFill>
                <a:latin typeface="Outfit 1 Bold"/>
              </a:rPr>
              <a:t>IKIGAI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5212080"/>
            <a:ext cx="28620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Revela motivações e razão de 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0576" y="3337560"/>
            <a:ext cx="3685032" cy="37033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91549" y="3348533"/>
            <a:ext cx="3663086" cy="36813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0576" y="33375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92056" y="3703320"/>
            <a:ext cx="2862072" cy="902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i="0">
                <a:solidFill>
                  <a:srgbClr val="2E2E2A"/>
                </a:solidFill>
                <a:latin typeface="Outfit 1 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4617720"/>
            <a:ext cx="2862072" cy="5125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A1A1A"/>
                </a:solidFill>
                <a:latin typeface="Outfit 1 Bold"/>
              </a:rPr>
              <a:t>PADRÕES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92056" y="5212080"/>
            <a:ext cx="28620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Revela formas recorrentes de agir e decidir.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130784" y="3337560"/>
            <a:ext cx="3685032" cy="37033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141757" y="3348533"/>
            <a:ext cx="3663086" cy="368137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130784" y="33375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42264" y="3703320"/>
            <a:ext cx="2862072" cy="902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 i="0">
                <a:solidFill>
                  <a:srgbClr val="2E2E2A"/>
                </a:solidFill>
                <a:latin typeface="Outfit 1 Bol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42264" y="4617720"/>
            <a:ext cx="2862072" cy="5125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A1A1A"/>
                </a:solidFill>
                <a:latin typeface="Outfit 1 Bold"/>
              </a:rPr>
              <a:t>ESSÊNCIA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42264" y="5212080"/>
            <a:ext cx="286207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Sintetiza aquilo que pode estar na raiz das marcas.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7589520"/>
            <a:ext cx="15727680" cy="11887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7589520"/>
            <a:ext cx="3291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100">
                <a:solidFill>
                  <a:srgbClr val="2E2E2A"/>
                </a:solidFill>
                <a:latin typeface="Outfit 1 Bold"/>
              </a:rPr>
              <a:t>NA ETAPA SEGUINTE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7589520"/>
            <a:ext cx="111556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1A1A1A"/>
                </a:solidFill>
                <a:latin typeface="Outfit 1"/>
              </a:rPr>
              <a:t>A Base Estratégica determinará o que disso deve se transformar em estratégia para cada marca.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32" name="Picture 31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83080"/>
            <a:ext cx="15727680" cy="922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1A1A"/>
                </a:solidFill>
                <a:latin typeface="Outfit 1 Bold"/>
              </a:rPr>
              <a:t>COMO CHEGAMOS À REVELAÇÃO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3840480"/>
            <a:ext cx="3429000" cy="2377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1133" y="3851453"/>
            <a:ext cx="3407054" cy="23554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3840480"/>
            <a:ext cx="342900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3913632"/>
            <a:ext cx="3026664" cy="2304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300" b="1" i="0">
                <a:solidFill>
                  <a:srgbClr val="1A1A1A"/>
                </a:solidFill>
                <a:latin typeface="Outfit 1 Bold"/>
              </a:rPr>
              <a:t>HISTÓRIA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840480"/>
            <a:ext cx="73152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E2E2A"/>
                </a:solidFill>
                <a:latin typeface="Outfit 1 Bold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3840480"/>
            <a:ext cx="3429000" cy="2377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08853" y="3851453"/>
            <a:ext cx="3407054" cy="235549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3840480"/>
            <a:ext cx="342900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8" y="3913632"/>
            <a:ext cx="3026664" cy="2304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300" b="1" i="0">
                <a:solidFill>
                  <a:srgbClr val="1A1A1A"/>
                </a:solidFill>
                <a:latin typeface="Outfit 1 Bold"/>
              </a:rPr>
              <a:t>IKIGAI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3840480"/>
            <a:ext cx="73152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E2E2A"/>
                </a:solidFill>
                <a:latin typeface="Outfit 1 Bold"/>
              </a:rPr>
              <a:t>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0" y="3840480"/>
            <a:ext cx="3429000" cy="2377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26573" y="3851453"/>
            <a:ext cx="3407054" cy="23554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0" y="3840480"/>
            <a:ext cx="342900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16768" y="3913632"/>
            <a:ext cx="3026664" cy="2304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300" b="1" i="0">
                <a:solidFill>
                  <a:srgbClr val="1A1A1A"/>
                </a:solidFill>
                <a:latin typeface="Outfit 1 Bold"/>
              </a:rPr>
              <a:t>PADRÕES</a:t>
            </a:r>
          </a:p>
          <a:p>
            <a:pPr algn="ctr">
              <a:lnSpc>
                <a:spcPct val="112000"/>
              </a:lnSpc>
            </a:pPr>
            <a:r>
              <a:rPr sz="2300" b="1" i="0">
                <a:solidFill>
                  <a:srgbClr val="1A1A1A"/>
                </a:solidFill>
                <a:latin typeface="Outfit 1 Bold"/>
              </a:rPr>
              <a:t>RECORRENTES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0" y="3840480"/>
            <a:ext cx="73152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2E2E2A"/>
                </a:solidFill>
                <a:latin typeface="Outfit 1 Bold"/>
              </a:rPr>
              <a:t>=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493240" y="3840480"/>
            <a:ext cx="2514600" cy="237744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584680" y="3840480"/>
            <a:ext cx="233172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Outfit 1 Bold"/>
              </a:rPr>
              <a:t>HIPÓTESE</a:t>
            </a:r>
          </a:p>
          <a:p>
            <a:pPr algn="ctr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Outfit 1 Bold"/>
              </a:rPr>
              <a:t>DE ESSÊNCIA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7360920"/>
            <a:ext cx="15727680" cy="132588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7360920"/>
            <a:ext cx="149961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1">
                <a:solidFill>
                  <a:srgbClr val="1A1A1A"/>
                </a:solidFill>
                <a:latin typeface="Outfit 1 Bold"/>
              </a:rPr>
              <a:t>A APRESENTAÇÃO CRUZA TRAJETÓRIA, RAZÃO DE SER E COMPORTAMENTO RECORRENTE PARA REVELAR A RAIZ QUE ANTECEDE AS MARCAS.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24" name="Picture 23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HISTÓRIA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83080"/>
            <a:ext cx="15727680" cy="922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1A1A"/>
                </a:solidFill>
                <a:latin typeface="Outfit 1 Bold"/>
              </a:rPr>
              <a:t>ONDE ESSA HISTÓRIA COMEÇA</a:t>
            </a:r>
          </a:p>
        </p:txBody>
      </p:sp>
      <p:pic>
        <p:nvPicPr>
          <p:cNvPr id="4" name="Picture 3" descr="foto_B.jpg"/>
          <p:cNvPicPr>
            <a:picLocks noChangeAspect="1"/>
          </p:cNvPicPr>
          <p:nvPr/>
        </p:nvPicPr>
        <p:blipFill>
          <a:blip r:embed="rId2"/>
          <a:srcRect l="17840" r="17840"/>
          <a:stretch>
            <a:fillRect/>
          </a:stretch>
        </p:blipFill>
        <p:spPr>
          <a:xfrm>
            <a:off x="10424160" y="3017520"/>
            <a:ext cx="6583680" cy="5760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3017520"/>
            <a:ext cx="8778240" cy="182880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1133" y="3028493"/>
            <a:ext cx="8756294" cy="18068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3017520"/>
            <a:ext cx="82296" cy="182880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3310128"/>
            <a:ext cx="786384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ORIGEM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712464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B5B5AD"/>
                </a:solidFill>
                <a:latin typeface="Outfit 1"/>
              </a:rPr>
              <a:t>Família muito humilde, mudança para Primavera do Leste, fé, trabalho e recomeço.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5029200"/>
            <a:ext cx="8778240" cy="182880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91133" y="5040173"/>
            <a:ext cx="8756294" cy="180685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0" y="5029200"/>
            <a:ext cx="82296" cy="182880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5321808"/>
            <a:ext cx="786384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5724144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B5B5AD"/>
                </a:solidFill>
                <a:latin typeface="Outfit 1"/>
              </a:rPr>
              <a:t>Pai trabalhando como caseiro/vaqueiro, mãe presente, rotina de esforço e honestidade.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7040880"/>
            <a:ext cx="8778240" cy="182880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91133" y="7051853"/>
            <a:ext cx="8756294" cy="18068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0160" y="7040880"/>
            <a:ext cx="82296" cy="182880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7333488"/>
            <a:ext cx="786384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MARCA INICIAL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7735824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B5B5AD"/>
                </a:solidFill>
                <a:latin typeface="Outfit 1"/>
              </a:rPr>
              <a:t>Desde cedo, a realidade presente nunca pareceu definir a realidade que Flávia conseguia imaginar.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21" name="Picture 20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to_B.jpg"/>
          <p:cNvPicPr>
            <a:picLocks noChangeAspect="1"/>
          </p:cNvPicPr>
          <p:nvPr/>
        </p:nvPicPr>
        <p:blipFill>
          <a:blip r:embed="rId2"/>
          <a:srcRect l="25140" r="25140"/>
          <a:stretch>
            <a:fillRect/>
          </a:stretch>
        </p:blipFill>
        <p:spPr>
          <a:xfrm>
            <a:off x="10424160" y="1325880"/>
            <a:ext cx="6583680" cy="7452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OS PRIMEIROS SINAIS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920240"/>
            <a:ext cx="8595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600" b="1" i="0">
                <a:solidFill>
                  <a:srgbClr val="1A1A1A"/>
                </a:solidFill>
                <a:latin typeface="Outfit 1 Bold"/>
              </a:rPr>
              <a:t>“PAI, EU VOU</a:t>
            </a:r>
          </a:p>
          <a:p>
            <a:pPr algn="l">
              <a:lnSpc>
                <a:spcPct val="106000"/>
              </a:lnSpc>
            </a:pPr>
            <a:r>
              <a:rPr sz="5600" b="1" i="0">
                <a:solidFill>
                  <a:srgbClr val="1A1A1A"/>
                </a:solidFill>
                <a:latin typeface="Outfit 1 Bold"/>
              </a:rPr>
              <a:t>COMPRAR</a:t>
            </a:r>
          </a:p>
          <a:p>
            <a:pPr algn="l">
              <a:lnSpc>
                <a:spcPct val="106000"/>
              </a:lnSpc>
            </a:pPr>
            <a:r>
              <a:rPr sz="5600" b="1" i="0">
                <a:solidFill>
                  <a:srgbClr val="1A1A1A"/>
                </a:solidFill>
                <a:latin typeface="Outfit 1 Bold"/>
              </a:rPr>
              <a:t>ISSO AQUI.”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5394960"/>
            <a:ext cx="1463040" cy="64008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806440"/>
            <a:ext cx="8595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 i="0">
                <a:solidFill>
                  <a:srgbClr val="B5B5AD"/>
                </a:solidFill>
                <a:latin typeface="Outfit 1"/>
              </a:rPr>
              <a:t>Ainda adolescente, Flávia imaginava outra vida antes de ela existir. O portão e a casa tornaram-se símbolos dessa visão de futuro.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7717536"/>
            <a:ext cx="274320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7635240"/>
            <a:ext cx="8046720" cy="437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2E2E2A"/>
                </a:solidFill>
                <a:latin typeface="Outfit 1 Bold"/>
              </a:rPr>
              <a:t>DESEJO DE CRESCER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8193024"/>
            <a:ext cx="274320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8110728"/>
            <a:ext cx="8046720" cy="437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2E2E2A"/>
                </a:solidFill>
                <a:latin typeface="Outfit 1 Bold"/>
              </a:rPr>
              <a:t>IMAGINAÇÃO DE FUTURO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8668512"/>
            <a:ext cx="274320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8586216"/>
            <a:ext cx="8046720" cy="437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2E2E2A"/>
                </a:solidFill>
                <a:latin typeface="Outfit 1 Bold"/>
              </a:rPr>
              <a:t>INCONFORMISMO COM A CONDIÇÃO DADA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14" name="Picture 13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PROFUNDIDADE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83080"/>
            <a:ext cx="15727680" cy="922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1A1A"/>
                </a:solidFill>
                <a:latin typeface="Outfit 1 Bold"/>
              </a:rPr>
              <a:t>AS EXPERIÊNCIAS QUE A FORMARAM</a:t>
            </a:r>
          </a:p>
        </p:txBody>
      </p:sp>
      <p:pic>
        <p:nvPicPr>
          <p:cNvPr id="4" name="Picture 3" descr="foto_C.jpg"/>
          <p:cNvPicPr>
            <a:picLocks noChangeAspect="1"/>
          </p:cNvPicPr>
          <p:nvPr/>
        </p:nvPicPr>
        <p:blipFill>
          <a:blip r:embed="rId2"/>
          <a:srcRect l="22768" r="22768"/>
          <a:stretch>
            <a:fillRect/>
          </a:stretch>
        </p:blipFill>
        <p:spPr>
          <a:xfrm>
            <a:off x="11521440" y="3017520"/>
            <a:ext cx="5486400" cy="5669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65376" y="3246120"/>
            <a:ext cx="27432" cy="5349240"/>
          </a:xfrm>
          <a:prstGeom prst="rect">
            <a:avLst/>
          </a:prstGeom>
          <a:solidFill>
            <a:srgbClr val="DC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72768" y="3017520"/>
            <a:ext cx="603504" cy="603504"/>
          </a:xfrm>
          <a:prstGeom prst="ellipse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2768" y="301752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2E2E2A"/>
                </a:solidFill>
                <a:latin typeface="Outfit 1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971800"/>
            <a:ext cx="81381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TRABALHO PRECOCE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355848"/>
            <a:ext cx="8138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Cozinhava com o pai no garimpo e aprendeu cedo a relação entre esforço e conquista.</a:t>
            </a:r>
          </a:p>
        </p:txBody>
      </p:sp>
      <p:sp>
        <p:nvSpPr>
          <p:cNvPr id="10" name="Oval 9"/>
          <p:cNvSpPr/>
          <p:nvPr/>
        </p:nvSpPr>
        <p:spPr>
          <a:xfrm>
            <a:off x="1572768" y="4517136"/>
            <a:ext cx="603504" cy="603504"/>
          </a:xfrm>
          <a:prstGeom prst="ellipse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4517136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2E2E2A"/>
                </a:solidFill>
                <a:latin typeface="Outfit 1 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471416"/>
            <a:ext cx="81381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DISCIPLINA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855464"/>
            <a:ext cx="8138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Bicicleta, trabalho, faculdade e futsal para conquistar bolsa e seguir estudando.</a:t>
            </a:r>
          </a:p>
        </p:txBody>
      </p:sp>
      <p:sp>
        <p:nvSpPr>
          <p:cNvPr id="14" name="Oval 13"/>
          <p:cNvSpPr/>
          <p:nvPr/>
        </p:nvSpPr>
        <p:spPr>
          <a:xfrm>
            <a:off x="1572768" y="6016752"/>
            <a:ext cx="603504" cy="603504"/>
          </a:xfrm>
          <a:prstGeom prst="ellipse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6016752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2E2E2A"/>
                </a:solidFill>
                <a:latin typeface="Outfit 1 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5971032"/>
            <a:ext cx="81381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MÓVEIS PLANEJADOS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6355080"/>
            <a:ext cx="8138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Dez anos de aprendizado técnico, conhecimento e domínio do setor.</a:t>
            </a:r>
          </a:p>
        </p:txBody>
      </p:sp>
      <p:sp>
        <p:nvSpPr>
          <p:cNvPr id="18" name="Oval 17"/>
          <p:cNvSpPr/>
          <p:nvPr/>
        </p:nvSpPr>
        <p:spPr>
          <a:xfrm>
            <a:off x="1572768" y="7516368"/>
            <a:ext cx="603504" cy="603504"/>
          </a:xfrm>
          <a:prstGeom prst="ellipse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72768" y="75163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Outfit 1 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7470648"/>
            <a:ext cx="81381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MATERNIDADE E RETORNO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7854696"/>
            <a:ext cx="8138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Pausa, reconfiguração e volta mais madura ao empreendedorismo.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23" name="Picture 22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CONTRASTE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83080"/>
            <a:ext cx="15727680" cy="808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A1A1A"/>
                </a:solidFill>
                <a:latin typeface="Outfit 1 Bold"/>
              </a:rPr>
              <a:t>AS TENSÕES QUE A COLOCARAM EM MOVIMENTO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3291840"/>
            <a:ext cx="1572768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0160" y="3291840"/>
            <a:ext cx="82296" cy="1207008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3291840"/>
            <a:ext cx="49377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80">
                <a:solidFill>
                  <a:srgbClr val="2E2E2A"/>
                </a:solidFill>
                <a:latin typeface="Outfit 1 Bold"/>
              </a:rPr>
              <a:t>A CONDIÇÃO DE VIDA DIZIA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3291840"/>
            <a:ext cx="50292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B5B5AD"/>
                </a:solidFill>
                <a:latin typeface="Outfit 1"/>
              </a:rPr>
              <a:t>“essa é a realidade disponível.”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15800" y="3858768"/>
            <a:ext cx="502920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0" y="3291840"/>
            <a:ext cx="393192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Outfit 1 Bold"/>
              </a:rPr>
              <a:t>Flávia queria outra.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4709160"/>
            <a:ext cx="15727680" cy="1207008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0160" y="4709160"/>
            <a:ext cx="82296" cy="1207008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4709160"/>
            <a:ext cx="49377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80">
                <a:solidFill>
                  <a:srgbClr val="2E2E2A"/>
                </a:solidFill>
                <a:latin typeface="Outfit 1 Bold"/>
              </a:rPr>
              <a:t>O CARGO DIZIA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709160"/>
            <a:ext cx="50292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B5B5AD"/>
                </a:solidFill>
                <a:latin typeface="Outfit 1"/>
              </a:rPr>
              <a:t>“até aqui você pode chegar.”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15800" y="5276088"/>
            <a:ext cx="502920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93040" y="4709160"/>
            <a:ext cx="393192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Outfit 1 Bold"/>
              </a:rPr>
              <a:t>Flávia queria crescer.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6126480"/>
            <a:ext cx="1572768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0160" y="6126480"/>
            <a:ext cx="82296" cy="1207008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6126480"/>
            <a:ext cx="49377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80">
                <a:solidFill>
                  <a:srgbClr val="2E2E2A"/>
                </a:solidFill>
                <a:latin typeface="Outfit 1 Bold"/>
              </a:rPr>
              <a:t>AS FRANQUIAS DIZIAM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6126480"/>
            <a:ext cx="50292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B5B5AD"/>
                </a:solidFill>
                <a:latin typeface="Outfit 1"/>
              </a:rPr>
              <a:t>“é assim que deve ser feito.”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15800" y="6693408"/>
            <a:ext cx="502920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93040" y="6126480"/>
            <a:ext cx="393192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Outfit 1 Bold"/>
              </a:rPr>
              <a:t>Flávia queria fazer do seu jeito.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7543800"/>
            <a:ext cx="15727680" cy="1207008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80160" y="7543800"/>
            <a:ext cx="82296" cy="1207008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7543800"/>
            <a:ext cx="49377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80">
                <a:solidFill>
                  <a:srgbClr val="2E2E2A"/>
                </a:solidFill>
                <a:latin typeface="Outfit 1 Bold"/>
              </a:rPr>
              <a:t>AS SOBRAS DIZIAM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7543800"/>
            <a:ext cx="50292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B5B5AD"/>
                </a:solidFill>
                <a:latin typeface="Outfit 1"/>
              </a:rPr>
              <a:t>“isso terminou aqui.”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15800" y="8110728"/>
            <a:ext cx="502920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93040" y="7543800"/>
            <a:ext cx="393192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Outfit 1 Bold"/>
              </a:rPr>
              <a:t>Flávia enxergou começo.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29" name="Picture 28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83080"/>
            <a:ext cx="15727680" cy="922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1A1A"/>
                </a:solidFill>
                <a:latin typeface="Outfit 1 Bold"/>
              </a:rPr>
              <a:t>AS GRANDES VIRADAS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3566160"/>
            <a:ext cx="3685032" cy="4663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1133" y="3577133"/>
            <a:ext cx="3663086" cy="46414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35661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88920" y="4114800"/>
            <a:ext cx="658368" cy="658368"/>
          </a:xfrm>
          <a:prstGeom prst="ellipse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114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5212080"/>
            <a:ext cx="3136392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1A1A1A"/>
                </a:solidFill>
                <a:latin typeface="Outfit 1 Bold"/>
              </a:rPr>
              <a:t>MONTA SUA LOJA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989320"/>
            <a:ext cx="313639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 i="0">
                <a:solidFill>
                  <a:srgbClr val="B5B5AD"/>
                </a:solidFill>
                <a:latin typeface="Outfit 1"/>
              </a:rPr>
              <a:t>Sai do papel de funcionária e assume uma trajetória própria.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0056" y="5870448"/>
            <a:ext cx="155448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30368" y="3566160"/>
            <a:ext cx="3685032" cy="4663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41341" y="3577133"/>
            <a:ext cx="3663086" cy="464149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0368" y="35661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39128" y="4114800"/>
            <a:ext cx="658368" cy="658368"/>
          </a:xfrm>
          <a:prstGeom prst="ellipse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4114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5212080"/>
            <a:ext cx="3136392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1A1A1A"/>
                </a:solidFill>
                <a:latin typeface="Outfit 1 Bold"/>
              </a:rPr>
              <a:t>FAZ UMA PAUSA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5989320"/>
            <a:ext cx="313639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 i="0">
                <a:solidFill>
                  <a:srgbClr val="B5B5AD"/>
                </a:solidFill>
                <a:latin typeface="Outfit 1"/>
              </a:rPr>
              <a:t>Escolhe a maternidade, reorganiza a vida e se fortalece.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264" y="5870448"/>
            <a:ext cx="155448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0576" y="3566160"/>
            <a:ext cx="3685032" cy="4663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91549" y="3577133"/>
            <a:ext cx="3663086" cy="46414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35661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89336" y="4114800"/>
            <a:ext cx="658368" cy="658368"/>
          </a:xfrm>
          <a:prstGeom prst="ellipse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89336" y="4114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5212080"/>
            <a:ext cx="3136392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1A1A1A"/>
                </a:solidFill>
                <a:latin typeface="Outfit 1 Bold"/>
              </a:rPr>
              <a:t>RETORNA PELA FORMA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5989320"/>
            <a:ext cx="313639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 i="0">
                <a:solidFill>
                  <a:srgbClr val="B5B5AD"/>
                </a:solidFill>
                <a:latin typeface="Outfit 1"/>
              </a:rPr>
              <a:t>Volta ao setor e reencontra o lugar onde quer construir.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20472" y="5870448"/>
            <a:ext cx="155448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130784" y="3566160"/>
            <a:ext cx="3685032" cy="4663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141757" y="3577133"/>
            <a:ext cx="3663086" cy="464149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130784" y="35661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639544" y="4114800"/>
            <a:ext cx="658368" cy="658368"/>
          </a:xfrm>
          <a:prstGeom prst="ellipse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9544" y="4114800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Outfit 1 Bold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05104" y="5212080"/>
            <a:ext cx="3136392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1A1A1A"/>
                </a:solidFill>
                <a:latin typeface="Outfit 1 Bold"/>
              </a:rPr>
              <a:t>CRIA A MY HOME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405104" y="5989320"/>
            <a:ext cx="313639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 i="0">
                <a:solidFill>
                  <a:srgbClr val="B5B5AD"/>
                </a:solidFill>
                <a:latin typeface="Outfit 1"/>
              </a:rPr>
              <a:t>Transforma o descarte em nova possibilidade de negócio.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36" name="Picture 35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PADRÕES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83080"/>
            <a:ext cx="15727680" cy="922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1A1A"/>
                </a:solidFill>
                <a:latin typeface="Outfit 1 Bold"/>
              </a:rPr>
              <a:t>O PADRÃO INVISÍVEL</a:t>
            </a:r>
          </a:p>
        </p:txBody>
      </p:sp>
      <p:pic>
        <p:nvPicPr>
          <p:cNvPr id="4" name="Picture 3" descr="foto_D.jpg"/>
          <p:cNvPicPr>
            <a:picLocks noChangeAspect="1"/>
          </p:cNvPicPr>
          <p:nvPr/>
        </p:nvPicPr>
        <p:blipFill>
          <a:blip r:embed="rId2"/>
          <a:srcRect l="10237" r="10237"/>
          <a:stretch>
            <a:fillRect/>
          </a:stretch>
        </p:blipFill>
        <p:spPr>
          <a:xfrm>
            <a:off x="11064240" y="3063240"/>
            <a:ext cx="5943600" cy="4206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3063240"/>
            <a:ext cx="4526280" cy="201168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1133" y="3074213"/>
            <a:ext cx="4504334" cy="19897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3063240"/>
            <a:ext cx="452628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502152"/>
            <a:ext cx="37947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ESCASSEZ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931920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B5B5AD"/>
                </a:solidFill>
                <a:latin typeface="Outfit 1"/>
              </a:rPr>
              <a:t>Não aceita a condição como destino.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3063240"/>
            <a:ext cx="4526280" cy="201168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1733" y="3074213"/>
            <a:ext cx="4504334" cy="198973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3063240"/>
            <a:ext cx="452628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502152"/>
            <a:ext cx="37947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CARREIRA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931920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B5B5AD"/>
                </a:solidFill>
                <a:latin typeface="Outfit 1"/>
              </a:rPr>
              <a:t>Não aceita o cargo como limite final.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5257800"/>
            <a:ext cx="4526280" cy="201168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91133" y="5268773"/>
            <a:ext cx="4504334" cy="19897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0160" y="5257800"/>
            <a:ext cx="452628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696712"/>
            <a:ext cx="37947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FRANQUIAS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6126480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B5B5AD"/>
                </a:solidFill>
                <a:latin typeface="Outfit 1"/>
              </a:rPr>
              <a:t>Não aceita o modelo pronto como única forma.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5257800"/>
            <a:ext cx="4526280" cy="201168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1733" y="5268773"/>
            <a:ext cx="4504334" cy="198973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5257800"/>
            <a:ext cx="452628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696712"/>
            <a:ext cx="37947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SOBRAS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6126480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B5B5AD"/>
                </a:solidFill>
                <a:latin typeface="Outfit 1"/>
              </a:rPr>
              <a:t>Não aceita o descarte como fim.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7498080"/>
            <a:ext cx="15727680" cy="128016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7498080"/>
            <a:ext cx="14996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1">
                <a:solidFill>
                  <a:srgbClr val="1A1A1A"/>
                </a:solidFill>
                <a:latin typeface="Outfit 1 Bold"/>
              </a:rPr>
              <a:t>EM HISTÓRIAS DIFERENTES, APARECE O MESMO MOVIMENTO: A REALIDADE PRESENTE NUNCA É TRATADA COMO A VERSÃO FINAL DO POSSÍVEL.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28" name="Picture 27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83080"/>
            <a:ext cx="15727680" cy="922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1A1A"/>
                </a:solidFill>
                <a:latin typeface="Outfit 1 Bold"/>
              </a:rPr>
              <a:t>O MOVIMENTO QUE SE REPETE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3749040"/>
            <a:ext cx="2377440" cy="2377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1133" y="3760013"/>
            <a:ext cx="2355494" cy="23554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3749040"/>
            <a:ext cx="237744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3822192"/>
            <a:ext cx="2157984" cy="2304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1A1A"/>
                </a:solidFill>
                <a:latin typeface="Outfit 1 Bold"/>
              </a:rPr>
              <a:t>PERCEBE A</a:t>
            </a:r>
          </a:p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1A1A"/>
                </a:solidFill>
                <a:latin typeface="Outfit 1 Bold"/>
              </a:rPr>
              <a:t>CONDIÇÃO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4910328"/>
            <a:ext cx="219456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59936" y="3749040"/>
            <a:ext cx="2377440" cy="2377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70909" y="3760013"/>
            <a:ext cx="2355494" cy="235549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59936" y="3749040"/>
            <a:ext cx="237744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9664" y="3822192"/>
            <a:ext cx="2157984" cy="2304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1A1A"/>
                </a:solidFill>
                <a:latin typeface="Outfit 1 Bold"/>
              </a:rPr>
              <a:t>IMAGINA</a:t>
            </a:r>
          </a:p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1A1A"/>
                </a:solidFill>
                <a:latin typeface="Outfit 1 Bold"/>
              </a:rPr>
              <a:t>ALGO ALÉM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28816" y="4910328"/>
            <a:ext cx="219456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39712" y="3749040"/>
            <a:ext cx="2377440" cy="2377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0685" y="3760013"/>
            <a:ext cx="2355494" cy="23554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39712" y="3749040"/>
            <a:ext cx="237744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822192"/>
            <a:ext cx="2157984" cy="2304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1A1A"/>
                </a:solidFill>
                <a:latin typeface="Outfit 1 Bold"/>
              </a:rPr>
              <a:t>BUSCA</a:t>
            </a:r>
          </a:p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1A1A"/>
                </a:solidFill>
                <a:latin typeface="Outfit 1 Bold"/>
              </a:rPr>
              <a:t>CONHECIMENTO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8592" y="4910328"/>
            <a:ext cx="219456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19488" y="3749040"/>
            <a:ext cx="2377440" cy="2377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30461" y="3760013"/>
            <a:ext cx="2355494" cy="235549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19488" y="3749040"/>
            <a:ext cx="237744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9216" y="3822192"/>
            <a:ext cx="2157984" cy="2304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1A1A"/>
                </a:solidFill>
                <a:latin typeface="Outfit 1 Bold"/>
              </a:rPr>
              <a:t>MOBILIZA</a:t>
            </a:r>
          </a:p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1A1A"/>
                </a:solidFill>
                <a:latin typeface="Outfit 1 Bold"/>
              </a:rPr>
              <a:t>PESSOAS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88368" y="4910328"/>
            <a:ext cx="219456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399264" y="3749040"/>
            <a:ext cx="2377440" cy="2377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410237" y="3760013"/>
            <a:ext cx="2355494" cy="23554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99264" y="3749040"/>
            <a:ext cx="237744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08992" y="3822192"/>
            <a:ext cx="2157984" cy="2304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1A1A"/>
                </a:solidFill>
                <a:latin typeface="Outfit 1 Bold"/>
              </a:rPr>
              <a:t>CONSTRÓI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868144" y="4910328"/>
            <a:ext cx="219456" cy="457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179040" y="3749040"/>
            <a:ext cx="2377440" cy="237744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288768" y="3822192"/>
            <a:ext cx="2157984" cy="2304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Outfit 1 Bold"/>
              </a:rPr>
              <a:t>TRANSFORMA</a:t>
            </a:r>
          </a:p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Outfit 1 Bold"/>
              </a:rPr>
              <a:t>EM REALIDADE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6949440"/>
            <a:ext cx="15727680" cy="137160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6949440"/>
            <a:ext cx="149961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1">
                <a:solidFill>
                  <a:srgbClr val="1A1A1A"/>
                </a:solidFill>
                <a:latin typeface="Outfit 1 Bold"/>
              </a:rPr>
              <a:t>A MUDANÇA NÃO NASCE DE UM IMPULSO ISOLADO. ELA SEGUE UMA SEQUÊNCIA RECONHECÍVEL DE VISÃO, APRENDIZADO E REALIZAÇÃO.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34" name="Picture 33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0" y="7040880"/>
            <a:ext cx="1234440" cy="1472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187452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A LINHA-MESTRA DA HISTÓRIA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2468880"/>
            <a:ext cx="1280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 i="0">
                <a:solidFill>
                  <a:srgbClr val="B5B5AD"/>
                </a:solidFill>
                <a:latin typeface="Outfit 1"/>
              </a:rPr>
              <a:t>Ao longo da trajetória, Flávia parece repetir um mesmo movimento: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6192" y="3520440"/>
            <a:ext cx="169164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6192" y="4023360"/>
            <a:ext cx="14630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6800" b="1" i="0">
                <a:solidFill>
                  <a:srgbClr val="000000"/>
                </a:solidFill>
                <a:latin typeface="Outfit 1 Bold"/>
              </a:rPr>
              <a:t>ELA NÃO ACEITA QUE</a:t>
            </a:r>
          </a:p>
          <a:p>
            <a:pPr algn="l">
              <a:lnSpc>
                <a:spcPct val="108000"/>
              </a:lnSpc>
            </a:pPr>
            <a:r>
              <a:rPr sz="6800" b="1" i="0">
                <a:solidFill>
                  <a:srgbClr val="000000"/>
                </a:solidFill>
                <a:latin typeface="Outfit 1 Bold"/>
              </a:rPr>
              <a:t>O QUE EXISTE DETERMINE</a:t>
            </a:r>
          </a:p>
          <a:p>
            <a:pPr algn="l">
              <a:lnSpc>
                <a:spcPct val="108000"/>
              </a:lnSpc>
            </a:pPr>
            <a:r>
              <a:rPr sz="6800" b="1" i="0">
                <a:solidFill>
                  <a:srgbClr val="000000"/>
                </a:solidFill>
                <a:latin typeface="Outfit 1 Bold"/>
              </a:rPr>
              <a:t>O QUE PODE EXISTIR.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9" name="Picture 8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16916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IKIGAI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57400"/>
            <a:ext cx="9144000" cy="1889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1A1A1A"/>
                </a:solidFill>
                <a:latin typeface="Outfit 1 Bold"/>
              </a:rPr>
              <a:t>O QUE MOVE</a:t>
            </a:r>
          </a:p>
          <a:p>
            <a:pPr algn="l">
              <a:lnSpc>
                <a:spcPct val="105000"/>
              </a:lnSpc>
            </a:pPr>
            <a:r>
              <a:rPr sz="6000" b="1" i="0">
                <a:solidFill>
                  <a:srgbClr val="1A1A1A"/>
                </a:solidFill>
                <a:latin typeface="Outfit 1 Bold"/>
              </a:rPr>
              <a:t>A TRAJETÓRIA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4617720"/>
            <a:ext cx="1463040" cy="64008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to_C.jpg"/>
          <p:cNvPicPr>
            <a:picLocks noChangeAspect="1"/>
          </p:cNvPicPr>
          <p:nvPr/>
        </p:nvPicPr>
        <p:blipFill>
          <a:blip r:embed="rId3"/>
          <a:srcRect l="20379" r="20379"/>
          <a:stretch>
            <a:fillRect/>
          </a:stretch>
        </p:blipFill>
        <p:spPr>
          <a:xfrm>
            <a:off x="9692640" y="1691640"/>
            <a:ext cx="7315200" cy="6949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80160" y="5120640"/>
            <a:ext cx="7863840" cy="3520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1133" y="5131613"/>
            <a:ext cx="7841894" cy="34984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5120640"/>
            <a:ext cx="82296" cy="352044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5532120"/>
            <a:ext cx="6903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0" i="0">
                <a:solidFill>
                  <a:srgbClr val="B5B5AD"/>
                </a:solidFill>
                <a:latin typeface="Outfit 1"/>
              </a:rPr>
              <a:t>A história mostra como Flávia se formou e como age diante da vida.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903720"/>
            <a:ext cx="6903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1" i="0">
                <a:solidFill>
                  <a:srgbClr val="1A1A1A"/>
                </a:solidFill>
                <a:latin typeface="Outfit 1 Bold"/>
              </a:rPr>
              <a:t>O Ikigai entra para revelar o que gera sentido, realização e vontade de contribuir.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13" name="Picture 12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83080"/>
            <a:ext cx="15727680" cy="922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1A1A"/>
                </a:solidFill>
                <a:latin typeface="Outfit 1 Bold"/>
              </a:rPr>
              <a:t>O MAPA DO IKIGAI</a:t>
            </a:r>
          </a:p>
        </p:txBody>
      </p:sp>
      <p:pic>
        <p:nvPicPr>
          <p:cNvPr id="4" name="Picture 3" descr="foto_E.jpg"/>
          <p:cNvPicPr>
            <a:picLocks noChangeAspect="1"/>
          </p:cNvPicPr>
          <p:nvPr/>
        </p:nvPicPr>
        <p:blipFill>
          <a:blip r:embed="rId2"/>
          <a:srcRect l="27122" r="27122"/>
          <a:stretch>
            <a:fillRect/>
          </a:stretch>
        </p:blipFill>
        <p:spPr>
          <a:xfrm>
            <a:off x="12435840" y="3063240"/>
            <a:ext cx="4572000" cy="5623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0160" y="3063240"/>
            <a:ext cx="3749040" cy="265176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91133" y="3074213"/>
            <a:ext cx="3727094" cy="262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3063240"/>
            <a:ext cx="374904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520440"/>
            <a:ext cx="320040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O QUE 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0690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0" i="0">
                <a:solidFill>
                  <a:srgbClr val="B5B5AD"/>
                </a:solidFill>
                <a:latin typeface="Outfit 1"/>
              </a:rPr>
              <a:t>Família, pessoas, trocas, proximidade.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063240"/>
            <a:ext cx="3749040" cy="265176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0573" y="3074213"/>
            <a:ext cx="3727094" cy="262981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3063240"/>
            <a:ext cx="374904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520440"/>
            <a:ext cx="320040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NO QUE É BOA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0690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0" i="0">
                <a:solidFill>
                  <a:srgbClr val="B5B5AD"/>
                </a:solidFill>
                <a:latin typeface="Outfit 1"/>
              </a:rPr>
              <a:t>Conhecimento, persuasão, liderança, persistência.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6035040"/>
            <a:ext cx="3749040" cy="265176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91133" y="6046013"/>
            <a:ext cx="3727094" cy="26298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0160" y="6035040"/>
            <a:ext cx="374904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6492240"/>
            <a:ext cx="320040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COMO CONTRIBUI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70408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0" i="0">
                <a:solidFill>
                  <a:srgbClr val="B5B5AD"/>
                </a:solidFill>
                <a:latin typeface="Outfit 1"/>
              </a:rPr>
              <a:t>Ajuda, compartilha, gera crescimento.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6035040"/>
            <a:ext cx="3749040" cy="265176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40573" y="6046013"/>
            <a:ext cx="3727094" cy="262981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6035040"/>
            <a:ext cx="374904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ONDE SE REALIZA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704088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0" i="0">
                <a:solidFill>
                  <a:srgbClr val="B5B5AD"/>
                </a:solidFill>
                <a:latin typeface="Outfit 1"/>
              </a:rPr>
              <a:t>Ver sonhos tomando forma e gente feliz.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4434840"/>
            <a:ext cx="2468880" cy="265176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4434840"/>
            <a:ext cx="228600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Outfit 1 Bold"/>
              </a:rPr>
              <a:t>SENTIDO</a:t>
            </a:r>
          </a:p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Outfit 1 Bold"/>
              </a:rPr>
              <a:t>E</a:t>
            </a:r>
          </a:p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Outfit 1 Bold"/>
              </a:rPr>
              <a:t>REALIZAÇÃO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28" name="Picture 27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32588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O CENTRO DO IKIGAI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627632"/>
            <a:ext cx="1572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150">
                <a:solidFill>
                  <a:srgbClr val="2E2E2A"/>
                </a:solidFill>
                <a:latin typeface="Outfit 1 Bold"/>
              </a:rPr>
              <a:t>RAZÃO DE 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77440"/>
            <a:ext cx="1572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1A1A1A"/>
                </a:solidFill>
                <a:latin typeface="Outfit 1 Bold"/>
              </a:rPr>
              <a:t>TRANSFORMAR POSSIBILIDADES EM</a:t>
            </a:r>
          </a:p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1A1A1A"/>
                </a:solidFill>
                <a:latin typeface="Outfit 1 Bold"/>
              </a:rPr>
              <a:t>REALIZAÇÕES CONCRETAS QUE FAÇAM</a:t>
            </a:r>
          </a:p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1A1A1A"/>
                </a:solidFill>
                <a:latin typeface="Outfit 1 Bold"/>
              </a:rPr>
              <a:t>DIFERENÇA NA VIDA DAS PESSOAS.</a:t>
            </a:r>
          </a:p>
        </p:txBody>
      </p:sp>
      <p:pic>
        <p:nvPicPr>
          <p:cNvPr id="5" name="Picture 4" descr="foto_E.jpg"/>
          <p:cNvPicPr>
            <a:picLocks noChangeAspect="1"/>
          </p:cNvPicPr>
          <p:nvPr/>
        </p:nvPicPr>
        <p:blipFill>
          <a:blip r:embed="rId2"/>
          <a:srcRect t="36312" b="36312"/>
          <a:stretch>
            <a:fillRect/>
          </a:stretch>
        </p:blipFill>
        <p:spPr>
          <a:xfrm>
            <a:off x="1280160" y="5166360"/>
            <a:ext cx="15727680" cy="2423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0160" y="7818120"/>
            <a:ext cx="15727680" cy="12344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91133" y="7829093"/>
            <a:ext cx="15705734" cy="121249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7818120"/>
            <a:ext cx="82296" cy="123444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20" y="7818120"/>
            <a:ext cx="14630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1A1A1A"/>
                </a:solidFill>
                <a:latin typeface="Outfit 1"/>
              </a:rPr>
              <a:t>A satisfação não termina nela: ganha força quando o que constrói também amplia algo para o outro.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11" name="Picture 10" descr="logo-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46304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83080"/>
            <a:ext cx="15727680" cy="922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A1A1A"/>
                </a:solidFill>
                <a:latin typeface="Outfit 1 Bold"/>
              </a:rPr>
              <a:t>ONDE HISTÓRIA E IKIGAI SE ENCONTRAM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3063240"/>
            <a:ext cx="4526280" cy="23317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1133" y="3074213"/>
            <a:ext cx="4504334" cy="2309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3063240"/>
            <a:ext cx="452628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502152"/>
            <a:ext cx="37947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VISÃO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959352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B5B5AD"/>
                </a:solidFill>
                <a:latin typeface="Outfit 1"/>
              </a:rPr>
              <a:t>Enxerga além da condição presente.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81560" y="3063240"/>
            <a:ext cx="4526280" cy="23317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492533" y="3074213"/>
            <a:ext cx="4504334" cy="230977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481560" y="3063240"/>
            <a:ext cx="452628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47320" y="3502152"/>
            <a:ext cx="37947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IMPULSO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47320" y="3959352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B5B5AD"/>
                </a:solidFill>
                <a:latin typeface="Outfit 1"/>
              </a:rPr>
              <a:t>Não se conforma com limites dados.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5669280"/>
            <a:ext cx="4526280" cy="23317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91133" y="5680253"/>
            <a:ext cx="4504334" cy="2309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" y="5669280"/>
            <a:ext cx="452628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6108192"/>
            <a:ext cx="37947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MODO DE AGIR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6565392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B5B5AD"/>
                </a:solidFill>
                <a:latin typeface="Outfit 1"/>
              </a:rPr>
              <a:t>Aprende, organiza, mobiliza e executa.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481560" y="5669280"/>
            <a:ext cx="4526280" cy="23317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492533" y="5680253"/>
            <a:ext cx="4504334" cy="230977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481560" y="5669280"/>
            <a:ext cx="452628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47320" y="6108192"/>
            <a:ext cx="379476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IMPACTO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47320" y="6565392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B5B5AD"/>
                </a:solidFill>
                <a:latin typeface="Outfit 1"/>
              </a:rPr>
              <a:t>Quer realizar e gerar transformação para outras pessoas.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3931920"/>
            <a:ext cx="4846320" cy="32461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3931920"/>
            <a:ext cx="4480560" cy="3246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Outfit 1 Bold"/>
              </a:rPr>
              <a:t>CONVERGÊNCIA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4206240"/>
            <a:ext cx="914400" cy="36576"/>
          </a:xfrm>
          <a:prstGeom prst="rect">
            <a:avLst/>
          </a:prstGeom>
          <a:solidFill>
            <a:srgbClr val="DC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67160" y="4206240"/>
            <a:ext cx="914400" cy="36576"/>
          </a:xfrm>
          <a:prstGeom prst="rect">
            <a:avLst/>
          </a:prstGeom>
          <a:solidFill>
            <a:srgbClr val="DC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06440" y="6812280"/>
            <a:ext cx="914400" cy="36576"/>
          </a:xfrm>
          <a:prstGeom prst="rect">
            <a:avLst/>
          </a:prstGeom>
          <a:solidFill>
            <a:srgbClr val="DC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67160" y="6812280"/>
            <a:ext cx="914400" cy="36576"/>
          </a:xfrm>
          <a:prstGeom prst="rect">
            <a:avLst/>
          </a:prstGeom>
          <a:solidFill>
            <a:srgbClr val="DC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0160" y="8229600"/>
            <a:ext cx="15727680" cy="96012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8229600"/>
            <a:ext cx="14996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1">
                <a:solidFill>
                  <a:srgbClr val="1A1A1A"/>
                </a:solidFill>
                <a:latin typeface="Outfit 1 Bold"/>
              </a:rPr>
              <a:t>HISTÓRIA MOSTRA O MOVIMENTO. IKIGAI REVELA O SENTIDO. JUNTOS, APONTAM A RAIZ.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33" name="Picture 32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32588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600200"/>
            <a:ext cx="15727680" cy="865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1A1A1A"/>
                </a:solidFill>
                <a:latin typeface="Outfit 1 Bold"/>
              </a:rPr>
              <a:t>A REVELAÇÃO DA ESSÊNCIA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788920"/>
            <a:ext cx="15727680" cy="21488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788920"/>
            <a:ext cx="14630400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A1A1A"/>
                </a:solidFill>
                <a:latin typeface="Outfit 1 Bold"/>
              </a:rPr>
              <a:t>ENXERGAR ALÉM DO QUE ESTÁ POSTO</a:t>
            </a:r>
          </a:p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1A1A1A"/>
                </a:solidFill>
                <a:latin typeface="Outfit 1 Bold"/>
              </a:rPr>
              <a:t>E FAZER EXISTIR O QUE AINDA É POSSIBILIDADE.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5394960"/>
            <a:ext cx="3685032" cy="333756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91133" y="5405933"/>
            <a:ext cx="3663086" cy="33156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53949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5806440"/>
            <a:ext cx="2953512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COMO ENXERGA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6355080"/>
            <a:ext cx="295351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O presente não precisa ser a versão final.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0368" y="5394960"/>
            <a:ext cx="3685032" cy="333756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41341" y="5405933"/>
            <a:ext cx="3663086" cy="331561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0368" y="53949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5806440"/>
            <a:ext cx="2953512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O QUE A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6355080"/>
            <a:ext cx="295351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A distância entre o que existe e o que ela imagina.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0576" y="5394960"/>
            <a:ext cx="3685032" cy="333756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91549" y="5405933"/>
            <a:ext cx="3663086" cy="33156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0576" y="53949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6336" y="5806440"/>
            <a:ext cx="2953512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COMO 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6355080"/>
            <a:ext cx="295351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Aprende, trabalha, cria, reorganiza e materializa.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130784" y="5394960"/>
            <a:ext cx="3685032" cy="333756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141757" y="5405933"/>
            <a:ext cx="3663086" cy="331561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130784" y="5394960"/>
            <a:ext cx="3685032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96544" y="5806440"/>
            <a:ext cx="2953512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O QUE TRANSFORMA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96544" y="6355080"/>
            <a:ext cx="295351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B5B5AD"/>
                </a:solidFill>
                <a:latin typeface="Outfit 1"/>
              </a:rPr>
              <a:t>Realidades, inclusive a de outras pessoas.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27" name="Picture 26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325880"/>
            <a:ext cx="1280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spc="120">
                <a:solidFill>
                  <a:srgbClr val="B5B5AD"/>
                </a:solidFill>
                <a:latin typeface="Outfit 1 Bold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600200"/>
            <a:ext cx="15727680" cy="1377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A1A"/>
                </a:solidFill>
                <a:latin typeface="Outfit 1 Bold"/>
              </a:rPr>
              <a:t>COMO ESSA ESSÊNCIA PODE TRANSBORDAR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A1A1A"/>
                </a:solidFill>
                <a:latin typeface="Outfit 1 Bold"/>
              </a:rPr>
              <a:t>PARA AS MARCAS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3246120"/>
            <a:ext cx="15727680" cy="141732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46120"/>
            <a:ext cx="23774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120">
                <a:solidFill>
                  <a:srgbClr val="E5E4DF"/>
                </a:solidFill>
                <a:latin typeface="Outfit 1 Bold"/>
              </a:rPr>
              <a:t>FLÁVIA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246120"/>
            <a:ext cx="119786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Outfit 1 Bold"/>
              </a:rPr>
              <a:t>Enxerga além do que está posto e faz existir o que ainda é possibilidade.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25712" y="4663440"/>
            <a:ext cx="36576" cy="32004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83480" y="4983480"/>
            <a:ext cx="8321040" cy="36576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83480" y="4983480"/>
            <a:ext cx="36576" cy="32004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267944" y="4983480"/>
            <a:ext cx="36576" cy="320040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0160" y="5440680"/>
            <a:ext cx="7680960" cy="251460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91133" y="5451653"/>
            <a:ext cx="7659014" cy="2492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0160" y="5440680"/>
            <a:ext cx="768096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5760720"/>
            <a:ext cx="685800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6172200"/>
            <a:ext cx="6858000" cy="602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A1A1A"/>
                </a:solidFill>
                <a:latin typeface="Outfit 1 Bold"/>
              </a:rPr>
              <a:t>Dar forma a possibilidades.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81228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B5B5AD"/>
                </a:solidFill>
                <a:latin typeface="Outfit 1"/>
              </a:rPr>
              <a:t>Partir de matéria, técnica e projeto para construir algo que antes existia apenas como ideia ou sonho.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5440680"/>
            <a:ext cx="7680960" cy="251460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7853" y="5451653"/>
            <a:ext cx="7659014" cy="2492654"/>
          </a:xfrm>
          <a:prstGeom prst="rect">
            <a:avLst/>
          </a:prstGeom>
          <a:solidFill>
            <a:srgbClr val="EDE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0" y="5440680"/>
            <a:ext cx="7680960" cy="73152"/>
          </a:xfrm>
          <a:prstGeom prst="rect">
            <a:avLst/>
          </a:prstGeom>
          <a:solidFill>
            <a:srgbClr val="2E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5760720"/>
            <a:ext cx="6858000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2E2E2A"/>
                </a:solidFill>
                <a:latin typeface="Outfit 1 Bold"/>
              </a:rPr>
              <a:t>MY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6172200"/>
            <a:ext cx="6858000" cy="602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A1A1A"/>
                </a:solidFill>
                <a:latin typeface="Outfit 1 Bold"/>
              </a:rPr>
              <a:t>Reabrir possibilidades.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681228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B5B5AD"/>
                </a:solidFill>
                <a:latin typeface="Outfit 1"/>
              </a:rPr>
              <a:t>Onde o processo enxergava sobra, Flávia viu matéria para criar outra coisa.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8229600"/>
            <a:ext cx="15727680" cy="1005840"/>
          </a:xfrm>
          <a:prstGeom prst="rect">
            <a:avLst/>
          </a:prstGeom>
          <a:solidFill>
            <a:srgbClr val="E5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8229600"/>
            <a:ext cx="14996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300" b="1" i="1">
                <a:solidFill>
                  <a:srgbClr val="1A1A1A"/>
                </a:solidFill>
                <a:latin typeface="Outfit 1 Bold"/>
              </a:rPr>
              <a:t>A REVELAÇÃO IDENTIFICA A RAIZ. A BASE ESTRATÉGICA DETERMINARÁ COMO ESSA RAIZ DEVE, OU NÃO, SE TRANSFORMAR EM ESTRATÉGIA PARA CADA MARCA.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947318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00000"/>
                </a:solidFill>
                <a:latin typeface="Outfit 1"/>
              </a:rPr>
              <a:t>REVELAÇÃO DE ESSÊNCIA</a:t>
            </a:r>
            <a:r>
              <a:rPr sz="1700" b="0" i="0">
                <a:solidFill>
                  <a:srgbClr val="000000"/>
                </a:solidFill>
                <a:latin typeface="Outfit 1"/>
              </a:rPr>
              <a:t>   |    </a:t>
            </a:r>
            <a:r>
              <a:rPr sz="1700" b="1" i="0">
                <a:solidFill>
                  <a:srgbClr val="000000"/>
                </a:solidFill>
                <a:latin typeface="Outfit 1"/>
              </a:rPr>
              <a:t>FLÁVIA PEREIRA MUCCELIN</a:t>
            </a:r>
          </a:p>
        </p:txBody>
      </p:sp>
      <p:pic>
        <p:nvPicPr>
          <p:cNvPr id="26" name="Picture 25" descr="logo-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68" y="9454896"/>
            <a:ext cx="1828800" cy="4307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DAHDB5KFpRw</dc:identifier>
  <dcterms:modified xsi:type="dcterms:W3CDTF">2011-08-01T06:04:30Z</dcterms:modified>
  <cp:revision>1</cp:revision>
  <dc:title>SABRE odonto - Lapidação de Essência</dc:title>
</cp:coreProperties>
</file>