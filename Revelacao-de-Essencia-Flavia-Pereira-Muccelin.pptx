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61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</p:sldIdLst>
  <p:sldSz cx="18288000" cy="10287000"/>
  <p:notesSz cx="6858000" cy="9144000"/>
  <p:embeddedFontLst>
    <p:embeddedFont>
      <p:font typeface="Outfit 1 Heavy" charset="1" panose="00000000000000000000"/>
      <p:regular r:id="rId49"/>
    </p:embeddedFont>
    <p:embeddedFont>
      <p:font typeface="IBM Plex Sans Thai" charset="1" panose="020B0503050203000203"/>
      <p:regular r:id="rId50"/>
    </p:embeddedFont>
    <p:embeddedFont>
      <p:font typeface="Outfit 2 Light" charset="1" panose="00000000000000000000"/>
      <p:regular r:id="rId51"/>
    </p:embeddedFont>
    <p:embeddedFont>
      <p:font typeface="Outfit 2 Medium" charset="1" panose="00000000000000000000"/>
      <p:regular r:id="rId52"/>
    </p:embeddedFont>
    <p:embeddedFont>
      <p:font typeface="Outfit 2 Semi-Bold" charset="1" panose="00000000000000000000"/>
      <p:regular r:id="rId53"/>
    </p:embeddedFont>
    <p:embeddedFont>
      <p:font typeface="Playfair Display" charset="1" panose="02000503000000020003"/>
      <p:regular r:id="rId54"/>
    </p:embeddedFont>
    <p:embeddedFont>
      <p:font typeface="Outfit 2" charset="1" panose="00000000000000000000"/>
      <p:regular r:id="rId55"/>
    </p:embeddedFont>
    <p:embeddedFont>
      <p:font typeface="Muli" charset="1" panose="00000500000000000000"/>
      <p:regular r:id="rId56"/>
    </p:embeddedFont>
    <p:embeddedFont>
      <p:font typeface="Outfit 1 Ultra-Bold" charset="1" panose="00000000000000000000"/>
      <p:regular r:id="rId57"/>
    </p:embeddedFont>
    <p:embeddedFont>
      <p:font typeface="Outfit 1" charset="1" panose="00000000000000000000"/>
      <p:regular r:id="rId58"/>
    </p:embeddedFont>
    <p:embeddedFont>
      <p:font typeface="Outfit 1 Bold" charset="1" panose="00000000000000000000"/>
      <p:regular r:id="rId59"/>
    </p:embeddedFont>
    <p:embeddedFont>
      <p:font typeface="Open Sans Bold" charset="1" panose="020B0806030504020204"/>
      <p:regular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49" Type="http://schemas.openxmlformats.org/officeDocument/2006/relationships/font" Target="fonts/font49.fntdata"/><Relationship Id="rId50" Type="http://schemas.openxmlformats.org/officeDocument/2006/relationships/font" Target="fonts/font50.fntdata"/><Relationship Id="rId51" Type="http://schemas.openxmlformats.org/officeDocument/2006/relationships/font" Target="fonts/font51.fntdata"/><Relationship Id="rId52" Type="http://schemas.openxmlformats.org/officeDocument/2006/relationships/font" Target="fonts/font52.fntdata"/><Relationship Id="rId53" Type="http://schemas.openxmlformats.org/officeDocument/2006/relationships/font" Target="fonts/font53.fntdata"/><Relationship Id="rId54" Type="http://schemas.openxmlformats.org/officeDocument/2006/relationships/font" Target="fonts/font54.fntdata"/><Relationship Id="rId55" Type="http://schemas.openxmlformats.org/officeDocument/2006/relationships/font" Target="fonts/font55.fntdata"/><Relationship Id="rId56" Type="http://schemas.openxmlformats.org/officeDocument/2006/relationships/font" Target="fonts/font56.fntdata"/><Relationship Id="rId57" Type="http://schemas.openxmlformats.org/officeDocument/2006/relationships/font" Target="fonts/font57.fntdata"/><Relationship Id="rId58" Type="http://schemas.openxmlformats.org/officeDocument/2006/relationships/font" Target="fonts/font58.fntdata"/><Relationship Id="rId59" Type="http://schemas.openxmlformats.org/officeDocument/2006/relationships/font" Target="fonts/font59.fntdata"/><Relationship Id="rId60" Type="http://schemas.openxmlformats.org/officeDocument/2006/relationships/font" Target="fonts/font60.fntdata"/><Relationship Id="rId61" Type="http://schemas.openxmlformats.org/officeDocument/2006/relationships/notesMaster" Target="notesMasters/notesMaster1.xml"/><Relationship Id="rId62" Type="http://schemas.openxmlformats.org/officeDocument/2006/relationships/theme" Target="theme/them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7640" y="6035040"/>
            <a:ext cx="141732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2880360"/>
            <a:ext cx="15727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0" b="1" i="0">
                <a:solidFill>
                  <a:srgbClr val="000000"/>
                </a:solidFill>
                <a:latin typeface="Outfit 1 Heavy"/>
              </a:rPr>
              <a:t>REVELAÇÃO 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4434840"/>
            <a:ext cx="12801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700" b="1" i="0">
                <a:solidFill>
                  <a:srgbClr val="000000"/>
                </a:solidFill>
                <a:latin typeface="Outfit 2 Semi-Bold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5532120"/>
            <a:ext cx="12435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1A1A1A"/>
                </a:solidFill>
                <a:latin typeface="Outfit 2"/>
              </a:rPr>
              <a:t>História, Ikigai e os padrões que existem na origem da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Forma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 e da </a:t>
            </a:r>
            <a:r>
              <a:rPr sz="2800" b="1" i="0">
                <a:solidFill>
                  <a:srgbClr val="1A1A1A"/>
                </a:solidFill>
                <a:latin typeface="Outfit 2 Semi-Bold"/>
              </a:rPr>
              <a:t>My Home</a:t>
            </a:r>
            <a:r>
              <a:rPr sz="2800" b="0" i="0">
                <a:solidFill>
                  <a:srgbClr val="1A1A1A"/>
                </a:solidFill>
                <a:latin typeface="Outfit 2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36192" y="7790688"/>
            <a:ext cx="18288" cy="1188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7882128"/>
            <a:ext cx="38404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680" b="0" i="0">
                <a:solidFill>
                  <a:srgbClr val="000000"/>
                </a:solidFill>
                <a:latin typeface="Outfit 2 Light"/>
              </a:rPr>
              <a:t>Método </a:t>
            </a:r>
            <a:r>
              <a:rPr sz="2680" b="1" i="0">
                <a:solidFill>
                  <a:srgbClr val="000000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112000"/>
              </a:lnSpc>
            </a:pPr>
            <a:r>
              <a:rPr sz="2680" b="1" i="0">
                <a:solidFill>
                  <a:srgbClr val="000000"/>
                </a:solidFill>
                <a:latin typeface="Outfit 2 Semi-Bold"/>
              </a:rPr>
              <a:t>com Essência</a:t>
            </a:r>
            <a:r>
              <a:rPr sz="1470" b="1" i="0">
                <a:solidFill>
                  <a:srgbClr val="000000"/>
                </a:solidFill>
                <a:latin typeface="Playfair Display"/>
              </a:rPr>
              <a:t> 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7790688"/>
            <a:ext cx="18288" cy="1188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7790688"/>
            <a:ext cx="4572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0" i="0" spc="200">
                <a:solidFill>
                  <a:srgbClr val="000000"/>
                </a:solidFill>
                <a:latin typeface="IBM Plex Sans Thai"/>
              </a:rPr>
              <a:t>FORMA  ·  MY HOME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POR QUE COMEÇAMOS PELA ESSÊNCIA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63240"/>
            <a:ext cx="14264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B5B5AD"/>
                </a:solidFill>
                <a:latin typeface="Outfit 1"/>
              </a:rPr>
              <a:t>Em marcas fortemente ligadas à fundadora, compreender sua história ajuda a identificar crenças, padrões e princípios que podem ter influenciado a criação, a cultura e a expressão das marcas.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5212080"/>
            <a:ext cx="15727680" cy="1417320"/>
          </a:xfrm>
          <a:prstGeom prst="roundRect">
            <a:avLst>
              <a:gd name="adj" fmla="val 15483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5223053"/>
            <a:ext cx="15705734" cy="1395374"/>
          </a:xfrm>
          <a:prstGeom prst="roundRect">
            <a:avLst>
              <a:gd name="adj" fmla="val 1494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431536"/>
            <a:ext cx="91440" cy="9784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20" y="5212080"/>
            <a:ext cx="146304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1">
                <a:solidFill>
                  <a:srgbClr val="B5B5AD"/>
                </a:solidFill>
                <a:latin typeface="Outfit 1"/>
              </a:rPr>
              <a:t>Não estamos fazendo uma análise psicológica.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7086600"/>
            <a:ext cx="15727680" cy="1417320"/>
          </a:xfrm>
          <a:prstGeom prst="roundRect">
            <a:avLst>
              <a:gd name="adj" fmla="val 15483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7086600"/>
            <a:ext cx="1499616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500" b="1" i="1">
                <a:solidFill>
                  <a:srgbClr val="1A1A1A"/>
                </a:solidFill>
                <a:latin typeface="Outfit 1 Bold"/>
              </a:rPr>
              <a:t>ESTAMOS INVESTIGANDO A ORIGEM IDENTITÁRIA DA FORMA E DA MY HOME.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2" name="Picture 1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808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Outfit 1 Bold"/>
              </a:rPr>
              <a:t>COMO ESSA ETAPA CONTRIBUI PARA O BRANDING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33756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34853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51176" y="35387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370332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61772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HISTÓRIA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5212080"/>
            <a:ext cx="28620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Revela referências e crenças de origem.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30368" y="333756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41341" y="334853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01384" y="35387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1848" y="370332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41848" y="461772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IKIGAI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41848" y="5212080"/>
            <a:ext cx="28620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Revela motivações e razão de 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0576" y="333756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91549" y="334853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1592" y="35387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92056" y="370332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92056" y="461772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PADRÕES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92056" y="5212080"/>
            <a:ext cx="28620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Revela formas recorrentes de agir e decidir.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130784" y="3337560"/>
            <a:ext cx="3685032" cy="370332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3141757" y="3348533"/>
            <a:ext cx="3663086" cy="368137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401800" y="35387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542264" y="3703320"/>
            <a:ext cx="2862072" cy="902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b="1" i="0">
                <a:solidFill>
                  <a:srgbClr val="2E2E2A"/>
                </a:solidFill>
                <a:latin typeface="Outfit 1 Bol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42264" y="4617720"/>
            <a:ext cx="2862072" cy="5125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A1A1A"/>
                </a:solidFill>
                <a:latin typeface="Outfit 1 Bold"/>
              </a:rPr>
              <a:t>ESSÊNCIA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42264" y="5212080"/>
            <a:ext cx="286207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Sintetiza aquilo que pode estar na raiz das marcas.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7589520"/>
            <a:ext cx="15727680" cy="1188720"/>
          </a:xfrm>
          <a:prstGeom prst="roundRect">
            <a:avLst>
              <a:gd name="adj" fmla="val 1846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7589520"/>
            <a:ext cx="32918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100">
                <a:solidFill>
                  <a:srgbClr val="2E2E2A"/>
                </a:solidFill>
                <a:latin typeface="Outfit 1 Bold"/>
              </a:rPr>
              <a:t>NA ETAPA SEGUINTE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7589520"/>
            <a:ext cx="1115568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1A1A1A"/>
                </a:solidFill>
                <a:latin typeface="Outfit 1"/>
              </a:rPr>
              <a:t>A Base Estratégica determinará o que disso deve se transformar em estratégia para cada marca.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COMO CHEGAMOS À REVELAÇÃO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384048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99693" y="385145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308860" y="40416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391363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HISTÓRIA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4690872"/>
            <a:ext cx="676656" cy="676656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469087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384048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25973" y="385145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35140" y="40416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16168" y="391363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IKIGAI</a:t>
            </a:r>
          </a:p>
        </p:txBody>
      </p:sp>
      <p:sp>
        <p:nvSpPr>
          <p:cNvPr id="14" name="Oval 13"/>
          <p:cNvSpPr/>
          <p:nvPr/>
        </p:nvSpPr>
        <p:spPr>
          <a:xfrm>
            <a:off x="9372600" y="4690872"/>
            <a:ext cx="676656" cy="676656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69087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3840480"/>
            <a:ext cx="338328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252253" y="3851453"/>
            <a:ext cx="336133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361420" y="40416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2448" y="3913632"/>
            <a:ext cx="298094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PADRÕES</a:t>
            </a:r>
          </a:p>
          <a:p>
            <a:pPr algn="ctr">
              <a:lnSpc>
                <a:spcPct val="112000"/>
              </a:lnSpc>
            </a:pPr>
            <a:r>
              <a:rPr sz="2300" b="1" i="0">
                <a:solidFill>
                  <a:srgbClr val="1A1A1A"/>
                </a:solidFill>
                <a:latin typeface="Outfit 1 Bold"/>
              </a:rPr>
              <a:t>RECORRENTES</a:t>
            </a:r>
          </a:p>
        </p:txBody>
      </p:sp>
      <p:sp>
        <p:nvSpPr>
          <p:cNvPr id="20" name="Oval 19"/>
          <p:cNvSpPr/>
          <p:nvPr/>
        </p:nvSpPr>
        <p:spPr>
          <a:xfrm>
            <a:off x="13898880" y="4690872"/>
            <a:ext cx="676656" cy="676656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898880" y="4690872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E2E2A"/>
                </a:solidFill>
                <a:latin typeface="Outfit 1 Bold"/>
              </a:rPr>
              <a:t>=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813280" y="3840480"/>
            <a:ext cx="2194560" cy="2377440"/>
          </a:xfrm>
          <a:prstGeom prst="roundRect">
            <a:avLst>
              <a:gd name="adj" fmla="val 1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904720" y="3840480"/>
            <a:ext cx="201168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Outfit 1 Bold"/>
              </a:rPr>
              <a:t>HIPÓTESE</a:t>
            </a:r>
          </a:p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FFFFFF"/>
                </a:solidFill>
                <a:latin typeface="Outfit 1 Bold"/>
              </a:rPr>
              <a:t>DE ESSÊNCIA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0160" y="7360920"/>
            <a:ext cx="15727680" cy="1325880"/>
          </a:xfrm>
          <a:prstGeom prst="roundRect">
            <a:avLst>
              <a:gd name="adj" fmla="val 1655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7360920"/>
            <a:ext cx="1499616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1">
                <a:solidFill>
                  <a:srgbClr val="1A1A1A"/>
                </a:solidFill>
                <a:latin typeface="Outfit 1 Bold"/>
              </a:rPr>
              <a:t>A APRESENTAÇÃO CRUZA TRAJETÓRIA, RAZÃO DE SER E COMPORTAMENTO RECORRENTE PARA REVELAR A RAIZ QUE ANTECEDE AS MARCAS.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7" name="Picture 26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HISTÓRIA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ONDE ESSA HISTÓRIA COMEÇA</a:t>
            </a:r>
          </a:p>
        </p:txBody>
      </p:sp>
      <p:pic>
        <p:nvPicPr>
          <p:cNvPr id="4" name="Picture 3" descr="foto_B.jpg"/>
          <p:cNvPicPr>
            <a:picLocks noChangeAspect="1"/>
          </p:cNvPicPr>
          <p:nvPr/>
        </p:nvPicPr>
        <p:blipFill>
          <a:blip r:embed="rId2"/>
          <a:srcRect l="17840" r="17840"/>
          <a:stretch>
            <a:fillRect/>
          </a:stretch>
        </p:blipFill>
        <p:spPr>
          <a:xfrm>
            <a:off x="10424160" y="3017520"/>
            <a:ext cx="6583680" cy="5760720"/>
          </a:xfrm>
          <a:prstGeom prst="roundRect">
            <a:avLst>
              <a:gd name="adj" fmla="val 5714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1752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2849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323697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331012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371246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Família muito humilde, mudança para Primavera do Leste, fé, trabalho e recomeço.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502920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1133" y="504017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1133" y="524865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532180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CONTEXTO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72414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Pai trabalhando como caseiro/vaqueiro, mãe presente, rotina de esforço e honestidade.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7040880"/>
            <a:ext cx="8778240" cy="1828800"/>
          </a:xfrm>
          <a:prstGeom prst="roundRect">
            <a:avLst>
              <a:gd name="adj" fmla="val 12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7051853"/>
            <a:ext cx="8756294" cy="180685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91133" y="7260336"/>
            <a:ext cx="91440" cy="138988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7333488"/>
            <a:ext cx="786384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MARCA INICIAL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7735824"/>
            <a:ext cx="7863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Desde cedo, a realidade presente nunca pareceu definir a realidade que Flávia conseguia imaginar.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1" name="Picture 2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B.jpg"/>
          <p:cNvPicPr>
            <a:picLocks noChangeAspect="1"/>
          </p:cNvPicPr>
          <p:nvPr/>
        </p:nvPicPr>
        <p:blipFill>
          <a:blip r:embed="rId2"/>
          <a:srcRect l="25140" r="25140"/>
          <a:stretch>
            <a:fillRect/>
          </a:stretch>
        </p:blipFill>
        <p:spPr>
          <a:xfrm>
            <a:off x="10424160" y="1325880"/>
            <a:ext cx="6583680" cy="7452360"/>
          </a:xfrm>
          <a:prstGeom prst="roundRect">
            <a:avLst>
              <a:gd name="adj" fmla="val 5000"/>
            </a:avLst>
          </a:prstGeom>
        </p:spPr>
      </p:pic>
      <p:sp>
        <p:nvSpPr>
          <p:cNvPr id="3" name="TextBox 2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OS PRIMEIROS SINAIS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920240"/>
            <a:ext cx="8595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“PAI, EU VOU</a:t>
            </a:r>
          </a:p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COMPRAR</a:t>
            </a:r>
          </a:p>
          <a:p>
            <a:pPr algn="l">
              <a:lnSpc>
                <a:spcPct val="106000"/>
              </a:lnSpc>
            </a:pPr>
            <a:r>
              <a:rPr sz="5600" b="1" i="0">
                <a:solidFill>
                  <a:srgbClr val="1A1A1A"/>
                </a:solidFill>
                <a:latin typeface="Outfit 1 Bold"/>
              </a:rPr>
              <a:t>ISSO AQUI.”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539496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806440"/>
            <a:ext cx="8595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B5B5AD"/>
                </a:solidFill>
                <a:latin typeface="Outfit 1"/>
              </a:rPr>
              <a:t>Ainda adolescente, Flávia imaginava outra vida antes de ela existir. O portão e a casa tornaram-se símbolos dessa visão de futuro.</a:t>
            </a:r>
          </a:p>
        </p:txBody>
      </p:sp>
      <p:sp>
        <p:nvSpPr>
          <p:cNvPr id="7" name="Oval 6"/>
          <p:cNvSpPr/>
          <p:nvPr/>
        </p:nvSpPr>
        <p:spPr>
          <a:xfrm>
            <a:off x="1316736" y="7699248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7635240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DESEJO DE CRESCER</a:t>
            </a:r>
          </a:p>
        </p:txBody>
      </p:sp>
      <p:sp>
        <p:nvSpPr>
          <p:cNvPr id="9" name="Oval 8"/>
          <p:cNvSpPr/>
          <p:nvPr/>
        </p:nvSpPr>
        <p:spPr>
          <a:xfrm>
            <a:off x="1316736" y="8174736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8110728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IMAGINAÇÃO DE FUTURO</a:t>
            </a:r>
          </a:p>
        </p:txBody>
      </p:sp>
      <p:sp>
        <p:nvSpPr>
          <p:cNvPr id="11" name="Oval 10"/>
          <p:cNvSpPr/>
          <p:nvPr/>
        </p:nvSpPr>
        <p:spPr>
          <a:xfrm>
            <a:off x="1316736" y="865022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8586216"/>
            <a:ext cx="8046720" cy="437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INCONFORMISMO COM A CONDIÇÃO DADA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4" name="Picture 13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PROFUNDIDADE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AS EXPERIÊNCIAS QUE A FORMARAM</a:t>
            </a:r>
          </a:p>
        </p:txBody>
      </p:sp>
      <p:pic>
        <p:nvPicPr>
          <p:cNvPr id="4" name="Picture 3" descr="foto_C.jpg"/>
          <p:cNvPicPr>
            <a:picLocks noChangeAspect="1"/>
          </p:cNvPicPr>
          <p:nvPr/>
        </p:nvPicPr>
        <p:blipFill>
          <a:blip r:embed="rId2"/>
          <a:srcRect l="22768" r="22768"/>
          <a:stretch>
            <a:fillRect/>
          </a:stretch>
        </p:blipFill>
        <p:spPr>
          <a:xfrm>
            <a:off x="11521440" y="3017520"/>
            <a:ext cx="5486400" cy="566928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865376" y="3246120"/>
            <a:ext cx="27432" cy="534924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3017520"/>
            <a:ext cx="603504" cy="603504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3017520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971800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TRABALHO PRECOCE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55848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Cozinhava com o pai no garimpo e aprendeu cedo a relação entre esforço e conquista.</a:t>
            </a:r>
          </a:p>
        </p:txBody>
      </p:sp>
      <p:sp>
        <p:nvSpPr>
          <p:cNvPr id="10" name="Oval 9"/>
          <p:cNvSpPr/>
          <p:nvPr/>
        </p:nvSpPr>
        <p:spPr>
          <a:xfrm>
            <a:off x="1572768" y="4517136"/>
            <a:ext cx="603504" cy="603504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72768" y="4517136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471416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DISCIPLINA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855464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Bicicleta, trabalho, faculdade e futsal para conquistar bolsa e seguir estudando.</a:t>
            </a:r>
          </a:p>
        </p:txBody>
      </p:sp>
      <p:sp>
        <p:nvSpPr>
          <p:cNvPr id="14" name="Oval 13"/>
          <p:cNvSpPr/>
          <p:nvPr/>
        </p:nvSpPr>
        <p:spPr>
          <a:xfrm>
            <a:off x="1572768" y="6016752"/>
            <a:ext cx="603504" cy="603504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72768" y="6016752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5971032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MÓVEIS PLANEJADOS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6355080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Dez anos de aprendizado técnico, conhecimento e domínio do setor.</a:t>
            </a:r>
          </a:p>
        </p:txBody>
      </p:sp>
      <p:sp>
        <p:nvSpPr>
          <p:cNvPr id="18" name="Oval 17"/>
          <p:cNvSpPr/>
          <p:nvPr/>
        </p:nvSpPr>
        <p:spPr>
          <a:xfrm>
            <a:off x="1572768" y="7516368"/>
            <a:ext cx="603504" cy="6035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72768" y="7516368"/>
            <a:ext cx="603504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Outfit 1 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7470648"/>
            <a:ext cx="81381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MATERNIDADE E RETORNO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7854696"/>
            <a:ext cx="8138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Pausa, reconfiguração e volta mais madura ao empreendedorismo.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3" name="Picture 22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CONTRASTE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808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1A1A"/>
                </a:solidFill>
                <a:latin typeface="Outfit 1 Bold"/>
              </a:rPr>
              <a:t>AS TENSÕES QUE A COLOCARAM EM MOVIMENTO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29184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1129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83080" y="329184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 CONDIÇÃO DE VIDA DIZIA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329184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“essa é a realidade disponível.”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115800" y="3858768"/>
            <a:ext cx="502920" cy="45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0" y="329184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outra.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470916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91133" y="492861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470916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O CARGO DIZIA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470916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“até aqui você pode chegar.”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15800" y="5276088"/>
            <a:ext cx="502920" cy="45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93040" y="470916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crescer.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612648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91133" y="634593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612648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AS FRANQUIAS DIZIAM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612648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“é assim que deve ser feito.”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115800" y="6693408"/>
            <a:ext cx="502920" cy="45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93040" y="612648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queria fazer do seu jeito.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7543800"/>
            <a:ext cx="15727680" cy="1207008"/>
          </a:xfrm>
          <a:prstGeom prst="roundRect">
            <a:avLst>
              <a:gd name="adj" fmla="val 1818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91133" y="7763256"/>
            <a:ext cx="91440" cy="768096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7543800"/>
            <a:ext cx="493776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80">
                <a:solidFill>
                  <a:srgbClr val="2E2E2A"/>
                </a:solidFill>
                <a:latin typeface="Outfit 1 Bold"/>
              </a:rPr>
              <a:t>AS SOBRAS DIZIAM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7543800"/>
            <a:ext cx="502920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B5B5AD"/>
                </a:solidFill>
                <a:latin typeface="Outfit 1"/>
              </a:rPr>
              <a:t>“isso terminou aqui.”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115800" y="8110728"/>
            <a:ext cx="502920" cy="4572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93040" y="7543800"/>
            <a:ext cx="3931920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1A1A1A"/>
                </a:solidFill>
                <a:latin typeface="Outfit 1 Bold"/>
              </a:rPr>
              <a:t>Flávia enxergou começo.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9" name="Picture 28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AS GRANDES VIRADAS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88920" y="4114800"/>
            <a:ext cx="658368" cy="658368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8920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MONTA SUA LOJA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Sai do papel de funcionária e assume uma trajetória própria.</a:t>
            </a:r>
          </a:p>
        </p:txBody>
      </p:sp>
      <p:sp>
        <p:nvSpPr>
          <p:cNvPr id="10" name="Oval 9"/>
          <p:cNvSpPr/>
          <p:nvPr/>
        </p:nvSpPr>
        <p:spPr>
          <a:xfrm>
            <a:off x="5047488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30368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41341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39128" y="4114800"/>
            <a:ext cx="658368" cy="658368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FAZ UMA PAUSA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Escolhe a maternidade, reorganiza a vida e se fortalece.</a:t>
            </a:r>
          </a:p>
        </p:txBody>
      </p:sp>
      <p:sp>
        <p:nvSpPr>
          <p:cNvPr id="17" name="Oval 16"/>
          <p:cNvSpPr/>
          <p:nvPr/>
        </p:nvSpPr>
        <p:spPr>
          <a:xfrm>
            <a:off x="8997696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80576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91549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689336" y="4114800"/>
            <a:ext cx="658368" cy="658368"/>
          </a:xfrm>
          <a:prstGeom prst="ellipse">
            <a:avLst/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89336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4896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RETORNA PELA FORMA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4896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Volta ao setor e reencontra o lugar onde quer construir.</a:t>
            </a:r>
          </a:p>
        </p:txBody>
      </p:sp>
      <p:sp>
        <p:nvSpPr>
          <p:cNvPr id="24" name="Oval 23"/>
          <p:cNvSpPr/>
          <p:nvPr/>
        </p:nvSpPr>
        <p:spPr>
          <a:xfrm>
            <a:off x="12947904" y="581558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3130784" y="3566160"/>
            <a:ext cx="3685032" cy="4663440"/>
          </a:xfrm>
          <a:prstGeom prst="roundRect">
            <a:avLst>
              <a:gd name="adj" fmla="val 595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141757" y="3577133"/>
            <a:ext cx="3663086" cy="4641494"/>
          </a:xfrm>
          <a:prstGeom prst="roundRect">
            <a:avLst>
              <a:gd name="adj" fmla="val 5691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639544" y="4114800"/>
            <a:ext cx="658368" cy="658368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9544" y="41148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05104" y="5212080"/>
            <a:ext cx="3136392" cy="48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i="0">
                <a:solidFill>
                  <a:srgbClr val="1A1A1A"/>
                </a:solidFill>
                <a:latin typeface="Outfit 1 Bold"/>
              </a:rPr>
              <a:t>CRIA A MY HOME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05104" y="5989320"/>
            <a:ext cx="31363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Transforma o descarte em nova possibilidade de negócio.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2" name="Picture 3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PADRÕES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PADRÃO INVISÍVEL</a:t>
            </a:r>
          </a:p>
        </p:txBody>
      </p:sp>
      <p:pic>
        <p:nvPicPr>
          <p:cNvPr id="4" name="Picture 3" descr="foto_D.jpg"/>
          <p:cNvPicPr>
            <a:picLocks noChangeAspect="1"/>
          </p:cNvPicPr>
          <p:nvPr/>
        </p:nvPicPr>
        <p:blipFill>
          <a:blip r:embed="rId2"/>
          <a:srcRect l="10237" r="10237"/>
          <a:stretch>
            <a:fillRect/>
          </a:stretch>
        </p:blipFill>
        <p:spPr>
          <a:xfrm>
            <a:off x="11064240" y="3063240"/>
            <a:ext cx="5943600" cy="4206240"/>
          </a:xfrm>
          <a:prstGeom prst="roundRect">
            <a:avLst>
              <a:gd name="adj" fmla="val 7826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6324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7421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718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ESCASSEZ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93192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a condição como destino.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306324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91733" y="307421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CARREIRA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2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o cargo como limite final.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525780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526877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71800" y="545896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69671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FRANQUIAS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612648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o modelo pronto como única forma.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5257800"/>
            <a:ext cx="4526280" cy="2011680"/>
          </a:xfrm>
          <a:prstGeom prst="roundRect">
            <a:avLst>
              <a:gd name="adj" fmla="val 10909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91733" y="5268773"/>
            <a:ext cx="4504334" cy="1989734"/>
          </a:xfrm>
          <a:prstGeom prst="roundRect">
            <a:avLst>
              <a:gd name="adj" fmla="val 1047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0" y="545896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69671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SOBRAS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6126480"/>
            <a:ext cx="3794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B5B5AD"/>
                </a:solidFill>
                <a:latin typeface="Outfit 1"/>
              </a:rPr>
              <a:t>Não aceita o descarte como fim.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80160" y="7498080"/>
            <a:ext cx="15727680" cy="1280160"/>
          </a:xfrm>
          <a:prstGeom prst="roundRect">
            <a:avLst>
              <a:gd name="adj" fmla="val 17142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7498080"/>
            <a:ext cx="14996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1">
                <a:solidFill>
                  <a:srgbClr val="1A1A1A"/>
                </a:solidFill>
                <a:latin typeface="Outfit 1 Bold"/>
              </a:rPr>
              <a:t>EM HISTÓRIAS DIFERENTES, APARECE O MESMO MOVIMENTO: A REALIDADE PRESENTE NUNCA É TRATADA COMO A VERSÃO FINAL DO POSSÍVEL.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8" name="Picture 2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MOVIMENTO QUE SE REPETE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74904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76001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64715" y="395020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9888" y="382219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PERCEBE 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CONDIÇÃO</a:t>
            </a:r>
          </a:p>
        </p:txBody>
      </p:sp>
      <p:sp>
        <p:nvSpPr>
          <p:cNvPr id="8" name="Oval 7"/>
          <p:cNvSpPr/>
          <p:nvPr/>
        </p:nvSpPr>
        <p:spPr>
          <a:xfrm>
            <a:off x="3785616" y="485546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59936" y="374904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70909" y="376001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4491" y="395020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9664" y="382219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IMAGINA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ALGO ALÉM</a:t>
            </a:r>
          </a:p>
        </p:txBody>
      </p:sp>
      <p:sp>
        <p:nvSpPr>
          <p:cNvPr id="13" name="Oval 12"/>
          <p:cNvSpPr/>
          <p:nvPr/>
        </p:nvSpPr>
        <p:spPr>
          <a:xfrm>
            <a:off x="6565392" y="485546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39712" y="374904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0685" y="376001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24267" y="395020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382219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BUSCA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CONHECIMENTO</a:t>
            </a:r>
          </a:p>
        </p:txBody>
      </p:sp>
      <p:sp>
        <p:nvSpPr>
          <p:cNvPr id="18" name="Oval 17"/>
          <p:cNvSpPr/>
          <p:nvPr/>
        </p:nvSpPr>
        <p:spPr>
          <a:xfrm>
            <a:off x="9345168" y="485546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19488" y="374904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0461" y="376001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404043" y="395020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9216" y="382219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MOBILIZA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PESSOAS</a:t>
            </a:r>
          </a:p>
        </p:txBody>
      </p:sp>
      <p:sp>
        <p:nvSpPr>
          <p:cNvPr id="23" name="Oval 22"/>
          <p:cNvSpPr/>
          <p:nvPr/>
        </p:nvSpPr>
        <p:spPr>
          <a:xfrm>
            <a:off x="12124944" y="485546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399264" y="374904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10237" y="3760013"/>
            <a:ext cx="2355494" cy="2355494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3183819" y="3950208"/>
            <a:ext cx="80833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508992" y="382219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A1A1A"/>
                </a:solidFill>
                <a:latin typeface="Outfit 1 Bold"/>
              </a:rPr>
              <a:t>CONSTRÓI</a:t>
            </a:r>
          </a:p>
        </p:txBody>
      </p:sp>
      <p:sp>
        <p:nvSpPr>
          <p:cNvPr id="28" name="Oval 27"/>
          <p:cNvSpPr/>
          <p:nvPr/>
        </p:nvSpPr>
        <p:spPr>
          <a:xfrm>
            <a:off x="14904720" y="4855464"/>
            <a:ext cx="146304" cy="146304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5179040" y="3749040"/>
            <a:ext cx="2377440" cy="2377440"/>
          </a:xfrm>
          <a:prstGeom prst="roundRect">
            <a:avLst>
              <a:gd name="adj" fmla="val 923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288768" y="3822192"/>
            <a:ext cx="2157984" cy="23042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TRANSFORMA</a:t>
            </a:r>
          </a:p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Outfit 1 Bold"/>
              </a:rPr>
              <a:t>EM REALIDADE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6949440"/>
            <a:ext cx="15727680" cy="1371600"/>
          </a:xfrm>
          <a:prstGeom prst="roundRect">
            <a:avLst>
              <a:gd name="adj" fmla="val 16000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6949440"/>
            <a:ext cx="149961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1">
                <a:solidFill>
                  <a:srgbClr val="1A1A1A"/>
                </a:solidFill>
                <a:latin typeface="Outfit 1 Bold"/>
              </a:rPr>
              <a:t>A MUDANÇA NÃO NASCE DE UM IMPULSO ISOLADO. ELA SEGUE UMA SEQUÊNCIA RECONHECÍVEL DE VISÃO, APRENDIZADO E REALIZAÇÃO.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4" name="Picture 33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0" y="7040880"/>
            <a:ext cx="1234440" cy="14721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187452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A LINHA-MESTRA DA HISTÓRIA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2468880"/>
            <a:ext cx="1280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 i="0">
                <a:solidFill>
                  <a:srgbClr val="B5B5AD"/>
                </a:solidFill>
                <a:latin typeface="Outfit 1"/>
              </a:rPr>
              <a:t>Ao longo da trajetória, Flávia parece repetir um mesmo movimento: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36192" y="3520440"/>
            <a:ext cx="169164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6192" y="4023360"/>
            <a:ext cx="14630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000000"/>
                </a:solidFill>
                <a:latin typeface="Outfit 1 Bold"/>
              </a:rPr>
              <a:t>ELA NÃO ACEITA QUE</a:t>
            </a:r>
          </a:p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000000"/>
                </a:solidFill>
                <a:latin typeface="Outfit 1 Bold"/>
              </a:rPr>
              <a:t>O QUE EXISTE DETERMINE</a:t>
            </a:r>
          </a:p>
          <a:p>
            <a:pPr algn="l">
              <a:lnSpc>
                <a:spcPct val="108000"/>
              </a:lnSpc>
            </a:pPr>
            <a:r>
              <a:rPr sz="6800" b="1" i="0">
                <a:solidFill>
                  <a:srgbClr val="000000"/>
                </a:solidFill>
                <a:latin typeface="Outfit 1 Bold"/>
              </a:rPr>
              <a:t>O QUE PODE EXISTIR.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9" name="Picture 8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16916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IKIGAI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057400"/>
            <a:ext cx="9144000" cy="1889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A1A1A"/>
                </a:solidFill>
                <a:latin typeface="Outfit 1 Bold"/>
              </a:rPr>
              <a:t>O QUE MOVE</a:t>
            </a:r>
          </a:p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1A1A1A"/>
                </a:solidFill>
                <a:latin typeface="Outfit 1 Bold"/>
              </a:rPr>
              <a:t>A TRAJETÓRIA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4617720"/>
            <a:ext cx="1463040" cy="6400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oto_C.jpg"/>
          <p:cNvPicPr>
            <a:picLocks noChangeAspect="1"/>
          </p:cNvPicPr>
          <p:nvPr/>
        </p:nvPicPr>
        <p:blipFill>
          <a:blip r:embed="rId3"/>
          <a:srcRect l="20379" r="20379"/>
          <a:stretch>
            <a:fillRect/>
          </a:stretch>
        </p:blipFill>
        <p:spPr>
          <a:xfrm>
            <a:off x="9692640" y="1691640"/>
            <a:ext cx="7315200" cy="6949440"/>
          </a:xfrm>
          <a:prstGeom prst="roundRect">
            <a:avLst>
              <a:gd name="adj" fmla="val 4736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1280160" y="5120640"/>
            <a:ext cx="7863840" cy="3520440"/>
          </a:xfrm>
          <a:prstGeom prst="roundRect">
            <a:avLst>
              <a:gd name="adj" fmla="val 6233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91133" y="5131613"/>
            <a:ext cx="7841894" cy="3498494"/>
          </a:xfrm>
          <a:prstGeom prst="roundRect">
            <a:avLst>
              <a:gd name="adj" fmla="val 59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91133" y="5340096"/>
            <a:ext cx="91440" cy="308152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5532120"/>
            <a:ext cx="6903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0">
                <a:solidFill>
                  <a:srgbClr val="B5B5AD"/>
                </a:solidFill>
                <a:latin typeface="Outfit 1"/>
              </a:rPr>
              <a:t>A história mostra como Flávia se formou e como age diante da vida.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903720"/>
            <a:ext cx="6903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1" i="0">
                <a:solidFill>
                  <a:srgbClr val="1A1A1A"/>
                </a:solidFill>
                <a:latin typeface="Outfit 1 Bold"/>
              </a:rPr>
              <a:t>O Ikigai entra para revelar o que gera sentido, realização e vontade de contribuir.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3" name="Picture 12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 MAPA DO IKIGAI</a:t>
            </a:r>
          </a:p>
        </p:txBody>
      </p:sp>
      <p:pic>
        <p:nvPicPr>
          <p:cNvPr id="4" name="Picture 3" descr="foto_E.jpg"/>
          <p:cNvPicPr>
            <a:picLocks noChangeAspect="1"/>
          </p:cNvPicPr>
          <p:nvPr/>
        </p:nvPicPr>
        <p:blipFill>
          <a:blip r:embed="rId2"/>
          <a:srcRect l="27122" r="27122"/>
          <a:stretch>
            <a:fillRect/>
          </a:stretch>
        </p:blipFill>
        <p:spPr>
          <a:xfrm>
            <a:off x="12435840" y="3063240"/>
            <a:ext cx="4572000" cy="5623560"/>
          </a:xfrm>
          <a:prstGeom prst="roundRect">
            <a:avLst>
              <a:gd name="adj" fmla="val 7199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280160" y="30632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91133" y="30742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8318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35204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0690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Família, pessoas, trocas, proximidade.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0632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0573" y="30742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3262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35204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NO QUE É BOA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40690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Conhecimento, persuasão, liderança, persistência.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60350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1133" y="60460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83180" y="62362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64922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CONTRIBUI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70408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Ajuda, compartilha, gera crescimento.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6035040"/>
            <a:ext cx="3749040" cy="2651760"/>
          </a:xfrm>
          <a:prstGeom prst="roundRect">
            <a:avLst>
              <a:gd name="adj" fmla="val 82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40573" y="6046013"/>
            <a:ext cx="3727094" cy="2629814"/>
          </a:xfrm>
          <a:prstGeom prst="roundRect">
            <a:avLst>
              <a:gd name="adj" fmla="val 792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32620" y="62362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ONDE SE REALIZA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70408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Ver sonhos tomando forma e gente feliz.</a:t>
            </a:r>
          </a:p>
        </p:txBody>
      </p:sp>
      <p:sp>
        <p:nvSpPr>
          <p:cNvPr id="25" name="Oval 24"/>
          <p:cNvSpPr/>
          <p:nvPr/>
        </p:nvSpPr>
        <p:spPr>
          <a:xfrm>
            <a:off x="5230368" y="4480560"/>
            <a:ext cx="2788920" cy="2788920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21808" y="4480560"/>
            <a:ext cx="2606040" cy="2788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SENTIDO</a:t>
            </a:r>
          </a:p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E</a:t>
            </a:r>
          </a:p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FFFFF"/>
                </a:solidFill>
                <a:latin typeface="Outfit 1 Bold"/>
              </a:rPr>
              <a:t>REALIZAÇÃO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8" name="Picture 2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O CENTRO DO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27632"/>
            <a:ext cx="1572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 spc="150">
                <a:solidFill>
                  <a:srgbClr val="2E2E2A"/>
                </a:solidFill>
                <a:latin typeface="Outfit 1 Bold"/>
              </a:rPr>
              <a:t>RAZÃO DE 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377440"/>
            <a:ext cx="15727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TRANSFORMAR POSSIBILIDADES EM</a:t>
            </a:r>
          </a:p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REALIZAÇÕES CONCRETAS QUE FAÇAM</a:t>
            </a:r>
          </a:p>
          <a:p>
            <a:pPr algn="l">
              <a:lnSpc>
                <a:spcPct val="108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DIFERENÇA NA VIDA DAS PESSOAS.</a:t>
            </a:r>
          </a:p>
        </p:txBody>
      </p:sp>
      <p:pic>
        <p:nvPicPr>
          <p:cNvPr id="5" name="Picture 4" descr="foto_E.jpg"/>
          <p:cNvPicPr>
            <a:picLocks noChangeAspect="1"/>
          </p:cNvPicPr>
          <p:nvPr/>
        </p:nvPicPr>
        <p:blipFill>
          <a:blip r:embed="rId2"/>
          <a:srcRect t="36312" b="36312"/>
          <a:stretch>
            <a:fillRect/>
          </a:stretch>
        </p:blipFill>
        <p:spPr>
          <a:xfrm>
            <a:off x="1280160" y="5166360"/>
            <a:ext cx="15727680" cy="2423160"/>
          </a:xfrm>
          <a:prstGeom prst="roundRect">
            <a:avLst>
              <a:gd name="adj" fmla="val 13584"/>
            </a:avLst>
          </a:prstGeom>
        </p:spPr>
      </p:pic>
      <p:sp>
        <p:nvSpPr>
          <p:cNvPr id="6" name="Rounded Rectangle 5"/>
          <p:cNvSpPr/>
          <p:nvPr/>
        </p:nvSpPr>
        <p:spPr>
          <a:xfrm>
            <a:off x="1280160" y="7818120"/>
            <a:ext cx="15727680" cy="1234440"/>
          </a:xfrm>
          <a:prstGeom prst="roundRect">
            <a:avLst>
              <a:gd name="adj" fmla="val 17777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7829093"/>
            <a:ext cx="15705734" cy="1212494"/>
          </a:xfrm>
          <a:prstGeom prst="roundRect">
            <a:avLst>
              <a:gd name="adj" fmla="val 17194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91133" y="8037576"/>
            <a:ext cx="91440" cy="795528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7818120"/>
            <a:ext cx="14630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1">
                <a:solidFill>
                  <a:srgbClr val="1A1A1A"/>
                </a:solidFill>
                <a:latin typeface="Outfit 1"/>
              </a:rPr>
              <a:t>A satisfação não termina nela: ganha força quando o que constrói também amplia algo para o outro.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11" name="Picture 10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46304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783080"/>
            <a:ext cx="15727680" cy="922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A1A1A"/>
                </a:solidFill>
                <a:latin typeface="Outfit 1 Bold"/>
              </a:rPr>
              <a:t>ONDE HISTÓRIA E IKIGAI SE ENCONTRAM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06324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91133" y="307421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718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VISÃO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5935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Enxerga além da condição presente.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481560" y="306324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492533" y="307421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73200" y="326440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47320" y="350215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IMPULSO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47320" y="395935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Não se conforma com limites dados.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0160" y="566928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91133" y="568025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71800" y="58704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610819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MODO DE AGIR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656539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Aprende, organiza, mobiliza e executa.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481560" y="5669280"/>
            <a:ext cx="4526280" cy="2331720"/>
          </a:xfrm>
          <a:prstGeom prst="roundRect">
            <a:avLst>
              <a:gd name="adj" fmla="val 9411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2492533" y="5680253"/>
            <a:ext cx="4504334" cy="2309774"/>
          </a:xfrm>
          <a:prstGeom prst="roundRect">
            <a:avLst>
              <a:gd name="adj" fmla="val 9026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73200" y="58704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47320" y="6108192"/>
            <a:ext cx="379476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IMPACTO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47320" y="6565392"/>
            <a:ext cx="3794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Quer realizar e gerar transformação para outras pessoas.</a:t>
            </a:r>
          </a:p>
        </p:txBody>
      </p:sp>
      <p:sp>
        <p:nvSpPr>
          <p:cNvPr id="24" name="Oval 23"/>
          <p:cNvSpPr/>
          <p:nvPr/>
        </p:nvSpPr>
        <p:spPr>
          <a:xfrm>
            <a:off x="7178040" y="3611880"/>
            <a:ext cx="3931920" cy="3931920"/>
          </a:xfrm>
          <a:prstGeom prst="ellipse">
            <a:avLst/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3611880"/>
            <a:ext cx="356616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Outfit 1 Bold"/>
              </a:rPr>
              <a:t>CONVERGÊNCIA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420624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420624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806440" y="681228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1018520" y="6812280"/>
            <a:ext cx="1463040" cy="45720"/>
          </a:xfrm>
          <a:prstGeom prst="roundRect">
            <a:avLst>
              <a:gd name="adj" fmla="val 50000"/>
            </a:avLst>
          </a:prstGeom>
          <a:solidFill>
            <a:srgbClr val="DC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280160" y="8229600"/>
            <a:ext cx="15727680" cy="960120"/>
          </a:xfrm>
          <a:prstGeom prst="roundRect">
            <a:avLst>
              <a:gd name="adj" fmla="val 22857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45920" y="8229600"/>
            <a:ext cx="14996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 i="1">
                <a:solidFill>
                  <a:srgbClr val="1A1A1A"/>
                </a:solidFill>
                <a:latin typeface="Outfit 1 Bold"/>
              </a:rPr>
              <a:t>HISTÓRIA MOSTRA O MOVIMENTO. IKIGAI REVELA O SENTIDO. JUNTOS, APONTAM A RAIZ.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33" name="Picture 32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00200"/>
            <a:ext cx="15727680" cy="865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A1A1A"/>
                </a:solidFill>
                <a:latin typeface="Outfit 1 Bold"/>
              </a:rPr>
              <a:t>A REVELAÇÃO DA ESSÊNCIA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2788920"/>
            <a:ext cx="15727680" cy="2148840"/>
          </a:xfrm>
          <a:prstGeom prst="roundRect">
            <a:avLst>
              <a:gd name="adj" fmla="val 10212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788920"/>
            <a:ext cx="14630400" cy="2148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A1A1A"/>
                </a:solidFill>
                <a:latin typeface="Outfit 1 Bold"/>
              </a:rPr>
              <a:t>ENXERGAR ALÉM DO QUE ESTÁ POSTO</a:t>
            </a:r>
          </a:p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1A1A1A"/>
                </a:solidFill>
                <a:latin typeface="Outfit 1 Bold"/>
              </a:rPr>
              <a:t>E FAZER EXISTIR O QUE AINDA É POSSIBILIDADE.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1133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51176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5806440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ENXERGA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6355080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O presente não precisa ser a versão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41341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01384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96128" y="5806440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A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6355080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A distância entre o que existe e o que ela imagina.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0576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91549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51592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46336" y="5806440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COMO 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6355080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Aprende, trabalha, cria, reorganiza e materializa.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130784" y="5394960"/>
            <a:ext cx="3685032" cy="3337560"/>
          </a:xfrm>
          <a:prstGeom prst="roundRect">
            <a:avLst>
              <a:gd name="adj" fmla="val 6575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3141757" y="5405933"/>
            <a:ext cx="3663086" cy="3315614"/>
          </a:xfrm>
          <a:prstGeom prst="roundRect">
            <a:avLst>
              <a:gd name="adj" fmla="val 6287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4401800" y="559612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96544" y="5806440"/>
            <a:ext cx="2953512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O QUE TRANSFORMA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96544" y="6355080"/>
            <a:ext cx="29535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B5B5AD"/>
                </a:solidFill>
                <a:latin typeface="Outfit 1"/>
              </a:rPr>
              <a:t>Realidades, inclusive a de outras pessoas.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7" name="Picture 26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1325880"/>
            <a:ext cx="12801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 spc="120">
                <a:solidFill>
                  <a:srgbClr val="B5B5AD"/>
                </a:solidFill>
                <a:latin typeface="Outfit 1 Bold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600200"/>
            <a:ext cx="15727680" cy="1377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COMO ESSA ESSÊNCIA PODE TRANSBORDAR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A1A1A"/>
                </a:solidFill>
                <a:latin typeface="Outfit 1 Bold"/>
              </a:rPr>
              <a:t>PARA AS MARCAS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3246120"/>
            <a:ext cx="15727680" cy="1417320"/>
          </a:xfrm>
          <a:prstGeom prst="roundRect">
            <a:avLst>
              <a:gd name="adj" fmla="val 15483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246120"/>
            <a:ext cx="23774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 spc="120">
                <a:solidFill>
                  <a:srgbClr val="E5E4DF"/>
                </a:solidFill>
                <a:latin typeface="Outfit 1 Bold"/>
              </a:rPr>
              <a:t>FLÁVIA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3246120"/>
            <a:ext cx="119786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Outfit 1 Bold"/>
              </a:rPr>
              <a:t>Enxerga além do que está posto e faz existir o que ainda é possibilidade.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16568" y="4663440"/>
            <a:ext cx="54864" cy="365760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83480" y="4974336"/>
            <a:ext cx="8321040" cy="54864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983480" y="4974336"/>
            <a:ext cx="54864" cy="34747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3249656" y="4974336"/>
            <a:ext cx="54864" cy="34747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80160" y="5440680"/>
            <a:ext cx="7680960" cy="2514600"/>
          </a:xfrm>
          <a:prstGeom prst="roundRect">
            <a:avLst>
              <a:gd name="adj" fmla="val 8727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1133" y="5451653"/>
            <a:ext cx="7659014" cy="2492654"/>
          </a:xfrm>
          <a:prstGeom prst="roundRect">
            <a:avLst>
              <a:gd name="adj" fmla="val 836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49140" y="5641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5833872"/>
            <a:ext cx="68580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FORMA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172200"/>
            <a:ext cx="6858000" cy="602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A1A1A"/>
                </a:solidFill>
                <a:latin typeface="Outfit 1 Bold"/>
              </a:rPr>
              <a:t>Dar forma a possibilidades.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81228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Partir de matéria, técnica e projeto para construir algo que antes existia apenas como ideia ou sonho.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5440680"/>
            <a:ext cx="7680960" cy="2514600"/>
          </a:xfrm>
          <a:prstGeom prst="roundRect">
            <a:avLst>
              <a:gd name="adj" fmla="val 8727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337853" y="5451653"/>
            <a:ext cx="7659014" cy="2492654"/>
          </a:xfrm>
          <a:prstGeom prst="roundRect">
            <a:avLst>
              <a:gd name="adj" fmla="val 8363"/>
            </a:avLst>
          </a:prstGeom>
          <a:solidFill>
            <a:srgbClr val="EDE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595860" y="5641848"/>
            <a:ext cx="1143000" cy="73152"/>
          </a:xfrm>
          <a:prstGeom prst="roundRect">
            <a:avLst>
              <a:gd name="adj" fmla="val 50000"/>
            </a:avLst>
          </a:prstGeom>
          <a:solidFill>
            <a:srgbClr val="2E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38360" y="5833872"/>
            <a:ext cx="6858000" cy="452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1" i="0">
                <a:solidFill>
                  <a:srgbClr val="2E2E2A"/>
                </a:solidFill>
                <a:latin typeface="Outfit 1 Bold"/>
              </a:rPr>
              <a:t>MY HOME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6172200"/>
            <a:ext cx="6858000" cy="602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A1A1A"/>
                </a:solidFill>
                <a:latin typeface="Outfit 1 Bold"/>
              </a:rPr>
              <a:t>Reabrir possibilidades.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6812280"/>
            <a:ext cx="6858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 i="0">
                <a:solidFill>
                  <a:srgbClr val="B5B5AD"/>
                </a:solidFill>
                <a:latin typeface="Outfit 1"/>
              </a:rPr>
              <a:t>Onde o processo enxergava sobra, Flávia viu matéria para criar outra coisa.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80160" y="8229600"/>
            <a:ext cx="15727680" cy="1005840"/>
          </a:xfrm>
          <a:prstGeom prst="roundRect">
            <a:avLst>
              <a:gd name="adj" fmla="val 21818"/>
            </a:avLst>
          </a:prstGeom>
          <a:solidFill>
            <a:srgbClr val="E5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8229600"/>
            <a:ext cx="14996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300" b="1" i="1">
                <a:solidFill>
                  <a:srgbClr val="1A1A1A"/>
                </a:solidFill>
                <a:latin typeface="Outfit 1 Bold"/>
              </a:rPr>
              <a:t>A REVELAÇÃO IDENTIFICA A RAIZ. A BASE ESTRATÉGICA DETERMINARÁ COMO ESSA RAIZ DEVE, OU NÃO, SE TRANSFORMAR EM ESTRATÉGIA PARA CADA MARCA.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947318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000000"/>
                </a:solidFill>
                <a:latin typeface="Outfit 1"/>
              </a:rPr>
              <a:t>REVELAÇÃO DE ESSÊNCIA</a:t>
            </a:r>
            <a:r>
              <a:rPr sz="1700" b="0" i="0">
                <a:solidFill>
                  <a:srgbClr val="000000"/>
                </a:solidFill>
                <a:latin typeface="Outfit 1"/>
              </a:rPr>
              <a:t>   |    </a:t>
            </a:r>
            <a:r>
              <a:rPr sz="1700" b="1" i="0">
                <a:solidFill>
                  <a:srgbClr val="000000"/>
                </a:solidFill>
                <a:latin typeface="Outfit 1"/>
              </a:rPr>
              <a:t>FLÁVIA PEREIRA MUCCELIN</a:t>
            </a:r>
          </a:p>
        </p:txBody>
      </p:sp>
      <p:pic>
        <p:nvPicPr>
          <p:cNvPr id="26" name="Picture 25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8768" y="9454896"/>
            <a:ext cx="1828800" cy="4307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DAHDB5KFpRw</dc:identifier>
  <dcterms:modified xsi:type="dcterms:W3CDTF">2011-08-01T06:04:30Z</dcterms:modified>
  <cp:revision>1</cp:revision>
  <dc:title>SABRE odonto - Lapidação de Essência</dc:title>
</cp:coreProperties>
</file>