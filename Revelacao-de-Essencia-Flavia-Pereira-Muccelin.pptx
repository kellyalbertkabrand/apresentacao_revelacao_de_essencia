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61"/>
  </p:notesMasterIdLst>
  <p:sldIdLst>
    <p:sldId id="256" r:id="rId20"/>
    <p:sldId id="257" r:id="rId21"/>
    <p:sldId id="258" r:id="rId22"/>
    <p:sldId id="259" r:id="rId23"/>
    <p:sldId id="260" r:id="rId24"/>
    <p:sldId id="261" r:id="rId25"/>
    <p:sldId id="262" r:id="rId26"/>
    <p:sldId id="263" r:id="rId27"/>
    <p:sldId id="264" r:id="rId28"/>
    <p:sldId id="265" r:id="rId29"/>
    <p:sldId id="266" r:id="rId30"/>
    <p:sldId id="267" r:id="rId31"/>
    <p:sldId id="268" r:id="rId32"/>
    <p:sldId id="269" r:id="rId33"/>
    <p:sldId id="270" r:id="rId34"/>
    <p:sldId id="271" r:id="rId35"/>
    <p:sldId id="272" r:id="rId36"/>
    <p:sldId id="273" r:id="rId37"/>
    <p:sldId id="274" r:id="rId38"/>
    <p:sldId id="275" r:id="rId39"/>
    <p:sldId id="276" r:id="rId40"/>
    <p:sldId id="277" r:id="rId41"/>
    <p:sldId id="278" r:id="rId42"/>
    <p:sldId id="279" r:id="rId43"/>
    <p:sldId id="280" r:id="rId44"/>
    <p:sldId id="281" r:id="rId45"/>
    <p:sldId id="282" r:id="rId46"/>
    <p:sldId id="283" r:id="rId47"/>
  </p:sldIdLst>
  <p:sldSz cx="18288000" cy="10287000"/>
  <p:notesSz cx="6858000" cy="9144000"/>
  <p:embeddedFontLst>
    <p:embeddedFont>
      <p:font typeface="Outfit 1 Heavy" charset="1" panose="00000000000000000000"/>
      <p:regular r:id="rId49"/>
    </p:embeddedFont>
    <p:embeddedFont>
      <p:font typeface="IBM Plex Sans Thai" charset="1" panose="020B0503050203000203"/>
      <p:regular r:id="rId50"/>
    </p:embeddedFont>
    <p:embeddedFont>
      <p:font typeface="Outfit 2 Light" charset="1" panose="00000000000000000000"/>
      <p:regular r:id="rId51"/>
    </p:embeddedFont>
    <p:embeddedFont>
      <p:font typeface="Outfit 2 Medium" charset="1" panose="00000000000000000000"/>
      <p:regular r:id="rId52"/>
    </p:embeddedFont>
    <p:embeddedFont>
      <p:font typeface="Outfit 2 Semi-Bold" charset="1" panose="00000000000000000000"/>
      <p:regular r:id="rId53"/>
    </p:embeddedFont>
    <p:embeddedFont>
      <p:font typeface="Playfair Display" charset="1" panose="02000503000000020003"/>
      <p:regular r:id="rId54"/>
    </p:embeddedFont>
    <p:embeddedFont>
      <p:font typeface="Outfit 2" charset="1" panose="00000000000000000000"/>
      <p:regular r:id="rId55"/>
    </p:embeddedFont>
    <p:embeddedFont>
      <p:font typeface="Muli" charset="1" panose="00000500000000000000"/>
      <p:regular r:id="rId56"/>
    </p:embeddedFont>
    <p:embeddedFont>
      <p:font typeface="Outfit 1 Ultra-Bold" charset="1" panose="00000000000000000000"/>
      <p:regular r:id="rId57"/>
    </p:embeddedFont>
    <p:embeddedFont>
      <p:font typeface="Outfit 1" charset="1" panose="00000000000000000000"/>
      <p:regular r:id="rId58"/>
    </p:embeddedFont>
    <p:embeddedFont>
      <p:font typeface="Outfit 1 Bold" charset="1" panose="00000000000000000000"/>
      <p:regular r:id="rId59"/>
    </p:embeddedFont>
    <p:embeddedFont>
      <p:font typeface="Open Sans Bold" charset="1" panose="020B0806030504020204"/>
      <p:regular r:id="rId6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20" Type="http://schemas.openxmlformats.org/officeDocument/2006/relationships/slide" Target="slides/slide1.xml"/><Relationship Id="rId21" Type="http://schemas.openxmlformats.org/officeDocument/2006/relationships/slide" Target="slides/slide2.xml"/><Relationship Id="rId22" Type="http://schemas.openxmlformats.org/officeDocument/2006/relationships/slide" Target="slides/slide3.xml"/><Relationship Id="rId23" Type="http://schemas.openxmlformats.org/officeDocument/2006/relationships/slide" Target="slides/slide4.xml"/><Relationship Id="rId24" Type="http://schemas.openxmlformats.org/officeDocument/2006/relationships/slide" Target="slides/slide5.xml"/><Relationship Id="rId25" Type="http://schemas.openxmlformats.org/officeDocument/2006/relationships/slide" Target="slides/slide6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9.xml"/><Relationship Id="rId29" Type="http://schemas.openxmlformats.org/officeDocument/2006/relationships/slide" Target="slides/slide10.xml"/><Relationship Id="rId30" Type="http://schemas.openxmlformats.org/officeDocument/2006/relationships/slide" Target="slides/slide11.xml"/><Relationship Id="rId31" Type="http://schemas.openxmlformats.org/officeDocument/2006/relationships/slide" Target="slides/slide12.xml"/><Relationship Id="rId32" Type="http://schemas.openxmlformats.org/officeDocument/2006/relationships/slide" Target="slides/slide13.xml"/><Relationship Id="rId33" Type="http://schemas.openxmlformats.org/officeDocument/2006/relationships/slide" Target="slides/slide14.xml"/><Relationship Id="rId34" Type="http://schemas.openxmlformats.org/officeDocument/2006/relationships/slide" Target="slides/slide15.xml"/><Relationship Id="rId35" Type="http://schemas.openxmlformats.org/officeDocument/2006/relationships/slide" Target="slides/slide16.xml"/><Relationship Id="rId36" Type="http://schemas.openxmlformats.org/officeDocument/2006/relationships/slide" Target="slides/slide17.xml"/><Relationship Id="rId37" Type="http://schemas.openxmlformats.org/officeDocument/2006/relationships/slide" Target="slides/slide18.xml"/><Relationship Id="rId38" Type="http://schemas.openxmlformats.org/officeDocument/2006/relationships/slide" Target="slides/slide19.xml"/><Relationship Id="rId39" Type="http://schemas.openxmlformats.org/officeDocument/2006/relationships/slide" Target="slides/slide20.xml"/><Relationship Id="rId40" Type="http://schemas.openxmlformats.org/officeDocument/2006/relationships/slide" Target="slides/slide21.xml"/><Relationship Id="rId41" Type="http://schemas.openxmlformats.org/officeDocument/2006/relationships/slide" Target="slides/slide22.xml"/><Relationship Id="rId42" Type="http://schemas.openxmlformats.org/officeDocument/2006/relationships/slide" Target="slides/slide23.xml"/><Relationship Id="rId43" Type="http://schemas.openxmlformats.org/officeDocument/2006/relationships/slide" Target="slides/slide24.xml"/><Relationship Id="rId44" Type="http://schemas.openxmlformats.org/officeDocument/2006/relationships/slide" Target="slides/slide25.xml"/><Relationship Id="rId45" Type="http://schemas.openxmlformats.org/officeDocument/2006/relationships/slide" Target="slides/slide26.xml"/><Relationship Id="rId46" Type="http://schemas.openxmlformats.org/officeDocument/2006/relationships/slide" Target="slides/slide27.xml"/><Relationship Id="rId47" Type="http://schemas.openxmlformats.org/officeDocument/2006/relationships/slide" Target="slides/slide28.xml"/><Relationship Id="rId49" Type="http://schemas.openxmlformats.org/officeDocument/2006/relationships/font" Target="fonts/font49.fntdata"/><Relationship Id="rId50" Type="http://schemas.openxmlformats.org/officeDocument/2006/relationships/font" Target="fonts/font50.fntdata"/><Relationship Id="rId51" Type="http://schemas.openxmlformats.org/officeDocument/2006/relationships/font" Target="fonts/font51.fntdata"/><Relationship Id="rId52" Type="http://schemas.openxmlformats.org/officeDocument/2006/relationships/font" Target="fonts/font52.fntdata"/><Relationship Id="rId53" Type="http://schemas.openxmlformats.org/officeDocument/2006/relationships/font" Target="fonts/font53.fntdata"/><Relationship Id="rId54" Type="http://schemas.openxmlformats.org/officeDocument/2006/relationships/font" Target="fonts/font54.fntdata"/><Relationship Id="rId55" Type="http://schemas.openxmlformats.org/officeDocument/2006/relationships/font" Target="fonts/font55.fntdata"/><Relationship Id="rId56" Type="http://schemas.openxmlformats.org/officeDocument/2006/relationships/font" Target="fonts/font56.fntdata"/><Relationship Id="rId57" Type="http://schemas.openxmlformats.org/officeDocument/2006/relationships/font" Target="fonts/font57.fntdata"/><Relationship Id="rId58" Type="http://schemas.openxmlformats.org/officeDocument/2006/relationships/font" Target="fonts/font58.fntdata"/><Relationship Id="rId59" Type="http://schemas.openxmlformats.org/officeDocument/2006/relationships/font" Target="fonts/font59.fntdata"/><Relationship Id="rId60" Type="http://schemas.openxmlformats.org/officeDocument/2006/relationships/font" Target="fonts/font60.fntdata"/><Relationship Id="rId61" Type="http://schemas.openxmlformats.org/officeDocument/2006/relationships/notesMaster" Target="notesMasters/notesMaster1.xml"/><Relationship Id="rId62" Type="http://schemas.openxmlformats.org/officeDocument/2006/relationships/theme" Target="theme/them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oto_A.jpg"/>
          <p:cNvPicPr>
            <a:picLocks noChangeAspect="1"/>
          </p:cNvPicPr>
          <p:nvPr/>
        </p:nvPicPr>
        <p:blipFill>
          <a:blip r:embed="rId2"/>
          <a:srcRect l="23986" r="23986"/>
          <a:stretch>
            <a:fillRect/>
          </a:stretch>
        </p:blipFill>
        <p:spPr>
          <a:xfrm>
            <a:off x="8778240" y="0"/>
            <a:ext cx="950976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17830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MÉTODO MARCA COM ESSÊNCIA 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520440"/>
            <a:ext cx="6766560" cy="244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8200" i="0" b="0">
                <a:solidFill>
                  <a:srgbClr val="1C1C1A"/>
                </a:solidFill>
                <a:latin typeface="Outfit 2 Light"/>
              </a:rPr>
              <a:t>Revelação</a:t>
            </a:r>
          </a:p>
          <a:p>
            <a:pPr algn="l">
              <a:lnSpc>
                <a:spcPct val="104000"/>
              </a:lnSpc>
            </a:pPr>
            <a:r>
              <a:rPr sz="8200" i="0" b="0">
                <a:solidFill>
                  <a:srgbClr val="1C1C1A"/>
                </a:solidFill>
                <a:latin typeface="Outfit 2 Light"/>
              </a:rPr>
              <a:t>de Essência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635508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68122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i="0" b="0" spc="240">
                <a:solidFill>
                  <a:srgbClr val="1C1C1A"/>
                </a:solidFill>
                <a:latin typeface="Outfit 2 Semi-Bold"/>
              </a:rPr>
              <a:t>Flávia Pereira Muccelin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7406640"/>
            <a:ext cx="6309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50" i="0" b="0">
                <a:solidFill>
                  <a:srgbClr val="6B6B66"/>
                </a:solidFill>
                <a:latin typeface="Outfit 2 Light"/>
              </a:rPr>
              <a:t>A essência da Flávia como fundadora e os padrões que estão na origem da Forma e da My Home.</a:t>
            </a:r>
          </a:p>
        </p:txBody>
      </p:sp>
      <p:pic>
        <p:nvPicPr>
          <p:cNvPr id="8" name="Picture 7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9098280"/>
            <a:ext cx="1691640" cy="39841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1600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SUMÁRIO</a:t>
            </a:r>
          </a:p>
        </p:txBody>
      </p:sp>
      <p:sp>
        <p:nvSpPr>
          <p:cNvPr id="3" name="Rectangle 2"/>
          <p:cNvSpPr/>
          <p:nvPr/>
        </p:nvSpPr>
        <p:spPr>
          <a:xfrm>
            <a:off x="2011680" y="2240280"/>
            <a:ext cx="124358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6060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240">
                <a:solidFill>
                  <a:srgbClr val="A9724A"/>
                </a:solidFill>
                <a:latin typeface="Outfit 2 Semi-Bold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2496312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i="0" b="0">
                <a:solidFill>
                  <a:srgbClr val="1C1C1A"/>
                </a:solidFill>
                <a:latin typeface="Outfit 2 Light"/>
              </a:rPr>
              <a:t>A origem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3026664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i="0" b="0">
                <a:solidFill>
                  <a:srgbClr val="A5A49F"/>
                </a:solidFill>
                <a:latin typeface="Outfit 2 Light"/>
              </a:rPr>
              <a:t>As experiências que formaram a visão de mundo da Flávia.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374136"/>
            <a:ext cx="124358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739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240">
                <a:solidFill>
                  <a:srgbClr val="A9724A"/>
                </a:solidFill>
                <a:latin typeface="Outfit 2 Semi-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3630168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i="0" b="0">
                <a:solidFill>
                  <a:srgbClr val="1C1C1A"/>
                </a:solidFill>
                <a:latin typeface="Outfit 2 Light"/>
              </a:rPr>
              <a:t>As tensões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41605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i="0" b="0">
                <a:solidFill>
                  <a:srgbClr val="A5A49F"/>
                </a:solidFill>
                <a:latin typeface="Outfit 2 Light"/>
              </a:rPr>
              <a:t>Os momentos que a colocaram em movimento.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4507992"/>
            <a:ext cx="124358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48737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240">
                <a:solidFill>
                  <a:srgbClr val="A9724A"/>
                </a:solidFill>
                <a:latin typeface="Outfit 2 Semi-Bol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4764024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i="0" b="0">
                <a:solidFill>
                  <a:srgbClr val="1C1C1A"/>
                </a:solidFill>
                <a:latin typeface="Outfit 2 Light"/>
              </a:rPr>
              <a:t>Os padrões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5294376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i="0" b="0">
                <a:solidFill>
                  <a:srgbClr val="A5A49F"/>
                </a:solidFill>
                <a:latin typeface="Outfit 2 Light"/>
              </a:rPr>
              <a:t>A lógica que se repete ao longo da trajetória.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5641848"/>
            <a:ext cx="124358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600760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240">
                <a:solidFill>
                  <a:srgbClr val="A9724A"/>
                </a:solidFill>
                <a:latin typeface="Outfit 2 Semi-Bold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58978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i="0" b="0">
                <a:solidFill>
                  <a:srgbClr val="1C1C1A"/>
                </a:solidFill>
                <a:latin typeface="Outfit 2 Light"/>
              </a:rPr>
              <a:t>O Ikigai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6428232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i="0" b="0">
                <a:solidFill>
                  <a:srgbClr val="A5A49F"/>
                </a:solidFill>
                <a:latin typeface="Outfit 2 Light"/>
              </a:rPr>
              <a:t>O que gera sentido e realização para a Flávia.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0" y="6775704"/>
            <a:ext cx="124358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80" y="71414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240">
                <a:solidFill>
                  <a:srgbClr val="A9724A"/>
                </a:solidFill>
                <a:latin typeface="Outfit 2 Semi-Bold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7031736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i="0" b="0">
                <a:solidFill>
                  <a:srgbClr val="1C1C1A"/>
                </a:solidFill>
                <a:latin typeface="Outfit 2 Light"/>
              </a:rPr>
              <a:t>A essência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756208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i="0" b="0">
                <a:solidFill>
                  <a:srgbClr val="A5A49F"/>
                </a:solidFill>
                <a:latin typeface="Outfit 2 Light"/>
              </a:rPr>
              <a:t>O princípio que conecta a sua história.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7909560"/>
            <a:ext cx="124358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11680" y="82753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240">
                <a:solidFill>
                  <a:srgbClr val="A9724A"/>
                </a:solidFill>
                <a:latin typeface="Outfit 2 Semi-Bold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8165592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i="0" b="0">
                <a:solidFill>
                  <a:srgbClr val="1C1C1A"/>
                </a:solidFill>
                <a:latin typeface="Outfit 2 Light"/>
              </a:rPr>
              <a:t>As marcas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8695944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i="0" b="0">
                <a:solidFill>
                  <a:srgbClr val="A5A49F"/>
                </a:solidFill>
                <a:latin typeface="Outfit 2 Light"/>
              </a:rPr>
              <a:t>Como essa essência se manifesta na origem da Forma e da My Home.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11680" y="9043416"/>
            <a:ext cx="124358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1600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CONCEITO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148840"/>
            <a:ext cx="14264640" cy="928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Por que começamos pela essência?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3187192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794760"/>
            <a:ext cx="122529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i="0" b="0">
                <a:solidFill>
                  <a:srgbClr val="1C1C1A"/>
                </a:solidFill>
                <a:latin typeface="Outfit 2 Light"/>
              </a:rPr>
              <a:t>A Forma e a My Home são negócios distintos, mas nasceram e se desenvolveram a partir da visão de uma mesma fundadora.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166360"/>
            <a:ext cx="12252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i="0" b="0">
                <a:solidFill>
                  <a:srgbClr val="6B6B66"/>
                </a:solidFill>
                <a:latin typeface="Outfit 2 Light"/>
              </a:rPr>
              <a:t>Em marcas fortemente ligadas à fundadora, compreender a história de quem as criou ajuda a identificar crenças, princípios e formas de pensar e agir que influenciaram a construção dos negócios.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694944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73152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O QUE NÃO 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7772400"/>
            <a:ext cx="6217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i="0" b="0">
                <a:solidFill>
                  <a:srgbClr val="6B6B66"/>
                </a:solidFill>
                <a:latin typeface="Outfit 2 Light"/>
              </a:rPr>
              <a:t>Uma análise psicológica da Flávia.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7315200"/>
            <a:ext cx="12802" cy="1554480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0" y="73152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O QUE 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7772400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i="0" b="0">
                <a:solidFill>
                  <a:srgbClr val="1C1C1A"/>
                </a:solidFill>
                <a:latin typeface="Outfit 2 Light"/>
              </a:rPr>
              <a:t>A investigação da origem identitária das marcas a partir da fundadora.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35661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A PERGUNTA QUE CONDUZ ESTA ETAPA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4206240"/>
            <a:ext cx="13898880" cy="203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5600" i="0" b="0">
                <a:solidFill>
                  <a:srgbClr val="1C1C1A"/>
                </a:solidFill>
                <a:latin typeface="Outfit 2 Light"/>
              </a:rPr>
              <a:t>O que já fazia parte de quem a Flávia é</a:t>
            </a:r>
          </a:p>
          <a:p>
            <a:pPr algn="l">
              <a:lnSpc>
                <a:spcPct val="124000"/>
              </a:lnSpc>
            </a:pPr>
            <a:r>
              <a:rPr sz="5600" i="0" b="0">
                <a:solidFill>
                  <a:srgbClr val="1C1C1A"/>
                </a:solidFill>
                <a:latin typeface="Outfit 2 Light"/>
              </a:rPr>
              <a:t>antes da Forma e da My Home?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1600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148840"/>
            <a:ext cx="14264640" cy="928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Como chegamos à revelação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3187192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703320"/>
            <a:ext cx="12435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6B6B66"/>
                </a:solidFill>
                <a:latin typeface="Outfit 2 Light"/>
              </a:rPr>
              <a:t>A essência não é definida por uma característica isolada. Ela se revela quando diferentes momentos da trajetória apresentam uma mesma lógica.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120640"/>
            <a:ext cx="315468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39496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i="0" b="0">
                <a:solidFill>
                  <a:srgbClr val="1C1C1A"/>
                </a:solidFill>
                <a:latin typeface="Outfit 2 Light"/>
              </a:rPr>
              <a:t>História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035040"/>
            <a:ext cx="31546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i="0" b="0">
                <a:solidFill>
                  <a:srgbClr val="6B6B66"/>
                </a:solidFill>
                <a:latin typeface="Outfit 2 Light"/>
              </a:rPr>
              <a:t>Mostra as experiências e as referências que formaram a visão de mundo da Flávia.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0" y="5120640"/>
            <a:ext cx="315468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15000" y="539496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i="0" b="0">
                <a:solidFill>
                  <a:srgbClr val="1C1C1A"/>
                </a:solidFill>
                <a:latin typeface="Outfit 2 Light"/>
              </a:rPr>
              <a:t>Tensões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6035040"/>
            <a:ext cx="31546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i="0" b="0">
                <a:solidFill>
                  <a:srgbClr val="6B6B66"/>
                </a:solidFill>
                <a:latin typeface="Outfit 2 Light"/>
              </a:rPr>
              <a:t>Mostram os momentos em que aquilo que existia entrou em conflito com aquilo que ela desejava ou conseguia enxergar.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18320" y="5120640"/>
            <a:ext cx="315468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0" y="539496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i="0" b="0">
                <a:solidFill>
                  <a:srgbClr val="1C1C1A"/>
                </a:solidFill>
                <a:latin typeface="Outfit 2 Light"/>
              </a:rPr>
              <a:t>Padrões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6035040"/>
            <a:ext cx="31546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i="0" b="0">
                <a:solidFill>
                  <a:srgbClr val="6B6B66"/>
                </a:solidFill>
                <a:latin typeface="Outfit 2 Light"/>
              </a:rPr>
              <a:t>Revelam como a Flávia responde, repetidamente, a essas situações.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121640" y="5120640"/>
            <a:ext cx="315468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21640" y="539496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i="0" b="0">
                <a:solidFill>
                  <a:srgbClr val="1C1C1A"/>
                </a:solidFill>
                <a:latin typeface="Outfit 2 Light"/>
              </a:rPr>
              <a:t>Ikigai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21640" y="6035040"/>
            <a:ext cx="31546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i="0" b="0">
                <a:solidFill>
                  <a:srgbClr val="6B6B66"/>
                </a:solidFill>
                <a:latin typeface="Outfit 2 Light"/>
              </a:rPr>
              <a:t>Revela o que gera sentido, realização e vontade de contribuir.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8046720"/>
            <a:ext cx="1426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i="0" b="0">
                <a:solidFill>
                  <a:srgbClr val="6B6B66"/>
                </a:solidFill>
                <a:latin typeface="Outfit 2 Light"/>
              </a:rPr>
              <a:t>História</a:t>
            </a:r>
            <a:r>
              <a:rPr sz="2600" i="0" b="0">
                <a:solidFill>
                  <a:srgbClr val="A9724A"/>
                </a:solidFill>
                <a:latin typeface="Outfit 2 Light"/>
              </a:rPr>
              <a:t>  +  </a:t>
            </a:r>
            <a:r>
              <a:rPr sz="2600" i="0" b="0">
                <a:solidFill>
                  <a:srgbClr val="6B6B66"/>
                </a:solidFill>
                <a:latin typeface="Outfit 2 Light"/>
              </a:rPr>
              <a:t>tensões</a:t>
            </a:r>
            <a:r>
              <a:rPr sz="2600" i="0" b="0">
                <a:solidFill>
                  <a:srgbClr val="A9724A"/>
                </a:solidFill>
                <a:latin typeface="Outfit 2 Light"/>
              </a:rPr>
              <a:t>  +  </a:t>
            </a:r>
            <a:r>
              <a:rPr sz="2600" i="0" b="0">
                <a:solidFill>
                  <a:srgbClr val="6B6B66"/>
                </a:solidFill>
                <a:latin typeface="Outfit 2 Light"/>
              </a:rPr>
              <a:t>padrões</a:t>
            </a:r>
            <a:r>
              <a:rPr sz="2600" i="0" b="0">
                <a:solidFill>
                  <a:srgbClr val="A9724A"/>
                </a:solidFill>
                <a:latin typeface="Outfit 2 Light"/>
              </a:rPr>
              <a:t>  +  </a:t>
            </a:r>
            <a:r>
              <a:rPr sz="2600" i="0" b="0">
                <a:solidFill>
                  <a:srgbClr val="6B6B66"/>
                </a:solidFill>
                <a:latin typeface="Outfit 2 Light"/>
              </a:rPr>
              <a:t>Ikigai</a:t>
            </a:r>
            <a:r>
              <a:rPr sz="2600" i="0" b="0">
                <a:solidFill>
                  <a:srgbClr val="A9724A"/>
                </a:solidFill>
                <a:latin typeface="Outfit 2 Light"/>
              </a:rPr>
              <a:t>  =  </a:t>
            </a:r>
            <a:r>
              <a:rPr sz="2600" i="0" b="0">
                <a:solidFill>
                  <a:srgbClr val="1C1C1A"/>
                </a:solidFill>
                <a:latin typeface="Outfit 2 Semi-Bold"/>
              </a:rPr>
              <a:t>essência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8686800"/>
            <a:ext cx="1426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i="0" b="0">
                <a:solidFill>
                  <a:srgbClr val="A5A49F"/>
                </a:solidFill>
                <a:latin typeface="Outfit 2 Light"/>
              </a:rPr>
              <a:t>A essência é o princípio central que conecta essas dimensões e revela a lógica que orienta a forma como a Flávia enxerga, age e transforma.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39776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300">
                <a:solidFill>
                  <a:srgbClr val="A9724A"/>
                </a:solidFill>
                <a:latin typeface="Outfit 2 Semi-Bold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4526280"/>
            <a:ext cx="14264640" cy="146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2 Light"/>
              </a:rPr>
              <a:t>A origem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672084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oto_B.jpg"/>
          <p:cNvPicPr>
            <a:picLocks noChangeAspect="1"/>
          </p:cNvPicPr>
          <p:nvPr/>
        </p:nvPicPr>
        <p:blipFill>
          <a:blip r:embed="rId2"/>
          <a:srcRect l="28989" r="28989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1600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A ORIGEM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2148840"/>
            <a:ext cx="7863840" cy="871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i="0" b="0">
                <a:solidFill>
                  <a:srgbClr val="1C1C1A"/>
                </a:solidFill>
                <a:latin typeface="Outfit 2 Light"/>
              </a:rPr>
              <a:t>Onde essa história começa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54680"/>
            <a:ext cx="78638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520440"/>
            <a:ext cx="76809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A história familiar da Flávia é marcada por escassez, trabalho, fé e recomeços.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846320"/>
            <a:ext cx="7680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i="0" b="0">
                <a:solidFill>
                  <a:srgbClr val="6B6B66"/>
                </a:solidFill>
                <a:latin typeface="Outfit 2 Light"/>
              </a:rPr>
              <a:t>A família deixou Guiratinga e foi para Primavera do Leste em busca de uma vida melhor. O pai da Flávia passou a trabalhar como caseiro justamente na propriedade onde, décadas depois, ela viveria como proprietária.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704088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A Flávia chegou àquele lugar como “a filha do peão”.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832104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864108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i="0" b="0" spc="200">
                <a:solidFill>
                  <a:srgbClr val="A5A49F"/>
                </a:solidFill>
                <a:latin typeface="Outfit 2 Semi-Bold"/>
              </a:rPr>
              <a:t>TRABALHO   ·   FAMÍLIA   ·   FÉ   ·   HONESTIDADE   ·   GRATIDÃO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oto_C.jpg"/>
          <p:cNvPicPr>
            <a:picLocks noChangeAspect="1"/>
          </p:cNvPicPr>
          <p:nvPr/>
        </p:nvPicPr>
        <p:blipFill>
          <a:blip r:embed="rId2"/>
          <a:srcRect l="28489" r="28489"/>
          <a:stretch>
            <a:fillRect/>
          </a:stretch>
        </p:blipFill>
        <p:spPr>
          <a:xfrm>
            <a:off x="0" y="0"/>
            <a:ext cx="786384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0" y="1600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A ORIGEM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2148840"/>
            <a:ext cx="7315200" cy="871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i="0" b="0">
                <a:solidFill>
                  <a:srgbClr val="1C1C1A"/>
                </a:solidFill>
                <a:latin typeface="Outfit 2 Light"/>
              </a:rPr>
              <a:t>Os primeiros sinais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0" y="3154680"/>
            <a:ext cx="731520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0" y="3520440"/>
            <a:ext cx="7223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i="0" b="0">
                <a:solidFill>
                  <a:srgbClr val="1C1C1A"/>
                </a:solidFill>
                <a:latin typeface="Outfit 2 Light"/>
              </a:rPr>
              <a:t>A vontade de construir uma realidade diferente aparece muito antes da criação das empresas.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4617720"/>
            <a:ext cx="72237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50" i="0" b="0">
                <a:solidFill>
                  <a:srgbClr val="6B6B66"/>
                </a:solidFill>
                <a:latin typeface="Outfit 2 Light"/>
              </a:rPr>
              <a:t>Ainda criança, a Flávia acompanhava o pai no garimpo e chegou a cozinhar para os trabalhadores. Mais tarde, ia de bicicleta da chácara até o centro para trabalhar. Também estudava e jogava futsal para conquistar uma bolsa que ajudasse a manter a faculdade.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46520"/>
            <a:ext cx="7223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i="0" b="0">
                <a:solidFill>
                  <a:srgbClr val="A5A49F"/>
                </a:solidFill>
                <a:latin typeface="Outfit 2 Light"/>
              </a:rPr>
              <a:t>Ela mesma diz: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85800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5600" i="0" b="0">
                <a:solidFill>
                  <a:srgbClr val="A9724A"/>
                </a:solidFill>
                <a:latin typeface="Outfit 2 Light"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0928" y="6967728"/>
            <a:ext cx="6583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i="0" b="0">
                <a:solidFill>
                  <a:srgbClr val="1C1C1A"/>
                </a:solidFill>
                <a:latin typeface="Outfit 2 Light"/>
              </a:rPr>
              <a:t>Eu não quero isso para mim.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7635240"/>
            <a:ext cx="7223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i="0" b="0">
                <a:solidFill>
                  <a:srgbClr val="A5A49F"/>
                </a:solidFill>
                <a:latin typeface="Outfit 2 Light"/>
              </a:rPr>
              <a:t>E, mais tarde, ao perceber que o cargo limitaria o seu crescimento: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804672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5600" i="0" b="0">
                <a:solidFill>
                  <a:srgbClr val="A9724A"/>
                </a:solidFill>
                <a:latin typeface="Outfit 2 Light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0928" y="8156448"/>
            <a:ext cx="6583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i="0" b="0">
                <a:solidFill>
                  <a:srgbClr val="1C1C1A"/>
                </a:solidFill>
                <a:latin typeface="Outfit 2 Light"/>
              </a:rPr>
              <a:t>Eu queria mais.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1600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A ORIGEM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148840"/>
            <a:ext cx="14264640" cy="928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As experiências que a formaram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3187192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0" y="3931920"/>
            <a:ext cx="676656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22452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240">
                <a:solidFill>
                  <a:srgbClr val="A9724A"/>
                </a:solidFill>
                <a:latin typeface="Outfit 2 Semi-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4114800"/>
            <a:ext cx="5669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i="0" b="0">
                <a:solidFill>
                  <a:srgbClr val="1C1C1A"/>
                </a:solidFill>
                <a:latin typeface="Outfit 2 Light"/>
              </a:rPr>
              <a:t>A escassez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4892040"/>
            <a:ext cx="56692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850" i="0" b="0">
                <a:solidFill>
                  <a:srgbClr val="6B6B66"/>
                </a:solidFill>
                <a:latin typeface="Outfit 2 Light"/>
              </a:rPr>
              <a:t>A Flávia cresceu em uma realidade de poucos recursos.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7086600"/>
            <a:ext cx="100584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740664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O QUE ISSO REVELA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7863840"/>
            <a:ext cx="5669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i="0" b="0">
                <a:solidFill>
                  <a:srgbClr val="1C1C1A"/>
                </a:solidFill>
                <a:latin typeface="Outfit 2 Light"/>
              </a:rPr>
              <a:t>A vontade de ampliar possibilidades e não aceitar a condição presente como limite.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09760" y="3931920"/>
            <a:ext cx="676656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0" y="422452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240">
                <a:solidFill>
                  <a:srgbClr val="A9724A"/>
                </a:solidFill>
                <a:latin typeface="Outfit 2 Semi-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4114800"/>
            <a:ext cx="5669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i="0" b="0">
                <a:solidFill>
                  <a:srgbClr val="1C1C1A"/>
                </a:solidFill>
                <a:latin typeface="Outfit 2 Light"/>
              </a:rPr>
              <a:t>O portão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4892040"/>
            <a:ext cx="56692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850" i="0" b="0">
                <a:solidFill>
                  <a:srgbClr val="6B6B66"/>
                </a:solidFill>
                <a:latin typeface="Outfit 2 Light"/>
              </a:rPr>
              <a:t>Ainda adolescente, a Flávia entrava escondida na casa dos donos da fazenda onde o pai trabalhava e se imaginava vivendo aquela realidade. Anos depois, tornou-se proprietária daquele mesmo lugar.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07040" y="7086600"/>
            <a:ext cx="100584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0" y="740664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O QUE ISSO REVELA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7863840"/>
            <a:ext cx="5669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i="0" b="0">
                <a:solidFill>
                  <a:srgbClr val="1C1C1A"/>
                </a:solidFill>
                <a:latin typeface="Outfit 2 Light"/>
              </a:rPr>
              <a:t>A capacidade de se enxergar dentro de uma realidade antes de ela existir concretamente.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1600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A ORIGEM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148840"/>
            <a:ext cx="14264640" cy="928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As experiências que a formaram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3187192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0" y="3931920"/>
            <a:ext cx="676656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22452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240">
                <a:solidFill>
                  <a:srgbClr val="A9724A"/>
                </a:solidFill>
                <a:latin typeface="Outfit 2 Semi-Bold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4114800"/>
            <a:ext cx="5669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i="0" b="0">
                <a:solidFill>
                  <a:srgbClr val="1C1C1A"/>
                </a:solidFill>
                <a:latin typeface="Outfit 2 Light"/>
              </a:rPr>
              <a:t>O trabalho e o estudo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4892040"/>
            <a:ext cx="56692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850" i="0" b="0">
                <a:solidFill>
                  <a:srgbClr val="6B6B66"/>
                </a:solidFill>
                <a:latin typeface="Outfit 2 Light"/>
              </a:rPr>
              <a:t>Trabalho, faculdade, bicicleta e futsal como caminho para conquistar uma bolsa de estudos.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7086600"/>
            <a:ext cx="100584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740664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O QUE ISSO REVELA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7863840"/>
            <a:ext cx="5669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i="0" b="0">
                <a:solidFill>
                  <a:srgbClr val="1C1C1A"/>
                </a:solidFill>
                <a:latin typeface="Outfit 2 Light"/>
              </a:rPr>
              <a:t>Para a Flávia, enxergar uma possibilidade exige movimento para torná-la real.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09760" y="3931920"/>
            <a:ext cx="676656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0" y="422452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240">
                <a:solidFill>
                  <a:srgbClr val="A9724A"/>
                </a:solidFill>
                <a:latin typeface="Outfit 2 Semi-Bold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4114800"/>
            <a:ext cx="5669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i="0" b="0">
                <a:solidFill>
                  <a:srgbClr val="1C1C1A"/>
                </a:solidFill>
                <a:latin typeface="Outfit 2 Light"/>
              </a:rPr>
              <a:t>A trajetória dos pais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4892040"/>
            <a:ext cx="56692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850" i="0" b="0">
                <a:solidFill>
                  <a:srgbClr val="6B6B66"/>
                </a:solidFill>
                <a:latin typeface="Outfit 2 Light"/>
              </a:rPr>
              <a:t>A Flávia cresceu vendo os pais recomeçarem sem abandonar a honestidade, a fé, o trabalho e a família.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07040" y="7086600"/>
            <a:ext cx="100584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0" y="740664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O QUE ISSO REVELA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7863840"/>
            <a:ext cx="5669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i="0" b="0">
                <a:solidFill>
                  <a:srgbClr val="1C1C1A"/>
                </a:solidFill>
                <a:latin typeface="Outfit 2 Light"/>
              </a:rPr>
              <a:t>A forma de construir importa tanto quanto aquilo que é conquistado.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39776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300">
                <a:solidFill>
                  <a:srgbClr val="A9724A"/>
                </a:solidFill>
                <a:latin typeface="Outfit 2 Semi-Bold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4526280"/>
            <a:ext cx="14264640" cy="146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2 Light"/>
              </a:rPr>
              <a:t>As tensões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672084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1600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AS TENSÕES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148840"/>
            <a:ext cx="14264640" cy="928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As tensões que a colocaram em movimento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108960"/>
            <a:ext cx="11887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i="0" b="0">
                <a:solidFill>
                  <a:srgbClr val="A5A49F"/>
                </a:solidFill>
                <a:latin typeface="Outfit 2 Light"/>
              </a:rPr>
              <a:t>Existe uma lógica recorrente na trajetória da Flávia.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65760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968496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A REALIDADE DIZIA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877056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50" i="1" b="0">
                <a:solidFill>
                  <a:srgbClr val="6B6B66"/>
                </a:solidFill>
                <a:latin typeface="Outfit 2 Light"/>
              </a:rPr>
              <a:t>“Essa é a sua condição.”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11521440" y="4096512"/>
            <a:ext cx="384048" cy="16459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207240" y="3858768"/>
            <a:ext cx="4114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i="0" b="0">
                <a:solidFill>
                  <a:srgbClr val="1C1C1A"/>
                </a:solidFill>
                <a:latin typeface="Outfit 2 Light"/>
              </a:rPr>
              <a:t>A Flávia enxergava outra.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457200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4882896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O CARGO DIZIA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791456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50" i="1" b="0">
                <a:solidFill>
                  <a:srgbClr val="6B6B66"/>
                </a:solidFill>
                <a:latin typeface="Outfit 2 Light"/>
              </a:rPr>
              <a:t>“Até aqui você pode chegar.”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521440" y="5010912"/>
            <a:ext cx="384048" cy="16459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207240" y="4773168"/>
            <a:ext cx="4114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i="0" b="0">
                <a:solidFill>
                  <a:srgbClr val="1C1C1A"/>
                </a:solidFill>
                <a:latin typeface="Outfit 2 Light"/>
              </a:rPr>
              <a:t>A Flávia queria mais.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548640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5797296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AS MARCAS PRONTAS DIZIAM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705856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50" i="1" b="0">
                <a:solidFill>
                  <a:srgbClr val="6B6B66"/>
                </a:solidFill>
                <a:latin typeface="Outfit 2 Light"/>
              </a:rPr>
              <a:t>“É assim que deve ser feito.”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521440" y="5925312"/>
            <a:ext cx="384048" cy="16459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207240" y="5687568"/>
            <a:ext cx="4114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i="0" b="0">
                <a:solidFill>
                  <a:srgbClr val="1C1C1A"/>
                </a:solidFill>
                <a:latin typeface="Outfit 2 Light"/>
              </a:rPr>
              <a:t>A Flávia queria fazer do seu jeito.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640080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6711696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A MATERNIDADE EXIGIU UMA ESCOLHA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620256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50" i="0" b="0">
                <a:solidFill>
                  <a:srgbClr val="6B6B66"/>
                </a:solidFill>
                <a:latin typeface="Outfit 2 Light"/>
              </a:rPr>
              <a:t>Conciliar a maternidade e o empreendedorismo não era possível como ela desejava naquele momento.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521440" y="6839712"/>
            <a:ext cx="384048" cy="16459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207240" y="6601968"/>
            <a:ext cx="4114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i="0" b="0">
                <a:solidFill>
                  <a:srgbClr val="1C1C1A"/>
                </a:solidFill>
                <a:latin typeface="Outfit 2 Light"/>
              </a:rPr>
              <a:t>Ela parou e, anos depois, construiu um caminho de volta.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0" y="758952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11680" y="7900416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AS SOBRAS TINHAM UM DESTINO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7808976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50" i="1" b="0">
                <a:solidFill>
                  <a:srgbClr val="6B6B66"/>
                </a:solidFill>
                <a:latin typeface="Outfit 2 Light"/>
              </a:rPr>
              <a:t>“O descarte.”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521440" y="8028432"/>
            <a:ext cx="384048" cy="16459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207240" y="7790688"/>
            <a:ext cx="4114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i="0" b="0">
                <a:solidFill>
                  <a:srgbClr val="1C1C1A"/>
                </a:solidFill>
                <a:latin typeface="Outfit 2 Light"/>
              </a:rPr>
              <a:t>A Flávia enxergou matéria para uma nova criação.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11680" y="850392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11680" y="8851392"/>
            <a:ext cx="1371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i="0" b="0">
                <a:solidFill>
                  <a:srgbClr val="1C1C1A"/>
                </a:solidFill>
                <a:latin typeface="Outfit 2 Light"/>
              </a:rPr>
              <a:t>Quando aquilo que está dado não corresponde ao que a Flávia enxerga como possível, ela entra em movimento.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39776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300">
                <a:solidFill>
                  <a:srgbClr val="A9724A"/>
                </a:solidFill>
                <a:latin typeface="Outfit 2 Semi-Bold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4526280"/>
            <a:ext cx="14264640" cy="146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2 Light"/>
              </a:rPr>
              <a:t>Os padrões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672084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oto_D.jpg"/>
          <p:cNvPicPr>
            <a:picLocks noChangeAspect="1"/>
          </p:cNvPicPr>
          <p:nvPr/>
        </p:nvPicPr>
        <p:blipFill>
          <a:blip r:embed="rId2"/>
          <a:srcRect l="28989" r="28989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1600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OS PADRÕES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2148840"/>
            <a:ext cx="7863840" cy="871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i="0" b="0">
                <a:solidFill>
                  <a:srgbClr val="1C1C1A"/>
                </a:solidFill>
                <a:latin typeface="Outfit 2 Light"/>
              </a:rPr>
              <a:t>O padrão invisível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54680"/>
            <a:ext cx="78638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520440"/>
            <a:ext cx="7680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i="0" b="0">
                <a:solidFill>
                  <a:srgbClr val="A5A49F"/>
                </a:solidFill>
                <a:latin typeface="Outfit 2 Light"/>
              </a:rPr>
              <a:t>As situações são diferentes. A resposta da Flávia segue a mesma lógica.</a:t>
            </a:r>
          </a:p>
        </p:txBody>
      </p:sp>
      <p:sp>
        <p:nvSpPr>
          <p:cNvPr id="7" name="Oval 6"/>
          <p:cNvSpPr/>
          <p:nvPr/>
        </p:nvSpPr>
        <p:spPr>
          <a:xfrm>
            <a:off x="2016252" y="4750308"/>
            <a:ext cx="100584" cy="100584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0" y="4617720"/>
            <a:ext cx="7132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i="0" b="0">
                <a:solidFill>
                  <a:srgbClr val="1C1C1A"/>
                </a:solidFill>
                <a:latin typeface="Outfit 2 Light"/>
              </a:rPr>
              <a:t>Ela encontra uma realidade ou um limite.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66544" y="5038344"/>
            <a:ext cx="16459" cy="548640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16252" y="5957316"/>
            <a:ext cx="100584" cy="100584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5824728"/>
            <a:ext cx="7132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i="0" b="0">
                <a:solidFill>
                  <a:srgbClr val="1C1C1A"/>
                </a:solidFill>
                <a:latin typeface="Outfit 2 Light"/>
              </a:rPr>
              <a:t>Enxerga que aquilo pode ser diferente.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66544" y="6245352"/>
            <a:ext cx="16459" cy="548640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16252" y="7164324"/>
            <a:ext cx="100584" cy="100584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0320" y="7031736"/>
            <a:ext cx="7132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i="0" b="0">
                <a:solidFill>
                  <a:srgbClr val="1C1C1A"/>
                </a:solidFill>
                <a:latin typeface="Outfit 2 Light"/>
              </a:rPr>
              <a:t>Constrói um caminho para transformar essa possibilidade em realidade.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832104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864108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6B6B66"/>
                </a:solidFill>
                <a:latin typeface="Outfit 2 Light"/>
              </a:rPr>
              <a:t>O padrão está na forma como a Flávia responde quando percebe que existe uma possibilidade além daquilo que está dado.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1600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OS PADRÕES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148840"/>
            <a:ext cx="14264640" cy="928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O movimento que se repete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3187192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926080" y="4892040"/>
            <a:ext cx="124358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66644" y="4832604"/>
            <a:ext cx="118872" cy="118872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83080" y="530352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i="0" b="0">
                <a:solidFill>
                  <a:srgbClr val="6B6B66"/>
                </a:solidFill>
                <a:latin typeface="Outfit 2 Light"/>
              </a:rPr>
              <a:t>Enxerga a realidade</a:t>
            </a:r>
          </a:p>
          <a:p>
            <a:pPr algn="ctr">
              <a:lnSpc>
                <a:spcPct val="135000"/>
              </a:lnSpc>
            </a:pPr>
            <a:r>
              <a:rPr sz="1700" i="0" b="0">
                <a:solidFill>
                  <a:srgbClr val="6B6B66"/>
                </a:solidFill>
                <a:latin typeface="Outfit 2 Light"/>
              </a:rPr>
              <a:t>como ela é</a:t>
            </a:r>
          </a:p>
        </p:txBody>
      </p:sp>
      <p:sp>
        <p:nvSpPr>
          <p:cNvPr id="8" name="Oval 7"/>
          <p:cNvSpPr/>
          <p:nvPr/>
        </p:nvSpPr>
        <p:spPr>
          <a:xfrm>
            <a:off x="5353812" y="4832604"/>
            <a:ext cx="118872" cy="118872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70248" y="530352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i="0" b="0">
                <a:solidFill>
                  <a:srgbClr val="6B6B66"/>
                </a:solidFill>
                <a:latin typeface="Outfit 2 Light"/>
              </a:rPr>
              <a:t>Percebe que aquilo</a:t>
            </a:r>
          </a:p>
          <a:p>
            <a:pPr algn="ctr">
              <a:lnSpc>
                <a:spcPct val="135000"/>
              </a:lnSpc>
            </a:pPr>
            <a:r>
              <a:rPr sz="1700" i="0" b="0">
                <a:solidFill>
                  <a:srgbClr val="6B6B66"/>
                </a:solidFill>
                <a:latin typeface="Outfit 2 Light"/>
              </a:rPr>
              <a:t>não precisa</a:t>
            </a:r>
          </a:p>
          <a:p>
            <a:pPr algn="ctr">
              <a:lnSpc>
                <a:spcPct val="135000"/>
              </a:lnSpc>
            </a:pPr>
            <a:r>
              <a:rPr sz="1700" i="0" b="0">
                <a:solidFill>
                  <a:srgbClr val="6B6B66"/>
                </a:solidFill>
                <a:latin typeface="Outfit 2 Light"/>
              </a:rPr>
              <a:t>ser definitivo</a:t>
            </a:r>
          </a:p>
        </p:txBody>
      </p:sp>
      <p:sp>
        <p:nvSpPr>
          <p:cNvPr id="10" name="Oval 9"/>
          <p:cNvSpPr/>
          <p:nvPr/>
        </p:nvSpPr>
        <p:spPr>
          <a:xfrm>
            <a:off x="7840980" y="4832604"/>
            <a:ext cx="118872" cy="118872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57416" y="530352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i="0" b="0">
                <a:solidFill>
                  <a:srgbClr val="6B6B66"/>
                </a:solidFill>
                <a:latin typeface="Outfit 2 Light"/>
              </a:rPr>
              <a:t>Enxerga outra</a:t>
            </a:r>
          </a:p>
          <a:p>
            <a:pPr algn="ctr">
              <a:lnSpc>
                <a:spcPct val="135000"/>
              </a:lnSpc>
            </a:pPr>
            <a:r>
              <a:rPr sz="1700" i="0" b="0">
                <a:solidFill>
                  <a:srgbClr val="6B6B66"/>
                </a:solidFill>
                <a:latin typeface="Outfit 2 Light"/>
              </a:rPr>
              <a:t>possibilidade</a:t>
            </a:r>
          </a:p>
        </p:txBody>
      </p:sp>
      <p:sp>
        <p:nvSpPr>
          <p:cNvPr id="12" name="Oval 11"/>
          <p:cNvSpPr/>
          <p:nvPr/>
        </p:nvSpPr>
        <p:spPr>
          <a:xfrm>
            <a:off x="10328148" y="4832604"/>
            <a:ext cx="118872" cy="118872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44584" y="530352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i="0" b="0">
                <a:solidFill>
                  <a:srgbClr val="6B6B66"/>
                </a:solidFill>
                <a:latin typeface="Outfit 2 Light"/>
              </a:rPr>
              <a:t>Procura</a:t>
            </a:r>
          </a:p>
          <a:p>
            <a:pPr algn="ctr">
              <a:lnSpc>
                <a:spcPct val="135000"/>
              </a:lnSpc>
            </a:pPr>
            <a:r>
              <a:rPr sz="1700" i="0" b="0">
                <a:solidFill>
                  <a:srgbClr val="6B6B66"/>
                </a:solidFill>
                <a:latin typeface="Outfit 2 Light"/>
              </a:rPr>
              <a:t>um caminho</a:t>
            </a:r>
          </a:p>
        </p:txBody>
      </p:sp>
      <p:sp>
        <p:nvSpPr>
          <p:cNvPr id="14" name="Oval 13"/>
          <p:cNvSpPr/>
          <p:nvPr/>
        </p:nvSpPr>
        <p:spPr>
          <a:xfrm>
            <a:off x="12815316" y="4832604"/>
            <a:ext cx="118872" cy="118872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31752" y="530352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i="0" b="0">
                <a:solidFill>
                  <a:srgbClr val="6B6B66"/>
                </a:solidFill>
                <a:latin typeface="Outfit 2 Light"/>
              </a:rPr>
              <a:t>Busca conhecimento,</a:t>
            </a:r>
          </a:p>
          <a:p>
            <a:pPr algn="ctr">
              <a:lnSpc>
                <a:spcPct val="135000"/>
              </a:lnSpc>
            </a:pPr>
            <a:r>
              <a:rPr sz="1700" i="0" b="0">
                <a:solidFill>
                  <a:srgbClr val="6B6B66"/>
                </a:solidFill>
                <a:latin typeface="Outfit 2 Light"/>
              </a:rPr>
              <a:t>mobiliza pessoas</a:t>
            </a:r>
          </a:p>
          <a:p>
            <a:pPr algn="ctr">
              <a:lnSpc>
                <a:spcPct val="135000"/>
              </a:lnSpc>
            </a:pPr>
            <a:r>
              <a:rPr sz="1700" i="0" b="0">
                <a:solidFill>
                  <a:srgbClr val="6B6B66"/>
                </a:solidFill>
                <a:latin typeface="Outfit 2 Light"/>
              </a:rPr>
              <a:t>e recursos</a:t>
            </a:r>
          </a:p>
        </p:txBody>
      </p:sp>
      <p:sp>
        <p:nvSpPr>
          <p:cNvPr id="16" name="Oval 15"/>
          <p:cNvSpPr/>
          <p:nvPr/>
        </p:nvSpPr>
        <p:spPr>
          <a:xfrm>
            <a:off x="15302484" y="4832604"/>
            <a:ext cx="118872" cy="118872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218920" y="530352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i="0" b="0">
                <a:solidFill>
                  <a:srgbClr val="1C1C1A"/>
                </a:solidFill>
                <a:latin typeface="Outfit 2"/>
              </a:rPr>
              <a:t>Transforma a</a:t>
            </a:r>
          </a:p>
          <a:p>
            <a:pPr algn="ctr">
              <a:lnSpc>
                <a:spcPct val="135000"/>
              </a:lnSpc>
            </a:pPr>
            <a:r>
              <a:rPr sz="1700" i="0" b="0">
                <a:solidFill>
                  <a:srgbClr val="1C1C1A"/>
                </a:solidFill>
                <a:latin typeface="Outfit 2"/>
              </a:rPr>
              <a:t>possibilidade</a:t>
            </a:r>
          </a:p>
          <a:p>
            <a:pPr algn="ctr">
              <a:lnSpc>
                <a:spcPct val="135000"/>
              </a:lnSpc>
            </a:pPr>
            <a:r>
              <a:rPr sz="1700" i="0" b="0">
                <a:solidFill>
                  <a:srgbClr val="1C1C1A"/>
                </a:solidFill>
                <a:latin typeface="Outfit 2"/>
              </a:rPr>
              <a:t>em realidade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740664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7818120"/>
            <a:ext cx="1426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i="0" b="0">
                <a:solidFill>
                  <a:srgbClr val="1C1C1A"/>
                </a:solidFill>
                <a:latin typeface="Outfit 2 Light"/>
              </a:rPr>
              <a:t>Enxergar além</a:t>
            </a:r>
            <a:r>
              <a:rPr sz="3000" i="0" b="0">
                <a:solidFill>
                  <a:srgbClr val="A9724A"/>
                </a:solidFill>
                <a:latin typeface="Outfit 2 Light"/>
              </a:rPr>
              <a:t>   →   </a:t>
            </a:r>
            <a:r>
              <a:rPr sz="3000" i="0" b="0">
                <a:solidFill>
                  <a:srgbClr val="1C1C1A"/>
                </a:solidFill>
                <a:latin typeface="Outfit 2 Light"/>
              </a:rPr>
              <a:t>colocar em movimento</a:t>
            </a:r>
            <a:r>
              <a:rPr sz="3000" i="0" b="0">
                <a:solidFill>
                  <a:srgbClr val="A9724A"/>
                </a:solidFill>
                <a:latin typeface="Outfit 2 Light"/>
              </a:rPr>
              <a:t>   →   </a:t>
            </a:r>
            <a:r>
              <a:rPr sz="3000" i="0" b="0">
                <a:solidFill>
                  <a:srgbClr val="1C1C1A"/>
                </a:solidFill>
                <a:latin typeface="Outfit 2 Light"/>
              </a:rPr>
              <a:t>fazer existir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18745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OS PADRÕES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331720"/>
            <a:ext cx="11887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i="0" b="0">
                <a:solidFill>
                  <a:srgbClr val="A5A49F"/>
                </a:solidFill>
                <a:latin typeface="Outfit 2 Light"/>
              </a:rPr>
              <a:t>Ao longo da sua trajetória, a Flávia repete um mesmo movimento: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063240"/>
            <a:ext cx="14081760" cy="1912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5200" i="0" b="0">
                <a:solidFill>
                  <a:srgbClr val="1C1C1A"/>
                </a:solidFill>
                <a:latin typeface="Outfit 2 Light"/>
              </a:rPr>
              <a:t>A Flávia não aceita que aquilo que existe</a:t>
            </a:r>
          </a:p>
          <a:p>
            <a:pPr algn="l">
              <a:lnSpc>
                <a:spcPct val="124000"/>
              </a:lnSpc>
            </a:pPr>
            <a:r>
              <a:rPr sz="5200" i="0" b="0">
                <a:solidFill>
                  <a:srgbClr val="1C1C1A"/>
                </a:solidFill>
                <a:latin typeface="Outfit 2 Light"/>
              </a:rPr>
              <a:t>determine aquilo que pode existir.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562356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60350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i="0" b="0">
                <a:solidFill>
                  <a:srgbClr val="6B6B66"/>
                </a:solidFill>
                <a:latin typeface="Outfit 2 Light"/>
              </a:rPr>
              <a:t>Essa lógica aparece em contextos completamente diferentes da sua vida.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03504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i="0" b="0">
                <a:solidFill>
                  <a:srgbClr val="A5A49F"/>
                </a:solidFill>
                <a:latin typeface="Outfit 2 Light"/>
              </a:rPr>
              <a:t>Muda a situação.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55664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i="0" b="0">
                <a:solidFill>
                  <a:srgbClr val="A5A49F"/>
                </a:solidFill>
                <a:latin typeface="Outfit 2 Light"/>
              </a:rPr>
              <a:t>Muda o desafio.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876288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i="0" b="0">
                <a:solidFill>
                  <a:srgbClr val="A5A49F"/>
                </a:solidFill>
                <a:latin typeface="Outfit 2 Light"/>
              </a:rPr>
              <a:t>Muda o que precisa ser construído.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781812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8183880"/>
            <a:ext cx="13716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i="0" b="0">
                <a:solidFill>
                  <a:srgbClr val="1C1C1A"/>
                </a:solidFill>
                <a:latin typeface="Outfit 2 Light"/>
              </a:rPr>
              <a:t>A Flávia vê aquilo que existe, mas também enxerga o que aquilo ainda pode se tornar.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39776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300">
                <a:solidFill>
                  <a:srgbClr val="A9724A"/>
                </a:solidFill>
                <a:latin typeface="Outfit 2 Semi-Bold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4526280"/>
            <a:ext cx="14264640" cy="146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2 Light"/>
              </a:rPr>
              <a:t>O Ikigai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672084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oto_A.jpg"/>
          <p:cNvPicPr>
            <a:picLocks noChangeAspect="1"/>
          </p:cNvPicPr>
          <p:nvPr/>
        </p:nvPicPr>
        <p:blipFill>
          <a:blip r:embed="rId2"/>
          <a:srcRect l="28489" r="28489"/>
          <a:stretch>
            <a:fillRect/>
          </a:stretch>
        </p:blipFill>
        <p:spPr>
          <a:xfrm>
            <a:off x="0" y="0"/>
            <a:ext cx="786384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0" y="16916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O IKIGAI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2240280"/>
            <a:ext cx="7315200" cy="900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i="0" b="0">
                <a:solidFill>
                  <a:srgbClr val="1C1C1A"/>
                </a:solidFill>
                <a:latin typeface="Outfit 2 Light"/>
              </a:rPr>
              <a:t>O que move a Flávia?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0" y="3291840"/>
            <a:ext cx="731520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0" y="3657600"/>
            <a:ext cx="72237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i="0" b="0">
                <a:solidFill>
                  <a:srgbClr val="6B6B66"/>
                </a:solidFill>
                <a:latin typeface="Outfit 2 Light"/>
              </a:rPr>
              <a:t>Até aqui, a história revelou como a Flávia responde à realidade e entra em movimento. O Ikigai acrescenta outra dimensão: o que faz esse movimento ter sentido para ela.</a:t>
            </a:r>
          </a:p>
        </p:txBody>
      </p:sp>
      <p:sp>
        <p:nvSpPr>
          <p:cNvPr id="7" name="Oval 6"/>
          <p:cNvSpPr/>
          <p:nvPr/>
        </p:nvSpPr>
        <p:spPr>
          <a:xfrm>
            <a:off x="9153144" y="5614416"/>
            <a:ext cx="91440" cy="91440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5532120"/>
            <a:ext cx="6675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i="0" b="0">
                <a:solidFill>
                  <a:srgbClr val="1C1C1A"/>
                </a:solidFill>
                <a:latin typeface="Outfit 2 Light"/>
              </a:rPr>
              <a:t>O que a Flávia ama?</a:t>
            </a:r>
          </a:p>
        </p:txBody>
      </p:sp>
      <p:sp>
        <p:nvSpPr>
          <p:cNvPr id="9" name="Oval 8"/>
          <p:cNvSpPr/>
          <p:nvPr/>
        </p:nvSpPr>
        <p:spPr>
          <a:xfrm>
            <a:off x="9153144" y="6181344"/>
            <a:ext cx="91440" cy="91440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46920" y="6099048"/>
            <a:ext cx="6675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i="0" b="0">
                <a:solidFill>
                  <a:srgbClr val="1C1C1A"/>
                </a:solidFill>
                <a:latin typeface="Outfit 2 Light"/>
              </a:rPr>
              <a:t>No que reconhece as suas forças?</a:t>
            </a:r>
          </a:p>
        </p:txBody>
      </p:sp>
      <p:sp>
        <p:nvSpPr>
          <p:cNvPr id="11" name="Oval 10"/>
          <p:cNvSpPr/>
          <p:nvPr/>
        </p:nvSpPr>
        <p:spPr>
          <a:xfrm>
            <a:off x="9153144" y="6748272"/>
            <a:ext cx="91440" cy="91440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46920" y="6665976"/>
            <a:ext cx="6675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i="0" b="0">
                <a:solidFill>
                  <a:srgbClr val="1C1C1A"/>
                </a:solidFill>
                <a:latin typeface="Outfit 2 Light"/>
              </a:rPr>
              <a:t>Onde encontra realização?</a:t>
            </a:r>
          </a:p>
        </p:txBody>
      </p:sp>
      <p:sp>
        <p:nvSpPr>
          <p:cNvPr id="13" name="Oval 12"/>
          <p:cNvSpPr/>
          <p:nvPr/>
        </p:nvSpPr>
        <p:spPr>
          <a:xfrm>
            <a:off x="9153144" y="7315200"/>
            <a:ext cx="91440" cy="91440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46920" y="7232904"/>
            <a:ext cx="6675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i="0" b="0">
                <a:solidFill>
                  <a:srgbClr val="1C1C1A"/>
                </a:solidFill>
                <a:latin typeface="Outfit 2 Light"/>
              </a:rPr>
              <a:t>Como deseja contribuir para outras pessoas?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809244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8458200"/>
            <a:ext cx="7223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i="0" b="0">
                <a:solidFill>
                  <a:srgbClr val="6B6B66"/>
                </a:solidFill>
                <a:latin typeface="Outfit 2 Light"/>
              </a:rPr>
              <a:t>Não buscamos apenas aquilo que ela gosta de fazer, e sim o que faz uma realização ter significado para a Flávia.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1600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O IKIGAI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148840"/>
            <a:ext cx="14264640" cy="928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O mapa do Ikigai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3187192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0" y="4160520"/>
            <a:ext cx="315468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462272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i="0" b="0">
                <a:solidFill>
                  <a:srgbClr val="1C1C1A"/>
                </a:solidFill>
                <a:latin typeface="Outfit 2 Light"/>
              </a:rPr>
              <a:t>O que a Flávia 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48640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i="0" b="0">
                <a:solidFill>
                  <a:srgbClr val="6B6B66"/>
                </a:solidFill>
                <a:latin typeface="Outfit 2 Light"/>
              </a:rPr>
              <a:t>A família. As pessoas. Os momentos de qualidade. As conversas e as trocas verdadeiras. As conexões.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0" y="4160520"/>
            <a:ext cx="315468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15000" y="4462272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i="0" b="0">
                <a:solidFill>
                  <a:srgbClr val="1C1C1A"/>
                </a:solidFill>
                <a:latin typeface="Outfit 2 Light"/>
              </a:rPr>
              <a:t>No que a Flávia é boa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548640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i="0" b="0">
                <a:solidFill>
                  <a:srgbClr val="6B6B66"/>
                </a:solidFill>
                <a:latin typeface="Outfit 2 Light"/>
              </a:rPr>
              <a:t>No conhecimento que construiu. Na persuasão. Na seriedade. Na persistência. No domínio daquilo que vende. Na capacidade de envolver pessoas.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8320" y="4160520"/>
            <a:ext cx="315468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0" y="4462272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i="0" b="0">
                <a:solidFill>
                  <a:srgbClr val="1C1C1A"/>
                </a:solidFill>
                <a:latin typeface="Outfit 2 Light"/>
              </a:rPr>
              <a:t>Como a Flávia gosta de contribuir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548640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i="0" b="0">
                <a:solidFill>
                  <a:srgbClr val="6B6B66"/>
                </a:solidFill>
                <a:latin typeface="Outfit 2 Light"/>
              </a:rPr>
              <a:t>Sendo útil. Compartilhando conhecimentos e experiências. Ajudando pessoas e empresários. Criando oportunidades. Fazendo diferença na vida das pessoas.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121640" y="4160520"/>
            <a:ext cx="315468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21640" y="4462272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i="0" b="0">
                <a:solidFill>
                  <a:srgbClr val="1C1C1A"/>
                </a:solidFill>
                <a:latin typeface="Outfit 2 Light"/>
              </a:rPr>
              <a:t>Onde a Flávia encontra realização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21640" y="548640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i="0" b="0">
                <a:solidFill>
                  <a:srgbClr val="6B6B66"/>
                </a:solidFill>
                <a:latin typeface="Outfit 2 Light"/>
              </a:rPr>
              <a:t>Ao ver algo ganhar forma. Ao transformar matéria em algo de valor. Ao perceber a alegria do cliente. Ao ver o sonho de outra pessoa se tornar concreto. Ao saber que aquilo que construiu também ampliou as possibilidades de alguém.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1600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O IKIGAI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148840"/>
            <a:ext cx="14264640" cy="928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O centro do Ikigai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3187192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794760"/>
            <a:ext cx="122529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A Flávia não se realiza apenas conquistando para si. Ela encontra realização quando vê uma possibilidade se tornar concreta e produzir algo na vida de outras pessoas.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71500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608076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6B6B66"/>
                </a:solidFill>
                <a:latin typeface="Outfit 2 Light"/>
              </a:rPr>
              <a:t>Um cliente realiza um sonho.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0" y="608076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6B6B66"/>
                </a:solidFill>
                <a:latin typeface="Outfit 2 Light"/>
              </a:rPr>
              <a:t>Uma equipe cresce.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08076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6B6B66"/>
                </a:solidFill>
                <a:latin typeface="Outfit 2 Light"/>
              </a:rPr>
              <a:t>Uma ideia sai do papel.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21640" y="608076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6B6B66"/>
                </a:solidFill>
                <a:latin typeface="Outfit 2 Light"/>
              </a:rPr>
              <a:t>Uma pessoa recebe uma oportunidade.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736092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i="0" b="0">
                <a:solidFill>
                  <a:srgbClr val="A5A49F"/>
                </a:solidFill>
                <a:latin typeface="Outfit 2 Light"/>
              </a:rPr>
              <a:t>Sobre o legado que deseja deixar, a própria Flávia resume: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777240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5600" i="0" b="0">
                <a:solidFill>
                  <a:srgbClr val="A9724A"/>
                </a:solidFill>
                <a:latin typeface="Outfit 2 Light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8608" y="7882128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i="0" b="0">
                <a:solidFill>
                  <a:srgbClr val="1C1C1A"/>
                </a:solidFill>
                <a:latin typeface="Outfit 2 Light"/>
              </a:rPr>
              <a:t>Fazer diferença na vida das pessoas.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7818120"/>
            <a:ext cx="5852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i="0" b="0">
                <a:solidFill>
                  <a:srgbClr val="A5A49F"/>
                </a:solidFill>
                <a:latin typeface="Outfit 2 Light"/>
              </a:rPr>
              <a:t>A Flávia também deseja criar uma fundação para oferecer uma profissão a crianças.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1600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O IKIGAI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1488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40">
                <a:solidFill>
                  <a:srgbClr val="A9724A"/>
                </a:solidFill>
                <a:latin typeface="Outfit 2 Semi-Bold"/>
              </a:rPr>
              <a:t>RAZÃO DE 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2788920"/>
            <a:ext cx="13898880" cy="2353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4400" i="0" b="0">
                <a:solidFill>
                  <a:srgbClr val="1C1C1A"/>
                </a:solidFill>
                <a:latin typeface="Outfit 2 Light"/>
              </a:rPr>
              <a:t>Transformar possibilidades em realizações</a:t>
            </a:r>
          </a:p>
          <a:p>
            <a:pPr algn="l">
              <a:lnSpc>
                <a:spcPct val="124000"/>
              </a:lnSpc>
            </a:pPr>
            <a:r>
              <a:rPr sz="4400" i="0" b="0">
                <a:solidFill>
                  <a:srgbClr val="1C1C1A"/>
                </a:solidFill>
                <a:latin typeface="Outfit 2 Light"/>
              </a:rPr>
              <a:t>concretas que também ampliem a vida</a:t>
            </a:r>
          </a:p>
          <a:p>
            <a:pPr algn="l">
              <a:lnSpc>
                <a:spcPct val="124000"/>
              </a:lnSpc>
            </a:pPr>
            <a:r>
              <a:rPr sz="4400" i="0" b="0">
                <a:solidFill>
                  <a:srgbClr val="1C1C1A"/>
                </a:solidFill>
                <a:latin typeface="Outfit 2 Light"/>
              </a:rPr>
              <a:t>de outras pessoas.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580644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6172200"/>
            <a:ext cx="1280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6B6B66"/>
                </a:solidFill>
                <a:latin typeface="Outfit 2 Light"/>
              </a:rPr>
              <a:t>A realização ganha sentido quando aquilo que a Flávia constrói também amplia possibilidades para outras pessoas.</a:t>
            </a:r>
          </a:p>
        </p:txBody>
      </p:sp>
      <p:pic>
        <p:nvPicPr>
          <p:cNvPr id="7" name="Picture 6" descr="foto_E.jpg"/>
          <p:cNvPicPr>
            <a:picLocks noChangeAspect="1"/>
          </p:cNvPicPr>
          <p:nvPr/>
        </p:nvPicPr>
        <p:blipFill>
          <a:blip r:embed="rId2"/>
          <a:srcRect t="34231" b="34231"/>
          <a:stretch>
            <a:fillRect/>
          </a:stretch>
        </p:blipFill>
        <p:spPr>
          <a:xfrm>
            <a:off x="0" y="7040880"/>
            <a:ext cx="1828800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39776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300">
                <a:solidFill>
                  <a:srgbClr val="A9724A"/>
                </a:solidFill>
                <a:latin typeface="Outfit 2 Semi-Bold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4526280"/>
            <a:ext cx="14264640" cy="146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2 Light"/>
              </a:rPr>
              <a:t>A essência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672084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1600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A ESSÊNCIA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148840"/>
            <a:ext cx="14264640" cy="928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Onde a história e o Ikigai se encontram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3187192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703320"/>
            <a:ext cx="12435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i="0" b="0">
                <a:solidFill>
                  <a:srgbClr val="6B6B66"/>
                </a:solidFill>
                <a:latin typeface="Outfit 2 Light"/>
              </a:rPr>
              <a:t>A história revela como a Flávia se movimenta. O Ikigai revela o que dá sentido a esse movimento. Lado a lado, a mesma lógica aparece.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120640"/>
            <a:ext cx="315468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413248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Visão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989320"/>
            <a:ext cx="31546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i="0" b="0">
                <a:solidFill>
                  <a:srgbClr val="6B6B66"/>
                </a:solidFill>
                <a:latin typeface="Outfit 2 Light"/>
              </a:rPr>
              <a:t>A Flávia enxerga além da condição presente.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0" y="5120640"/>
            <a:ext cx="315468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15000" y="5413248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Movimento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5989320"/>
            <a:ext cx="31546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i="0" b="0">
                <a:solidFill>
                  <a:srgbClr val="6B6B66"/>
                </a:solidFill>
                <a:latin typeface="Outfit 2 Light"/>
              </a:rPr>
              <a:t>A distância entre aquilo que existe e aquilo que ela enxerga como possível a leva a buscar caminhos, conhecimento, pessoas e recursos.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18320" y="5120640"/>
            <a:ext cx="315468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0" y="5413248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Pessoas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5989320"/>
            <a:ext cx="31546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i="0" b="0">
                <a:solidFill>
                  <a:srgbClr val="6B6B66"/>
                </a:solidFill>
                <a:latin typeface="Outfit 2 Light"/>
              </a:rPr>
              <a:t>A família, a equipe, os clientes e as relações fazem parte daquilo que dá significado às suas realizações.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121640" y="5120640"/>
            <a:ext cx="315468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21640" y="5413248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Impacto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21640" y="5989320"/>
            <a:ext cx="31546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i="0" b="0">
                <a:solidFill>
                  <a:srgbClr val="6B6B66"/>
                </a:solidFill>
                <a:latin typeface="Outfit 2 Light"/>
              </a:rPr>
              <a:t>A conquista ganha mais sentido quando aquilo que ela constrói também amplia possibilidades para outras pessoas.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8366760"/>
            <a:ext cx="1426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i="0" b="0">
                <a:solidFill>
                  <a:srgbClr val="1C1C1A"/>
                </a:solidFill>
                <a:latin typeface="Outfit 2 Light"/>
              </a:rPr>
              <a:t>Enxergar além.</a:t>
            </a:r>
            <a:r>
              <a:rPr sz="2600" i="0" b="0">
                <a:solidFill>
                  <a:srgbClr val="A9724A"/>
                </a:solidFill>
                <a:latin typeface="Outfit 2 Light"/>
              </a:rPr>
              <a:t>   ·   </a:t>
            </a:r>
            <a:r>
              <a:rPr sz="2600" i="0" b="0">
                <a:solidFill>
                  <a:srgbClr val="1C1C1A"/>
                </a:solidFill>
                <a:latin typeface="Outfit 2 Light"/>
              </a:rPr>
              <a:t>Colocar em movimento.</a:t>
            </a:r>
            <a:r>
              <a:rPr sz="2600" i="0" b="0">
                <a:solidFill>
                  <a:srgbClr val="A9724A"/>
                </a:solidFill>
                <a:latin typeface="Outfit 2 Light"/>
              </a:rPr>
              <a:t>   ·   </a:t>
            </a:r>
            <a:r>
              <a:rPr sz="2600" i="0" b="0">
                <a:solidFill>
                  <a:srgbClr val="1C1C1A"/>
                </a:solidFill>
                <a:latin typeface="Outfit 2 Light"/>
              </a:rPr>
              <a:t>Fazer existir.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1600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A ESSÊNCIA DA FLÁVIA COMO FUNDADORA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148840"/>
            <a:ext cx="14081760" cy="1859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i="0" b="0">
                <a:solidFill>
                  <a:srgbClr val="1C1C1A"/>
                </a:solidFill>
                <a:latin typeface="Outfit 2 Light"/>
              </a:rPr>
              <a:t>Enxergar além do que está posto e fazer</a:t>
            </a:r>
          </a:p>
          <a:p>
            <a:pPr algn="l">
              <a:lnSpc>
                <a:spcPct val="120000"/>
              </a:lnSpc>
            </a:pPr>
            <a:r>
              <a:rPr sz="5200" i="0" b="0">
                <a:solidFill>
                  <a:srgbClr val="1C1C1A"/>
                </a:solidFill>
                <a:latin typeface="Outfit 2 Light"/>
              </a:rPr>
              <a:t>existir o que ainda é possibilidade.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507492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548640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ENXERGAR ALÉM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943600"/>
            <a:ext cx="43891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i="0" b="0">
                <a:solidFill>
                  <a:srgbClr val="6B6B66"/>
                </a:solidFill>
                <a:latin typeface="Outfit 2 Light"/>
              </a:rPr>
              <a:t>A Flávia não considera a realidade presente como a única possibilidade. Ela consegue enxergar aquilo que ainda pode existir.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548640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FAZER EXISTIR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5943600"/>
            <a:ext cx="43891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i="0" b="0">
                <a:solidFill>
                  <a:srgbClr val="6B6B66"/>
                </a:solidFill>
                <a:latin typeface="Outfit 2 Light"/>
              </a:rPr>
              <a:t>Ela não permanece apenas no campo da imaginação. Procura caminhos e transforma a possibilidade em realidade.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0" y="548640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AMPLIAR POSSIBILIDADES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0" y="5943600"/>
            <a:ext cx="43891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i="0" b="0">
                <a:solidFill>
                  <a:srgbClr val="6B6B66"/>
                </a:solidFill>
                <a:latin typeface="Outfit 2 Light"/>
              </a:rPr>
              <a:t>A realização ganha sentido quando aquilo que ela constrói também cria valor, oportunidade ou transformação para outras pessoas.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800100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8366760"/>
            <a:ext cx="1389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i="0" b="0">
                <a:solidFill>
                  <a:srgbClr val="1C1C1A"/>
                </a:solidFill>
                <a:latin typeface="Outfit 2 Light"/>
              </a:rPr>
              <a:t>Forte, determinada, criativa, sonhadora e visionária são características da Flávia. Mas são manifestações de uma lógica mais profunda: enxergar além e fazer existir.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39776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300">
                <a:solidFill>
                  <a:srgbClr val="A9724A"/>
                </a:solidFill>
                <a:latin typeface="Outfit 2 Semi-Bold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4526280"/>
            <a:ext cx="14264640" cy="146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2 Light"/>
              </a:rPr>
              <a:t>As marcas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672084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1600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AS MARCAS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148840"/>
            <a:ext cx="14264640" cy="928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Como essa essência se manifesta nas marcas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3187192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703320"/>
            <a:ext cx="1188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i="0" b="0">
                <a:solidFill>
                  <a:srgbClr val="A5A49F"/>
                </a:solidFill>
                <a:latin typeface="Outfit 2 Light"/>
              </a:rPr>
              <a:t>Uma mesma essência. Duas manifestações diferentes.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452628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892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9724A"/>
                </a:solidFill>
                <a:latin typeface="Outfit 2 Semi-Bold"/>
              </a:rPr>
              <a:t>A FORMA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349240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i="0" b="0">
                <a:solidFill>
                  <a:srgbClr val="1C1C1A"/>
                </a:solidFill>
                <a:latin typeface="Outfit 2 Light"/>
              </a:rPr>
              <a:t>Dar forma ao que ainda é ideia.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6263640"/>
            <a:ext cx="64008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i="0" b="0">
                <a:solidFill>
                  <a:srgbClr val="6B6B66"/>
                </a:solidFill>
                <a:latin typeface="Outfit 2 Light"/>
              </a:rPr>
              <a:t>A empresa representa o espaço que a Flávia buscava para criar, personalizar e construir segundo a sua própria visão. Esse mesmo movimento está na natureza do negócio: uma necessidade, uma ideia ou um sonho se transformam em projeto e ganham forma concreta.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4892040"/>
            <a:ext cx="12802" cy="3474720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0" y="4892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9724A"/>
                </a:solidFill>
                <a:latin typeface="Outfit 2 Semi-Bold"/>
              </a:rPr>
              <a:t>A MY HOME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5349240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i="0" b="0">
                <a:solidFill>
                  <a:srgbClr val="1C1C1A"/>
                </a:solidFill>
                <a:latin typeface="Outfit 2 Light"/>
              </a:rPr>
              <a:t>Reabrir possibilidades.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263640"/>
            <a:ext cx="64008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i="0" b="0">
                <a:solidFill>
                  <a:srgbClr val="6B6B66"/>
                </a:solidFill>
                <a:latin typeface="Outfit 2 Light"/>
              </a:rPr>
              <a:t>A marca nasce quando a Flávia questiona o destino dado às sobras da marcenaria. Onde havia descarte, ela enxergou matéria. Onde havia fim, ela enxergou um novo começo. Aquilo que havia encerrado a sua função ganhou uma nova possibilidade de existir.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8503920"/>
            <a:ext cx="1389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i="0" b="0">
                <a:solidFill>
                  <a:srgbClr val="A5A49F"/>
                </a:solidFill>
                <a:latin typeface="Outfit 2 Light"/>
              </a:rPr>
              <a:t>A Forma e a My Home são marcas diferentes e terão estratégias próprias. Mas as duas carregam, na origem, uma mesma forma de enxergar e transformar a realidade.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1600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PRÓXIMA ETAPA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148840"/>
            <a:ext cx="14264640" cy="928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Da essência à estratégia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3187192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794760"/>
            <a:ext cx="12252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2100" i="0" b="0">
                <a:solidFill>
                  <a:srgbClr val="6B6B66"/>
                </a:solidFill>
                <a:latin typeface="Outfit 2 Light"/>
              </a:rPr>
              <a:t>Esta etapa revelou a essência da Flávia como fundadora: uma forma própria de enxergar e transformar a realidade que já existia antes da Forma e da My Home.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57784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9436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O QUE VEM A SEGUIR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400800"/>
            <a:ext cx="1389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i="0" b="0">
                <a:solidFill>
                  <a:srgbClr val="6B6B66"/>
                </a:solidFill>
                <a:latin typeface="Outfit 2 Light"/>
              </a:rPr>
              <a:t>Essa essência ajuda a compreender de onde as duas marcas vêm, mas não define, sozinha, quem cada marca precisa ser.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7635240"/>
            <a:ext cx="13898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2 Light"/>
              </a:rPr>
              <a:t>A Base Estratégica vai definir como essa origem se traduz em uma direção própria, relevante e diferenciada para a Forma e para a My Home.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1680" y="416052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4617720"/>
            <a:ext cx="138988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5400" i="0" b="0">
                <a:solidFill>
                  <a:srgbClr val="1C1C1A"/>
                </a:solidFill>
                <a:latin typeface="Outfit 2 Light"/>
              </a:rPr>
              <a:t>A essência revela a origem.</a:t>
            </a:r>
          </a:p>
          <a:p>
            <a:pPr algn="l">
              <a:lnSpc>
                <a:spcPct val="130000"/>
              </a:lnSpc>
            </a:pPr>
            <a:r>
              <a:rPr sz="5400" i="0" b="0">
                <a:solidFill>
                  <a:srgbClr val="1C1C1A"/>
                </a:solidFill>
                <a:latin typeface="Outfit 2 Light"/>
              </a:rPr>
              <a:t>A estratégia define a direção.</a:t>
            </a:r>
          </a:p>
        </p:txBody>
      </p:sp>
      <p:pic>
        <p:nvPicPr>
          <p:cNvPr id="4" name="Picture 3" descr="logo-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9052560"/>
            <a:ext cx="1691640" cy="3984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DAHDB5KFpRw</dc:identifier>
  <dcterms:modified xsi:type="dcterms:W3CDTF">2011-08-01T06:04:30Z</dcterms:modified>
  <cp:revision>1</cp:revision>
  <dc:title>SABRE odonto - Lapidação de Essência</dc:title>
</cp:coreProperties>
</file>