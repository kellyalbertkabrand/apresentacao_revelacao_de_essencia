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36192" y="3593592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0" b="1" i="0">
                <a:solidFill>
                  <a:srgbClr val="000000"/>
                </a:solidFill>
                <a:latin typeface="Outfit"/>
              </a:rPr>
              <a:t>BASE ESTRATÉGICA DA MARCA</a:t>
            </a:r>
          </a:p>
          <a:p>
            <a:r>
              <a:rPr sz="7500" b="1" i="0" spc="10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  <p:pic>
        <p:nvPicPr>
          <p:cNvPr id="4" name="Picture 3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1208" y="3776472"/>
            <a:ext cx="1490472" cy="1773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6192" y="5824728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1A1A1A"/>
                </a:solidFill>
                <a:latin typeface="Outfit"/>
              </a:rPr>
              <a:t>Construção estratégica para </a:t>
            </a:r>
            <a:r>
              <a:rPr sz="3000" b="1" i="0">
                <a:solidFill>
                  <a:srgbClr val="1A1A1A"/>
                </a:solidFill>
                <a:latin typeface="Outfit"/>
              </a:rPr>
              <a:t>clareza, consistência e expansão.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7790688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0" i="0" spc="150">
                <a:solidFill>
                  <a:srgbClr val="000000"/>
                </a:solidFill>
                <a:latin typeface="Outfit"/>
              </a:rPr>
              <a:t>MARÇO/2026</a:t>
            </a:r>
          </a:p>
          <a:p>
            <a:r>
              <a:rPr sz="2650" b="0" i="0">
                <a:solidFill>
                  <a:srgbClr val="1A1A1A"/>
                </a:solidFill>
                <a:latin typeface="Outfit"/>
              </a:rPr>
              <a:t>Método </a:t>
            </a:r>
            <a:r>
              <a:rPr sz="2650" b="1" i="0">
                <a:solidFill>
                  <a:srgbClr val="1A1A1A"/>
                </a:solidFill>
                <a:latin typeface="Outfit"/>
              </a:rPr>
              <a:t>Marca com Essência </a:t>
            </a:r>
            <a:r>
              <a:rPr sz="1500" b="1" i="0">
                <a:solidFill>
                  <a:srgbClr val="1A1A1A"/>
                </a:solidFill>
                <a:latin typeface="Outfit"/>
              </a:rPr>
              <a:t>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7360" y="8229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0" b="1" i="0">
                <a:solidFill>
                  <a:srgbClr val="000000"/>
                </a:solidFill>
                <a:latin typeface="Outfit"/>
              </a:rPr>
              <a:t>SUMÁRIO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39572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39" y="25603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Leitura do momento da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45643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39" y="3621024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Definição central da marca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517136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39" y="4681728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Causa, liderança e tribo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5778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5742431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Golden Circle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6638544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6803136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Proposta de valor e posicionamento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1784" y="239572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27663" y="25603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Arquitetura de marca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1784" y="352044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27663" y="3685032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Territórios, pilares e público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1784" y="4645152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7663" y="4809744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Personalidade e tom de voz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59893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27663" y="6153912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Manifesto e síntese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13432" y="3941063"/>
            <a:ext cx="1495044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1" i="0">
                <a:solidFill>
                  <a:srgbClr val="000000"/>
                </a:solidFill>
                <a:latin typeface="Outfit"/>
              </a:rPr>
              <a:t>O MOMENTO ATUAL DA </a:t>
            </a:r>
            <a:r>
              <a:rPr sz="10000" b="1" i="0">
                <a:solidFill>
                  <a:srgbClr val="000000"/>
                </a:solidFill>
                <a:latin typeface="Outfit"/>
              </a:rPr>
              <a:t>YUFIL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1887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0" b="1" i="0">
                <a:solidFill>
                  <a:srgbClr val="1A1A1A"/>
                </a:solidFill>
                <a:latin typeface="Outfi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320040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0" i="0">
                <a:solidFill>
                  <a:srgbClr val="1A1A1A"/>
                </a:solidFill>
                <a:latin typeface="Outfit"/>
              </a:rPr>
              <a:t>A YUFIL </a:t>
            </a:r>
            <a:r>
              <a:rPr sz="4300" b="1" i="0">
                <a:solidFill>
                  <a:srgbClr val="1A1A1A"/>
                </a:solidFill>
                <a:latin typeface="Outfit"/>
              </a:rPr>
              <a:t>não nasce </a:t>
            </a:r>
            <a:r>
              <a:rPr sz="4300" b="0" i="0">
                <a:solidFill>
                  <a:srgbClr val="1A1A1A"/>
                </a:solidFill>
                <a:latin typeface="Outfit"/>
              </a:rPr>
              <a:t>de uma oportunidade de mercado. Ela nasce do encontro entre </a:t>
            </a:r>
            <a:r>
              <a:rPr sz="4300" b="1" i="0">
                <a:solidFill>
                  <a:srgbClr val="1A1A1A"/>
                </a:solidFill>
                <a:latin typeface="Outfit"/>
              </a:rPr>
              <a:t>duas forças complementares.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94944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 spc="200">
                <a:solidFill>
                  <a:srgbClr val="7A7A72"/>
                </a:solidFill>
                <a:latin typeface="Outfit"/>
              </a:rPr>
              <a:t>ESSÊNCIA HUMANA + DIREÇÃO DE PROJETO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04320" y="0"/>
            <a:ext cx="6583680" cy="1028700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ESSÊNCIA DOS FUNDADORES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A FORÇA QUE ORIGINA</a:t>
            </a:r>
          </a:p>
          <a:p>
            <a:r>
              <a:rPr sz="5100" b="1" i="0">
                <a:solidFill>
                  <a:srgbClr val="1A1A1A"/>
                </a:solidFill>
                <a:latin typeface="Outfit"/>
              </a:rPr>
              <a:t>E TRANSFORMA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0">
                <a:solidFill>
                  <a:srgbClr val="7A7A72"/>
                </a:solidFill>
                <a:latin typeface="Outfit"/>
              </a:rPr>
              <a:t>•  37 anos dentro do salão — a técnica que veio da prática.</a:t>
            </a:r>
          </a:p>
          <a:p>
            <a:r>
              <a:rPr sz="2700" b="0" i="0">
                <a:solidFill>
                  <a:srgbClr val="7A7A72"/>
                </a:solidFill>
                <a:latin typeface="Outfit"/>
              </a:rPr>
              <a:t>•  A leitura concreta das dores do cabelo e da rotina.</a:t>
            </a:r>
          </a:p>
          <a:p>
            <a:r>
              <a:rPr sz="2700" b="0" i="0">
                <a:solidFill>
                  <a:srgbClr val="7A7A72"/>
                </a:solidFill>
                <a:latin typeface="Outfit"/>
              </a:rPr>
              <a:t>•  A visão de uma linha técnica para casa.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5836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1">
                <a:solidFill>
                  <a:srgbClr val="1A1A1A"/>
                </a:solidFill>
                <a:latin typeface="Outfit"/>
              </a:rPr>
              <a:t>“A mesma tesoura que tirou a minha visão foi a ferramenta que mudou a minha vida.”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138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 spc="150">
                <a:solidFill>
                  <a:srgbClr val="1A1A1A"/>
                </a:solidFill>
                <a:latin typeface="Outfit"/>
              </a:rPr>
              <a:t>TÉCNICA  •  INOVAÇÃO  •  ORIGEM  •  AUTORIDADE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LEITURA DO MOMENTO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92024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O INSIGHT DA YUFIL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29184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3131"/>
                </a:solidFill>
                <a:latin typeface="Outfit"/>
              </a:rPr>
              <a:t>✕  </a:t>
            </a:r>
            <a:r>
              <a:rPr sz="2700" b="0" i="0">
                <a:solidFill>
                  <a:srgbClr val="000000"/>
                </a:solidFill>
                <a:latin typeface="Outfit"/>
              </a:rPr>
              <a:t>cabelos difíceis de tratar</a:t>
            </a:r>
          </a:p>
          <a:p>
            <a:r>
              <a:rPr sz="2700" b="1" i="0">
                <a:solidFill>
                  <a:srgbClr val="FF3131"/>
                </a:solidFill>
                <a:latin typeface="Outfit"/>
              </a:rPr>
              <a:t>✕  </a:t>
            </a:r>
            <a:r>
              <a:rPr sz="2700" b="0" i="0">
                <a:solidFill>
                  <a:srgbClr val="000000"/>
                </a:solidFill>
                <a:latin typeface="Outfit"/>
              </a:rPr>
              <a:t>rotinas cada vez mais complicadas</a:t>
            </a:r>
          </a:p>
          <a:p>
            <a:r>
              <a:rPr sz="2700" b="1" i="0">
                <a:solidFill>
                  <a:srgbClr val="FF3131"/>
                </a:solidFill>
                <a:latin typeface="Outfit"/>
              </a:rPr>
              <a:t>✕  </a:t>
            </a:r>
            <a:r>
              <a:rPr sz="2700" b="0" i="0">
                <a:solidFill>
                  <a:srgbClr val="000000"/>
                </a:solidFill>
                <a:latin typeface="Outfit"/>
              </a:rPr>
              <a:t>excesso de produto sem resultado real</a:t>
            </a:r>
          </a:p>
          <a:p>
            <a:r>
              <a:rPr sz="2700" b="1" i="0">
                <a:solidFill>
                  <a:srgbClr val="FF3131"/>
                </a:solidFill>
                <a:latin typeface="Outfit"/>
              </a:rPr>
              <a:t>✕  </a:t>
            </a:r>
            <a:r>
              <a:rPr sz="2700" b="0" i="0">
                <a:solidFill>
                  <a:srgbClr val="000000"/>
                </a:solidFill>
                <a:latin typeface="Outfit"/>
              </a:rPr>
              <a:t>promessas que não se sustentam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94944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Outfit"/>
              </a:rPr>
              <a:t>O problema não é a falta de produto. É o </a:t>
            </a:r>
            <a:r>
              <a:rPr sz="3000" b="1" i="0">
                <a:solidFill>
                  <a:srgbClr val="C8BFA8"/>
                </a:solidFill>
                <a:latin typeface="Outfit"/>
              </a:rPr>
              <a:t>excesso no cuidado.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ESSÊNCIA DA YUFIL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743200"/>
            <a:ext cx="1408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1A1A1A"/>
                </a:solidFill>
                <a:latin typeface="Outfit"/>
              </a:rPr>
              <a:t>CUIDADO REAL </a:t>
            </a:r>
            <a:r>
              <a:rPr sz="10000" b="0" i="0">
                <a:solidFill>
                  <a:srgbClr val="1A1A1A"/>
                </a:solidFill>
                <a:latin typeface="Outfit"/>
              </a:rPr>
              <a:t>PARA A </a:t>
            </a:r>
            <a:r>
              <a:rPr sz="10000" b="1" i="0">
                <a:solidFill>
                  <a:srgbClr val="1A1A1A"/>
                </a:solidFill>
                <a:latin typeface="Outfit"/>
              </a:rPr>
              <a:t>VIDA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6035040"/>
            <a:ext cx="13716000" cy="36576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6492240"/>
            <a:ext cx="1371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A YUFIL nasce da experiência prática de quem vive o cuidado todos os dias.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PROPOSTA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QUE A YUFIL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3383279"/>
            <a:ext cx="6766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01.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Autoridade técnica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Fórmulas com base em 37 anos de prática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19" y="31089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3383279"/>
            <a:ext cx="6766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02.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Formato concentrado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Menos produto, menos volume, menos descarte.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6126480"/>
            <a:ext cx="6766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03.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Experiência que não pesa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Cuidar sem que vire um ritual cansativo.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19" y="5852160"/>
            <a:ext cx="749807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6126480"/>
            <a:ext cx="6766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C8BFA8"/>
                </a:solidFill>
                <a:latin typeface="Outfit"/>
              </a:rPr>
              <a:t>04.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Coerência que fideliza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A marca faz o que diz, sem hipérboles.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IDENTIDADE DA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QUE A MARCA...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5852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+ VALORIZA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Outfit"/>
              </a:rPr>
              <a:t>Inovação real de formato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Clareza e honestidade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Estética funcional e limpa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Inteligência na rotina</a:t>
            </a:r>
          </a:p>
          <a:p>
            <a:r>
              <a:rPr sz="2200" b="1" i="0">
                <a:solidFill>
                  <a:srgbClr val="1A1A1A"/>
                </a:solidFill>
                <a:latin typeface="Outfit"/>
              </a:rPr>
              <a:t>Sustentabilidade coerente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926080"/>
            <a:ext cx="7315200" cy="585216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3200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 i="0" spc="150">
                <a:solidFill>
                  <a:srgbClr val="7A7A72"/>
                </a:solidFill>
                <a:latin typeface="Outfit"/>
              </a:rPr>
              <a:t>× EVITA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3931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A7A72"/>
                </a:solidFill>
                <a:latin typeface="Outfit"/>
              </a:rPr>
              <a:t>Mais do mesmo sem diferenciação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Complexidade desnecessária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Excesso de passos e produtos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Promessas milagrosas</a:t>
            </a:r>
          </a:p>
          <a:p>
            <a:r>
              <a:rPr sz="2200" b="0" i="0">
                <a:solidFill>
                  <a:srgbClr val="7A7A72"/>
                </a:solidFill>
                <a:latin typeface="Outfit"/>
              </a:rPr>
              <a:t>Visual 'natureba' sem substância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0" b="0" i="0">
                <a:solidFill>
                  <a:srgbClr val="000000"/>
                </a:solidFill>
                <a:latin typeface="Outfit"/>
              </a:rPr>
              <a:t>MUITO OBRIGADA!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669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1A1A1A"/>
                </a:solidFill>
                <a:latin typeface="Outfit"/>
              </a:rPr>
              <a:t>Aplicando os conteúdos deste documento na prática, você garante uma marca construída com consistência e clareza.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