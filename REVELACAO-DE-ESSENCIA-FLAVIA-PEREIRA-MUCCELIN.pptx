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36192" y="3593592"/>
            <a:ext cx="1362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0" b="1" i="0">
                <a:solidFill>
                  <a:srgbClr val="000000"/>
                </a:solidFill>
                <a:latin typeface="Outfit"/>
              </a:rPr>
              <a:t>REVELAÇÃO DE</a:t>
            </a:r>
          </a:p>
          <a:p>
            <a:r>
              <a:rPr sz="7500" b="1" i="0" spc="100">
                <a:solidFill>
                  <a:srgbClr val="000000"/>
                </a:solidFill>
                <a:latin typeface="Outfit"/>
              </a:rPr>
              <a:t>ESSÊNCIA</a:t>
            </a:r>
          </a:p>
        </p:txBody>
      </p:sp>
      <p:pic>
        <p:nvPicPr>
          <p:cNvPr id="4" name="Picture 3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0" y="3776472"/>
            <a:ext cx="1490472" cy="1773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6192" y="5897880"/>
            <a:ext cx="1325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Outfit"/>
              </a:rPr>
              <a:t>Flávia Pereira Muccelin</a:t>
            </a:r>
            <a:r>
              <a:rPr sz="3000" b="0" i="0">
                <a:solidFill>
                  <a:srgbClr val="1A1A1A"/>
                </a:solidFill>
                <a:latin typeface="Outfit"/>
              </a:rPr>
              <a:t>  |  Origem Identitária da Fundadora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779068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0" i="0" spc="150">
                <a:solidFill>
                  <a:srgbClr val="000000"/>
                </a:solidFill>
                <a:latin typeface="Outfit"/>
              </a:rPr>
              <a:t>SETEMBRO/2026</a:t>
            </a:r>
          </a:p>
          <a:p>
            <a:r>
              <a:rPr sz="2650" b="0" i="0">
                <a:solidFill>
                  <a:srgbClr val="1A1A1A"/>
                </a:solidFill>
                <a:latin typeface="Outfit"/>
              </a:rPr>
              <a:t>Método </a:t>
            </a:r>
            <a:r>
              <a:rPr sz="2650" b="1" i="0">
                <a:solidFill>
                  <a:srgbClr val="1A1A1A"/>
                </a:solidFill>
                <a:latin typeface="Outfit"/>
              </a:rPr>
              <a:t>Marca com Essência </a:t>
            </a:r>
            <a:r>
              <a:rPr sz="1500" b="1" i="0">
                <a:solidFill>
                  <a:srgbClr val="1A1A1A"/>
                </a:solidFill>
                <a:latin typeface="Outfit"/>
              </a:rPr>
              <a:t>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7360" y="8229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0" b="1" i="0">
                <a:solidFill>
                  <a:srgbClr val="000000"/>
                </a:solidFill>
                <a:latin typeface="Outfit"/>
              </a:rPr>
              <a:t>SUMÁRIO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651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39" y="2697479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Outfit"/>
              </a:rPr>
              <a:t>A origem</a:t>
            </a:r>
          </a:p>
          <a:p>
            <a:r>
              <a:rPr sz="2000" b="0" i="0">
                <a:solidFill>
                  <a:srgbClr val="7A7A72"/>
                </a:solidFill>
                <a:latin typeface="Outfit"/>
              </a:rPr>
              <a:t>As experiências que formaram a visão de mundo da Flávia.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1605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39" y="420624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Outfit"/>
              </a:rPr>
              <a:t>As tensões</a:t>
            </a:r>
          </a:p>
          <a:p>
            <a:r>
              <a:rPr sz="2000" b="0" i="0">
                <a:solidFill>
                  <a:srgbClr val="7A7A72"/>
                </a:solidFill>
                <a:latin typeface="Outfit"/>
              </a:rPr>
              <a:t>Os momentos que a colocaram em movimento.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669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39" y="57150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Outfit"/>
              </a:rPr>
              <a:t>Os padrões</a:t>
            </a:r>
          </a:p>
          <a:p>
            <a:r>
              <a:rPr sz="2000" b="0" i="0">
                <a:solidFill>
                  <a:srgbClr val="7A7A72"/>
                </a:solidFill>
                <a:latin typeface="Outfit"/>
              </a:rPr>
              <a:t>A lógica que se repete ao longo da trajetória.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651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697479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Outfit"/>
              </a:rPr>
              <a:t>O Ikigai</a:t>
            </a:r>
          </a:p>
          <a:p>
            <a:r>
              <a:rPr sz="2000" b="0" i="0">
                <a:solidFill>
                  <a:srgbClr val="7A7A72"/>
                </a:solidFill>
                <a:latin typeface="Outfit"/>
              </a:rPr>
              <a:t>O que gera sentido e realização para a Flávia.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16052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420624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Outfit"/>
              </a:rPr>
              <a:t>A essência</a:t>
            </a:r>
          </a:p>
          <a:p>
            <a:r>
              <a:rPr sz="2000" b="0" i="0">
                <a:solidFill>
                  <a:srgbClr val="7A7A72"/>
                </a:solidFill>
                <a:latin typeface="Outfit"/>
              </a:rPr>
              <a:t>O princípio que conecta a sua história.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6692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1A1A1A"/>
                </a:solidFill>
                <a:latin typeface="Outfit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57150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Outfit"/>
              </a:rPr>
              <a:t>As marcas</a:t>
            </a:r>
          </a:p>
          <a:p>
            <a:r>
              <a:rPr sz="2000" b="0" i="0">
                <a:solidFill>
                  <a:srgbClr val="7A7A72"/>
                </a:solidFill>
                <a:latin typeface="Outfit"/>
              </a:rPr>
              <a:t>Como essa essência se manifesta na origem da Forma e da My Home.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566160"/>
            <a:ext cx="1408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 i="0">
                <a:solidFill>
                  <a:srgbClr val="000000"/>
                </a:solidFill>
                <a:latin typeface="Outfit"/>
              </a:rPr>
              <a:t>POR QUE COMEÇAMOS</a:t>
            </a:r>
          </a:p>
          <a:p>
            <a:r>
              <a:rPr sz="10000" b="0" i="0">
                <a:solidFill>
                  <a:srgbClr val="000000"/>
                </a:solidFill>
                <a:latin typeface="Outfit"/>
              </a:rPr>
              <a:t>PELA </a:t>
            </a:r>
            <a:r>
              <a:rPr sz="10000" b="1" i="0">
                <a:solidFill>
                  <a:srgbClr val="000000"/>
                </a:solidFill>
                <a:latin typeface="Outfit"/>
              </a:rPr>
              <a:t>ESSÊNCIA?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REVELAÇÃO DE ESSÊNCIA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PONTO DE PARTIDA DO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0"/>
            <a:ext cx="1335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Outfit"/>
              </a:rPr>
              <a:t>A Forma e a My Home são negócios distintos, mas nasceram e se desenvolveram a partir da visão de uma mesma fundadora.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297680"/>
            <a:ext cx="1335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7A7A72"/>
                </a:solidFill>
                <a:latin typeface="Outfit"/>
              </a:rPr>
              <a:t>Em marcas fortemente ligadas à fundadora, compreender a história de quem as criou ajuda a identificar crenças, princípios e formas de pensar e agir que influenciaram a construção dos negócios.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6309360"/>
            <a:ext cx="7223760" cy="265176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66294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QUE NÃO 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7223760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Uma análise psicológica da Flávia.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6309360"/>
            <a:ext cx="7223760" cy="265176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66294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QUE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7223760"/>
            <a:ext cx="6309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A investigação da origem identitária das marcas a partir da fundadora.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27432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PERGUNTA QUE CONDUZ ESTA ETAPA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383280"/>
            <a:ext cx="1408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200" b="0" i="0">
                <a:solidFill>
                  <a:srgbClr val="1A1A1A"/>
                </a:solidFill>
                <a:latin typeface="Outfit"/>
              </a:rPr>
              <a:t>O que já fazia parte de quem a Flávia </a:t>
            </a:r>
            <a:r>
              <a:rPr sz="6200" b="1" i="0">
                <a:solidFill>
                  <a:srgbClr val="1A1A1A"/>
                </a:solidFill>
                <a:latin typeface="Outfit"/>
              </a:rPr>
              <a:t>era antes</a:t>
            </a:r>
            <a:r>
              <a:rPr sz="6200" b="0" i="0">
                <a:solidFill>
                  <a:srgbClr val="1A1A1A"/>
                </a:solidFill>
                <a:latin typeface="Outfit"/>
              </a:rPr>
              <a:t> da Forma e da My Home?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7589520"/>
            <a:ext cx="13716000" cy="36576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COMO CHEGAMOS À REVELAÇÃO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651760"/>
            <a:ext cx="1335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7A7A72"/>
                </a:solidFill>
                <a:latin typeface="Outfit"/>
              </a:rPr>
              <a:t>A essência não é definida por uma característica isolada. Ela se revela quando diferentes momentos da trajetória apresentam uma mesma lógica.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4114800"/>
            <a:ext cx="36118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438912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01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História</a:t>
            </a:r>
          </a:p>
          <a:p>
            <a:r>
              <a:rPr sz="1700" b="0" i="0">
                <a:solidFill>
                  <a:srgbClr val="7A7A72"/>
                </a:solidFill>
                <a:latin typeface="Outfit"/>
              </a:rPr>
              <a:t>Mostra as experiências e as referências que formaram a visão de mundo da Flávia.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2392" y="4114800"/>
            <a:ext cx="3611880" cy="310896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88152" y="438912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02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Tensões</a:t>
            </a:r>
          </a:p>
          <a:p>
            <a:r>
              <a:rPr sz="1700" b="0" i="0">
                <a:solidFill>
                  <a:srgbClr val="7A7A72"/>
                </a:solidFill>
                <a:latin typeface="Outfit"/>
              </a:rPr>
              <a:t>Mostram os momentos em que aquilo que existia entrou em conflito com aquilo que ela desejava ou conseguia enxergar.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0304" y="4114800"/>
            <a:ext cx="36118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6064" y="438912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03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Padrões</a:t>
            </a:r>
          </a:p>
          <a:p>
            <a:r>
              <a:rPr sz="1700" b="0" i="0">
                <a:solidFill>
                  <a:srgbClr val="7A7A72"/>
                </a:solidFill>
                <a:latin typeface="Outfit"/>
              </a:rPr>
              <a:t>Revelam como a Flávia responde, repetidamente, a essas situações.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58216" y="4114800"/>
            <a:ext cx="3611880" cy="310896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23976" y="438912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04</a:t>
            </a:r>
          </a:p>
          <a:p>
            <a:r>
              <a:rPr sz="2400" b="1" i="0">
                <a:solidFill>
                  <a:srgbClr val="1A1A1A"/>
                </a:solidFill>
                <a:latin typeface="Outfit"/>
              </a:rPr>
              <a:t>Ikigai</a:t>
            </a:r>
          </a:p>
          <a:p>
            <a:r>
              <a:rPr sz="1700" b="0" i="0">
                <a:solidFill>
                  <a:srgbClr val="7A7A72"/>
                </a:solidFill>
                <a:latin typeface="Outfit"/>
              </a:rPr>
              <a:t>Revela o que gera sentido, realização e vontade de contribuir.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7635240"/>
            <a:ext cx="1517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7A7A72"/>
                </a:solidFill>
                <a:latin typeface="Outfit"/>
              </a:rPr>
              <a:t>História  +  tensões  +  padrões  +  Ikigai  =  </a:t>
            </a:r>
            <a:r>
              <a:rPr sz="2600" b="1" i="0">
                <a:solidFill>
                  <a:srgbClr val="1A1A1A"/>
                </a:solidFill>
                <a:latin typeface="Outfit"/>
              </a:rPr>
              <a:t>essência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8732520"/>
            <a:ext cx="1517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7A7A72"/>
                </a:solidFill>
                <a:latin typeface="Outfit"/>
              </a:rPr>
              <a:t>A essência é o princípio central que conecta essas dimensões e revela a lógica que orienta a forma como a Flávia enxerga, age e transforma.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2461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 spc="300">
                <a:solidFill>
                  <a:srgbClr val="C8BFA8"/>
                </a:solidFill>
                <a:latin typeface="Outfi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886200"/>
            <a:ext cx="15179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1" i="0">
                <a:solidFill>
                  <a:srgbClr val="000000"/>
                </a:solidFill>
                <a:latin typeface="Outfit"/>
              </a:rPr>
              <a:t>A ORIGEM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95760" y="0"/>
            <a:ext cx="6492240" cy="1028700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ORIGEM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ONDE ESSA HISTÓRIA COMEÇA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Outfit"/>
              </a:rPr>
              <a:t>A história familiar da Flávia é marcada por limitações, trabalho, fé e recomeços.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7A7A72"/>
                </a:solidFill>
                <a:latin typeface="Outfit"/>
              </a:rPr>
              <a:t>A família deixou Guiratinga e foi para Primavera do Leste em busca de uma vida melhor. O pai da Flávia passou a trabalhar como caseiro justamente na propriedade onde, décadas depois, ela viveria como proprietária.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6949440"/>
            <a:ext cx="98755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7223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A Flávia chegou àquele lugar como “a filha do peão”.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8686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Outfit"/>
              </a:rPr>
              <a:t>TRABALHO   ·   FAMÍLIA   ·   FÉ   ·   HONESTIDADE   ·   GRATIDÃO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ORIGEM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OS PRIMEIROS SINAIS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Outfit"/>
              </a:rPr>
              <a:t>A vontade de construir uma realidade diferente aparece muito antes da criação das empresas.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480560"/>
            <a:ext cx="7863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7A7A72"/>
                </a:solidFill>
                <a:latin typeface="Outfit"/>
              </a:rPr>
              <a:t>Ainda criança, a Flávia acompanhava o pai no garimpo e chegou a cozinhar para os trabalhadores. Mais tarde, ia de bicicleta da chácara até o centro para trabalhar. Também estudava e jogava futsal para conquistar uma bolsa que ajudasse a manter a faculdade.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65176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7A7A72"/>
                </a:solidFill>
                <a:latin typeface="Outfit"/>
              </a:rPr>
              <a:t>Ela mesma diz: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3200400"/>
            <a:ext cx="67665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306324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 i="0">
                <a:solidFill>
                  <a:srgbClr val="C8BFA8"/>
                </a:solidFill>
                <a:latin typeface="Outfit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384048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Eu não quero isso para mim.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566928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7A7A72"/>
                </a:solidFill>
                <a:latin typeface="Outfit"/>
              </a:rPr>
              <a:t>E, mais tarde, ao perceber que o cargo limitaria o seu crescimento: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6583680"/>
            <a:ext cx="6766560" cy="210312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 i="0">
                <a:solidFill>
                  <a:srgbClr val="C8BFA8"/>
                </a:solidFill>
                <a:latin typeface="Outfit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722376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Eu queria mais.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ORIGEM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AS EXPERIÊNCIAS QUE A FORMARAM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6035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2461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01</a:t>
            </a:r>
          </a:p>
          <a:p>
            <a:r>
              <a:rPr sz="3000" b="1" i="0">
                <a:solidFill>
                  <a:srgbClr val="1A1A1A"/>
                </a:solidFill>
                <a:latin typeface="Outfit"/>
              </a:rPr>
              <a:t>A escassez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84632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A7A72"/>
                </a:solidFill>
                <a:latin typeface="Outfit"/>
              </a:rPr>
              <a:t>A Flávia cresceu em uma realidade de poucos recursos.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7086600"/>
            <a:ext cx="6400800" cy="27432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7269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QUE ISSO REVELA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772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A vontade de ampliar possibilidades e não aceitar a condição presente como limite.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2926080"/>
            <a:ext cx="7315200" cy="60350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32461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02</a:t>
            </a:r>
          </a:p>
          <a:p>
            <a:r>
              <a:rPr sz="3000" b="1" i="0">
                <a:solidFill>
                  <a:srgbClr val="1A1A1A"/>
                </a:solidFill>
                <a:latin typeface="Outfit"/>
              </a:rPr>
              <a:t>O portão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484632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A7A72"/>
                </a:solidFill>
                <a:latin typeface="Outfit"/>
              </a:rPr>
              <a:t>Ainda adolescente, a Flávia entrava escondida na casa dos donos da fazenda onde o pai trabalhava e se imaginava vivendo aquela realidade. Anos depois, tornou-se proprietária daquele mesmo lugar.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7086600"/>
            <a:ext cx="6400800" cy="27432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7269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QUE ISSO REVELA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7772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A capacidade de se enxergar dentro de uma realidade antes de ela existir concretamente.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ORIGEM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AS EXPERIÊNCIAS QUE A FORMARAM ·  CONTINUAÇÃO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6035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2461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03</a:t>
            </a:r>
          </a:p>
          <a:p>
            <a:r>
              <a:rPr sz="3000" b="1" i="0">
                <a:solidFill>
                  <a:srgbClr val="1A1A1A"/>
                </a:solidFill>
                <a:latin typeface="Outfit"/>
              </a:rPr>
              <a:t>O trabalho e o estudo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84632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A7A72"/>
                </a:solidFill>
                <a:latin typeface="Outfit"/>
              </a:rPr>
              <a:t>Trabalho, faculdade, bicicleta e futsal como caminho para conquistar uma bolsa de estudos.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7086600"/>
            <a:ext cx="6400800" cy="27432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7269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QUE ISSO REVELA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772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Para a Flávia, enxergar uma possibilidade exige movimento para torná-la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2926080"/>
            <a:ext cx="7315200" cy="60350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32461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04</a:t>
            </a:r>
          </a:p>
          <a:p>
            <a:r>
              <a:rPr sz="3000" b="1" i="0">
                <a:solidFill>
                  <a:srgbClr val="1A1A1A"/>
                </a:solidFill>
                <a:latin typeface="Outfit"/>
              </a:rPr>
              <a:t>A trajetória dos 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484632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A7A72"/>
                </a:solidFill>
                <a:latin typeface="Outfit"/>
              </a:rPr>
              <a:t>A Flávia cresceu vendo os pais recomeçarem sem abandonar a honestidade, a fé, o trabalho e a família.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7086600"/>
            <a:ext cx="6400800" cy="27432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7269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QUE ISSO REVELA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7772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A forma de construir importa tanto quanto aquilo que é conquistado.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2461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 spc="300">
                <a:solidFill>
                  <a:srgbClr val="C8BFA8"/>
                </a:solidFill>
                <a:latin typeface="Outfi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886200"/>
            <a:ext cx="15179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1" i="0">
                <a:solidFill>
                  <a:srgbClr val="000000"/>
                </a:solidFill>
                <a:latin typeface="Outfit"/>
              </a:rPr>
              <a:t>AS TENSÕES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AS TENSÕES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AS TENSÕES QUE A COLOCARAM EM MOVIMENTO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514600"/>
            <a:ext cx="1335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7A7A72"/>
                </a:solidFill>
                <a:latin typeface="Outfit"/>
              </a:rPr>
              <a:t>Existe uma lógica recorrente na trajetória da Flávia.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3246120"/>
            <a:ext cx="850392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3364991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REALIDADE DIZIA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3776472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Outfit"/>
              </a:rPr>
              <a:t>“Essa é a sua condição.”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352043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5661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A Flávia enxergava outra.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4535424"/>
            <a:ext cx="8503920" cy="1170432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465429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CARGO DIZIA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5065776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Outfit"/>
              </a:rPr>
              <a:t>“Até aqui você pode chegar.”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4809744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4855464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A Flávia queria mais.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5824728"/>
            <a:ext cx="850392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5943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AS MARCAS PRONTAS DIZIAM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635508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Outfit"/>
              </a:rPr>
              <a:t>“É assim que deve ser feito.”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09904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144768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A Flávia queria fazer do seu jeito.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7114032"/>
            <a:ext cx="8503920" cy="1170432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723290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MATERNIDADE EXIGIU UMA ESCOLHA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7644383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Outfit"/>
              </a:rPr>
              <a:t>Conciliar a maternidade e o empreendedorismo não era possível como ela desejava naquele momento.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738835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7434072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Ela parou e, anos depois, construiu um caminho de volta.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8403336"/>
            <a:ext cx="850392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852220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AS SOBRAS TINHAM UM DESTINO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8933688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Outfit"/>
              </a:rPr>
              <a:t>“O descarte.”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8677656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8723376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A Flávia enxergou matéria para uma nova criação.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2461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 spc="300">
                <a:solidFill>
                  <a:srgbClr val="C8BFA8"/>
                </a:solidFill>
                <a:latin typeface="Outfi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886200"/>
            <a:ext cx="15179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1" i="0">
                <a:solidFill>
                  <a:srgbClr val="000000"/>
                </a:solidFill>
                <a:latin typeface="Outfit"/>
              </a:rPr>
              <a:t>OS PADRÕES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651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OS PADRÕES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O PADRÃO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2062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100" b="1" i="0">
                <a:solidFill>
                  <a:srgbClr val="1A1A1A"/>
                </a:solidFill>
                <a:latin typeface="Outfit"/>
              </a:rPr>
              <a:t>INVISÍVEL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57784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7A7A72"/>
                </a:solidFill>
                <a:latin typeface="Outfit"/>
              </a:rPr>
              <a:t>As situações são diferentes. A resposta da Flávia segue a mesma lógica.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651760"/>
            <a:ext cx="85039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9718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301752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A1A1A"/>
                </a:solidFill>
                <a:latin typeface="Outfit"/>
              </a:rPr>
              <a:t>Ela encontra uma realidade ou um limite.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4572000"/>
            <a:ext cx="85039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4892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493776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A1A1A"/>
                </a:solidFill>
                <a:latin typeface="Outfit"/>
              </a:rPr>
              <a:t>Enxerga que aquilo pode ser diferente.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6492240"/>
            <a:ext cx="85039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6812279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685800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A1A1A"/>
                </a:solidFill>
                <a:latin typeface="Outfit"/>
              </a:rPr>
              <a:t>Constrói um caminho para transformar essa possibilidade em realidade.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859536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A7A72"/>
                </a:solidFill>
                <a:latin typeface="Outfit"/>
              </a:rPr>
              <a:t>O padrão está na forma como a Flávia responde quando percebe que existe uma possibilidade além daquilo que está dado.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OS PADRÕES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MOVIMENTO QUE SE REPETE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3200400"/>
            <a:ext cx="22860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01</a:t>
            </a:r>
          </a:p>
          <a:p>
            <a:r>
              <a:rPr sz="1900" b="1" i="0">
                <a:solidFill>
                  <a:srgbClr val="1A1A1A"/>
                </a:solidFill>
                <a:latin typeface="Outfit"/>
              </a:rPr>
              <a:t>Enxerga a realidade como ela 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5615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096511" y="3200400"/>
            <a:ext cx="2286000" cy="32918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1" y="347472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02</a:t>
            </a:r>
          </a:p>
          <a:p>
            <a:r>
              <a:rPr sz="1900" b="1" i="0">
                <a:solidFill>
                  <a:srgbClr val="1A1A1A"/>
                </a:solidFill>
                <a:latin typeface="Outfit"/>
              </a:rPr>
              <a:t>Percebe que aquilo não precisa ser definitivo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38544" y="3200400"/>
            <a:ext cx="22860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12864" y="347472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03</a:t>
            </a:r>
          </a:p>
          <a:p>
            <a:r>
              <a:rPr sz="1900" b="1" i="0">
                <a:solidFill>
                  <a:srgbClr val="1A1A1A"/>
                </a:solidFill>
                <a:latin typeface="Outfit"/>
              </a:rPr>
              <a:t>Enxerga outra possibilidade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0576" y="3200400"/>
            <a:ext cx="2286000" cy="32918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54896" y="347472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04</a:t>
            </a:r>
          </a:p>
          <a:p>
            <a:r>
              <a:rPr sz="1900" b="1" i="0">
                <a:solidFill>
                  <a:srgbClr val="1A1A1A"/>
                </a:solidFill>
                <a:latin typeface="Outfit"/>
              </a:rPr>
              <a:t>Procura um caminho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1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22607" y="3200400"/>
            <a:ext cx="22860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96928" y="347472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05</a:t>
            </a:r>
          </a:p>
          <a:p>
            <a:r>
              <a:rPr sz="1900" b="1" i="0">
                <a:solidFill>
                  <a:srgbClr val="1A1A1A"/>
                </a:solidFill>
                <a:latin typeface="Outfit"/>
              </a:rPr>
              <a:t>Busca conhecimento, mobiliza pessoas e recursos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53743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C8BFA8"/>
                </a:solidFill>
                <a:latin typeface="Outfit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264639" y="3200400"/>
            <a:ext cx="2286000" cy="32918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538959" y="3474720"/>
            <a:ext cx="1737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C8BFA8"/>
                </a:solidFill>
                <a:latin typeface="Outfit"/>
              </a:rPr>
              <a:t>06</a:t>
            </a:r>
          </a:p>
          <a:p>
            <a:r>
              <a:rPr sz="1900" b="1" i="0">
                <a:solidFill>
                  <a:srgbClr val="1A1A1A"/>
                </a:solidFill>
                <a:latin typeface="Outfit"/>
              </a:rPr>
              <a:t>Transforma a possibilidade em realidade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7132320"/>
            <a:ext cx="15179040" cy="27432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7543800"/>
            <a:ext cx="1517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A7A72"/>
                </a:solidFill>
                <a:latin typeface="Outfit"/>
              </a:rPr>
              <a:t>Enxergar além   →   colocar em movimento   →   </a:t>
            </a:r>
            <a:r>
              <a:rPr sz="3000" b="1" i="0">
                <a:solidFill>
                  <a:srgbClr val="1A1A1A"/>
                </a:solidFill>
                <a:latin typeface="Outfit"/>
              </a:rPr>
              <a:t>fazer existir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146304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OS PADRÕES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057400"/>
            <a:ext cx="1335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7A7A72"/>
                </a:solidFill>
                <a:latin typeface="Outfit"/>
              </a:rPr>
              <a:t>Ao longo da sua trajetória, a Flávia repete um mesmo movimento: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2834640"/>
            <a:ext cx="1408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0" i="0">
                <a:solidFill>
                  <a:srgbClr val="1A1A1A"/>
                </a:solidFill>
                <a:latin typeface="Outfit"/>
              </a:rPr>
              <a:t>A Flávia </a:t>
            </a:r>
            <a:r>
              <a:rPr sz="5600" b="1" i="0">
                <a:solidFill>
                  <a:srgbClr val="1A1A1A"/>
                </a:solidFill>
                <a:latin typeface="Outfit"/>
              </a:rPr>
              <a:t>não aceita</a:t>
            </a:r>
            <a:r>
              <a:rPr sz="5600" b="0" i="0">
                <a:solidFill>
                  <a:srgbClr val="1A1A1A"/>
                </a:solidFill>
                <a:latin typeface="Outfit"/>
              </a:rPr>
              <a:t> que aquilo que existe, determine aquilo que </a:t>
            </a:r>
            <a:r>
              <a:rPr sz="5600" b="1" i="0">
                <a:solidFill>
                  <a:srgbClr val="1A1A1A"/>
                </a:solidFill>
                <a:latin typeface="Outfit"/>
              </a:rPr>
              <a:t>pode existir.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6263640"/>
            <a:ext cx="13716000" cy="36576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65836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7A7A72"/>
                </a:solidFill>
                <a:latin typeface="Outfit"/>
              </a:rPr>
              <a:t>Essa lógica aparece em contextos completamente diferentes da sua vida.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7269480"/>
            <a:ext cx="4297680" cy="10058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7498079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Outfit"/>
              </a:rPr>
              <a:t>Muda a situação.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7269480"/>
            <a:ext cx="4297680" cy="10058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79" y="7498079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Outfit"/>
              </a:rPr>
              <a:t>Muda o desafio.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12880" y="7269480"/>
            <a:ext cx="4297680" cy="10058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32919" y="7498079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Outfit"/>
              </a:rPr>
              <a:t>Muda o que precisa ser construído.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859536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A Flávia vê aquilo que existe, mas também enxerga o que aquilo ainda pode se tornar.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2461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 spc="300">
                <a:solidFill>
                  <a:srgbClr val="C8BFA8"/>
                </a:solidFill>
                <a:latin typeface="Outfi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886200"/>
            <a:ext cx="15179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1" i="0">
                <a:solidFill>
                  <a:srgbClr val="000000"/>
                </a:solidFill>
                <a:latin typeface="Outfit"/>
              </a:rPr>
              <a:t>O IKIGAI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IKIGAI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QUE MOVE A FLÁVIA?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651760"/>
            <a:ext cx="1335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7A7A72"/>
                </a:solidFill>
                <a:latin typeface="Outfit"/>
              </a:rPr>
              <a:t>Até aqui, a história revelou como a Flávia responde à realidade e entra em movimento. O Ikigai acrescenta outra dimensão: o que faz esse movimento ter sentido para ela.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4297680"/>
            <a:ext cx="73152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46634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70916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O que a Flávia ama?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4297680"/>
            <a:ext cx="7315200" cy="173736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12680" y="46634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470916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No que reconhece as suas forças?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6309360"/>
            <a:ext cx="731520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6675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672084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Onde encontra realização?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6309360"/>
            <a:ext cx="7315200" cy="173736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66751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8BFA8"/>
                </a:solidFill>
                <a:latin typeface="Outfi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72084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Como deseja contribuir para outras pessoas?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8595360"/>
            <a:ext cx="1517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A7A72"/>
                </a:solidFill>
                <a:latin typeface="Outfit"/>
              </a:rPr>
              <a:t>Não buscamos apenas aquilo que ela gosta de fazer, e sim o que faz uma realização ter significado para a Flávia.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IKIGAI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MAPA DO IKIGAI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2926080"/>
            <a:ext cx="731520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246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O que a Flávia 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06908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7A7A72"/>
                </a:solidFill>
                <a:latin typeface="Outfit"/>
              </a:rPr>
              <a:t>A família. As pessoas. Os momentos de qualidade. As conversas e as trocas verdadeiras. As conexões.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2926080"/>
            <a:ext cx="7315200" cy="28346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246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No que a Flávia é boa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406908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7A7A72"/>
                </a:solidFill>
                <a:latin typeface="Outfit"/>
              </a:rPr>
              <a:t>No conhecimento que construiu. Na persuasão. Na seriedade. Na persistência. No domínio daquilo que vende. Na capacidade de envolver pessoas.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5989320"/>
            <a:ext cx="7315200" cy="283464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63093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Como a Flávia gosta de contribuir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713232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7A7A72"/>
                </a:solidFill>
                <a:latin typeface="Outfit"/>
              </a:rPr>
              <a:t>Sendo útil. Compartilhando conhecimentos e experiências. Ajudando pessoas e empresários. Criando oportunidades. Fazendo diferença na vida das pessoas.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5989320"/>
            <a:ext cx="731520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63093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  <a:latin typeface="Outfit"/>
              </a:rPr>
              <a:t>Onde a Flávia encontra realização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713232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7A7A72"/>
                </a:solidFill>
                <a:latin typeface="Outfit"/>
              </a:rPr>
              <a:t>Ao ver algo ganhar forma. Ao transformar matéria em algo de valor. Ao perceber a alegria do cliente. Ao ver o sonho de outra pessoa se tornar concreto. Ao saber que aquilo que construiu também ampliou as possibilidades de alguém.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IKIGAI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 CENTRO DO IKIGAI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6060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Outfit"/>
              </a:rPr>
              <a:t>A Flávia não se realiza apenas conquistando para si. Ela encontra realização quando vê uma possibilidade se tornar concreta e produzir algo na vida de outras pessoas.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4846320"/>
            <a:ext cx="932688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5047488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Um cliente realiza um sonho.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5897879"/>
            <a:ext cx="9326880" cy="896112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6099047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Uma equipe cresce.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6949440"/>
            <a:ext cx="932688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7150607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Uma ideia sai do papel.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8001000"/>
            <a:ext cx="9326880" cy="896112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8202168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Outfit"/>
              </a:rPr>
              <a:t>Uma pessoa recebe uma oportunidade.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12880" y="2606040"/>
            <a:ext cx="5120640" cy="512064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24360" y="29260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7A7A72"/>
                </a:solidFill>
                <a:latin typeface="Outfit"/>
              </a:rPr>
              <a:t>Sobre o legado que deseja deixar, a própria Flávia resume: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24360" y="38404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 i="0">
                <a:solidFill>
                  <a:srgbClr val="FFFFFF"/>
                </a:solidFill>
                <a:latin typeface="Outfit"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24360" y="493776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Outfit"/>
              </a:rPr>
              <a:t>Fazer diferença na vida das pessoas.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9098280"/>
            <a:ext cx="1517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A7A72"/>
                </a:solidFill>
                <a:latin typeface="Outfit"/>
              </a:rPr>
              <a:t>A Flávia também deseja criar uma fundação para oferecer uma profissão a crianças.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20116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IKIGAI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C8BFA8"/>
                </a:solidFill>
                <a:latin typeface="Outfit"/>
              </a:rPr>
              <a:t>RAZÃO DE 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3291840"/>
            <a:ext cx="14081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0" i="0">
                <a:solidFill>
                  <a:srgbClr val="1A1A1A"/>
                </a:solidFill>
                <a:latin typeface="Outfit"/>
              </a:rPr>
              <a:t>Transformar possibilidades em </a:t>
            </a:r>
            <a:r>
              <a:rPr sz="5600" b="1" i="0">
                <a:solidFill>
                  <a:srgbClr val="1A1A1A"/>
                </a:solidFill>
                <a:latin typeface="Outfit"/>
              </a:rPr>
              <a:t>realizações concretas</a:t>
            </a:r>
            <a:r>
              <a:rPr sz="5600" b="0" i="0">
                <a:solidFill>
                  <a:srgbClr val="1A1A1A"/>
                </a:solidFill>
                <a:latin typeface="Outfit"/>
              </a:rPr>
              <a:t> que também ampliem a vida de outras pessoas.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7223760"/>
            <a:ext cx="13716000" cy="36576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75895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7A7A72"/>
                </a:solidFill>
                <a:latin typeface="Outfit"/>
              </a:rPr>
              <a:t>A realização ganha sentido quando aquilo que a Flávia constrói também amplia possibilidades para outras pessoas.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2461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 spc="300">
                <a:solidFill>
                  <a:srgbClr val="C8BFA8"/>
                </a:solidFill>
                <a:latin typeface="Outfit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886200"/>
            <a:ext cx="15179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1" i="0">
                <a:solidFill>
                  <a:srgbClr val="000000"/>
                </a:solidFill>
                <a:latin typeface="Outfit"/>
              </a:rPr>
              <a:t>A ESSÊNCIA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ESSÊNCIA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ONDE A HISTÓRIA E O IKIGAI SE ENCONTRAM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606040"/>
            <a:ext cx="1335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7A7A72"/>
                </a:solidFill>
                <a:latin typeface="Outfit"/>
              </a:rPr>
              <a:t>A história revela como a Flávia se movimenta. O Ikigai revela o que dá sentido a esse movimento. Lado a lado, a mesma lógica aparece.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4023360"/>
            <a:ext cx="36118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42976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Visão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A Flávia enxerga além da condição presente.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2392" y="4023360"/>
            <a:ext cx="3611880" cy="365760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88152" y="42976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Movimento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A distância entre aquilo que existe e aquilo que ela enxerga como possível a leva a buscar caminhos, conhecimento, pessoas e recursos.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0304" y="4023360"/>
            <a:ext cx="36118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6064" y="42976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Pessoas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A família, a equipe, os clientes e as relações fazem parte daquilo que dá significado às suas realizações.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58216" y="4023360"/>
            <a:ext cx="3611880" cy="365760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23976" y="42976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Impacto</a:t>
            </a:r>
          </a:p>
          <a:p>
            <a:r>
              <a:rPr sz="1800" b="0" i="0">
                <a:solidFill>
                  <a:srgbClr val="7A7A72"/>
                </a:solidFill>
                <a:latin typeface="Outfit"/>
              </a:rPr>
              <a:t>A conquista ganha mais sentido quando aquilo que ela constrói também amplia possibilidades para outras pessoas.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8138160"/>
            <a:ext cx="1517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7A7A72"/>
                </a:solidFill>
                <a:latin typeface="Outfit"/>
              </a:rPr>
              <a:t>Enxergar além.   ·   Colocar em movimento.   ·   </a:t>
            </a:r>
            <a:r>
              <a:rPr sz="2600" b="1" i="0">
                <a:solidFill>
                  <a:srgbClr val="1A1A1A"/>
                </a:solidFill>
                <a:latin typeface="Outfit"/>
              </a:rPr>
              <a:t>Fazer existir.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13716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ESSÊNCIA DA FLÁVIA COMO FUNDADORA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011680"/>
            <a:ext cx="1463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0" i="0">
                <a:solidFill>
                  <a:srgbClr val="1A1A1A"/>
                </a:solidFill>
                <a:latin typeface="Outfit"/>
              </a:rPr>
              <a:t>Enxergar além do que está posto e </a:t>
            </a:r>
            <a:r>
              <a:rPr sz="5200" b="1" i="0">
                <a:solidFill>
                  <a:srgbClr val="1A1A1A"/>
                </a:solidFill>
                <a:latin typeface="Outfit"/>
              </a:rPr>
              <a:t>fazer existir</a:t>
            </a:r>
            <a:r>
              <a:rPr sz="5200" b="0" i="0">
                <a:solidFill>
                  <a:srgbClr val="1A1A1A"/>
                </a:solidFill>
                <a:latin typeface="Outfit"/>
              </a:rPr>
              <a:t> o que ainda é possibilidade.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4846320"/>
            <a:ext cx="48463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51206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ENXERGAR ALÉM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566928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Outfit"/>
              </a:rPr>
              <a:t>A Flávia não considera a realidade presente como a única possibilidade. Ela consegue enxergar aquilo que ainda pode existir.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4846320"/>
            <a:ext cx="4846320" cy="3200400"/>
          </a:xfrm>
          <a:prstGeom prst="rect">
            <a:avLst/>
          </a:prstGeom>
          <a:solidFill>
            <a:srgbClr val="E8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51206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FAZER EXISTIR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66928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Outfit"/>
              </a:rPr>
              <a:t>Ela não permanece apenas no campo da imaginação. Procura caminhos e transforma a possibilidade em realidade.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0" y="4846320"/>
            <a:ext cx="4846320" cy="320040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98680" y="51206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AMPLIAR POSSIBILIDADES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98680" y="566928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1A"/>
                </a:solidFill>
                <a:latin typeface="Outfit"/>
              </a:rPr>
              <a:t>A realização ganha sentido quando aquilo que ela constrói também cria valor, oportunidade ou transformação para outras pessoas.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8503920"/>
            <a:ext cx="1517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A7A72"/>
                </a:solidFill>
                <a:latin typeface="Outfit"/>
              </a:rPr>
              <a:t>Forte, determinada, criativa, sonhadora e visionária são características da Flávia. Mas são manifestações de uma lógica mais profunda: enxergar além e fazer existir.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pape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2461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 spc="300">
                <a:solidFill>
                  <a:srgbClr val="C8BFA8"/>
                </a:solidFill>
                <a:latin typeface="Outfit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886200"/>
            <a:ext cx="15179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1" i="0">
                <a:solidFill>
                  <a:srgbClr val="000000"/>
                </a:solidFill>
                <a:latin typeface="Outfit"/>
              </a:rPr>
              <a:t>AS MARCAS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8229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AS MARCAS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417320"/>
            <a:ext cx="15179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COMO ESSA ESSÊNCIA SE MANIFESTA NAS MARCAS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560320"/>
            <a:ext cx="1335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Outfit"/>
              </a:rPr>
              <a:t>Uma mesma essência. Duas manifestações diferentes.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3657600"/>
            <a:ext cx="731520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97763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5262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Outfit"/>
              </a:rPr>
              <a:t>Dar forma ao que ainda é ideia.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6692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7A7A72"/>
                </a:solidFill>
                <a:latin typeface="Outfit"/>
              </a:rPr>
              <a:t>A empresa representa o espaço que a Flávia buscava para criar, personalizar e construir segundo a sua própria visão. Esse mesmo movimento está na natureza do negócio: uma necessidade, uma ideia ou um sonho se transformam em projeto e ganham forma concreta.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657600"/>
            <a:ext cx="7315200" cy="4754880"/>
          </a:xfrm>
          <a:prstGeom prst="rect">
            <a:avLst/>
          </a:prstGeom>
          <a:solidFill>
            <a:srgbClr val="D4D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397763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A MY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45262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Outfit"/>
              </a:rPr>
              <a:t>Reabrir possibilidades.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56692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7A7A72"/>
                </a:solidFill>
                <a:latin typeface="Outfit"/>
              </a:rPr>
              <a:t>A marca nasce quando a Flávia questiona o destino dado às sobras da marcenaria. Onde havia descarte, ela enxergou matéria. Onde havia fim, ela enxergou um novo começo. Aquilo que havia encerrado a sua função ganhou uma nova possibilidade de existir.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8732520"/>
            <a:ext cx="1517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7A7A72"/>
                </a:solidFill>
                <a:latin typeface="Outfit"/>
              </a:rPr>
              <a:t>A Forma e a My Home são marcas diferentes e terão estratégias próprias. Mas as duas carregam, na origem, uma mesma forma de enxergar e transformar a realidade.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657600"/>
            <a:ext cx="1408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200" b="0" i="0">
                <a:solidFill>
                  <a:srgbClr val="1A1A1A"/>
                </a:solidFill>
                <a:latin typeface="Outfit"/>
              </a:rPr>
              <a:t>A essência revela a </a:t>
            </a:r>
            <a:r>
              <a:rPr sz="6200" b="1" i="0">
                <a:solidFill>
                  <a:srgbClr val="1A1A1A"/>
                </a:solidFill>
                <a:latin typeface="Outfit"/>
              </a:rPr>
              <a:t>origem.</a:t>
            </a:r>
          </a:p>
          <a:p>
            <a:r>
              <a:rPr sz="6200" b="0" i="0">
                <a:solidFill>
                  <a:srgbClr val="1A1A1A"/>
                </a:solidFill>
                <a:latin typeface="Outfit"/>
              </a:rPr>
              <a:t>A estratégia define a </a:t>
            </a:r>
            <a:r>
              <a:rPr sz="6200" b="1" i="0">
                <a:solidFill>
                  <a:srgbClr val="1A1A1A"/>
                </a:solidFill>
                <a:latin typeface="Outfit"/>
              </a:rPr>
              <a:t>direção.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7040880"/>
            <a:ext cx="13716000" cy="36576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24160" y="0"/>
            <a:ext cx="7863840" cy="10287000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PRÓXIMA ETAPA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8595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 i="0">
                <a:solidFill>
                  <a:srgbClr val="1A1A1A"/>
                </a:solidFill>
                <a:latin typeface="Outfit"/>
              </a:rPr>
              <a:t>DA ESSÊNCIA À ESTRATÉGIA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8412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7A7A72"/>
                </a:solidFill>
                <a:latin typeface="Outfit"/>
              </a:rPr>
              <a:t>Esta etapa revelou a essência da Flávia como fundadora: uma forma própria de enxergar e transformar a realidade que já existia antes da Forma e da My Home.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1945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 i="0" spc="250">
                <a:solidFill>
                  <a:srgbClr val="7A7A72"/>
                </a:solidFill>
                <a:latin typeface="Outfit"/>
              </a:rPr>
              <a:t>O QUE VEM A SEGUIR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83464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7A7A72"/>
                </a:solidFill>
                <a:latin typeface="Outfit"/>
              </a:rPr>
              <a:t>Essa essência ajuda a compreender de onde as duas marcas vêm, mas não define, sozinha, quem cada marca precisa 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5120640"/>
            <a:ext cx="6583680" cy="27432"/>
          </a:xfrm>
          <a:prstGeom prst="rect">
            <a:avLst/>
          </a:prstGeom>
          <a:solidFill>
            <a:srgbClr val="C8B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5486400"/>
            <a:ext cx="6583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Outfit"/>
              </a:rPr>
              <a:t>A Base Estratégica vai definir como essa origem se traduz em uma direção própria, relevante e diferenciada para a Forma e para a My Home.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0" b="0" i="0">
                <a:solidFill>
                  <a:srgbClr val="000000"/>
                </a:solidFill>
                <a:latin typeface="Outfit"/>
              </a:rPr>
              <a:t>MUITO OBRIGADA!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5669280"/>
            <a:ext cx="1280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1A1A1A"/>
                </a:solidFill>
                <a:latin typeface="Outfit"/>
              </a:rPr>
              <a:t>Aplicando os conteúdos deste documento na prática, você garante uma marca construída com consistência e clareza.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