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494157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Cultura de Marca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Precisão que realiza.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84213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44467"/>
            <a:ext cx="14081760" cy="36974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Uma origem compartilhada,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duas identidades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com significados próprios.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CULTURA DE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Origem e crenças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94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 história, os significados e os valores que orientam a marca.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833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394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3296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 e expressão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7805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jeito de ser, de se comunicar e de se apresentar.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6692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9253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8155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em 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62664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Comportamentos da equipe e experiência entregue ao cliente.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71551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74112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73014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Percepção e coerência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77523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que o mercado reconhece e o que precisamos fortalecer.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ORIGEM E CRENÇAS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A história, os significados e os valores que orientam a marca.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origem da Forma: a oficina, uma máquina em operação, ou o primeiro projeto assinado. Plano aberto.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41265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814994"/>
            <a:ext cx="14081760" cy="25564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A liberdade de criar exige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a capacidade de realizar.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3778606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089502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656430"/>
            <a:ext cx="5760720" cy="194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Um projeto complexo em execução — marcenaria sob medida, encaixe, peça grande em montagem. O domínio técnico aparecendo no trabalho.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42220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ORIGEM, SIGNIFICADO E VALORES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33312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680600"/>
            <a:ext cx="845820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Forma representa a liberdade conquistada por Flávia para executar projetos sem ficar restrita às limitações dos sistemas padronizados.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398758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Sua identidade se constrói sobre uma convicção: o conhecimento técnico deve ampliar as possibilidades de um projeto, não limitá-las.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582728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VALORES DA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51962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36569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67094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Precisão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6546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66864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Personalização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76523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66634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Responsabilidade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6500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66404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Confiança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716477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6666174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Evolução técnica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19012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592463"/>
            <a:ext cx="14081760" cy="25564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Uma ideia singular merece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uma execução à sua altura.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039522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crença central da Forma.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08112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29761"/>
            <a:ext cx="12801600" cy="224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FFFFFF"/>
                </a:solidFill>
                <a:latin typeface="Outfit 1 Light"/>
              </a:rPr>
              <a:t>PERSONALIDADE E EXPRESSÃO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08238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356705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O jeito de ser, de se comunicar e de se apresentar.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detalhe de acabamento em plano fechado — a junção, a ferragem, a borda. O critério visto de perto.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2613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A FORMA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6950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71558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1697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Segura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1535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91674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Criteriosa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11512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1651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Técnica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81489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31628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Próxima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Uma conversa técnica com arquiteto ou cliente, sobre o projeto — prancha, amostra de material, desenho na mesa.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246132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SOFISTICAÇÃO QUE SE COMPROVA NA COMPETÊNCIA.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3937040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284512"/>
            <a:ext cx="9601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Forma não precisa demonstrar superioridade. Precisa demonstrar domínio.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076688"/>
            <a:ext cx="960120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Sua personalidade combina a segurança de quem conhece profundamente o que faz com a proximidade de quem compreende a importância daquele projeto para o cliente.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6794845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Expressa-se com clareza técnica, atenção aos detalhes, segurança nas orientações e sofisticação sem ostentação.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CULTURA EM 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Comportamentos da equipe e experiência entregue ao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equipe montando na casa do cliente — ambiente protegido, trabalho em andamento, cuidado visível.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659288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VERDADEIRO ALTO PADRÃO É A TRANQUILIDADE DE QUEM CONFIA.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35019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69766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953700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a equipe precisa viver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644377"/>
            <a:ext cx="68808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Compreender antes de executar. Antecipar dificuldades. Respeitar o projeto. Cuidar dos detalhes. Assumir a responsabilidade pela entrega.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4697668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953700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o cliente deve experimentar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5644377"/>
            <a:ext cx="68808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Segurança para realizar projetos complexos, com acompanhamento, precisão e cuidado do início ao fim.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18031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582647"/>
            <a:ext cx="14081760" cy="2499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737" i="0" b="0">
                <a:solidFill>
                  <a:srgbClr val="1C1C1A"/>
                </a:solidFill>
                <a:latin typeface="Outfit 1 Light"/>
              </a:rPr>
              <a:t>Não é apenas receber um móvel impecável.</a:t>
            </a:r>
          </a:p>
          <a:p>
            <a:pPr algn="l">
              <a:lnSpc>
                <a:spcPct val="126000"/>
              </a:lnSpc>
            </a:pPr>
            <a:r>
              <a:rPr sz="3737" i="0" b="0">
                <a:solidFill>
                  <a:srgbClr val="1C1C1A"/>
                </a:solidFill>
                <a:latin typeface="Outfit 1 Light"/>
              </a:rPr>
              <a:t>É sentir que todo o processo</a:t>
            </a:r>
          </a:p>
          <a:p>
            <a:pPr algn="l">
              <a:lnSpc>
                <a:spcPct val="126000"/>
              </a:lnSpc>
            </a:pPr>
            <a:r>
              <a:rPr sz="3737" i="0" b="0">
                <a:solidFill>
                  <a:srgbClr val="1C1C1A"/>
                </a:solidFill>
                <a:latin typeface="Outfit 1 Light"/>
              </a:rPr>
              <a:t>está em mãos competentes.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049337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experiência central da Forma.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1655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165193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FFFFFF"/>
                </a:solidFill>
                <a:latin typeface="Outfit 1 Light"/>
              </a:rPr>
              <a:t>PERCEPÇÃO E COERÊNCIA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5469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21273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O que o mercado reconhece e o que precisamos fortalecer.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ambiente entregue e em uso, assinado pela Forma. Plano aberto, luz natural, sem pessoas.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82281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NOSSO VALOR NÃO ESTÁ APENAS NO QUE PRODUZIMOS. ESTÁ NA CONFIANÇA QUE CONSTRUÍMOS.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72720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507467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330708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o mercado reconhece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021385"/>
            <a:ext cx="68808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Arquitetos e clientes destacam domínio técnico, qualidade dos acabamentos, parceria e cuidado na execução.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507467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5330708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precisamos preservar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6021385"/>
            <a:ext cx="68808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capacidade de personalizar, a proximidade com o cliente e a responsabilidade pelo resultado, mesmo com o crescimento industrial.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78488"/>
            <a:ext cx="14081760" cy="27466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229" i="0" b="0">
                <a:solidFill>
                  <a:srgbClr val="FFFFFF"/>
                </a:solidFill>
                <a:latin typeface="Outfit 1 Light"/>
              </a:rPr>
              <a:t>Transformar complexidade</a:t>
            </a:r>
          </a:p>
          <a:p>
            <a:pPr algn="l">
              <a:lnSpc>
                <a:spcPct val="126000"/>
              </a:lnSpc>
            </a:pPr>
            <a:r>
              <a:rPr sz="6229" i="0" b="0">
                <a:solidFill>
                  <a:srgbClr val="FFFFFF"/>
                </a:solidFill>
                <a:latin typeface="Outfit 1 Light"/>
              </a:rPr>
              <a:t>em confiança.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585116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6125481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A essência cultural da Forma. Precisão que realiza.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ambiente completo entregue pela Forma. Imagem ampla, que aguente a frase por cima.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8216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ORIGEM. DUAS EXPRESSÕES DE MARCA.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6511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43733"/>
            <a:ext cx="635508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18053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702101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Crença: o conhecimento amplia os limites de um projeto.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959096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Comportamento: precisão, cuidado e responsabilidade.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216091"/>
            <a:ext cx="6355080" cy="564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Experiência: segurança para realizar.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981749"/>
            <a:ext cx="6355080" cy="564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Valor central: confiança.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3043733"/>
            <a:ext cx="635508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3318053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MY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3702101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Crença: sempre existe uma nova possibilidade de criação.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4959096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Comportamento: experimentação, transformação e aperfeiçoamento.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216091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Experiência pretendida: prazer em descobrir e transformar.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7473086"/>
            <a:ext cx="6355080" cy="564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Valor central: criatividade.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3043733"/>
            <a:ext cx="12802" cy="5012131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536691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A5A49F"/>
                </a:solidFill>
                <a:latin typeface="Outfit 1 Light"/>
              </a:rPr>
              <a:t>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479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7135"/>
            <a:ext cx="14081760" cy="22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322" i="0" b="0">
                <a:solidFill>
                  <a:srgbClr val="1C1C1A"/>
                </a:solidFill>
                <a:latin typeface="Outfit 1 Light"/>
              </a:rPr>
              <a:t>A mesma mentalidade impulsiona as duas marcas</a:t>
            </a:r>
          </a:p>
          <a:p>
            <a:pPr algn="l">
              <a:lnSpc>
                <a:spcPct val="126000"/>
              </a:lnSpc>
            </a:pPr>
            <a:r>
              <a:rPr sz="3322" i="0" b="0">
                <a:solidFill>
                  <a:srgbClr val="1C1C1A"/>
                </a:solidFill>
                <a:latin typeface="Outfit 1 Light"/>
              </a:rPr>
              <a:t>e se manifesta de maneiras distintas</a:t>
            </a:r>
          </a:p>
          <a:p>
            <a:pPr algn="l">
              <a:lnSpc>
                <a:spcPct val="126000"/>
              </a:lnSpc>
            </a:pPr>
            <a:r>
              <a:rPr sz="3322" i="0" b="0">
                <a:solidFill>
                  <a:srgbClr val="1C1C1A"/>
                </a:solidFill>
                <a:latin typeface="Outfit 1 Light"/>
              </a:rPr>
              <a:t>no valor que cada uma entrega ao mercado.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