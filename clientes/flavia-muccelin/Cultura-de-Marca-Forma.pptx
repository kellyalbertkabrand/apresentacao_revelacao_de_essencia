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19"/>
    <p:sldId id="257" r:id="rId20"/>
    <p:sldId id="258" r:id="rId21"/>
    <p:sldId id="259" r:id="rId22"/>
    <p:sldId id="260" r:id="rId23"/>
    <p:sldId id="261" r:id="rId24"/>
    <p:sldId id="262" r:id="rId25"/>
    <p:sldId id="263" r:id="rId26"/>
    <p:sldId id="264" r:id="rId27"/>
    <p:sldId id="265" r:id="rId28"/>
    <p:sldId id="266" r:id="rId29"/>
    <p:sldId id="267" r:id="rId30"/>
    <p:sldId id="268" r:id="rId31"/>
    <p:sldId id="269" r:id="rId32"/>
    <p:sldId id="270" r:id="rId33"/>
    <p:sldId id="271" r:id="rId34"/>
    <p:sldId id="272" r:id="rId35"/>
    <p:sldId id="273" r:id="rId36"/>
    <p:sldId id="274" r:id="rId18"/>
    <p:sldId id="275" r:id="rId17"/>
    <p:sldId id="276" r:id="rId16"/>
  </p:sldIdLst>
  <p:sldSz cx="18288000" cy="10287000"/>
  <p:notesSz cx="6858000" cy="9144000"/>
  <p:embeddedFontLst>
    <p:embeddedFont>
      <p:font typeface="Koho" charset="1" panose="00000500000000000000"/>
      <p:regular r:id="rId37"/>
    </p:embeddedFont>
    <p:embeddedFont>
      <p:font typeface="Koho Medium" charset="1" panose="00000600000000000000"/>
      <p:regular r:id="rId38"/>
    </p:embeddedFont>
    <p:embeddedFont>
      <p:font typeface="Outfit 1 Medium" charset="1" panose="00000000000000000000"/>
      <p:regular r:id="rId39"/>
    </p:embeddedFont>
    <p:embeddedFont>
      <p:font typeface="IBM Plex Sans Thai" charset="1" panose="020B0503050203000203"/>
      <p:regular r:id="rId40"/>
    </p:embeddedFont>
    <p:embeddedFont>
      <p:font typeface="Outfit 2 Light" charset="1" panose="00000000000000000000"/>
      <p:regular r:id="rId41"/>
    </p:embeddedFont>
    <p:embeddedFont>
      <p:font typeface="Outfit 2 Medium" charset="1" panose="00000000000000000000"/>
      <p:regular r:id="rId42"/>
    </p:embeddedFont>
    <p:embeddedFont>
      <p:font typeface="Outfit 2 Semi-Bold" charset="1" panose="00000000000000000000"/>
      <p:regular r:id="rId43"/>
    </p:embeddedFont>
    <p:embeddedFont>
      <p:font typeface="Playfair Display" charset="1" panose="02000503000000020003"/>
      <p:regular r:id="rId44"/>
    </p:embeddedFont>
    <p:embeddedFont>
      <p:font typeface="Outfit 1 Bold" charset="1" panose="00000000000000000000"/>
      <p:regular r:id="rId45"/>
    </p:embeddedFont>
    <p:embeddedFont>
      <p:font typeface="Outfit 1" charset="1" panose="00000000000000000000"/>
      <p:regular r:id="rId46"/>
    </p:embeddedFont>
    <p:embeddedFont>
      <p:font typeface="Outfit 1 Semi-Bold" charset="1" panose="00000000000000000000"/>
      <p:regular r:id="rId47"/>
    </p:embeddedFont>
    <p:embeddedFont>
      <p:font typeface="Outfit 1 Light" charset="1" panose="00000000000000000000"/>
      <p:regular r:id="rId48"/>
    </p:embeddedFont>
    <p:embeddedFont>
      <p:font typeface="Outfit 1 Ultra-Bold" charset="1" panose="00000000000000000000"/>
      <p:regular r:id="rId4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16" Type="http://schemas.openxmlformats.org/officeDocument/2006/relationships/slide" Target="slides/slide21.xml"/><Relationship Id="rId17" Type="http://schemas.openxmlformats.org/officeDocument/2006/relationships/slide" Target="slides/slide20.xml"/><Relationship Id="rId18" Type="http://schemas.openxmlformats.org/officeDocument/2006/relationships/slide" Target="slides/slide19.xml"/><Relationship Id="rId19" Type="http://schemas.openxmlformats.org/officeDocument/2006/relationships/slide" Target="slides/slide1.xml"/><Relationship Id="rId20" Type="http://schemas.openxmlformats.org/officeDocument/2006/relationships/slide" Target="slides/slide2.xml"/><Relationship Id="rId21" Type="http://schemas.openxmlformats.org/officeDocument/2006/relationships/slide" Target="slides/slide3.xml"/><Relationship Id="rId22" Type="http://schemas.openxmlformats.org/officeDocument/2006/relationships/slide" Target="slides/slide4.xml"/><Relationship Id="rId23" Type="http://schemas.openxmlformats.org/officeDocument/2006/relationships/slide" Target="slides/slide5.xml"/><Relationship Id="rId24" Type="http://schemas.openxmlformats.org/officeDocument/2006/relationships/slide" Target="slides/slide6.xml"/><Relationship Id="rId25" Type="http://schemas.openxmlformats.org/officeDocument/2006/relationships/slide" Target="slides/slide7.xml"/><Relationship Id="rId26" Type="http://schemas.openxmlformats.org/officeDocument/2006/relationships/slide" Target="slides/slide8.xml"/><Relationship Id="rId27" Type="http://schemas.openxmlformats.org/officeDocument/2006/relationships/slide" Target="slides/slide9.xml"/><Relationship Id="rId28" Type="http://schemas.openxmlformats.org/officeDocument/2006/relationships/slide" Target="slides/slide10.xml"/><Relationship Id="rId29" Type="http://schemas.openxmlformats.org/officeDocument/2006/relationships/slide" Target="slides/slide11.xml"/><Relationship Id="rId30" Type="http://schemas.openxmlformats.org/officeDocument/2006/relationships/slide" Target="slides/slide12.xml"/><Relationship Id="rId31" Type="http://schemas.openxmlformats.org/officeDocument/2006/relationships/slide" Target="slides/slide13.xml"/><Relationship Id="rId32" Type="http://schemas.openxmlformats.org/officeDocument/2006/relationships/slide" Target="slides/slide14.xml"/><Relationship Id="rId33" Type="http://schemas.openxmlformats.org/officeDocument/2006/relationships/slide" Target="slides/slide15.xml"/><Relationship Id="rId34" Type="http://schemas.openxmlformats.org/officeDocument/2006/relationships/slide" Target="slides/slide16.xml"/><Relationship Id="rId35" Type="http://schemas.openxmlformats.org/officeDocument/2006/relationships/slide" Target="slides/slide17.xml"/><Relationship Id="rId36" Type="http://schemas.openxmlformats.org/officeDocument/2006/relationships/slide" Target="slides/slide18.xml"/><Relationship Id="rId37" Type="http://schemas.openxmlformats.org/officeDocument/2006/relationships/font" Target="fonts/font37.fntdata"/><Relationship Id="rId38" Type="http://schemas.openxmlformats.org/officeDocument/2006/relationships/font" Target="fonts/font38.fntdata"/><Relationship Id="rId39" Type="http://schemas.openxmlformats.org/officeDocument/2006/relationships/font" Target="fonts/font39.fntdata"/><Relationship Id="rId40" Type="http://schemas.openxmlformats.org/officeDocument/2006/relationships/font" Target="fonts/font40.fntdata"/><Relationship Id="rId41" Type="http://schemas.openxmlformats.org/officeDocument/2006/relationships/font" Target="fonts/font41.fntdata"/><Relationship Id="rId42" Type="http://schemas.openxmlformats.org/officeDocument/2006/relationships/font" Target="fonts/font42.fntdata"/><Relationship Id="rId43" Type="http://schemas.openxmlformats.org/officeDocument/2006/relationships/font" Target="fonts/font43.fntdata"/><Relationship Id="rId44" Type="http://schemas.openxmlformats.org/officeDocument/2006/relationships/font" Target="fonts/font44.fntdata"/><Relationship Id="rId45" Type="http://schemas.openxmlformats.org/officeDocument/2006/relationships/font" Target="fonts/font45.fntdata"/><Relationship Id="rId46" Type="http://schemas.openxmlformats.org/officeDocument/2006/relationships/font" Target="fonts/font46.fntdata"/><Relationship Id="rId47" Type="http://schemas.openxmlformats.org/officeDocument/2006/relationships/font" Target="fonts/font47.fntdata"/><Relationship Id="rId48" Type="http://schemas.openxmlformats.org/officeDocument/2006/relationships/font" Target="fonts/font48.fntdata"/><Relationship Id="rId49" Type="http://schemas.openxmlformats.org/officeDocument/2006/relationships/font" Target="fonts/font49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logo-kelly-alb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6120" y="4617720"/>
            <a:ext cx="3931920" cy="934452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006840" y="4206240"/>
            <a:ext cx="12802" cy="1691640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-vm-rock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66960" y="4434840"/>
            <a:ext cx="4023360" cy="11524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tra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85848" y="3364992"/>
            <a:ext cx="1490472" cy="17795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36192" y="3593592"/>
            <a:ext cx="13551408" cy="1238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7500" i="0" b="0" spc="300">
                <a:solidFill>
                  <a:srgbClr val="1C1C1A"/>
                </a:solidFill>
                <a:latin typeface="Outfit 1 Bold"/>
              </a:rPr>
              <a:t>FORMA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36192" y="4941570"/>
            <a:ext cx="1355140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i="0" b="0">
                <a:solidFill>
                  <a:srgbClr val="1C1C1A"/>
                </a:solidFill>
                <a:latin typeface="Outfit 1 Bold"/>
              </a:rPr>
              <a:t>Cultura de Marca</a:t>
            </a:r>
            <a:r>
              <a:rPr sz="3000" i="0" b="0">
                <a:solidFill>
                  <a:srgbClr val="1C1C1A"/>
                </a:solidFill>
                <a:latin typeface="Outfit 1"/>
              </a:rPr>
              <a:t>  |  Precisão que realiza.</a:t>
            </a:r>
          </a:p>
        </p:txBody>
      </p:sp>
      <p:sp>
        <p:nvSpPr>
          <p:cNvPr id="6" name="Rectangle 5"/>
          <p:cNvSpPr/>
          <p:nvPr/>
        </p:nvSpPr>
        <p:spPr>
          <a:xfrm>
            <a:off x="1545336" y="7790688"/>
            <a:ext cx="10973" cy="89611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764024" y="7790688"/>
            <a:ext cx="10973" cy="89611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88936" y="7790688"/>
            <a:ext cx="10973" cy="89611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692640" y="7790688"/>
            <a:ext cx="10973" cy="89611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ogo-k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57133" y="6494587"/>
            <a:ext cx="3459591" cy="345959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983480" y="7964424"/>
            <a:ext cx="2377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680" i="0" b="0">
                <a:solidFill>
                  <a:srgbClr val="1C1C1A"/>
                </a:solidFill>
                <a:latin typeface="Outfit 2 Light"/>
              </a:rPr>
              <a:t>Método </a:t>
            </a:r>
            <a:r>
              <a:rPr sz="2680" i="0" b="0">
                <a:solidFill>
                  <a:srgbClr val="1C1C1A"/>
                </a:solidFill>
                <a:latin typeface="Outfit 2 Semi-Bold"/>
              </a:rPr>
              <a:t>Marca</a:t>
            </a:r>
          </a:p>
          <a:p>
            <a:pPr algn="l">
              <a:lnSpc>
                <a:spcPct val="95000"/>
              </a:lnSpc>
            </a:pPr>
            <a:r>
              <a:rPr sz="2680" i="0" b="0">
                <a:solidFill>
                  <a:srgbClr val="1C1C1A"/>
                </a:solidFill>
                <a:latin typeface="Outfit 2 Semi-Bold"/>
              </a:rPr>
              <a:t>com Essência</a:t>
            </a:r>
            <a:r>
              <a:rPr sz="1470" i="0" b="0">
                <a:solidFill>
                  <a:srgbClr val="1C1C1A"/>
                </a:solidFill>
                <a:latin typeface="Outfit 2"/>
              </a:rPr>
              <a:t>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3800" y="815644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950" i="0" b="0">
                <a:solidFill>
                  <a:srgbClr val="1C1C1A"/>
                </a:solidFill>
                <a:latin typeface="Outfit 1"/>
              </a:rPr>
              <a:t>OUTUBRO/2026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0" y="2842131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3244467"/>
            <a:ext cx="14081760" cy="36974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5750" i="0" b="0">
                <a:solidFill>
                  <a:srgbClr val="1C1C1A"/>
                </a:solidFill>
                <a:latin typeface="Outfit 1 Light"/>
              </a:rPr>
              <a:t>Uma origem compartilhada,</a:t>
            </a:r>
          </a:p>
          <a:p>
            <a:pPr algn="l">
              <a:lnSpc>
                <a:spcPct val="126000"/>
              </a:lnSpc>
            </a:pPr>
            <a:r>
              <a:rPr sz="5750" i="0" b="0">
                <a:solidFill>
                  <a:srgbClr val="1C1C1A"/>
                </a:solidFill>
                <a:latin typeface="Outfit 1 Light"/>
              </a:rPr>
              <a:t>duas identidades</a:t>
            </a:r>
          </a:p>
          <a:p>
            <a:pPr algn="l">
              <a:lnSpc>
                <a:spcPct val="126000"/>
              </a:lnSpc>
            </a:pPr>
            <a:r>
              <a:rPr sz="5750" i="0" b="0">
                <a:solidFill>
                  <a:srgbClr val="1C1C1A"/>
                </a:solidFill>
                <a:latin typeface="Outfit 1 Light"/>
              </a:rPr>
              <a:t>com significados próprios.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64208" y="804672"/>
            <a:ext cx="10972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800" i="0" b="0">
                <a:solidFill>
                  <a:srgbClr val="1C1C1A"/>
                </a:solidFill>
                <a:latin typeface="Outfit 1 Ultra-Bold"/>
              </a:rPr>
              <a:t>CULTURA DE MARCA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269748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2953512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50" i="0" b="0" spc="240">
                <a:solidFill>
                  <a:srgbClr val="A9724A"/>
                </a:solidFill>
                <a:latin typeface="Outfit 1 Semi-Bold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11880" y="2843784"/>
            <a:ext cx="126644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Origem e crenças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11880" y="3294634"/>
            <a:ext cx="1266444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i="0" b="0">
                <a:solidFill>
                  <a:srgbClr val="A5A49F"/>
                </a:solidFill>
                <a:latin typeface="Outfit 1 Light"/>
              </a:rPr>
              <a:t>A história, os significados e os valores que orientam a marca.</a:t>
            </a:r>
          </a:p>
        </p:txBody>
      </p:sp>
      <p:sp>
        <p:nvSpPr>
          <p:cNvPr id="9" name="Rectangle 8"/>
          <p:cNvSpPr/>
          <p:nvPr/>
        </p:nvSpPr>
        <p:spPr>
          <a:xfrm>
            <a:off x="2011680" y="418338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4439412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50" i="0" b="0" spc="240">
                <a:solidFill>
                  <a:srgbClr val="A9724A"/>
                </a:solidFill>
                <a:latin typeface="Outfit 1 Semi-Bol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4329684"/>
            <a:ext cx="126644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Personalidade e expressão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4780534"/>
            <a:ext cx="1266444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i="0" b="0">
                <a:solidFill>
                  <a:srgbClr val="A5A49F"/>
                </a:solidFill>
                <a:latin typeface="Outfit 1 Light"/>
              </a:rPr>
              <a:t>O jeito de ser, de se comunicar e de se apresentar.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11680" y="566928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11680" y="5925312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50" i="0" b="0" spc="240">
                <a:solidFill>
                  <a:srgbClr val="A9724A"/>
                </a:solidFill>
                <a:latin typeface="Outfit 1 Semi-Bold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5815584"/>
            <a:ext cx="126644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Cultura em ação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6266434"/>
            <a:ext cx="1266444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i="0" b="0">
                <a:solidFill>
                  <a:srgbClr val="A5A49F"/>
                </a:solidFill>
                <a:latin typeface="Outfit 1 Light"/>
              </a:rPr>
              <a:t>Comportamentos da equipe e experiência entregue ao cliente.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11680" y="715518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11680" y="7411212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50" i="0" b="0" spc="240">
                <a:solidFill>
                  <a:srgbClr val="A9724A"/>
                </a:solidFill>
                <a:latin typeface="Outfit 1 Semi-Bold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80" y="7301484"/>
            <a:ext cx="126644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Percepção e coerência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80" y="7752334"/>
            <a:ext cx="1266444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i="0" b="0">
                <a:solidFill>
                  <a:srgbClr val="A5A49F"/>
                </a:solidFill>
                <a:latin typeface="Outfit 1 Light"/>
              </a:rPr>
              <a:t>O que o mercado reconhece e o que precisa ser fortalecido.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11680" y="864108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3233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411829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C6986E"/>
                </a:solidFill>
                <a:latin typeface="Outfit 1 Semi-Bold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3960469"/>
            <a:ext cx="12801600" cy="1551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400" i="0" b="0">
                <a:solidFill>
                  <a:srgbClr val="FFFFFF"/>
                </a:solidFill>
                <a:latin typeface="Outfit 1 Light"/>
              </a:rPr>
              <a:t>ORIGEM E CRENÇAS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5751677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6025997"/>
            <a:ext cx="11887200" cy="6205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FFFFFF"/>
                </a:solidFill>
                <a:latin typeface="Outfit 1 Light"/>
              </a:rPr>
              <a:t>A história, os significados e os valores que orientam a marca.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8220558"/>
            <a:ext cx="11521440" cy="4845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i="0" b="0" spc="300">
                <a:solidFill>
                  <a:srgbClr val="C6986E"/>
                </a:solidFill>
                <a:latin typeface="Outfit 1 Semi-Bold"/>
              </a:rPr>
              <a:t>IMAGEM   </a:t>
            </a:r>
            <a:r>
              <a:rPr sz="1700" i="0" b="0">
                <a:solidFill>
                  <a:srgbClr val="C9C7C0"/>
                </a:solidFill>
                <a:latin typeface="Outfit 1 Light"/>
              </a:rPr>
              <a:t>A origem da Forma: a oficina, uma máquina em operação, ou o primeiro projeto assinado. Plano aberto.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0" y="3412658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3814994"/>
            <a:ext cx="14081760" cy="25564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5750" i="0" b="0">
                <a:solidFill>
                  <a:srgbClr val="1C1C1A"/>
                </a:solidFill>
                <a:latin typeface="Outfit 1 Light"/>
              </a:rPr>
              <a:t>A liberdade de criar exige</a:t>
            </a:r>
          </a:p>
          <a:p>
            <a:pPr algn="l">
              <a:lnSpc>
                <a:spcPct val="126000"/>
              </a:lnSpc>
            </a:pPr>
            <a:r>
              <a:rPr sz="5750" i="0" b="0">
                <a:solidFill>
                  <a:srgbClr val="1C1C1A"/>
                </a:solidFill>
                <a:latin typeface="Outfit 1 Light"/>
              </a:rPr>
              <a:t>a capacidade de realizar.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338560" y="0"/>
            <a:ext cx="6949440" cy="10287000"/>
          </a:xfrm>
          <a:prstGeom prst="rect">
            <a:avLst/>
          </a:prstGeom>
          <a:solidFill>
            <a:srgbClr val="E9E5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932920" y="3778606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932920" y="4089502"/>
            <a:ext cx="5760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9724A"/>
                </a:solidFill>
                <a:latin typeface="Outfit 1 Semi-Bold"/>
              </a:rPr>
              <a:t>IMAGEM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32920" y="4656430"/>
            <a:ext cx="5760720" cy="194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Um projeto complexo em execução — marcenaria sob medida, encaixe, peça grande em montagem. O domínio técnico aparecendo no trabalho.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2642220"/>
            <a:ext cx="845820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ORIGEM, SIGNIFICADO E VALORES</a:t>
            </a:r>
          </a:p>
        </p:txBody>
      </p:sp>
      <p:sp>
        <p:nvSpPr>
          <p:cNvPr id="9" name="Rectangle 8"/>
          <p:cNvSpPr/>
          <p:nvPr/>
        </p:nvSpPr>
        <p:spPr>
          <a:xfrm>
            <a:off x="2011680" y="4333128"/>
            <a:ext cx="84582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4680600"/>
            <a:ext cx="8458200" cy="14804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A Forma representa a liberdade conquistada por Flávia para executar projetos sem ficar restrita às limitações dos sistemas padronizados.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6398758"/>
            <a:ext cx="84582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Sua identidade se constrói sobre uma convicção: o conhecimento técnico deve ampliar as possibilidades de um projeto, não limitá-las.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582728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OS VALORES DA MARCA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519622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4365696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3867094"/>
            <a:ext cx="14264640" cy="5351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900" i="0" b="0">
                <a:solidFill>
                  <a:srgbClr val="1C1C1A"/>
                </a:solidFill>
                <a:latin typeface="Outfit 1 Light"/>
              </a:rPr>
              <a:t>Precisão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1680" y="5065466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11680" y="4566864"/>
            <a:ext cx="14264640" cy="5351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900" i="0" b="0">
                <a:solidFill>
                  <a:srgbClr val="1C1C1A"/>
                </a:solidFill>
                <a:latin typeface="Outfit 1 Light"/>
              </a:rPr>
              <a:t>Personalização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1680" y="5765236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1680" y="5266634"/>
            <a:ext cx="14264640" cy="5351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900" i="0" b="0">
                <a:solidFill>
                  <a:srgbClr val="1C1C1A"/>
                </a:solidFill>
                <a:latin typeface="Outfit 1 Light"/>
              </a:rPr>
              <a:t>Responsabilidade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0" y="6465006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11680" y="5966404"/>
            <a:ext cx="14264640" cy="5351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900" i="0" b="0">
                <a:solidFill>
                  <a:srgbClr val="1C1C1A"/>
                </a:solidFill>
                <a:latin typeface="Outfit 1 Light"/>
              </a:rPr>
              <a:t>Confiança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1680" y="7164776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11680" y="6666174"/>
            <a:ext cx="14264640" cy="5351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900" i="0" b="0">
                <a:solidFill>
                  <a:srgbClr val="1C1C1A"/>
                </a:solidFill>
                <a:latin typeface="Outfit 1 Light"/>
              </a:rPr>
              <a:t>Evolução técnica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0" y="3190127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3592463"/>
            <a:ext cx="14081760" cy="25564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5750" i="0" b="0">
                <a:solidFill>
                  <a:srgbClr val="1C1C1A"/>
                </a:solidFill>
                <a:latin typeface="Outfit 1 Light"/>
              </a:rPr>
              <a:t>Uma ideia singular merece</a:t>
            </a:r>
          </a:p>
          <a:p>
            <a:pPr algn="l">
              <a:lnSpc>
                <a:spcPct val="126000"/>
              </a:lnSpc>
            </a:pPr>
            <a:r>
              <a:rPr sz="5750" i="0" b="0">
                <a:solidFill>
                  <a:srgbClr val="1C1C1A"/>
                </a:solidFill>
                <a:latin typeface="Outfit 1 Light"/>
              </a:rPr>
              <a:t>uma execução à sua altura.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6039522"/>
            <a:ext cx="11887200" cy="5544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A crença central da Forma.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3233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081121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C6986E"/>
                </a:solidFill>
                <a:latin typeface="Outfit 1 Semi-Bold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3629761"/>
            <a:ext cx="12801600" cy="224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800" i="0" b="0">
                <a:solidFill>
                  <a:srgbClr val="FFFFFF"/>
                </a:solidFill>
                <a:latin typeface="Outfit 1 Light"/>
              </a:rPr>
              <a:t>PERSONALIDADE E EXPRESSÃO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6082385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6356705"/>
            <a:ext cx="11887200" cy="6205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FFFFFF"/>
                </a:solidFill>
                <a:latin typeface="Outfit 1 Light"/>
              </a:rPr>
              <a:t>O jeito de ser, de se comunicar e de se apresentar.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8220558"/>
            <a:ext cx="11521440" cy="4845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i="0" b="0" spc="300">
                <a:solidFill>
                  <a:srgbClr val="C6986E"/>
                </a:solidFill>
                <a:latin typeface="Outfit 1 Semi-Bold"/>
              </a:rPr>
              <a:t>IMAGEM   </a:t>
            </a:r>
            <a:r>
              <a:rPr sz="1700" i="0" b="0">
                <a:solidFill>
                  <a:srgbClr val="C9C7C0"/>
                </a:solidFill>
                <a:latin typeface="Outfit 1 Light"/>
              </a:rPr>
              <a:t>Um detalhe de acabamento em plano fechado — a junção, a ferragem, a borda. O critério visto de perto.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932613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COMO A FORMA É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869507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4715581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216979"/>
            <a:ext cx="14264640" cy="5351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900" i="0" b="0">
                <a:solidFill>
                  <a:srgbClr val="1C1C1A"/>
                </a:solidFill>
                <a:latin typeface="Outfit 1 Light"/>
              </a:rPr>
              <a:t>Segura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1680" y="5415351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11680" y="4916749"/>
            <a:ext cx="14264640" cy="5351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900" i="0" b="0">
                <a:solidFill>
                  <a:srgbClr val="1C1C1A"/>
                </a:solidFill>
                <a:latin typeface="Outfit 1 Light"/>
              </a:rPr>
              <a:t>Criteriosa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1680" y="6115121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1680" y="5616519"/>
            <a:ext cx="14264640" cy="5351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900" i="0" b="0">
                <a:solidFill>
                  <a:srgbClr val="1C1C1A"/>
                </a:solidFill>
                <a:latin typeface="Outfit 1 Light"/>
              </a:rPr>
              <a:t>Técnica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0" y="6814891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11680" y="6316289"/>
            <a:ext cx="14264640" cy="5351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900" i="0" b="0">
                <a:solidFill>
                  <a:srgbClr val="1C1C1A"/>
                </a:solidFill>
                <a:latin typeface="Outfit 1 Light"/>
              </a:rPr>
              <a:t>Próxima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949440" cy="10287000"/>
          </a:xfrm>
          <a:prstGeom prst="rect">
            <a:avLst/>
          </a:prstGeom>
          <a:solidFill>
            <a:srgbClr val="E9E5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94360" y="4010101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4320997"/>
            <a:ext cx="5760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9724A"/>
                </a:solidFill>
                <a:latin typeface="Outfit 1 Semi-Bold"/>
              </a:rPr>
              <a:t>IMAGEM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887925"/>
            <a:ext cx="5760720" cy="14804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Uma conversa técnica com arquiteto ou cliente, sobre o projeto — prancha, amostra de material, desenho na mesa.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18120" y="2246132"/>
            <a:ext cx="960120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SOFISTICAÇÃO QUE SE COMPROVA NA COMPETÊNCIA.</a:t>
            </a:r>
          </a:p>
        </p:txBody>
      </p:sp>
      <p:sp>
        <p:nvSpPr>
          <p:cNvPr id="9" name="Rectangle 8"/>
          <p:cNvSpPr/>
          <p:nvPr/>
        </p:nvSpPr>
        <p:spPr>
          <a:xfrm>
            <a:off x="7818120" y="3937040"/>
            <a:ext cx="96012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18120" y="4284512"/>
            <a:ext cx="9601200" cy="5544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A Forma não precisa demonstrar superioridade. Precisa demonstrar domínio.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5076688"/>
            <a:ext cx="9601200" cy="14804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Sua personalidade combina a segurança de quem conhece profundamente o que faz com a proximidade de quem compreende a importância daquele projeto para o cliente.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6794845"/>
            <a:ext cx="96012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Expressa-se com clareza técnica, atenção aos detalhes, segurança nas orientações e sofisticação sem ostentação.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3233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411829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C6986E"/>
                </a:solidFill>
                <a:latin typeface="Outfit 1 Semi-Bold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3960469"/>
            <a:ext cx="12801600" cy="1551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400" i="0" b="0">
                <a:solidFill>
                  <a:srgbClr val="FFFFFF"/>
                </a:solidFill>
                <a:latin typeface="Outfit 1 Light"/>
              </a:rPr>
              <a:t>CULTURA EM AÇÃO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5751677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6025997"/>
            <a:ext cx="11887200" cy="6205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FFFFFF"/>
                </a:solidFill>
                <a:latin typeface="Outfit 1 Light"/>
              </a:rPr>
              <a:t>Comportamentos da equipe e experiência entregue ao cliente.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8220558"/>
            <a:ext cx="11521440" cy="4845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i="0" b="0" spc="300">
                <a:solidFill>
                  <a:srgbClr val="C6986E"/>
                </a:solidFill>
                <a:latin typeface="Outfit 1 Semi-Bold"/>
              </a:rPr>
              <a:t>IMAGEM   </a:t>
            </a:r>
            <a:r>
              <a:rPr sz="1700" i="0" b="0">
                <a:solidFill>
                  <a:srgbClr val="C9C7C0"/>
                </a:solidFill>
                <a:latin typeface="Outfit 1 Light"/>
              </a:rPr>
              <a:t>A equipe montando na casa do cliente — ambiente protegido, trabalho em andamento, cuidado visível.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659288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 VERDADEIRO ALTO PADRÃO É A TRANQUILIDADE DE QUEM CONFIA.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4350196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4697668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953700"/>
            <a:ext cx="6880860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O que a equipe precisa viver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5644377"/>
            <a:ext cx="6880860" cy="14804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Compreender antes de executar. Antecipar dificuldades. Respeitar o projeto. Cuidar dos detalhes. Assumir a responsabilidade pela entrega.</a:t>
            </a:r>
          </a:p>
        </p:txBody>
      </p:sp>
      <p:sp>
        <p:nvSpPr>
          <p:cNvPr id="9" name="Rectangle 8"/>
          <p:cNvSpPr/>
          <p:nvPr/>
        </p:nvSpPr>
        <p:spPr>
          <a:xfrm>
            <a:off x="9395460" y="4697668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95460" y="4953700"/>
            <a:ext cx="6880860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O que o cliente deve experimentar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95460" y="5644377"/>
            <a:ext cx="688086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Segurança para realizar projetos complexos, com acompanhamento, precisão e cuidado do início ao fim.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0" y="3180311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3582647"/>
            <a:ext cx="14081760" cy="2499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3737" i="0" b="0">
                <a:solidFill>
                  <a:srgbClr val="1C1C1A"/>
                </a:solidFill>
                <a:latin typeface="Outfit 1 Light"/>
              </a:rPr>
              <a:t>Não é apenas receber um móvel impecável.</a:t>
            </a:r>
          </a:p>
          <a:p>
            <a:pPr algn="l">
              <a:lnSpc>
                <a:spcPct val="126000"/>
              </a:lnSpc>
            </a:pPr>
            <a:r>
              <a:rPr sz="3737" i="0" b="0">
                <a:solidFill>
                  <a:srgbClr val="1C1C1A"/>
                </a:solidFill>
                <a:latin typeface="Outfit 1 Light"/>
              </a:rPr>
              <a:t>É sentir que todo o processo</a:t>
            </a:r>
          </a:p>
          <a:p>
            <a:pPr algn="l">
              <a:lnSpc>
                <a:spcPct val="126000"/>
              </a:lnSpc>
            </a:pPr>
            <a:r>
              <a:rPr sz="3737" i="0" b="0">
                <a:solidFill>
                  <a:srgbClr val="1C1C1A"/>
                </a:solidFill>
                <a:latin typeface="Outfit 1 Light"/>
              </a:rPr>
              <a:t>está em mãos competentes.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6049337"/>
            <a:ext cx="11887200" cy="5544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A experiência central da Forma.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3233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616553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C6986E"/>
                </a:solidFill>
                <a:latin typeface="Outfit 1 Semi-Bold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4165193"/>
            <a:ext cx="12801600" cy="112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800" i="0" b="0">
                <a:solidFill>
                  <a:srgbClr val="FFFFFF"/>
                </a:solidFill>
                <a:latin typeface="Outfit 1 Light"/>
              </a:rPr>
              <a:t>PERCEPÇÃO E COERÊNCIA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5546953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5821273"/>
            <a:ext cx="11887200" cy="6205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FFFFFF"/>
                </a:solidFill>
                <a:latin typeface="Outfit 1 Light"/>
              </a:rPr>
              <a:t>O que o mercado reconhece e o que precisa ser fortalecido.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8220558"/>
            <a:ext cx="11521440" cy="4845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i="0" b="0" spc="300">
                <a:solidFill>
                  <a:srgbClr val="C6986E"/>
                </a:solidFill>
                <a:latin typeface="Outfit 1 Semi-Bold"/>
              </a:rPr>
              <a:t>IMAGEM   </a:t>
            </a:r>
            <a:r>
              <a:rPr sz="1700" i="0" b="0">
                <a:solidFill>
                  <a:srgbClr val="C9C7C0"/>
                </a:solidFill>
                <a:latin typeface="Outfit 1 Light"/>
              </a:rPr>
              <a:t>Um ambiente entregue e em uso, assinado pela Forma. Plano aberto, luz natural, sem pessoas.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659288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 VALOR DA FORMA NÃO ESTÁ APENAS NO QUE ELA PRODUZ. ESTÁ NA CONFIANÇA QUE ELA CONSTRÓI.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4350196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4697668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953700"/>
            <a:ext cx="6880860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O que o mercado reconhece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5644377"/>
            <a:ext cx="6880860" cy="14804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Arquitetos e clientes destacam domínio técnico, qualidade dos acabamentos, parceria e cuidado na execução.</a:t>
            </a:r>
          </a:p>
        </p:txBody>
      </p:sp>
      <p:sp>
        <p:nvSpPr>
          <p:cNvPr id="9" name="Rectangle 8"/>
          <p:cNvSpPr/>
          <p:nvPr/>
        </p:nvSpPr>
        <p:spPr>
          <a:xfrm>
            <a:off x="9395460" y="4697668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95460" y="4953700"/>
            <a:ext cx="6880860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O que precisa ser preservado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95460" y="5644377"/>
            <a:ext cx="6880860" cy="14804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A capacidade de personalizar, a proximidade com o cliente e a responsabilidade pelo resultado, mesmo com o crescimento industrial.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3233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378488"/>
            <a:ext cx="14081760" cy="27466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6229" i="0" b="0">
                <a:solidFill>
                  <a:srgbClr val="FFFFFF"/>
                </a:solidFill>
                <a:latin typeface="Outfit 1 Light"/>
              </a:rPr>
              <a:t>Transformar complexidade</a:t>
            </a:r>
          </a:p>
          <a:p>
            <a:pPr algn="l">
              <a:lnSpc>
                <a:spcPct val="126000"/>
              </a:lnSpc>
            </a:pPr>
            <a:r>
              <a:rPr sz="6229" i="0" b="0">
                <a:solidFill>
                  <a:srgbClr val="FFFFFF"/>
                </a:solidFill>
                <a:latin typeface="Outfit 1 Light"/>
              </a:rPr>
              <a:t>em confiança.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5851161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6125481"/>
            <a:ext cx="11887200" cy="5544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FFFFFF"/>
                </a:solidFill>
                <a:latin typeface="Outfit 1 Light"/>
              </a:rPr>
              <a:t>A essência cultural da Forma. Precisão que realiza.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8220558"/>
            <a:ext cx="11521440" cy="4845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i="0" b="0" spc="300">
                <a:solidFill>
                  <a:srgbClr val="C6986E"/>
                </a:solidFill>
                <a:latin typeface="Outfit 1 Semi-Bold"/>
              </a:rPr>
              <a:t>IMAGEM   </a:t>
            </a:r>
            <a:r>
              <a:rPr sz="1700" i="0" b="0">
                <a:solidFill>
                  <a:srgbClr val="C9C7C0"/>
                </a:solidFill>
                <a:latin typeface="Outfit 1 Light"/>
              </a:rPr>
              <a:t>Um ambiente completo entregue pela Forma. Imagem ampla, que aguente a frase por cima.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728216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UMA ORIGEM. DUAS EXPRESSÕES DE MARCA.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266511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3043733"/>
            <a:ext cx="635508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3318053"/>
            <a:ext cx="6355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9724A"/>
                </a:solidFill>
                <a:latin typeface="Outfit 1 Semi-Bold"/>
              </a:rPr>
              <a:t>FORMA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3702101"/>
            <a:ext cx="6355080" cy="10558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Crença: o conhecimento amplia os limites de um projeto.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4959096"/>
            <a:ext cx="6355080" cy="10558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Comportamento: precisão, cuidado e responsabilidade.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6216091"/>
            <a:ext cx="6355080" cy="5644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Experiência: segurança para realizar.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6981749"/>
            <a:ext cx="6355080" cy="5644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Valor central: confiança.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921240" y="3043733"/>
            <a:ext cx="635508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21240" y="3318053"/>
            <a:ext cx="6355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MY HOME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21240" y="3702101"/>
            <a:ext cx="6355080" cy="10558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Crença: sempre existe uma nova possibilidade de criação.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21240" y="4959096"/>
            <a:ext cx="6355080" cy="10558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Comportamento: experimentação, transformação e aperfeiçoamento.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6216091"/>
            <a:ext cx="6355080" cy="10558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Experiência pretendida: prazer em descobrir e transformar.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21240" y="7473086"/>
            <a:ext cx="6355080" cy="5644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Valor central: criatividade.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25712" y="3043733"/>
            <a:ext cx="12802" cy="5012131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42832" y="5366918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900" i="0" b="0">
                <a:solidFill>
                  <a:srgbClr val="A5A49F"/>
                </a:solidFill>
                <a:latin typeface="Outfit 1 Light"/>
              </a:rPr>
              <a:t>×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0" y="3564799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3967135"/>
            <a:ext cx="14081760" cy="22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3322" i="0" b="0">
                <a:solidFill>
                  <a:srgbClr val="1C1C1A"/>
                </a:solidFill>
                <a:latin typeface="Outfit 1 Light"/>
              </a:rPr>
              <a:t>A mesma mentalidade impulsiona as duas marcas</a:t>
            </a:r>
          </a:p>
          <a:p>
            <a:pPr algn="l">
              <a:lnSpc>
                <a:spcPct val="126000"/>
              </a:lnSpc>
            </a:pPr>
            <a:r>
              <a:rPr sz="3322" i="0" b="0">
                <a:solidFill>
                  <a:srgbClr val="1C1C1A"/>
                </a:solidFill>
                <a:latin typeface="Outfit 1 Light"/>
              </a:rPr>
              <a:t>e se manifesta de maneiras distintas</a:t>
            </a:r>
          </a:p>
          <a:p>
            <a:pPr algn="l">
              <a:lnSpc>
                <a:spcPct val="126000"/>
              </a:lnSpc>
            </a:pPr>
            <a:r>
              <a:rPr sz="3322" i="0" b="0">
                <a:solidFill>
                  <a:srgbClr val="1C1C1A"/>
                </a:solidFill>
                <a:latin typeface="Outfit 1 Light"/>
              </a:rPr>
              <a:t>no valor que cada uma entrega ao mercado.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011680" y="3703320"/>
            <a:ext cx="13716000" cy="923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650" i="0" b="0">
                <a:solidFill>
                  <a:srgbClr val="1C1C1A"/>
                </a:solidFill>
                <a:latin typeface="Outfit 1 Light"/>
              </a:rPr>
              <a:t>OBRIGADA!</a:t>
            </a:r>
          </a:p>
        </p:txBody>
      </p:sp>
      <p:pic>
        <p:nvPicPr>
          <p:cNvPr id="4" name="Picture 3" descr="logo-kelly-alb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0" y="5440680"/>
            <a:ext cx="3246120" cy="77146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669280" y="5257800"/>
            <a:ext cx="12802" cy="1143000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vm-rock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5394960"/>
            <a:ext cx="3291840" cy="94288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DAHVOuCspjk</dc:identifier>
  <dcterms:modified xsi:type="dcterms:W3CDTF">2011-08-01T06:04:30Z</dcterms:modified>
  <cp:revision>1</cp:revision>
  <dc:title>Revelacao-de-Essencia-Flavia-Pereira-Muccelin.pptx</dc:title>
</cp:coreProperties>
</file>