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8"/>
    <p:sldId id="275" r:id="rId17"/>
  </p:sldIdLst>
  <p:sldSz cx="18288000" cy="10287000"/>
  <p:notesSz cx="6858000" cy="9144000"/>
  <p:embeddedFontLst>
    <p:embeddedFont>
      <p:font typeface="Koho" charset="1" panose="00000500000000000000"/>
      <p:regular r:id="rId37"/>
    </p:embeddedFont>
    <p:embeddedFont>
      <p:font typeface="Koho Medium" charset="1" panose="00000600000000000000"/>
      <p:regular r:id="rId38"/>
    </p:embeddedFont>
    <p:embeddedFont>
      <p:font typeface="Outfit 1 Medium" charset="1" panose="00000000000000000000"/>
      <p:regular r:id="rId39"/>
    </p:embeddedFont>
    <p:embeddedFont>
      <p:font typeface="IBM Plex Sans Thai" charset="1" panose="020B0503050203000203"/>
      <p:regular r:id="rId40"/>
    </p:embeddedFont>
    <p:embeddedFont>
      <p:font typeface="Outfit 2 Light" charset="1" panose="00000000000000000000"/>
      <p:regular r:id="rId41"/>
    </p:embeddedFont>
    <p:embeddedFont>
      <p:font typeface="Outfit 2 Medium" charset="1" panose="00000000000000000000"/>
      <p:regular r:id="rId42"/>
    </p:embeddedFont>
    <p:embeddedFont>
      <p:font typeface="Outfit 2 Semi-Bold" charset="1" panose="00000000000000000000"/>
      <p:regular r:id="rId43"/>
    </p:embeddedFont>
    <p:embeddedFont>
      <p:font typeface="Playfair Display" charset="1" panose="02000503000000020003"/>
      <p:regular r:id="rId44"/>
    </p:embeddedFont>
    <p:embeddedFont>
      <p:font typeface="Outfit 1 Bold" charset="1" panose="00000000000000000000"/>
      <p:regular r:id="rId45"/>
    </p:embeddedFont>
    <p:embeddedFont>
      <p:font typeface="Outfit 1" charset="1" panose="00000000000000000000"/>
      <p:regular r:id="rId46"/>
    </p:embeddedFont>
    <p:embeddedFont>
      <p:font typeface="Outfit 1 Semi-Bold" charset="1" panose="00000000000000000000"/>
      <p:regular r:id="rId47"/>
    </p:embeddedFont>
    <p:embeddedFont>
      <p:font typeface="Outfit 1 Light" charset="1" panose="00000000000000000000"/>
      <p:regular r:id="rId48"/>
    </p:embeddedFont>
    <p:embeddedFont>
      <p:font typeface="Outfit 1 Ultra-Bold" charset="1" panose="00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617720"/>
            <a:ext cx="3931920" cy="9344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06840" y="4206240"/>
            <a:ext cx="12802" cy="169164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434840"/>
            <a:ext cx="4023360" cy="1152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848" y="3364992"/>
            <a:ext cx="1490472" cy="1779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3593592"/>
            <a:ext cx="13551408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DUAS TRAJETÓRIAS.</a:t>
            </a:r>
          </a:p>
          <a:p>
            <a:pPr algn="l">
              <a:lnSpc>
                <a:spcPct val="114000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UMA NOVA FORÇA.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179820"/>
            <a:ext cx="1355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i="0" b="0">
                <a:solidFill>
                  <a:srgbClr val="1C1C1A"/>
                </a:solidFill>
                <a:latin typeface="Outfit 1 Bold"/>
              </a:rPr>
              <a:t>Flávia &amp; Elande</a:t>
            </a:r>
            <a:r>
              <a:rPr sz="3000" i="0" b="0">
                <a:solidFill>
                  <a:srgbClr val="1C1C1A"/>
                </a:solidFill>
                <a:latin typeface="Outfit 1"/>
              </a:rPr>
              <a:t>  |  FORMA e My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53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4024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889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133" y="6494587"/>
            <a:ext cx="3459591" cy="3459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83480" y="7964424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Light"/>
              </a:rPr>
              <a:t>Método </a:t>
            </a:r>
            <a:r>
              <a:rPr sz="2680" i="0" b="0">
                <a:solidFill>
                  <a:srgbClr val="1C1C1A"/>
                </a:solidFill>
                <a:latin typeface="Outfit 2 Semi-Bold"/>
              </a:rPr>
              <a:t>Marca</a:t>
            </a:r>
          </a:p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Semi-Bold"/>
              </a:rPr>
              <a:t>com Essência</a:t>
            </a:r>
            <a:r>
              <a:rPr sz="1470" i="0" b="0">
                <a:solidFill>
                  <a:srgbClr val="1C1C1A"/>
                </a:solidFill>
                <a:latin typeface="Outfit 2"/>
              </a:rPr>
              <a:t>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81564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50" i="0" b="0">
                <a:solidFill>
                  <a:srgbClr val="1C1C1A"/>
                </a:solidFill>
                <a:latin typeface="Outfit 1"/>
              </a:rPr>
              <a:t>OUTUBRO/2026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205194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607530"/>
            <a:ext cx="14081760" cy="2971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4530" i="0" b="0">
                <a:solidFill>
                  <a:srgbClr val="1C1C1A"/>
                </a:solidFill>
                <a:latin typeface="Outfit 1 Light"/>
              </a:rPr>
              <a:t>O encontro de duas competências</a:t>
            </a:r>
          </a:p>
          <a:p>
            <a:pPr algn="l">
              <a:lnSpc>
                <a:spcPct val="126000"/>
              </a:lnSpc>
            </a:pPr>
            <a:r>
              <a:rPr sz="4530" i="0" b="0">
                <a:solidFill>
                  <a:srgbClr val="1C1C1A"/>
                </a:solidFill>
                <a:latin typeface="Outfit 1 Light"/>
              </a:rPr>
              <a:t>para construir o próximo capítulo</a:t>
            </a:r>
          </a:p>
          <a:p>
            <a:pPr algn="l">
              <a:lnSpc>
                <a:spcPct val="126000"/>
              </a:lnSpc>
            </a:pPr>
            <a:r>
              <a:rPr sz="4530" i="0" b="0">
                <a:solidFill>
                  <a:srgbClr val="1C1C1A"/>
                </a:solidFill>
                <a:latin typeface="Outfit 1 Light"/>
              </a:rPr>
              <a:t>da FORMA e da My Home.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804672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i="0" b="0">
                <a:solidFill>
                  <a:srgbClr val="1C1C1A"/>
                </a:solidFill>
                <a:latin typeface="Outfit 1 Ultra-Bold"/>
              </a:rPr>
              <a:t>SUMÁRIO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974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535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843784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A força que construiu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546566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802598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692870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A força que chega para estruturar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4395651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4651683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541955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O valor singular de cada 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5244737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5500769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5391041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Onde nasce a potência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6093823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6349855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6240127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Os pontos de atenção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6942909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7198941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7089213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Papéis e responsabilidades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779199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8048026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7938298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A nova fase dos negócios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8641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2920" y="401010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32920" y="4320997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2920" y="4887925"/>
            <a:ext cx="576072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Retrato da Flávia, meio corpo, em obra ou em ambiente de trabalho. Olhar direto, postura de quem conduz. Luz natural, sem pose de estúdio.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92766"/>
            <a:ext cx="8458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FLÁVIA · ESSÊNCIA EMPREENDEDORA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383674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5229748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731146"/>
            <a:ext cx="845820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Autonomia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929518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430916"/>
            <a:ext cx="845820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Inconformismo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6629288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6130686"/>
            <a:ext cx="845820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Visão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7329058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6830456"/>
            <a:ext cx="845820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Realização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993911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FORÇA QUE NÃO ACEITA LIMITES COMO DESTINO.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930805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8538" y="3385719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3278277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Superou as limitações de sua origem sem aceitá-las como destino.</a:t>
            </a:r>
          </a:p>
        </p:txBody>
      </p:sp>
      <p:sp>
        <p:nvSpPr>
          <p:cNvPr id="8" name="Oval 7"/>
          <p:cNvSpPr/>
          <p:nvPr/>
        </p:nvSpPr>
        <p:spPr>
          <a:xfrm>
            <a:off x="2018538" y="4199901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4092459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Rompeu estruturas profissionais que restringiam sua capacidade de criar.</a:t>
            </a:r>
          </a:p>
        </p:txBody>
      </p:sp>
      <p:sp>
        <p:nvSpPr>
          <p:cNvPr id="10" name="Oval 9"/>
          <p:cNvSpPr/>
          <p:nvPr/>
        </p:nvSpPr>
        <p:spPr>
          <a:xfrm>
            <a:off x="2018538" y="5014083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4906641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Transformou conhecimento técnico em negócio, liderança e reputação.</a:t>
            </a:r>
          </a:p>
        </p:txBody>
      </p:sp>
      <p:sp>
        <p:nvSpPr>
          <p:cNvPr id="12" name="Oval 11"/>
          <p:cNvSpPr/>
          <p:nvPr/>
        </p:nvSpPr>
        <p:spPr>
          <a:xfrm>
            <a:off x="2018538" y="5828265"/>
            <a:ext cx="77724" cy="77724"/>
          </a:xfrm>
          <a:prstGeom prst="ellipse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5720823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Enxerga oportunidades onde outros enxergam obstáculos ou descarte.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6772748"/>
            <a:ext cx="1225296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Sua força singular: transformar aquilo que ainda não existe em algo que as pessoas podem viver, utilizar e valorizar.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354711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58006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IMAGEM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424934"/>
            <a:ext cx="5760720" cy="2406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Retrato do Elande, meio corpo, em ambiente de escritório ou de gestão. Expressão serena e atenta. Mesma luz e mesmo enquadramento do retrato da Flávia — os dois precisam conversar lado a lado.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3069773"/>
            <a:ext cx="9601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ELANDE · ESSÊNCIA PROFISSIONAL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4006667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4852741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4354139"/>
            <a:ext cx="960120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Responsabilidade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5552511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5053909"/>
            <a:ext cx="960120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Critério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6252281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5753679"/>
            <a:ext cx="960120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Consistência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6952051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6453449"/>
            <a:ext cx="960120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Previsibilidade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978792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FORÇA QUE ENXERGA O QUE SUSTENTA UMA CONQUISTA.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66970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8538" y="4124614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4017172"/>
            <a:ext cx="11448288" cy="5112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Construiu sua carreira assumindo responsabilidades de gestão e controladoria.</a:t>
            </a:r>
          </a:p>
        </p:txBody>
      </p:sp>
      <p:sp>
        <p:nvSpPr>
          <p:cNvPr id="8" name="Oval 7"/>
          <p:cNvSpPr/>
          <p:nvPr/>
        </p:nvSpPr>
        <p:spPr>
          <a:xfrm>
            <a:off x="2018538" y="4873600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4766158"/>
            <a:ext cx="11448288" cy="5112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Aprendeu a olhar além do faturamento, considerando custos, margens e consequências.</a:t>
            </a:r>
          </a:p>
        </p:txBody>
      </p:sp>
      <p:sp>
        <p:nvSpPr>
          <p:cNvPr id="10" name="Oval 9"/>
          <p:cNvSpPr/>
          <p:nvPr/>
        </p:nvSpPr>
        <p:spPr>
          <a:xfrm>
            <a:off x="2018538" y="5622585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5515143"/>
            <a:ext cx="11448288" cy="5112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Valoriza processos que tornam a empresa menos dependente de uma única pessoa.</a:t>
            </a:r>
          </a:p>
        </p:txBody>
      </p:sp>
      <p:sp>
        <p:nvSpPr>
          <p:cNvPr id="12" name="Oval 11"/>
          <p:cNvSpPr/>
          <p:nvPr/>
        </p:nvSpPr>
        <p:spPr>
          <a:xfrm>
            <a:off x="2018538" y="6371570"/>
            <a:ext cx="77724" cy="77724"/>
          </a:xfrm>
          <a:prstGeom prst="ellipse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6264128"/>
            <a:ext cx="11448288" cy="5112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Reconhece a liderança da Flávia e quer contribuir sem substituir sua maneira de empreender.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7250857"/>
            <a:ext cx="1225296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Sua força singular: transformar conhecimento e informação em decisões que protegem o futuro.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2877992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280328"/>
            <a:ext cx="14081760" cy="3145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4823" i="0" b="0">
                <a:solidFill>
                  <a:srgbClr val="1C1C1A"/>
                </a:solidFill>
                <a:latin typeface="Outfit 1 Light"/>
              </a:rPr>
              <a:t>“Eu tô bem preparado em não ser</a:t>
            </a:r>
          </a:p>
          <a:p>
            <a:pPr algn="l">
              <a:lnSpc>
                <a:spcPct val="126000"/>
              </a:lnSpc>
            </a:pPr>
            <a:r>
              <a:rPr sz="4823" i="0" b="0">
                <a:solidFill>
                  <a:srgbClr val="1C1C1A"/>
                </a:solidFill>
                <a:latin typeface="Outfit 1 Light"/>
              </a:rPr>
              <a:t>um obstáculo, e sim ser</a:t>
            </a:r>
          </a:p>
          <a:p>
            <a:pPr algn="l">
              <a:lnSpc>
                <a:spcPct val="126000"/>
              </a:lnSpc>
            </a:pPr>
            <a:r>
              <a:rPr sz="4823" i="0" b="0">
                <a:solidFill>
                  <a:srgbClr val="1C1C1A"/>
                </a:solidFill>
                <a:latin typeface="Outfit 1 Light"/>
              </a:rPr>
              <a:t>um agregador.”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351656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Elande, em entrevista.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176333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DUAS COMPETÊNCIAS. DUAS RESPONSABILIDADES ESSENCIAIS.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67241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21471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470745"/>
            <a:ext cx="688086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Flávia — fazer o negócio avançar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161422"/>
            <a:ext cx="688086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Visão de mercado, relacionamento, produto, inovação, liderança e direção comercial.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421471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4470745"/>
            <a:ext cx="688086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Elande — dar condições para o avanço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5161422"/>
            <a:ext cx="688086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Controladoria, custos, fluxo de caixa, planejamento, gestão financeira e administrativa.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6590325"/>
            <a:ext cx="1225296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Flávia deve preservar a liberdade de empreender. Elande deve ter autonomia real para estruturar e conduzir sua área. Nenhum dos dois deve precisar administrar o trabalho do outro.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401010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20997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IMAGEM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887925"/>
            <a:ext cx="576072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Flávia e Elande juntos, em conversa de trabalho — mesa, planta, obra ou escritório. Interação real, não retrato posado lado a lado.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650937"/>
            <a:ext cx="9601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ELE NÃO CHEGA PARA FREAR. ELA NÃO PRECISA CONTINUAR CARREGANDO TUDO.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5095860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5443332"/>
            <a:ext cx="45491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5699364"/>
            <a:ext cx="454914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Flávia entrega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6390041"/>
            <a:ext cx="454914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Visão, oportunidades, velocidade e capacidade de realização.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70180" y="5443332"/>
            <a:ext cx="45491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70180" y="5699364"/>
            <a:ext cx="454914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Elande entrega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70180" y="6390041"/>
            <a:ext cx="454914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Clareza financeira, planejamento, estrutura e segurança para decidir.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6776618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7343546"/>
            <a:ext cx="786384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C9C7C0"/>
                </a:solidFill>
                <a:latin typeface="Outfit 1 Light"/>
              </a:rPr>
              <a:t>A rotina que a frase descreve: mesa de trabalho em casa à noite, luminária acesa, computador e papéis. Pode ser sem pessoa — o que importa é a hora.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067945"/>
            <a:ext cx="14081760" cy="1922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4153" i="0" b="0">
                <a:solidFill>
                  <a:srgbClr val="FFFFFF"/>
                </a:solidFill>
                <a:latin typeface="Outfit 1 Light"/>
              </a:rPr>
              <a:t>“Hoje pra pagar boleto, ela paga</a:t>
            </a:r>
          </a:p>
          <a:p>
            <a:pPr algn="l">
              <a:lnSpc>
                <a:spcPct val="126000"/>
              </a:lnSpc>
            </a:pPr>
            <a:r>
              <a:rPr sz="4153" i="0" b="0">
                <a:solidFill>
                  <a:srgbClr val="FFFFFF"/>
                </a:solidFill>
                <a:latin typeface="Outfit 1 Light"/>
              </a:rPr>
              <a:t>boleto em casa, oito hora da noite.”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579564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6047102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FFFFFF"/>
                </a:solidFill>
                <a:latin typeface="Outfit 1 Light"/>
              </a:rPr>
              <a:t>Elande, em entrevista.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065339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467675"/>
            <a:ext cx="14081760" cy="2320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155" i="0" b="0">
                <a:solidFill>
                  <a:srgbClr val="1C1C1A"/>
                </a:solidFill>
                <a:latin typeface="Outfit 1 Light"/>
              </a:rPr>
              <a:t>Mais capacidade de crescer.</a:t>
            </a:r>
          </a:p>
          <a:p>
            <a:pPr algn="l">
              <a:lnSpc>
                <a:spcPct val="126000"/>
              </a:lnSpc>
            </a:pPr>
            <a:r>
              <a:rPr sz="5155" i="0" b="0">
                <a:solidFill>
                  <a:srgbClr val="1C1C1A"/>
                </a:solidFill>
                <a:latin typeface="Outfit 1 Light"/>
              </a:rPr>
              <a:t>Menos dependência individual.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701319"/>
            <a:ext cx="11887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 maior ganho dessa união não é dividir o trabalho. É devolver à Flávia tempo para criar oportunidades e dar ao Elande espaço para construir uma gestão mais sólida.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729617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4131953"/>
            <a:ext cx="14081760" cy="1922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4153" i="0" b="0">
                <a:solidFill>
                  <a:srgbClr val="1C1C1A"/>
                </a:solidFill>
                <a:latin typeface="Outfit 1 Light"/>
              </a:rPr>
              <a:t>Autonomia não é ausência de limites.</a:t>
            </a:r>
          </a:p>
          <a:p>
            <a:pPr algn="l">
              <a:lnSpc>
                <a:spcPct val="126000"/>
              </a:lnSpc>
            </a:pPr>
            <a:r>
              <a:rPr sz="4153" i="0" b="0">
                <a:solidFill>
                  <a:srgbClr val="1C1C1A"/>
                </a:solidFill>
                <a:latin typeface="Outfit 1 Light"/>
              </a:rPr>
              <a:t>Controle não é poder de veto.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740365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FLÁVIA PRECISA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677259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8538" y="4132173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4024731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Delegar sem retomar tudo para si.</a:t>
            </a:r>
          </a:p>
        </p:txBody>
      </p:sp>
      <p:sp>
        <p:nvSpPr>
          <p:cNvPr id="8" name="Oval 7"/>
          <p:cNvSpPr/>
          <p:nvPr/>
        </p:nvSpPr>
        <p:spPr>
          <a:xfrm>
            <a:off x="2018538" y="4946355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4838913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Respeitar critérios financeiros acordados.</a:t>
            </a:r>
          </a:p>
        </p:txBody>
      </p:sp>
      <p:sp>
        <p:nvSpPr>
          <p:cNvPr id="10" name="Oval 9"/>
          <p:cNvSpPr/>
          <p:nvPr/>
        </p:nvSpPr>
        <p:spPr>
          <a:xfrm>
            <a:off x="2018538" y="5760537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5653095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Confiar na autonomia de gestão dele.</a:t>
            </a:r>
          </a:p>
        </p:txBody>
      </p:sp>
      <p:sp>
        <p:nvSpPr>
          <p:cNvPr id="12" name="Oval 11"/>
          <p:cNvSpPr/>
          <p:nvPr/>
        </p:nvSpPr>
        <p:spPr>
          <a:xfrm>
            <a:off x="2018538" y="6574719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6467277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Compartilhar informações e planos com antecedência.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993911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ELANDE PRECISA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930805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8538" y="3385719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3278277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Orientar sem interferir em todas as decisões.</a:t>
            </a:r>
          </a:p>
        </p:txBody>
      </p:sp>
      <p:sp>
        <p:nvSpPr>
          <p:cNvPr id="8" name="Oval 7"/>
          <p:cNvSpPr/>
          <p:nvPr/>
        </p:nvSpPr>
        <p:spPr>
          <a:xfrm>
            <a:off x="2018538" y="4199901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4092459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Compreender a velocidade do negócio.</a:t>
            </a:r>
          </a:p>
        </p:txBody>
      </p:sp>
      <p:sp>
        <p:nvSpPr>
          <p:cNvPr id="10" name="Oval 9"/>
          <p:cNvSpPr/>
          <p:nvPr/>
        </p:nvSpPr>
        <p:spPr>
          <a:xfrm>
            <a:off x="2018538" y="5014083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4906641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Confiar no conhecimento comercial e técnico dela.</a:t>
            </a:r>
          </a:p>
        </p:txBody>
      </p:sp>
      <p:sp>
        <p:nvSpPr>
          <p:cNvPr id="12" name="Oval 11"/>
          <p:cNvSpPr/>
          <p:nvPr/>
        </p:nvSpPr>
        <p:spPr>
          <a:xfrm>
            <a:off x="2018538" y="5828265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5720823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Oferecer alternativas, não apenas apontar riscos.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6772748"/>
            <a:ext cx="1225296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 equilíbrio não está em um ceder sempre ao outro. Está em cada um assumir plenamente sua responsabilidade.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3736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PAPÉIS CLAROS. DECISÕES COMPARTILHADAS.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7425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021726"/>
            <a:ext cx="44196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277758"/>
            <a:ext cx="441960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Flávia lidera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968435"/>
            <a:ext cx="4419600" cy="194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Mercado, clientes, posicionamento, produto, desenvolvimento de oportunidades e direção comercial e produtiva.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4200" y="3021726"/>
            <a:ext cx="44196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4200" y="3277758"/>
            <a:ext cx="441960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Elande lidera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0" y="3968435"/>
            <a:ext cx="4419600" cy="194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Finanças, controladoria, custos, fluxo de caixa, orçamento, controles administrativos e gestão dos recursos sob sua responsabilidade.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56720" y="3021726"/>
            <a:ext cx="44196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56720" y="3277758"/>
            <a:ext cx="441960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Os dois decidem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56720" y="3968435"/>
            <a:ext cx="4419600" cy="28693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Grandes investimentos, expansão, endividamento, prioridades estratégicas e decisões que comprometam significativamente a capacidade financeira ou operacional das empresas.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6566306"/>
            <a:ext cx="1225296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regra: decisões do dia a dia devem ter responsáveis definidos; decisões que alteram o futuro dos negócios precisam reunir os dois olhares. Esta é uma proposta de divisão de responsabilidades para validação entre os sócios, não um organograma já acordado.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022031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LIBERDADE QUE ELA CONQUISTOU. A SEGURANÇA QUE ELE APRENDEU A CONSTRUIR.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712939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060411"/>
            <a:ext cx="12252960" cy="9803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16" i="0" b="0">
                <a:solidFill>
                  <a:srgbClr val="6B6B66"/>
                </a:solidFill>
                <a:latin typeface="Outfit 1 Light"/>
              </a:rPr>
              <a:t>Flávia passou a vida conquistando liberdade para fazer acontecer. Elande construiu uma carreira aprendendo a sustentar decisões e resultados.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198803"/>
            <a:ext cx="12252960" cy="9803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16" i="0" b="0">
                <a:solidFill>
                  <a:srgbClr val="6B6B66"/>
                </a:solidFill>
                <a:latin typeface="Outfit 1 Light"/>
              </a:rPr>
              <a:t>Agora, o desafio é fazer com que essas duas forças deixem de existir apenas como apoio pessoal e se transformem em uma parceria profissional estruturada.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6337194"/>
            <a:ext cx="12252960" cy="14248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16" i="0" b="0">
                <a:solidFill>
                  <a:srgbClr val="6B6B66"/>
                </a:solidFill>
                <a:latin typeface="Outfit 1 Light"/>
              </a:rPr>
              <a:t>O futuro da FORMA e da My Home não deve depender de quem consegue carregar mais responsabilidades, mas da capacidade dos dois de construir uma empresa que funcione melhor, cresça com consistência e preserve aquilo que a tornou especial.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2735144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137480"/>
            <a:ext cx="14081760" cy="3397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934" i="0" b="0">
                <a:solidFill>
                  <a:srgbClr val="1C1C1A"/>
                </a:solidFill>
                <a:latin typeface="Outfit 1 Light"/>
              </a:rPr>
              <a:t>Ela não precisa perder sua liberdade</a:t>
            </a:r>
          </a:p>
          <a:p>
            <a:pPr algn="l">
              <a:lnSpc>
                <a:spcPct val="126000"/>
              </a:lnSpc>
            </a:pPr>
            <a:r>
              <a:rPr sz="3934" i="0" b="0">
                <a:solidFill>
                  <a:srgbClr val="1C1C1A"/>
                </a:solidFill>
                <a:latin typeface="Outfit 1 Light"/>
              </a:rPr>
              <a:t>para a empresa crescer.</a:t>
            </a:r>
          </a:p>
          <a:p>
            <a:pPr algn="l">
              <a:lnSpc>
                <a:spcPct val="126000"/>
              </a:lnSpc>
            </a:pPr>
            <a:r>
              <a:rPr sz="3934" i="0" b="0">
                <a:solidFill>
                  <a:srgbClr val="1C1C1A"/>
                </a:solidFill>
                <a:latin typeface="Outfit 1 Light"/>
              </a:rPr>
              <a:t>Ele não precisa limitar essa liberdade</a:t>
            </a:r>
          </a:p>
          <a:p>
            <a:pPr algn="l">
              <a:lnSpc>
                <a:spcPct val="126000"/>
              </a:lnSpc>
            </a:pPr>
            <a:r>
              <a:rPr sz="3934" i="0" b="0">
                <a:solidFill>
                  <a:srgbClr val="1C1C1A"/>
                </a:solidFill>
                <a:latin typeface="Outfit 1 Light"/>
              </a:rPr>
              <a:t>para proteger a empresa.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494504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potência está em fazer as duas coisas acontecerem juntas.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703320"/>
            <a:ext cx="13716000" cy="923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50" i="0" b="0">
                <a:solidFill>
                  <a:srgbClr val="1C1C1A"/>
                </a:solidFill>
                <a:latin typeface="Outfit 1 Light"/>
              </a:rPr>
              <a:t>OBRIGADA!</a:t>
            </a:r>
          </a:p>
        </p:txBody>
      </p:sp>
      <p:pic>
        <p:nvPicPr>
          <p:cNvPr id="4" name="Picture 3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440680"/>
            <a:ext cx="3246120" cy="7714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5257800"/>
            <a:ext cx="12802" cy="114300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394960"/>
            <a:ext cx="3291840" cy="942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DAHVOuCspjk</dc:identifier>
  <dcterms:modified xsi:type="dcterms:W3CDTF">2011-08-01T06:04:30Z</dcterms:modified>
  <cp:revision>1</cp:revision>
  <dc:title>Revelacao-de-Essencia-Flavia-Pereira-Muccelin.pptx</dc:title>
</cp:coreProperties>
</file>