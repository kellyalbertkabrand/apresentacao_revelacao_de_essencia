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0" y="2880360"/>
            <a:ext cx="1325880" cy="15830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3246120"/>
            <a:ext cx="13716000" cy="2320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056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REVELAÇÃO DE</a:t>
            </a:r>
          </a:p>
          <a:p>
            <a:pPr algn="l">
              <a:lnSpc>
                <a:spcPts val="8056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8932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400800"/>
            <a:ext cx="1280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Flávia Pereira Muccelin  |  Origem Identitária da Fundadora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8092440"/>
            <a:ext cx="2148840" cy="2148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8065008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25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Método Marca</a:t>
            </a:r>
          </a:p>
          <a:p>
            <a:pPr algn="l">
              <a:lnSpc>
                <a:spcPts val="2125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 Essência 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82478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00">
                <a:solidFill>
                  <a:srgbClr val="1C1C1A"/>
                </a:solidFill>
                <a:latin typeface="Outfit 2"/>
              </a:rPr>
              <a:t>SETEMBRO/2026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40280"/>
            <a:ext cx="14264640" cy="1039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28"/>
              </a:lnSpc>
            </a:pPr>
            <a:r>
              <a:rPr sz="4400" i="0" b="0">
                <a:solidFill>
                  <a:srgbClr val="1C1C1A"/>
                </a:solidFill>
                <a:latin typeface="Outfit 1 Light"/>
              </a:rPr>
              <a:t>SUMÁRIO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4612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570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4472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As experiências que formaram a visão de mundo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11480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4256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1596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Os momentos que a colocaram em movimento.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98348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94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8464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5321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 lógica que se repete ao longo da trajetória.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5216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16305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605332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que gera sentido e realização para a Flávia.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72084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703173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92200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72694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princípio que conecta a sua história.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58952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9004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77906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81381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Como essa essência se manifesta na origem da Forma e da My Home.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458200"/>
            <a:ext cx="122529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-metodo.jpg"/>
          <p:cNvPicPr>
            <a:picLocks noChangeAspect="1"/>
          </p:cNvPicPr>
          <p:nvPr/>
        </p:nvPicPr>
        <p:blipFill>
          <a:blip r:embed="rId3"/>
          <a:srcRect l="22000" r="22000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POR QUE A ESSÊNCIA VEM PRIMEIRO?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25780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685800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71140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73883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análise psicológica da Flávia.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80284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83027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investigação da origem identitária das marcas a partir da fundadora.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ergunt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PERGUNTA QUE CONDUZ ESTA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7772400" cy="199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52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O que já fazia parte de quem</a:t>
            </a:r>
          </a:p>
          <a:p>
            <a:pPr algn="l">
              <a:lnSpc>
                <a:spcPts val="452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a Flávia é antes da Forma</a:t>
            </a:r>
          </a:p>
          <a:p>
            <a:pPr algn="l">
              <a:lnSpc>
                <a:spcPts val="452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e da My Home?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SE CHEGA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 as experiências e as referências que formaram a visão de mundo da Flávia.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Revelam como a Flávia responde, repetidamente, a essas situações.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 o que gera sentido, realização e vontade de contribuir.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68096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=  </a:t>
            </a:r>
            <a:r>
              <a:rPr sz="22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83027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essência é o princípio central que conecta essas dimensões e revela a lógica que orienta a forma como a Flávia enxerga, age e transforma.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-origem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ESSA HISTÓRIA COMEÇA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6908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história familiar da Flávia é marcada por limitações, trabalho, fé e recomeços.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349240"/>
            <a:ext cx="8961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726948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Flávia chegou àquele lugar como “a filha do peão”.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80924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832104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00">
                <a:solidFill>
                  <a:srgbClr val="A5A49F"/>
                </a:solidFill>
                <a:latin typeface="Outfit 1 Semi-Bold"/>
              </a:rPr>
              <a:t>TRABALHO   ·   FAMÍLIA   ·   FÉ   ·   HONESTIDADE   ·   GRATIDÃO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-primeiros-sinais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OS PRIMEIROS SINAIS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vontade de construir uma realidade diferente aparece muito antes da criação das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166360"/>
            <a:ext cx="77724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03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Ela mesma diz: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1597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CC754E"/>
                </a:solidFill>
                <a:latin typeface="Outfit 1 Light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72146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não quero isso para mim.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8181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E, mais tarde, ao perceber que o cargo limitaria o seu crescimento: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80741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CC754E"/>
                </a:solidFill>
                <a:latin typeface="Outfit 1 Light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81290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queria 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-experiencias-1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393192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41148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escassez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6451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em uma realidade de poucos recursos.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55778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58338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vontade de ampliar possibilidades e não aceitar a condição presente como limite.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66294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portão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71597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0924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83484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capacidade de se enxergar dentro de uma realidade antes de ela existir concretamente.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-experiencias-2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93192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1148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trabalho e o estudo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451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Trabalho, faculdade, bicicleta e futsal como caminho para conquistar uma bolsa de estudos.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5778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58338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Para a Flávia, enxergar uma possibilidade exige movimento para torná-la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44652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66294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trajetória dos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71597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80924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83484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forma de construir importa tanto quanto aquilo que é conquistado.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319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Existe uma lógica recorrente na trajetória da Flávia.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43484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69087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REALIDADE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98348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“Essa é a sua condição.”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80592" y="502005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97482" y="489204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enxergava outra.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54406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CARGO DIZIA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598932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“Até aqui você pode chegar.”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80592" y="60258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597482" y="589788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mais.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670255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MARCAS PRONTAS DIZIAM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99516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“É assim que deve ser feito.”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0592" y="7031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97482" y="690372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fazer do seu jeito.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745236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0690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32511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MATERNIDADE EXIGIU UMA ESCOLHA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617720"/>
            <a:ext cx="42748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6542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526280"/>
            <a:ext cx="2487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Ela parou e, anos depois, construiu um caminho de volta.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55955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SOBRAS TINHAM UM DESTINO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52160"/>
            <a:ext cx="42748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“O descarte.”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888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5760720"/>
            <a:ext cx="2487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enxergou matéria para uma nova criação.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30936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60196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Quando aquilo que está dado não corresponde ao que a Flávia enxerga como possível, ela entra em movimento.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6-padrao-invisivel.jpg"/>
          <p:cNvPicPr>
            <a:picLocks noChangeAspect="1"/>
          </p:cNvPicPr>
          <p:nvPr/>
        </p:nvPicPr>
        <p:blipFill>
          <a:blip r:embed="rId3"/>
          <a:srcRect l="28989" r="28989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PADRÃO INVISÍVEL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77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As situações são diferentes. A resposta da Flávia segue a mesma lógica.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0" y="4718304"/>
            <a:ext cx="91440" cy="91440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617720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Ela encontra uma realidade ou um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4965192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5742432"/>
            <a:ext cx="91440" cy="91440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5641848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 que aquilo pode ser diferente.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5989320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0" y="6766560"/>
            <a:ext cx="91440" cy="91440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6665976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Constrói um caminho para transformar essa possibilidade em realidade.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01584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O padrão está na forma como a Flávia responde quando percebe que existe uma possibilidade além daquilo que está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-movimento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Oval 9"/>
          <p:cNvSpPr/>
          <p:nvPr/>
        </p:nvSpPr>
        <p:spPr>
          <a:xfrm>
            <a:off x="2016252" y="39913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88620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a realidade como ela 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178808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4704588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599432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Percebe que aquilo não precisa ser definitivo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4892040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16252" y="5417820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531266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outra possibilidade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5605272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16252" y="6131052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6025896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Procura um caminho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6318504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16252" y="6844284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673912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Busca conhecimento, mobiliza pessoas e recursos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7031736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16252" y="7557516"/>
            <a:ext cx="82296" cy="82296"/>
          </a:xfrm>
          <a:prstGeom prst="ellipse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745236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Transforma a possibilidade em realidade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7882128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8046720"/>
            <a:ext cx="7772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9184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Ao longo da sua trajetória, a Flávia repete um mesmo movimento: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13898880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96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Flávia não aceita que aquilo que</a:t>
            </a:r>
          </a:p>
          <a:p>
            <a:pPr algn="l">
              <a:lnSpc>
                <a:spcPts val="5796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existe determine aquilo que pode existir.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736092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0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QUE MOVE A FLÁVIA?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11" name="Oval 10"/>
          <p:cNvSpPr/>
          <p:nvPr/>
        </p:nvSpPr>
        <p:spPr>
          <a:xfrm>
            <a:off x="8508492" y="563727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55321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ama?</a:t>
            </a:r>
          </a:p>
        </p:txBody>
      </p:sp>
      <p:sp>
        <p:nvSpPr>
          <p:cNvPr id="13" name="Oval 12"/>
          <p:cNvSpPr/>
          <p:nvPr/>
        </p:nvSpPr>
        <p:spPr>
          <a:xfrm>
            <a:off x="8508492" y="618591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608076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reconhece as suas forças?</a:t>
            </a:r>
          </a:p>
        </p:txBody>
      </p:sp>
      <p:sp>
        <p:nvSpPr>
          <p:cNvPr id="15" name="Oval 14"/>
          <p:cNvSpPr/>
          <p:nvPr/>
        </p:nvSpPr>
        <p:spPr>
          <a:xfrm>
            <a:off x="8508492" y="67345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662940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encontra realização?</a:t>
            </a:r>
          </a:p>
        </p:txBody>
      </p:sp>
      <p:sp>
        <p:nvSpPr>
          <p:cNvPr id="17" name="Oval 16"/>
          <p:cNvSpPr/>
          <p:nvPr/>
        </p:nvSpPr>
        <p:spPr>
          <a:xfrm>
            <a:off x="8508492" y="728319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717804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deseja contribuir para outras pessoas?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1987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Não se busca apenas aquilo que ela gosta de fazer, e sim o que faz uma realização ter significado para a Flávia.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MAPA DO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pic>
        <p:nvPicPr>
          <p:cNvPr id="10" name="Picture 9" descr="simbolo-ikig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880" y="1874520"/>
            <a:ext cx="1188720" cy="1188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011680" y="406908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406908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a Flávia é boa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06908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a Flávia gosta de contribuir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406908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a Flávia encontra realização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-centro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CENTRO DO IKIGAI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4360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 cliente realiza um sonho.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equipe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711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ideia sai do papel.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0957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pessoa recebe uma oportunidade.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6352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Sobre o legado que deseja deixar, a própria Flávia resume: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9187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919"/>
              </a:lnSpc>
            </a:pPr>
            <a:r>
              <a:rPr sz="2800" i="0" b="0">
                <a:solidFill>
                  <a:srgbClr val="CC754E"/>
                </a:solidFill>
                <a:latin typeface="Outfit 1 Light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7973568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Fazer diferença na vida das pessoas.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6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 spc="240">
                <a:solidFill>
                  <a:srgbClr val="CC754E"/>
                </a:solidFill>
                <a:latin typeface="Outfit 1 Semi-Bold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13898880" cy="2482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96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Transformar possibilidades em realizações</a:t>
            </a:r>
          </a:p>
          <a:p>
            <a:pPr algn="l">
              <a:lnSpc>
                <a:spcPts val="5796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concretas que também ampliem a vida</a:t>
            </a:r>
          </a:p>
          <a:p>
            <a:pPr algn="l">
              <a:lnSpc>
                <a:spcPts val="5796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de outras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3504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550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a Flávia constrói também amplia possibilidades para outras pessoas.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A HISTÓRIA E O IKIGAI SE ENCONTRAM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Visão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enxerga além da condição presente.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Movimento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Pessoas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Impacto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809244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além.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movimento.</a:t>
            </a:r>
            <a:r>
              <a:rPr sz="2200" i="0" b="0">
                <a:solidFill>
                  <a:srgbClr val="CC754E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 DA FLÁVIA COMO FUNDADORA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3898880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04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Enxergar além do que está posto e fazer</a:t>
            </a:r>
          </a:p>
          <a:p>
            <a:pPr algn="l">
              <a:lnSpc>
                <a:spcPts val="5704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existir o que ainda é possibilidade.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ENXERGAR ALÉM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FAZER EXISTIR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AMPLIAR POSSIBILIDADES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800100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8321040"/>
            <a:ext cx="1389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7" name="Picture 1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2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9-marcas.jpg"/>
          <p:cNvPicPr>
            <a:picLocks noChangeAspect="1"/>
          </p:cNvPicPr>
          <p:nvPr/>
        </p:nvPicPr>
        <p:blipFill>
          <a:blip r:embed="rId3"/>
          <a:srcRect t="3445" b="3445"/>
          <a:stretch>
            <a:fillRect/>
          </a:stretch>
        </p:blipFill>
        <p:spPr>
          <a:xfrm>
            <a:off x="0" y="0"/>
            <a:ext cx="621792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0"/>
            <a:ext cx="1207008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MARCAS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31720"/>
            <a:ext cx="1042416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ESSA ESSÊNCIA SE MANIFESTA NAS MARCAS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3192780"/>
            <a:ext cx="104241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9290304"/>
            <a:ext cx="10424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6118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Uma mesma essência. Duas manifestações diferentes.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069080"/>
            <a:ext cx="104241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30682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CC754E"/>
                </a:solidFill>
                <a:latin typeface="Outfit 1 Semi-Bold"/>
              </a:rPr>
              <a:t>A 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994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Dar forma ao que ainda é ideia.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12064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6099048"/>
            <a:ext cx="1042416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633679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CC754E"/>
                </a:solidFill>
                <a:latin typeface="Outfit 1 Semi-Bold"/>
              </a:rPr>
              <a:t>A 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6629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79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715060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82387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9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-estrategi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PRÓXIMA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935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06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DA ESSÊNCIA À ESTRATÉGIA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6908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03504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3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VEM A SEGUIR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82512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29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635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Base Estratégica vai definir como essa origem se traduz em uma direção própria, relevante e diferenciada para a Forma e para a My Home.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13898880" cy="179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98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essência revela a origem.</a:t>
            </a:r>
          </a:p>
          <a:p>
            <a:pPr algn="l">
              <a:lnSpc>
                <a:spcPts val="598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estratégia define a direção.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94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264"/>
              </a:lnSpc>
            </a:pPr>
            <a:r>
              <a:rPr sz="4700" i="0" b="0">
                <a:solidFill>
                  <a:srgbClr val="1C1C1A"/>
                </a:solidFill>
                <a:latin typeface="Outfit 1 Light"/>
              </a:rPr>
              <a:t>MUITO 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