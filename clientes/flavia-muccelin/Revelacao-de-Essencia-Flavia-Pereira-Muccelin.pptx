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19"/>
    <p:sldId id="257" r:id="rId20"/>
    <p:sldId id="258" r:id="rId21"/>
    <p:sldId id="259" r:id="rId22"/>
    <p:sldId id="260" r:id="rId23"/>
    <p:sldId id="261" r:id="rId24"/>
    <p:sldId id="262" r:id="rId25"/>
    <p:sldId id="263" r:id="rId26"/>
    <p:sldId id="264" r:id="rId27"/>
    <p:sldId id="265" r:id="rId28"/>
    <p:sldId id="266" r:id="rId29"/>
    <p:sldId id="267" r:id="rId30"/>
    <p:sldId id="268" r:id="rId31"/>
    <p:sldId id="269" r:id="rId32"/>
    <p:sldId id="270" r:id="rId33"/>
    <p:sldId id="271" r:id="rId34"/>
    <p:sldId id="272" r:id="rId35"/>
    <p:sldId id="273" r:id="rId36"/>
    <p:sldId id="274" r:id="rId18"/>
    <p:sldId id="275" r:id="rId17"/>
    <p:sldId id="276" r:id="rId16"/>
    <p:sldId id="277" r:id="rId15"/>
    <p:sldId id="278" r:id="rId14"/>
    <p:sldId id="279" r:id="rId13"/>
    <p:sldId id="280" r:id="rId12"/>
    <p:sldId id="281" r:id="rId11"/>
    <p:sldId id="282" r:id="rId10"/>
    <p:sldId id="283" r:id="rId9"/>
    <p:sldId id="284" r:id="rId8"/>
    <p:sldId id="285" r:id="rId7"/>
    <p:sldId id="286" r:id="rId6"/>
  </p:sldIdLst>
  <p:sldSz cx="18288000" cy="10287000"/>
  <p:notesSz cx="6858000" cy="9144000"/>
  <p:embeddedFontLst>
    <p:embeddedFont>
      <p:font typeface="Koho" charset="1" panose="00000500000000000000"/>
      <p:regular r:id="rId37"/>
    </p:embeddedFont>
    <p:embeddedFont>
      <p:font typeface="Koho Medium" charset="1" panose="00000600000000000000"/>
      <p:regular r:id="rId38"/>
    </p:embeddedFont>
    <p:embeddedFont>
      <p:font typeface="Outfit 1 Medium" charset="1" panose="00000000000000000000"/>
      <p:regular r:id="rId39"/>
    </p:embeddedFont>
    <p:embeddedFont>
      <p:font typeface="IBM Plex Sans Thai" charset="1" panose="020B0503050203000203"/>
      <p:regular r:id="rId40"/>
    </p:embeddedFont>
    <p:embeddedFont>
      <p:font typeface="Outfit 2 Light" charset="1" panose="00000000000000000000"/>
      <p:regular r:id="rId41"/>
    </p:embeddedFont>
    <p:embeddedFont>
      <p:font typeface="Outfit 2 Medium" charset="1" panose="00000000000000000000"/>
      <p:regular r:id="rId42"/>
    </p:embeddedFont>
    <p:embeddedFont>
      <p:font typeface="Outfit 2 Semi-Bold" charset="1" panose="00000000000000000000"/>
      <p:regular r:id="rId43"/>
    </p:embeddedFont>
    <p:embeddedFont>
      <p:font typeface="Playfair Display" charset="1" panose="02000503000000020003"/>
      <p:regular r:id="rId44"/>
    </p:embeddedFont>
    <p:embeddedFont>
      <p:font typeface="Outfit 1 Bold" charset="1" panose="00000000000000000000"/>
      <p:regular r:id="rId45"/>
    </p:embeddedFont>
    <p:embeddedFont>
      <p:font typeface="Outfit 1" charset="1" panose="00000000000000000000"/>
      <p:regular r:id="rId46"/>
    </p:embeddedFont>
    <p:embeddedFont>
      <p:font typeface="Outfit 1 Semi-Bold" charset="1" panose="00000000000000000000"/>
      <p:regular r:id="rId47"/>
    </p:embeddedFont>
    <p:embeddedFont>
      <p:font typeface="Outfit 1 Light" charset="1" panose="00000000000000000000"/>
      <p:regular r:id="rId48"/>
    </p:embeddedFont>
    <p:embeddedFont>
      <p:font typeface="Outfit 1 Ultra-Bold" charset="1" panose="00000000000000000000"/>
      <p:regular r:id="rId4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31.xml"/><Relationship Id="rId7" Type="http://schemas.openxmlformats.org/officeDocument/2006/relationships/slide" Target="slides/slide30.xml"/><Relationship Id="rId8" Type="http://schemas.openxmlformats.org/officeDocument/2006/relationships/slide" Target="slides/slide29.xml"/><Relationship Id="rId9" Type="http://schemas.openxmlformats.org/officeDocument/2006/relationships/slide" Target="slides/slide28.xml"/><Relationship Id="rId10" Type="http://schemas.openxmlformats.org/officeDocument/2006/relationships/slide" Target="slides/slide27.xml"/><Relationship Id="rId11" Type="http://schemas.openxmlformats.org/officeDocument/2006/relationships/slide" Target="slides/slide26.xml"/><Relationship Id="rId12" Type="http://schemas.openxmlformats.org/officeDocument/2006/relationships/slide" Target="slides/slide25.xml"/><Relationship Id="rId13" Type="http://schemas.openxmlformats.org/officeDocument/2006/relationships/slide" Target="slides/slide24.xml"/><Relationship Id="rId14" Type="http://schemas.openxmlformats.org/officeDocument/2006/relationships/slide" Target="slides/slide23.xml"/><Relationship Id="rId15" Type="http://schemas.openxmlformats.org/officeDocument/2006/relationships/slide" Target="slides/slide22.xml"/><Relationship Id="rId16" Type="http://schemas.openxmlformats.org/officeDocument/2006/relationships/slide" Target="slides/slide21.xml"/><Relationship Id="rId17" Type="http://schemas.openxmlformats.org/officeDocument/2006/relationships/slide" Target="slides/slide20.xml"/><Relationship Id="rId18" Type="http://schemas.openxmlformats.org/officeDocument/2006/relationships/slide" Target="slides/slide19.xml"/><Relationship Id="rId19" Type="http://schemas.openxmlformats.org/officeDocument/2006/relationships/slide" Target="slides/slide1.xml"/><Relationship Id="rId20" Type="http://schemas.openxmlformats.org/officeDocument/2006/relationships/slide" Target="slides/slide2.xml"/><Relationship Id="rId21" Type="http://schemas.openxmlformats.org/officeDocument/2006/relationships/slide" Target="slides/slide3.xml"/><Relationship Id="rId22" Type="http://schemas.openxmlformats.org/officeDocument/2006/relationships/slide" Target="slides/slide4.xml"/><Relationship Id="rId23" Type="http://schemas.openxmlformats.org/officeDocument/2006/relationships/slide" Target="slides/slide5.xml"/><Relationship Id="rId24" Type="http://schemas.openxmlformats.org/officeDocument/2006/relationships/slide" Target="slides/slide6.xml"/><Relationship Id="rId25" Type="http://schemas.openxmlformats.org/officeDocument/2006/relationships/slide" Target="slides/slide7.xml"/><Relationship Id="rId26" Type="http://schemas.openxmlformats.org/officeDocument/2006/relationships/slide" Target="slides/slide8.xml"/><Relationship Id="rId27" Type="http://schemas.openxmlformats.org/officeDocument/2006/relationships/slide" Target="slides/slide9.xml"/><Relationship Id="rId28" Type="http://schemas.openxmlformats.org/officeDocument/2006/relationships/slide" Target="slides/slide10.xml"/><Relationship Id="rId29" Type="http://schemas.openxmlformats.org/officeDocument/2006/relationships/slide" Target="slides/slide11.xml"/><Relationship Id="rId30" Type="http://schemas.openxmlformats.org/officeDocument/2006/relationships/slide" Target="slides/slide12.xml"/><Relationship Id="rId31" Type="http://schemas.openxmlformats.org/officeDocument/2006/relationships/slide" Target="slides/slide13.xml"/><Relationship Id="rId32" Type="http://schemas.openxmlformats.org/officeDocument/2006/relationships/slide" Target="slides/slide14.xml"/><Relationship Id="rId33" Type="http://schemas.openxmlformats.org/officeDocument/2006/relationships/slide" Target="slides/slide15.xml"/><Relationship Id="rId34" Type="http://schemas.openxmlformats.org/officeDocument/2006/relationships/slide" Target="slides/slide16.xml"/><Relationship Id="rId35" Type="http://schemas.openxmlformats.org/officeDocument/2006/relationships/slide" Target="slides/slide17.xml"/><Relationship Id="rId36" Type="http://schemas.openxmlformats.org/officeDocument/2006/relationships/slide" Target="slides/slide18.xml"/><Relationship Id="rId37" Type="http://schemas.openxmlformats.org/officeDocument/2006/relationships/font" Target="fonts/font37.fntdata"/><Relationship Id="rId38" Type="http://schemas.openxmlformats.org/officeDocument/2006/relationships/font" Target="fonts/font38.fntdata"/><Relationship Id="rId39" Type="http://schemas.openxmlformats.org/officeDocument/2006/relationships/font" Target="fonts/font39.fntdata"/><Relationship Id="rId40" Type="http://schemas.openxmlformats.org/officeDocument/2006/relationships/font" Target="fonts/font40.fntdata"/><Relationship Id="rId41" Type="http://schemas.openxmlformats.org/officeDocument/2006/relationships/font" Target="fonts/font41.fntdata"/><Relationship Id="rId42" Type="http://schemas.openxmlformats.org/officeDocument/2006/relationships/font" Target="fonts/font42.fntdata"/><Relationship Id="rId43" Type="http://schemas.openxmlformats.org/officeDocument/2006/relationships/font" Target="fonts/font43.fntdata"/><Relationship Id="rId44" Type="http://schemas.openxmlformats.org/officeDocument/2006/relationships/font" Target="fonts/font44.fntdata"/><Relationship Id="rId45" Type="http://schemas.openxmlformats.org/officeDocument/2006/relationships/font" Target="fonts/font45.fntdata"/><Relationship Id="rId46" Type="http://schemas.openxmlformats.org/officeDocument/2006/relationships/font" Target="fonts/font46.fntdata"/><Relationship Id="rId47" Type="http://schemas.openxmlformats.org/officeDocument/2006/relationships/font" Target="fonts/font47.fntdata"/><Relationship Id="rId48" Type="http://schemas.openxmlformats.org/officeDocument/2006/relationships/font" Target="fonts/font48.fntdata"/><Relationship Id="rId49" Type="http://schemas.openxmlformats.org/officeDocument/2006/relationships/font" Target="fonts/font49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3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4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5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Relationship Id="rId4" Type="http://schemas.openxmlformats.org/officeDocument/2006/relationships/image" Target="../media/image1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7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8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9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logo-kelly-alb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120" y="4617720"/>
            <a:ext cx="3931920" cy="93445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006840" y="4206240"/>
            <a:ext cx="12802" cy="169164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vm-rock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6960" y="4434840"/>
            <a:ext cx="4023360" cy="11524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tra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04720" y="2880360"/>
            <a:ext cx="1325880" cy="158305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011680" y="3246120"/>
            <a:ext cx="13716000" cy="2320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7600" i="0" b="0">
                <a:solidFill>
                  <a:srgbClr val="1C1C1A"/>
                </a:solidFill>
                <a:latin typeface="Outfit 1 Bold"/>
              </a:rPr>
              <a:t>REVELAÇÃO DE</a:t>
            </a:r>
          </a:p>
          <a:p>
            <a:pPr algn="l">
              <a:lnSpc>
                <a:spcPct val="106000"/>
              </a:lnSpc>
            </a:pPr>
            <a:r>
              <a:rPr sz="7600" i="0" b="0">
                <a:solidFill>
                  <a:srgbClr val="1C1C1A"/>
                </a:solidFill>
                <a:latin typeface="Outfit 1 Bold"/>
              </a:rPr>
              <a:t>ESSÊNCIA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5989320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6400800"/>
            <a:ext cx="12801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2 Light"/>
              </a:rPr>
              <a:t>Flávia Pereira Muccelin  |  Origem Identitária da Fundadora</a:t>
            </a:r>
          </a:p>
        </p:txBody>
      </p:sp>
      <p:pic>
        <p:nvPicPr>
          <p:cNvPr id="7" name="Picture 6" descr="logo-k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0" y="8092440"/>
            <a:ext cx="2148840" cy="2148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754880" y="8001000"/>
            <a:ext cx="10973" cy="77724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0" y="8065008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i="0" b="0">
                <a:solidFill>
                  <a:srgbClr val="1C1C1A"/>
                </a:solidFill>
                <a:latin typeface="Outfit 2 Light"/>
              </a:rPr>
              <a:t>Método Marca</a:t>
            </a:r>
          </a:p>
          <a:p>
            <a:pPr algn="l">
              <a:lnSpc>
                <a:spcPct val="125000"/>
              </a:lnSpc>
            </a:pPr>
            <a:r>
              <a:rPr sz="1700" i="0" b="0">
                <a:solidFill>
                  <a:srgbClr val="1C1C1A"/>
                </a:solidFill>
                <a:latin typeface="Outfit 2 Light"/>
              </a:rPr>
              <a:t>com Essência ©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35440" y="8001000"/>
            <a:ext cx="10973" cy="77724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0" y="8247888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i="0" b="0" spc="200">
                <a:solidFill>
                  <a:srgbClr val="1C1C1A"/>
                </a:solidFill>
                <a:latin typeface="Outfit 1"/>
              </a:rPr>
              <a:t>SETEMBRO/2026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5A49F"/>
                </a:solidFill>
                <a:latin typeface="Outfit 1"/>
              </a:rPr>
              <a:t>SUMÁRIO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240280"/>
            <a:ext cx="14264640" cy="911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400" i="0" b="0">
                <a:solidFill>
                  <a:srgbClr val="1C1C1A"/>
                </a:solidFill>
                <a:latin typeface="Outfit 2 Light"/>
              </a:rPr>
              <a:t>Sumário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3246120"/>
            <a:ext cx="122529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3557016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i="0" b="0" spc="240">
                <a:solidFill>
                  <a:srgbClr val="A9724A"/>
                </a:solidFill>
                <a:latin typeface="Outfit 2 Semi-Bol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29000" y="3447288"/>
            <a:ext cx="10607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2 Light"/>
              </a:rPr>
              <a:t>A origem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00" y="379476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A5A49F"/>
                </a:solidFill>
                <a:latin typeface="Outfit 2 Light"/>
              </a:rPr>
              <a:t>As experiências que formaram a visão de mundo da Flávia.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4114800"/>
            <a:ext cx="122529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4425696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i="0" b="0" spc="240">
                <a:solidFill>
                  <a:srgbClr val="A9724A"/>
                </a:solidFill>
                <a:latin typeface="Outfit 2 Semi-Bol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4315968"/>
            <a:ext cx="10607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2 Light"/>
              </a:rPr>
              <a:t>As tensões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466344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A5A49F"/>
                </a:solidFill>
                <a:latin typeface="Outfit 2 Light"/>
              </a:rPr>
              <a:t>Os momentos que a colocaram em movimento.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0" y="4983480"/>
            <a:ext cx="122529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11680" y="5294376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i="0" b="0" spc="240">
                <a:solidFill>
                  <a:srgbClr val="A9724A"/>
                </a:solidFill>
                <a:latin typeface="Outfit 2 Semi-Bol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9000" y="5184648"/>
            <a:ext cx="10607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2 Light"/>
              </a:rPr>
              <a:t>Os padrões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9000" y="55321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A5A49F"/>
                </a:solidFill>
                <a:latin typeface="Outfit 2 Light"/>
              </a:rPr>
              <a:t>A lógica que se repete ao longo da trajetória.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0" y="5852160"/>
            <a:ext cx="122529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11680" y="6163056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i="0" b="0" spc="240">
                <a:solidFill>
                  <a:srgbClr val="A9724A"/>
                </a:solidFill>
                <a:latin typeface="Outfit 2 Semi-Bol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29000" y="6053328"/>
            <a:ext cx="10607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2 Light"/>
              </a:rPr>
              <a:t>O Ikigai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9000" y="640080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A5A49F"/>
                </a:solidFill>
                <a:latin typeface="Outfit 2 Light"/>
              </a:rPr>
              <a:t>O que gera sentido e realização para a Flávia.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11680" y="6720840"/>
            <a:ext cx="122529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11680" y="7031736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i="0" b="0" spc="240">
                <a:solidFill>
                  <a:srgbClr val="A9724A"/>
                </a:solidFill>
                <a:latin typeface="Outfit 2 Semi-Bold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29000" y="6922008"/>
            <a:ext cx="10607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2 Light"/>
              </a:rPr>
              <a:t>A essência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29000" y="726948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A5A49F"/>
                </a:solidFill>
                <a:latin typeface="Outfit 2 Light"/>
              </a:rPr>
              <a:t>O princípio que conecta a sua história.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011680" y="7589520"/>
            <a:ext cx="122529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11680" y="7900416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i="0" b="0" spc="240">
                <a:solidFill>
                  <a:srgbClr val="A9724A"/>
                </a:solidFill>
                <a:latin typeface="Outfit 2 Semi-Bold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7790688"/>
            <a:ext cx="10607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2 Light"/>
              </a:rPr>
              <a:t>As marcas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29000" y="813816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A5A49F"/>
                </a:solidFill>
                <a:latin typeface="Outfit 2 Light"/>
              </a:rPr>
              <a:t>Como essa essência se manifesta na origem da Forma e da My Home.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011680" y="8458200"/>
            <a:ext cx="122529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4173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783080" y="9290304"/>
            <a:ext cx="6949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2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2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pic>
        <p:nvPicPr>
          <p:cNvPr id="33" name="Picture 32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33320" y="9235440"/>
            <a:ext cx="1572768" cy="15727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04-metodo.jpg"/>
          <p:cNvPicPr>
            <a:picLocks noChangeAspect="1"/>
          </p:cNvPicPr>
          <p:nvPr/>
        </p:nvPicPr>
        <p:blipFill>
          <a:blip r:embed="rId3"/>
          <a:srcRect l="22000" r="22000"/>
          <a:stretch>
            <a:fillRect/>
          </a:stretch>
        </p:blipFill>
        <p:spPr>
          <a:xfrm>
            <a:off x="0" y="0"/>
            <a:ext cx="768096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680960" y="0"/>
            <a:ext cx="1060704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5A49F"/>
                </a:solidFill>
                <a:latin typeface="Outfit 1"/>
              </a:rPr>
              <a:t>CONCEITO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2331720"/>
            <a:ext cx="8961120" cy="824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i="0" b="0">
                <a:solidFill>
                  <a:srgbClr val="1C1C1A"/>
                </a:solidFill>
                <a:latin typeface="Outfit 2 Light"/>
              </a:rPr>
              <a:t>Por que começamos pela essência?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0" y="3192780"/>
            <a:ext cx="896112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3816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0" y="9290304"/>
            <a:ext cx="8961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5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5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4023360"/>
            <a:ext cx="8961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2 Light"/>
              </a:rPr>
              <a:t>A Forma e a My Home são negócios distintos, mas nasceram e se desenvolveram a partir da visão de uma mesma fundadora.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5257800"/>
            <a:ext cx="89611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2 Light"/>
              </a:rPr>
              <a:t>Em marcas fortemente ligadas à fundadora, compreender a história de quem as criou ajuda a identificar crenças, princípios e formas de pensar e agir que influenciaram a construção dos negócios.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0" y="6858000"/>
            <a:ext cx="896112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7114032"/>
            <a:ext cx="8961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220">
                <a:solidFill>
                  <a:srgbClr val="A5A49F"/>
                </a:solidFill>
                <a:latin typeface="Outfit 2 Semi-Bold"/>
              </a:rPr>
              <a:t>O QUE NÃO 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7388352"/>
            <a:ext cx="8961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2 Light"/>
              </a:rPr>
              <a:t>Uma análise psicológica da Flávia.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8028432"/>
            <a:ext cx="8961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220">
                <a:solidFill>
                  <a:srgbClr val="A5A49F"/>
                </a:solidFill>
                <a:latin typeface="Outfit 2 Semi-Bold"/>
              </a:rPr>
              <a:t>O QUE 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8302752"/>
            <a:ext cx="8961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1C1C1A"/>
                </a:solidFill>
                <a:latin typeface="Outfit 2 Light"/>
              </a:rPr>
              <a:t>A investigação da origem identitária das marcas a partir da fundadora.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60704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5-pergunta.jpg"/>
          <p:cNvPicPr>
            <a:picLocks noChangeAspect="1"/>
          </p:cNvPicPr>
          <p:nvPr/>
        </p:nvPicPr>
        <p:blipFill>
          <a:blip r:embed="rId3"/>
          <a:srcRect t="12313" b="12313"/>
          <a:stretch>
            <a:fillRect/>
          </a:stretch>
        </p:blipFill>
        <p:spPr>
          <a:xfrm>
            <a:off x="10607040" y="0"/>
            <a:ext cx="768096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5A49F"/>
                </a:solidFill>
                <a:latin typeface="Outfit 1"/>
              </a:rPr>
              <a:t>A PERGUNTA QUE CONDUZ ESTA ETAPA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331720"/>
            <a:ext cx="7772400" cy="824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i="0" b="0">
                <a:solidFill>
                  <a:srgbClr val="1C1C1A"/>
                </a:solidFill>
                <a:latin typeface="Outfit 2 Light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3192780"/>
            <a:ext cx="77724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6459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9290304"/>
            <a:ext cx="77724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5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5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3931920"/>
            <a:ext cx="7772400" cy="19967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3588" i="0" b="0">
                <a:solidFill>
                  <a:srgbClr val="1C1C1A"/>
                </a:solidFill>
                <a:latin typeface="Outfit 2 Light"/>
              </a:rPr>
              <a:t>O que já fazia parte de quem</a:t>
            </a:r>
          </a:p>
          <a:p>
            <a:pPr algn="l">
              <a:lnSpc>
                <a:spcPct val="126000"/>
              </a:lnSpc>
            </a:pPr>
            <a:r>
              <a:rPr sz="3588" i="0" b="0">
                <a:solidFill>
                  <a:srgbClr val="1C1C1A"/>
                </a:solidFill>
                <a:latin typeface="Outfit 2 Light"/>
              </a:rPr>
              <a:t>a Flávia é antes da Forma</a:t>
            </a:r>
          </a:p>
          <a:p>
            <a:pPr algn="l">
              <a:lnSpc>
                <a:spcPct val="126000"/>
              </a:lnSpc>
            </a:pPr>
            <a:r>
              <a:rPr sz="3588" i="0" b="0">
                <a:solidFill>
                  <a:srgbClr val="1C1C1A"/>
                </a:solidFill>
                <a:latin typeface="Outfit 2 Light"/>
              </a:rPr>
              <a:t>e da My Home?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5A49F"/>
                </a:solidFill>
                <a:latin typeface="Outfit 1"/>
              </a:rPr>
              <a:t>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331720"/>
            <a:ext cx="14264640" cy="824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i="0" b="0">
                <a:solidFill>
                  <a:srgbClr val="1C1C1A"/>
                </a:solidFill>
                <a:latin typeface="Outfit 2 Light"/>
              </a:rPr>
              <a:t>Como chegamos à revelação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31927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173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83080" y="9290304"/>
            <a:ext cx="6949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2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2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pic>
        <p:nvPicPr>
          <p:cNvPr id="9" name="Picture 8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33320" y="9235440"/>
            <a:ext cx="1572768" cy="1572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011680" y="3886200"/>
            <a:ext cx="1280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2 Light"/>
              </a:rPr>
              <a:t>A essência não é definida por uma característica isolada. Ela se revela quando diferentes momentos da trajetória apresentam uma mesma lógica.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11680" y="5120640"/>
            <a:ext cx="30632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5376672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2 Light"/>
              </a:rPr>
              <a:t>História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5925312"/>
            <a:ext cx="3063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2 Light"/>
              </a:rPr>
              <a:t>Mostra as experiências e as referências que formaram a visão de mundo da Flávia.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77840" y="5120640"/>
            <a:ext cx="30632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77840" y="5376672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2 Light"/>
              </a:rPr>
              <a:t>Tensões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7840" y="5925312"/>
            <a:ext cx="3063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2 Light"/>
              </a:rPr>
              <a:t>Mostram os momentos em que aquilo que existia entrou em conflito com aquilo que ela desejava ou conseguia enxergar.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0" y="5120640"/>
            <a:ext cx="30632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0" y="5376672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2 Light"/>
              </a:rPr>
              <a:t>Padrões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5925312"/>
            <a:ext cx="3063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2 Light"/>
              </a:rPr>
              <a:t>Revelam como a Flávia responde, repetidamente, a essas situações.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2710160" y="5120640"/>
            <a:ext cx="30632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710160" y="5376672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2 Light"/>
              </a:rPr>
              <a:t>Ikigai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10160" y="5925312"/>
            <a:ext cx="3063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2 Light"/>
              </a:rPr>
              <a:t>Revela o que gera sentido, realização e vontade de contribuir.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7680960"/>
            <a:ext cx="14264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i="0" b="0">
                <a:solidFill>
                  <a:srgbClr val="6B6B66"/>
                </a:solidFill>
                <a:latin typeface="Outfit 2 Light"/>
              </a:rPr>
              <a:t>História</a:t>
            </a:r>
            <a:r>
              <a:rPr sz="2200" i="0" b="0">
                <a:solidFill>
                  <a:srgbClr val="A9724A"/>
                </a:solidFill>
                <a:latin typeface="Outfit 2 Light"/>
              </a:rPr>
              <a:t>  +  </a:t>
            </a:r>
            <a:r>
              <a:rPr sz="2200" i="0" b="0">
                <a:solidFill>
                  <a:srgbClr val="6B6B66"/>
                </a:solidFill>
                <a:latin typeface="Outfit 2 Light"/>
              </a:rPr>
              <a:t>tensões</a:t>
            </a:r>
            <a:r>
              <a:rPr sz="2200" i="0" b="0">
                <a:solidFill>
                  <a:srgbClr val="A9724A"/>
                </a:solidFill>
                <a:latin typeface="Outfit 2 Light"/>
              </a:rPr>
              <a:t>  +  </a:t>
            </a:r>
            <a:r>
              <a:rPr sz="2200" i="0" b="0">
                <a:solidFill>
                  <a:srgbClr val="6B6B66"/>
                </a:solidFill>
                <a:latin typeface="Outfit 2 Light"/>
              </a:rPr>
              <a:t>padrões</a:t>
            </a:r>
            <a:r>
              <a:rPr sz="2200" i="0" b="0">
                <a:solidFill>
                  <a:srgbClr val="A9724A"/>
                </a:solidFill>
                <a:latin typeface="Outfit 2 Light"/>
              </a:rPr>
              <a:t>  +  </a:t>
            </a:r>
            <a:r>
              <a:rPr sz="2200" i="0" b="0">
                <a:solidFill>
                  <a:srgbClr val="6B6B66"/>
                </a:solidFill>
                <a:latin typeface="Outfit 2 Light"/>
              </a:rPr>
              <a:t>Ikigai</a:t>
            </a:r>
            <a:r>
              <a:rPr sz="2200" i="0" b="0">
                <a:solidFill>
                  <a:srgbClr val="A9724A"/>
                </a:solidFill>
                <a:latin typeface="Outfit 2 Light"/>
              </a:rPr>
              <a:t>  =  </a:t>
            </a:r>
            <a:r>
              <a:rPr sz="2200" i="0" b="0">
                <a:solidFill>
                  <a:srgbClr val="1C1C1A"/>
                </a:solidFill>
                <a:latin typeface="Outfit 2 Semi-Bold"/>
              </a:rPr>
              <a:t>essência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8302752"/>
            <a:ext cx="1426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i="0" b="0">
                <a:solidFill>
                  <a:srgbClr val="A5A49F"/>
                </a:solidFill>
                <a:latin typeface="Outfit 2 Light"/>
              </a:rPr>
              <a:t>A essência é o princípio central que conecta essas dimensões e revela a lógica que orienta a forma como a Flávia enxerga, age e transforma.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9319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9724A"/>
                </a:solidFill>
                <a:latin typeface="Outfit 2 Semi-Bold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4389120"/>
            <a:ext cx="10972800" cy="106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i="0" b="0">
                <a:solidFill>
                  <a:srgbClr val="1C1C1A"/>
                </a:solidFill>
                <a:latin typeface="Outfit 2 Light"/>
              </a:rPr>
              <a:t>A origem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63550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173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83080" y="9290304"/>
            <a:ext cx="6949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2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2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pic>
        <p:nvPicPr>
          <p:cNvPr id="9" name="Picture 8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33320" y="9235440"/>
            <a:ext cx="1572768" cy="157276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09-origem.jpg"/>
          <p:cNvPicPr>
            <a:picLocks noChangeAspect="1"/>
          </p:cNvPicPr>
          <p:nvPr/>
        </p:nvPicPr>
        <p:blipFill>
          <a:blip r:embed="rId3"/>
          <a:srcRect t="12313" b="12313"/>
          <a:stretch>
            <a:fillRect/>
          </a:stretch>
        </p:blipFill>
        <p:spPr>
          <a:xfrm>
            <a:off x="0" y="0"/>
            <a:ext cx="768096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680960" y="0"/>
            <a:ext cx="1060704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5A49F"/>
                </a:solidFill>
                <a:latin typeface="Outfit 1"/>
              </a:rPr>
              <a:t>A ORIGEM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2331720"/>
            <a:ext cx="8961120" cy="824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i="0" b="0">
                <a:solidFill>
                  <a:srgbClr val="1C1C1A"/>
                </a:solidFill>
                <a:latin typeface="Outfit 2 Light"/>
              </a:rPr>
              <a:t>Onde essa história começa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0" y="3192780"/>
            <a:ext cx="896112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3816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0" y="9290304"/>
            <a:ext cx="8961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5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5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4069080"/>
            <a:ext cx="8961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2 Light"/>
              </a:rPr>
              <a:t>A história familiar da Flávia é marcada por limitações, trabalho, fé e recomeços.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5349240"/>
            <a:ext cx="8961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2 Light"/>
              </a:rPr>
              <a:t>A família deixou Guiratinga e foi para Primavera do Leste em busca de uma vida melhor. O pai da Flávia passou a trabalhar como caseiro justamente na propriedade onde, décadas depois, ela viveria como proprietária.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7269480"/>
            <a:ext cx="8961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2 Light"/>
              </a:rPr>
              <a:t>A Flávia chegou àquele lugar como “a filha do peão”.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03920" y="8092440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0" y="8321040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200">
                <a:solidFill>
                  <a:srgbClr val="A5A49F"/>
                </a:solidFill>
                <a:latin typeface="Outfit 2 Semi-Bold"/>
              </a:rPr>
              <a:t>TRABALHO   ·   FAMÍLIA   ·   FÉ   ·   HONESTIDADE   ·   GRATIDÃO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60704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0-primeiros-sinais.jpg"/>
          <p:cNvPicPr>
            <a:picLocks noChangeAspect="1"/>
          </p:cNvPicPr>
          <p:nvPr/>
        </p:nvPicPr>
        <p:blipFill>
          <a:blip r:embed="rId3"/>
          <a:srcRect t="12313" b="12313"/>
          <a:stretch>
            <a:fillRect/>
          </a:stretch>
        </p:blipFill>
        <p:spPr>
          <a:xfrm>
            <a:off x="10607040" y="0"/>
            <a:ext cx="768096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5A49F"/>
                </a:solidFill>
                <a:latin typeface="Outfit 1"/>
              </a:rPr>
              <a:t>A ORIGEM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331720"/>
            <a:ext cx="7772400" cy="824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i="0" b="0">
                <a:solidFill>
                  <a:srgbClr val="1C1C1A"/>
                </a:solidFill>
                <a:latin typeface="Outfit 2 Light"/>
              </a:rPr>
              <a:t>Os primeiros sinais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3192780"/>
            <a:ext cx="77724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6459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9290304"/>
            <a:ext cx="77724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5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5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023360"/>
            <a:ext cx="77724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2 Light"/>
              </a:rPr>
              <a:t>A vontade de construir uma realidade diferente aparece muito antes da criação das empresas.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5166360"/>
            <a:ext cx="777240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2 Light"/>
              </a:rPr>
              <a:t>Ainda criança, a Flávia acompanhava o pai no garimpo e chegou a cozinhar para os trabalhadores. Mais tarde, ia de bicicleta da chácara até o centro para trabalhar. Também estudava e jogava futsal para conquistar uma bolsa que ajudasse a manter a faculdade.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6903720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i="0" b="0">
                <a:solidFill>
                  <a:srgbClr val="A5A49F"/>
                </a:solidFill>
                <a:latin typeface="Outfit 2 Light"/>
              </a:rPr>
              <a:t>Ela mesma diz: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7159752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A9724A"/>
                </a:solidFill>
                <a:latin typeface="Outfit 2 Light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7214616"/>
            <a:ext cx="7315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2 Light"/>
              </a:rPr>
              <a:t>Eu não quero isso para mim.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7818120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i="0" b="0">
                <a:solidFill>
                  <a:srgbClr val="A5A49F"/>
                </a:solidFill>
                <a:latin typeface="Outfit 2 Light"/>
              </a:rPr>
              <a:t>E, mais tarde, ao perceber que o cargo limitaria o seu crescimento: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8074152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A9724A"/>
                </a:solidFill>
                <a:latin typeface="Outfit 2 Light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23160" y="8129016"/>
            <a:ext cx="7315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2 Light"/>
              </a:rPr>
              <a:t>Eu queria mais.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11-experiencias-1.jpg"/>
          <p:cNvPicPr>
            <a:picLocks noChangeAspect="1"/>
          </p:cNvPicPr>
          <p:nvPr/>
        </p:nvPicPr>
        <p:blipFill>
          <a:blip r:embed="rId3"/>
          <a:srcRect t="12313" b="12313"/>
          <a:stretch>
            <a:fillRect/>
          </a:stretch>
        </p:blipFill>
        <p:spPr>
          <a:xfrm>
            <a:off x="0" y="0"/>
            <a:ext cx="768096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680960" y="0"/>
            <a:ext cx="1060704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5A49F"/>
                </a:solidFill>
                <a:latin typeface="Outfit 1"/>
              </a:rPr>
              <a:t>A ORIGEM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2331720"/>
            <a:ext cx="8961120" cy="824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i="0" b="0">
                <a:solidFill>
                  <a:srgbClr val="1C1C1A"/>
                </a:solidFill>
                <a:latin typeface="Outfit 2 Light"/>
              </a:rPr>
              <a:t>As experiências que a formaram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0" y="3192780"/>
            <a:ext cx="896112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3816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0" y="9290304"/>
            <a:ext cx="8961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5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5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03920" y="3931920"/>
            <a:ext cx="896112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0" y="4206240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i="0" b="0" spc="240">
                <a:solidFill>
                  <a:srgbClr val="A9724A"/>
                </a:solidFill>
                <a:latin typeface="Outfit 2 Semi-Bold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64040" y="4114800"/>
            <a:ext cx="8001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2 Light"/>
              </a:rPr>
              <a:t>A escassez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64040" y="4645152"/>
            <a:ext cx="8001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2 Light"/>
              </a:rPr>
              <a:t>A Flávia cresceu em uma realidade de poucos recursos.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64040" y="5577840"/>
            <a:ext cx="8001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220">
                <a:solidFill>
                  <a:srgbClr val="A5A49F"/>
                </a:solidFill>
                <a:latin typeface="Outfit 2 Semi-Bold"/>
              </a:rPr>
              <a:t>O QUE ISSO REVELA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64040" y="5833872"/>
            <a:ext cx="8001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1C1C1A"/>
                </a:solidFill>
                <a:latin typeface="Outfit 2 Light"/>
              </a:rPr>
              <a:t>A vontade de ampliar possibilidades e não aceitar a condição presente como limite.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6446520"/>
            <a:ext cx="896112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03920" y="6720840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i="0" b="0" spc="240">
                <a:solidFill>
                  <a:srgbClr val="A9724A"/>
                </a:solidFill>
                <a:latin typeface="Outfit 2 Semi-Bold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64040" y="6629400"/>
            <a:ext cx="8001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2 Light"/>
              </a:rPr>
              <a:t>O portão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64040" y="7159752"/>
            <a:ext cx="8001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2 Light"/>
              </a:rPr>
              <a:t>Ainda adolescente, a Flávia entrava escondida na casa dos donos da fazenda onde o pai trabalhava e se imaginava vivendo aquela realidade. Anos depois, tornou-se proprietária daquele mesmo lugar.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8092440"/>
            <a:ext cx="8001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220">
                <a:solidFill>
                  <a:srgbClr val="A5A49F"/>
                </a:solidFill>
                <a:latin typeface="Outfit 2 Semi-Bold"/>
              </a:rPr>
              <a:t>O QUE ISSO REVELA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64040" y="8348472"/>
            <a:ext cx="8001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1C1C1A"/>
                </a:solidFill>
                <a:latin typeface="Outfit 2 Light"/>
              </a:rPr>
              <a:t>A capacidade de se enxergar dentro de uma realidade antes de ela existir concretamente.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60704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2-experiencias-2.jpg"/>
          <p:cNvPicPr>
            <a:picLocks noChangeAspect="1"/>
          </p:cNvPicPr>
          <p:nvPr/>
        </p:nvPicPr>
        <p:blipFill>
          <a:blip r:embed="rId3"/>
          <a:srcRect t="12313" b="12313"/>
          <a:stretch>
            <a:fillRect/>
          </a:stretch>
        </p:blipFill>
        <p:spPr>
          <a:xfrm>
            <a:off x="10607040" y="0"/>
            <a:ext cx="768096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5A49F"/>
                </a:solidFill>
                <a:latin typeface="Outfit 1"/>
              </a:rPr>
              <a:t>A ORIGEM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331720"/>
            <a:ext cx="7772400" cy="824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i="0" b="0">
                <a:solidFill>
                  <a:srgbClr val="1C1C1A"/>
                </a:solidFill>
                <a:latin typeface="Outfit 2 Light"/>
              </a:rPr>
              <a:t>As experiências que a formaram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3192780"/>
            <a:ext cx="77724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6459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9290304"/>
            <a:ext cx="77724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5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5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3931920"/>
            <a:ext cx="77724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4206240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i="0" b="0" spc="240">
                <a:solidFill>
                  <a:srgbClr val="A9724A"/>
                </a:solidFill>
                <a:latin typeface="Outfit 2 Semi-Bold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1800" y="4114800"/>
            <a:ext cx="6812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2 Light"/>
              </a:rPr>
              <a:t>O trabalho e o estudo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71800" y="4645152"/>
            <a:ext cx="68122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2 Light"/>
              </a:rPr>
              <a:t>Trabalho, faculdade, bicicleta e futsal como caminho para conquistar uma bolsa de estudos.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71800" y="5577840"/>
            <a:ext cx="6812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220">
                <a:solidFill>
                  <a:srgbClr val="A5A49F"/>
                </a:solidFill>
                <a:latin typeface="Outfit 2 Semi-Bold"/>
              </a:rPr>
              <a:t>O QUE ISSO REVELA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1800" y="5833872"/>
            <a:ext cx="6812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1C1C1A"/>
                </a:solidFill>
                <a:latin typeface="Outfit 2 Light"/>
              </a:rPr>
              <a:t>Para a Flávia, enxergar uma possibilidade exige movimento para torná-la real.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0" y="6446520"/>
            <a:ext cx="77724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11680" y="6720840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i="0" b="0" spc="240">
                <a:solidFill>
                  <a:srgbClr val="A9724A"/>
                </a:solidFill>
                <a:latin typeface="Outfit 2 Semi-Bold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71800" y="6629400"/>
            <a:ext cx="6812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2 Light"/>
              </a:rPr>
              <a:t>A trajetória dos pais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71800" y="7159752"/>
            <a:ext cx="68122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2 Light"/>
              </a:rPr>
              <a:t>A Flávia cresceu vendo os pais recomeçarem sem abandonar a honestidade, a fé, o trabalho e a família.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71800" y="8092440"/>
            <a:ext cx="6812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220">
                <a:solidFill>
                  <a:srgbClr val="A5A49F"/>
                </a:solidFill>
                <a:latin typeface="Outfit 2 Semi-Bold"/>
              </a:rPr>
              <a:t>O QUE ISSO REVELA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71800" y="8348472"/>
            <a:ext cx="6812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1C1C1A"/>
                </a:solidFill>
                <a:latin typeface="Outfit 2 Light"/>
              </a:rPr>
              <a:t>A forma de construir importa tanto quanto aquilo que é conquistado.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9319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9724A"/>
                </a:solidFill>
                <a:latin typeface="Outfit 2 Semi-Bold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4389120"/>
            <a:ext cx="10972800" cy="106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i="0" b="0">
                <a:solidFill>
                  <a:srgbClr val="1C1C1A"/>
                </a:solidFill>
                <a:latin typeface="Outfit 2 Light"/>
              </a:rPr>
              <a:t>As tensões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63550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173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83080" y="9290304"/>
            <a:ext cx="6949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2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2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pic>
        <p:nvPicPr>
          <p:cNvPr id="9" name="Picture 8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33320" y="9235440"/>
            <a:ext cx="1572768" cy="157276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14-tensoes.jpg"/>
          <p:cNvPicPr>
            <a:picLocks noChangeAspect="1"/>
          </p:cNvPicPr>
          <p:nvPr/>
        </p:nvPicPr>
        <p:blipFill>
          <a:blip r:embed="rId3"/>
          <a:srcRect t="12314" b="12314"/>
          <a:stretch>
            <a:fillRect/>
          </a:stretch>
        </p:blipFill>
        <p:spPr>
          <a:xfrm>
            <a:off x="0" y="0"/>
            <a:ext cx="768096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680960" y="0"/>
            <a:ext cx="1060704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5A49F"/>
                </a:solidFill>
                <a:latin typeface="Outfit 1"/>
              </a:rPr>
              <a:t>AS TENSÕES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2331720"/>
            <a:ext cx="8961120" cy="824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i="0" b="0">
                <a:solidFill>
                  <a:srgbClr val="1C1C1A"/>
                </a:solidFill>
                <a:latin typeface="Outfit 2 Light"/>
              </a:rPr>
              <a:t>As tensões que a colocaram em movimento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0" y="3192780"/>
            <a:ext cx="896112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3816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0" y="9290304"/>
            <a:ext cx="8961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5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5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3931920"/>
            <a:ext cx="8961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i="0" b="0">
                <a:solidFill>
                  <a:srgbClr val="A5A49F"/>
                </a:solidFill>
                <a:latin typeface="Outfit 2 Light"/>
              </a:rPr>
              <a:t>Existe uma lógica recorrente na trajetória da Flávia.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03920" y="4434840"/>
            <a:ext cx="896112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0" y="4690872"/>
            <a:ext cx="376367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220">
                <a:solidFill>
                  <a:srgbClr val="A5A49F"/>
                </a:solidFill>
                <a:latin typeface="Outfit 2 Semi-Bold"/>
              </a:rPr>
              <a:t>A REALIDADE DIZIA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4983480"/>
            <a:ext cx="492861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1" b="0">
                <a:solidFill>
                  <a:srgbClr val="6B6B66"/>
                </a:solidFill>
                <a:latin typeface="Outfit 2 Light"/>
              </a:rPr>
              <a:t>“Essa é a sua condição.”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880592" y="5020056"/>
            <a:ext cx="274320" cy="1280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597482" y="4892040"/>
            <a:ext cx="2867558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1C1C1A"/>
                </a:solidFill>
                <a:latin typeface="Outfit 2 Light"/>
              </a:rPr>
              <a:t>A Flávia enxergava outra.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5440680"/>
            <a:ext cx="896112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03920" y="5696712"/>
            <a:ext cx="376367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220">
                <a:solidFill>
                  <a:srgbClr val="A5A49F"/>
                </a:solidFill>
                <a:latin typeface="Outfit 2 Semi-Bold"/>
              </a:rPr>
              <a:t>O CARGO DIZIA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5989320"/>
            <a:ext cx="492861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1" b="0">
                <a:solidFill>
                  <a:srgbClr val="6B6B66"/>
                </a:solidFill>
                <a:latin typeface="Outfit 2 Light"/>
              </a:rPr>
              <a:t>“Até aqui você pode chegar.”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880592" y="6025896"/>
            <a:ext cx="274320" cy="1280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597482" y="5897880"/>
            <a:ext cx="2867558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1C1C1A"/>
                </a:solidFill>
                <a:latin typeface="Outfit 2 Light"/>
              </a:rPr>
              <a:t>A Flávia queria mais.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6446520"/>
            <a:ext cx="896112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03920" y="6702552"/>
            <a:ext cx="376367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220">
                <a:solidFill>
                  <a:srgbClr val="A5A49F"/>
                </a:solidFill>
                <a:latin typeface="Outfit 2 Semi-Bold"/>
              </a:rPr>
              <a:t>AS MARCAS PRONTAS DIZIAM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995160"/>
            <a:ext cx="492861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1" b="0">
                <a:solidFill>
                  <a:srgbClr val="6B6B66"/>
                </a:solidFill>
                <a:latin typeface="Outfit 2 Light"/>
              </a:rPr>
              <a:t>“É assim que deve ser feito.”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880592" y="7031736"/>
            <a:ext cx="274320" cy="1280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597482" y="6903720"/>
            <a:ext cx="2867558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1C1C1A"/>
                </a:solidFill>
                <a:latin typeface="Outfit 2 Light"/>
              </a:rPr>
              <a:t>A Flávia queria fazer do seu jeito.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503920" y="7452360"/>
            <a:ext cx="896112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60704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4-tensoes.jpg"/>
          <p:cNvPicPr>
            <a:picLocks noChangeAspect="1"/>
          </p:cNvPicPr>
          <p:nvPr/>
        </p:nvPicPr>
        <p:blipFill>
          <a:blip r:embed="rId3"/>
          <a:srcRect t="12314" b="12314"/>
          <a:stretch>
            <a:fillRect/>
          </a:stretch>
        </p:blipFill>
        <p:spPr>
          <a:xfrm>
            <a:off x="10607040" y="0"/>
            <a:ext cx="768096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5A49F"/>
                </a:solidFill>
                <a:latin typeface="Outfit 1"/>
              </a:rPr>
              <a:t>AS TENSÕES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331720"/>
            <a:ext cx="7772400" cy="824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i="0" b="0">
                <a:solidFill>
                  <a:srgbClr val="1C1C1A"/>
                </a:solidFill>
                <a:latin typeface="Outfit 2 Light"/>
              </a:rPr>
              <a:t>As tensões que a colocaram em movimento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3192780"/>
            <a:ext cx="77724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6459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9290304"/>
            <a:ext cx="77724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5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5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4069080"/>
            <a:ext cx="77724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4325112"/>
            <a:ext cx="32644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220">
                <a:solidFill>
                  <a:srgbClr val="A5A49F"/>
                </a:solidFill>
                <a:latin typeface="Outfit 2 Semi-Bold"/>
              </a:rPr>
              <a:t>A MATERNIDADE EXIGIU UMA ESCOLHA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4617720"/>
            <a:ext cx="42748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2 Light"/>
              </a:rPr>
              <a:t>Conciliar a maternidade e o empreendedorismo não era possível como ela desejava naquele momento.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0" y="4654296"/>
            <a:ext cx="274320" cy="1280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96912" y="4526280"/>
            <a:ext cx="248716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1C1C1A"/>
                </a:solidFill>
                <a:latin typeface="Outfit 2 Light"/>
              </a:rPr>
              <a:t>Ela parou e, anos depois, construiu um caminho de volta.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11680" y="5303520"/>
            <a:ext cx="77724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11680" y="5559552"/>
            <a:ext cx="32644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220">
                <a:solidFill>
                  <a:srgbClr val="A5A49F"/>
                </a:solidFill>
                <a:latin typeface="Outfit 2 Semi-Bold"/>
              </a:rPr>
              <a:t>AS SOBRAS TINHAM UM DESTINO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5852160"/>
            <a:ext cx="42748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1" b="0">
                <a:solidFill>
                  <a:srgbClr val="6B6B66"/>
                </a:solidFill>
                <a:latin typeface="Outfit 2 Light"/>
              </a:rPr>
              <a:t>“O descarte.”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75120" y="5888736"/>
            <a:ext cx="274320" cy="1280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96912" y="5760720"/>
            <a:ext cx="2487168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1C1C1A"/>
                </a:solidFill>
                <a:latin typeface="Outfit 2 Light"/>
              </a:rPr>
              <a:t>A Flávia enxergou matéria para uma nova criação.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11680" y="6309360"/>
            <a:ext cx="77724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11680" y="6601968"/>
            <a:ext cx="7772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1C1C1A"/>
                </a:solidFill>
                <a:latin typeface="Outfit 2 Light"/>
              </a:rPr>
              <a:t>Quando aquilo que está dado não corresponde ao que a Flávia enxerga como possível, ela entra em movimento.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9319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9724A"/>
                </a:solidFill>
                <a:latin typeface="Outfit 2 Semi-Bold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4389120"/>
            <a:ext cx="10972800" cy="106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i="0" b="0">
                <a:solidFill>
                  <a:srgbClr val="1C1C1A"/>
                </a:solidFill>
                <a:latin typeface="Outfit 2 Light"/>
              </a:rPr>
              <a:t>Os padrões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63550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173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83080" y="9290304"/>
            <a:ext cx="6949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2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2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pic>
        <p:nvPicPr>
          <p:cNvPr id="9" name="Picture 8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33320" y="9235440"/>
            <a:ext cx="1572768" cy="157276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16-padrao-invisivel.jpg"/>
          <p:cNvPicPr>
            <a:picLocks noChangeAspect="1"/>
          </p:cNvPicPr>
          <p:nvPr/>
        </p:nvPicPr>
        <p:blipFill>
          <a:blip r:embed="rId3"/>
          <a:srcRect l="28989" r="28989"/>
          <a:stretch>
            <a:fillRect/>
          </a:stretch>
        </p:blipFill>
        <p:spPr>
          <a:xfrm>
            <a:off x="0" y="0"/>
            <a:ext cx="768096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680960" y="0"/>
            <a:ext cx="1060704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5A49F"/>
                </a:solidFill>
                <a:latin typeface="Outfit 1"/>
              </a:rPr>
              <a:t>OS PADRÕES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2331720"/>
            <a:ext cx="8961120" cy="824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i="0" b="0">
                <a:solidFill>
                  <a:srgbClr val="1C1C1A"/>
                </a:solidFill>
                <a:latin typeface="Outfit 2 Light"/>
              </a:rPr>
              <a:t>O padrão invisível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0" y="3192780"/>
            <a:ext cx="896112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3816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0" y="9290304"/>
            <a:ext cx="8961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5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5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3977640"/>
            <a:ext cx="8961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i="0" b="0">
                <a:solidFill>
                  <a:srgbClr val="A5A49F"/>
                </a:solidFill>
                <a:latin typeface="Outfit 2 Light"/>
              </a:rPr>
              <a:t>As situações são diferentes. A resposta da Flávia segue a mesma lógica.</a:t>
            </a:r>
          </a:p>
        </p:txBody>
      </p:sp>
      <p:sp>
        <p:nvSpPr>
          <p:cNvPr id="11" name="Oval 10"/>
          <p:cNvSpPr/>
          <p:nvPr/>
        </p:nvSpPr>
        <p:spPr>
          <a:xfrm>
            <a:off x="8503920" y="4718304"/>
            <a:ext cx="91440" cy="91440"/>
          </a:xfrm>
          <a:prstGeom prst="ellipse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0" y="4617720"/>
            <a:ext cx="8503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2 Light"/>
              </a:rPr>
              <a:t>Ela encontra uma realidade ou um limite.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49640" y="4965192"/>
            <a:ext cx="14630" cy="50292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03920" y="5742432"/>
            <a:ext cx="91440" cy="91440"/>
          </a:xfrm>
          <a:prstGeom prst="ellipse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0" y="5641848"/>
            <a:ext cx="8503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2 Light"/>
              </a:rPr>
              <a:t>Enxerga que aquilo pode ser diferente.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49640" y="5989320"/>
            <a:ext cx="14630" cy="50292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503920" y="6766560"/>
            <a:ext cx="91440" cy="91440"/>
          </a:xfrm>
          <a:prstGeom prst="ellipse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0" y="6665976"/>
            <a:ext cx="8503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2 Light"/>
              </a:rPr>
              <a:t>Constrói um caminho para transformar essa possibilidade em realidade.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03920" y="7863840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8101584"/>
            <a:ext cx="8961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2 Light"/>
              </a:rPr>
              <a:t>O padrão está na forma como a Flávia responde quando percebe que existe uma possibilidade além daquilo que está dado.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60704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8-movimento.jpg"/>
          <p:cNvPicPr>
            <a:picLocks noChangeAspect="1"/>
          </p:cNvPicPr>
          <p:nvPr/>
        </p:nvPicPr>
        <p:blipFill>
          <a:blip r:embed="rId3"/>
          <a:srcRect t="12313" b="12313"/>
          <a:stretch>
            <a:fillRect/>
          </a:stretch>
        </p:blipFill>
        <p:spPr>
          <a:xfrm>
            <a:off x="10607040" y="0"/>
            <a:ext cx="768096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5A49F"/>
                </a:solidFill>
                <a:latin typeface="Outfit 1"/>
              </a:rPr>
              <a:t>OS PADRÕES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331720"/>
            <a:ext cx="7772400" cy="824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i="0" b="0">
                <a:solidFill>
                  <a:srgbClr val="1C1C1A"/>
                </a:solidFill>
                <a:latin typeface="Outfit 2 Light"/>
              </a:rPr>
              <a:t>O movimento que se repete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3192780"/>
            <a:ext cx="77724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6459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9290304"/>
            <a:ext cx="77724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5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5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sp>
        <p:nvSpPr>
          <p:cNvPr id="10" name="Oval 9"/>
          <p:cNvSpPr/>
          <p:nvPr/>
        </p:nvSpPr>
        <p:spPr>
          <a:xfrm>
            <a:off x="2016252" y="3991356"/>
            <a:ext cx="82296" cy="82296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0" y="3886200"/>
            <a:ext cx="73152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1C1C1A"/>
                </a:solidFill>
                <a:latin typeface="Outfit 2 Light"/>
              </a:rPr>
              <a:t>Enxerga a realidade como ela 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57400" y="4178808"/>
            <a:ext cx="12802" cy="310896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016252" y="4704588"/>
            <a:ext cx="82296" cy="82296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8880" y="4599432"/>
            <a:ext cx="73152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1C1C1A"/>
                </a:solidFill>
                <a:latin typeface="Outfit 2 Light"/>
              </a:rPr>
              <a:t>Percebe que aquilo não precisa ser definitivo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57400" y="4892040"/>
            <a:ext cx="12802" cy="310896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016252" y="5417820"/>
            <a:ext cx="82296" cy="82296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68880" y="5312664"/>
            <a:ext cx="73152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1C1C1A"/>
                </a:solidFill>
                <a:latin typeface="Outfit 2 Light"/>
              </a:rPr>
              <a:t>Enxerga outra possibilidade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57400" y="5605272"/>
            <a:ext cx="12802" cy="310896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016252" y="6131052"/>
            <a:ext cx="82296" cy="82296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0" y="6025896"/>
            <a:ext cx="73152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1C1C1A"/>
                </a:solidFill>
                <a:latin typeface="Outfit 2 Light"/>
              </a:rPr>
              <a:t>Procura um caminho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57400" y="6318504"/>
            <a:ext cx="12802" cy="310896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016252" y="6844284"/>
            <a:ext cx="82296" cy="82296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68880" y="6739128"/>
            <a:ext cx="73152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1C1C1A"/>
                </a:solidFill>
                <a:latin typeface="Outfit 2 Light"/>
              </a:rPr>
              <a:t>Busca conhecimento, mobiliza pessoas e recursos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57400" y="7031736"/>
            <a:ext cx="12802" cy="310896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016252" y="7557516"/>
            <a:ext cx="82296" cy="82296"/>
          </a:xfrm>
          <a:prstGeom prst="ellipse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68880" y="7452360"/>
            <a:ext cx="73152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1C1C1A"/>
                </a:solidFill>
                <a:latin typeface="Outfit 2 Light"/>
              </a:rPr>
              <a:t>Transforma a possibilidade em realidade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011680" y="7882128"/>
            <a:ext cx="77724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011680" y="8046720"/>
            <a:ext cx="7772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i="0" b="0">
                <a:solidFill>
                  <a:srgbClr val="1C1C1A"/>
                </a:solidFill>
                <a:latin typeface="Outfit 2 Light"/>
              </a:rPr>
              <a:t>Enxergar além</a:t>
            </a:r>
            <a:r>
              <a:rPr sz="2200" i="0" b="0">
                <a:solidFill>
                  <a:srgbClr val="A9724A"/>
                </a:solidFill>
                <a:latin typeface="Outfit 2 Light"/>
              </a:rPr>
              <a:t>  →  </a:t>
            </a:r>
            <a:r>
              <a:rPr sz="2200" i="0" b="0">
                <a:solidFill>
                  <a:srgbClr val="1C1C1A"/>
                </a:solidFill>
                <a:latin typeface="Outfit 2 Light"/>
              </a:rPr>
              <a:t>colocar em movimento</a:t>
            </a:r>
            <a:r>
              <a:rPr sz="2200" i="0" b="0">
                <a:solidFill>
                  <a:srgbClr val="A9724A"/>
                </a:solidFill>
                <a:latin typeface="Outfit 2 Light"/>
              </a:rPr>
              <a:t>  →  </a:t>
            </a:r>
            <a:r>
              <a:rPr sz="2200" i="0" b="0">
                <a:solidFill>
                  <a:srgbClr val="1C1C1A"/>
                </a:solidFill>
                <a:latin typeface="Outfit 2 Light"/>
              </a:rPr>
              <a:t>fazer existir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83464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5A49F"/>
                </a:solidFill>
                <a:latin typeface="Outfit 1"/>
              </a:rPr>
              <a:t>OS PADRÕES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3291840"/>
            <a:ext cx="11887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A5A49F"/>
                </a:solidFill>
                <a:latin typeface="Outfit 2 Light"/>
              </a:rPr>
              <a:t>Ao longo da sua trajetória, a Flávia repete um mesmo movimento: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3977640"/>
            <a:ext cx="13898880" cy="1746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4600" i="0" b="0">
                <a:solidFill>
                  <a:srgbClr val="1C1C1A"/>
                </a:solidFill>
                <a:latin typeface="Outfit 2 Light"/>
              </a:rPr>
              <a:t>A Flávia não aceita que aquilo que</a:t>
            </a:r>
          </a:p>
          <a:p>
            <a:pPr algn="l">
              <a:lnSpc>
                <a:spcPct val="126000"/>
              </a:lnSpc>
            </a:pPr>
            <a:r>
              <a:rPr sz="4600" i="0" b="0">
                <a:solidFill>
                  <a:srgbClr val="1C1C1A"/>
                </a:solidFill>
                <a:latin typeface="Outfit 2 Light"/>
              </a:rPr>
              <a:t>existe determine aquilo que pode existir.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7360920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4173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83080" y="9290304"/>
            <a:ext cx="6949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2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2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pic>
        <p:nvPicPr>
          <p:cNvPr id="10" name="Picture 9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33320" y="9235440"/>
            <a:ext cx="1572768" cy="157276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9319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9724A"/>
                </a:solidFill>
                <a:latin typeface="Outfit 2 Semi-Bold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4389120"/>
            <a:ext cx="10972800" cy="106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i="0" b="0">
                <a:solidFill>
                  <a:srgbClr val="1C1C1A"/>
                </a:solidFill>
                <a:latin typeface="Outfit 2 Light"/>
              </a:rPr>
              <a:t>O Ikigai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63550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173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83080" y="9290304"/>
            <a:ext cx="6949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2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2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pic>
        <p:nvPicPr>
          <p:cNvPr id="9" name="Picture 8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33320" y="9235440"/>
            <a:ext cx="1572768" cy="157276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20-ikigai.jpg"/>
          <p:cNvPicPr>
            <a:picLocks noChangeAspect="1"/>
          </p:cNvPicPr>
          <p:nvPr/>
        </p:nvPicPr>
        <p:blipFill>
          <a:blip r:embed="rId3"/>
          <a:srcRect t="12313" b="12313"/>
          <a:stretch>
            <a:fillRect/>
          </a:stretch>
        </p:blipFill>
        <p:spPr>
          <a:xfrm>
            <a:off x="0" y="0"/>
            <a:ext cx="768096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680960" y="0"/>
            <a:ext cx="1060704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5A49F"/>
                </a:solidFill>
                <a:latin typeface="Outfit 1"/>
              </a:rPr>
              <a:t>O IKIGAI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2331720"/>
            <a:ext cx="8961120" cy="824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i="0" b="0">
                <a:solidFill>
                  <a:srgbClr val="1C1C1A"/>
                </a:solidFill>
                <a:latin typeface="Outfit 2 Light"/>
              </a:rPr>
              <a:t>O que move a Flávia?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0" y="3192780"/>
            <a:ext cx="896112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3816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0" y="9290304"/>
            <a:ext cx="8961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5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5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4023360"/>
            <a:ext cx="8961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2 Light"/>
              </a:rPr>
              <a:t>Até aqui, a história revelou como a Flávia responde à realidade e entra em movimento. O Ikigai acrescenta outra dimensão: o que faz esse movimento ter sentido para ela.</a:t>
            </a:r>
          </a:p>
        </p:txBody>
      </p:sp>
      <p:sp>
        <p:nvSpPr>
          <p:cNvPr id="11" name="Oval 10"/>
          <p:cNvSpPr/>
          <p:nvPr/>
        </p:nvSpPr>
        <p:spPr>
          <a:xfrm>
            <a:off x="8508492" y="5637276"/>
            <a:ext cx="82296" cy="82296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0" y="5532120"/>
            <a:ext cx="8503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2 Light"/>
              </a:rPr>
              <a:t>O que a Flávia ama?</a:t>
            </a:r>
          </a:p>
        </p:txBody>
      </p:sp>
      <p:sp>
        <p:nvSpPr>
          <p:cNvPr id="13" name="Oval 12"/>
          <p:cNvSpPr/>
          <p:nvPr/>
        </p:nvSpPr>
        <p:spPr>
          <a:xfrm>
            <a:off x="8508492" y="6185916"/>
            <a:ext cx="82296" cy="82296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0" y="6080760"/>
            <a:ext cx="8503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2 Light"/>
              </a:rPr>
              <a:t>No que reconhece as suas forças?</a:t>
            </a:r>
          </a:p>
        </p:txBody>
      </p:sp>
      <p:sp>
        <p:nvSpPr>
          <p:cNvPr id="15" name="Oval 14"/>
          <p:cNvSpPr/>
          <p:nvPr/>
        </p:nvSpPr>
        <p:spPr>
          <a:xfrm>
            <a:off x="8508492" y="6734556"/>
            <a:ext cx="82296" cy="82296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0" y="6629400"/>
            <a:ext cx="8503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2 Light"/>
              </a:rPr>
              <a:t>Onde encontra realização?</a:t>
            </a:r>
          </a:p>
        </p:txBody>
      </p:sp>
      <p:sp>
        <p:nvSpPr>
          <p:cNvPr id="17" name="Oval 16"/>
          <p:cNvSpPr/>
          <p:nvPr/>
        </p:nvSpPr>
        <p:spPr>
          <a:xfrm>
            <a:off x="8508492" y="7283196"/>
            <a:ext cx="82296" cy="82296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0" y="7178040"/>
            <a:ext cx="8503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2 Light"/>
              </a:rPr>
              <a:t>Como deseja contribuir para outras pessoas?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03920" y="7863840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8119872"/>
            <a:ext cx="8961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2 Light"/>
              </a:rPr>
              <a:t>Não buscamos apenas aquilo que ela gosta de fazer, e sim o que faz uma realização ter significado para a Flávia.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5A49F"/>
                </a:solidFill>
                <a:latin typeface="Outfit 1"/>
              </a:rPr>
              <a:t>O IKIGAI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331720"/>
            <a:ext cx="14264640" cy="824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i="0" b="0">
                <a:solidFill>
                  <a:srgbClr val="1C1C1A"/>
                </a:solidFill>
                <a:latin typeface="Outfit 2 Light"/>
              </a:rPr>
              <a:t>O mapa do Ikigai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31927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173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83080" y="9290304"/>
            <a:ext cx="6949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2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2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pic>
        <p:nvPicPr>
          <p:cNvPr id="9" name="Picture 8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33320" y="9235440"/>
            <a:ext cx="1572768" cy="1572768"/>
          </a:xfrm>
          <a:prstGeom prst="rect">
            <a:avLst/>
          </a:prstGeom>
        </p:spPr>
      </p:pic>
      <p:pic>
        <p:nvPicPr>
          <p:cNvPr id="10" name="Picture 9" descr="simbolo-ikiga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041880" y="1874520"/>
            <a:ext cx="1188720" cy="118872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2011680" y="4069080"/>
            <a:ext cx="30632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4343400"/>
            <a:ext cx="3063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2 Light"/>
              </a:rPr>
              <a:t>O que a Flávia ama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5303520"/>
            <a:ext cx="30632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2 Light"/>
              </a:rPr>
              <a:t>A família. As pessoas. Os momentos de qualidade. As conversas e as trocas verdadeiras. As conexões.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77840" y="4069080"/>
            <a:ext cx="30632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77840" y="4343400"/>
            <a:ext cx="3063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2 Light"/>
              </a:rPr>
              <a:t>No que a Flávia é boa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7840" y="5303520"/>
            <a:ext cx="30632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2 Light"/>
              </a:rPr>
              <a:t>No conhecimento que construiu. Na persuasão. Na seriedade. Na persistência. No domínio daquilo que vende. Na capacidade de envolver pessoas.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0" y="4069080"/>
            <a:ext cx="30632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0" y="4343400"/>
            <a:ext cx="3063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2 Light"/>
              </a:rPr>
              <a:t>Como a Flávia gosta de contribuir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5303520"/>
            <a:ext cx="30632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2 Light"/>
              </a:rPr>
              <a:t>Sendo útil. Compartilhando conhecimentos e experiências. Ajudando pessoas e empresários. Criando oportunidades. Fazendo diferença na vida das pessoas.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2710160" y="4069080"/>
            <a:ext cx="30632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710160" y="4343400"/>
            <a:ext cx="3063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2 Light"/>
              </a:rPr>
              <a:t>Onde a Flávia encontra realização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10160" y="5303520"/>
            <a:ext cx="30632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2 Light"/>
              </a:rPr>
              <a:t>Ao ver algo ganhar forma. Ao transformar matéria em algo de valor. Ao perceber a alegria do cliente. Ao ver o sonho de outra pessoa se tornar concreto. Ao saber que aquilo que construiu também ampliou as possibilidades de alguém.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60704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23-centro-ikigai.jpg"/>
          <p:cNvPicPr>
            <a:picLocks noChangeAspect="1"/>
          </p:cNvPicPr>
          <p:nvPr/>
        </p:nvPicPr>
        <p:blipFill>
          <a:blip r:embed="rId3"/>
          <a:srcRect t="12313" b="12313"/>
          <a:stretch>
            <a:fillRect/>
          </a:stretch>
        </p:blipFill>
        <p:spPr>
          <a:xfrm>
            <a:off x="10607040" y="0"/>
            <a:ext cx="768096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5A49F"/>
                </a:solidFill>
                <a:latin typeface="Outfit 1"/>
              </a:rPr>
              <a:t>O IKIGAI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331720"/>
            <a:ext cx="7772400" cy="824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i="0" b="0">
                <a:solidFill>
                  <a:srgbClr val="1C1C1A"/>
                </a:solidFill>
                <a:latin typeface="Outfit 2 Light"/>
              </a:rPr>
              <a:t>O centro do Ikigai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3192780"/>
            <a:ext cx="77724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6459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9290304"/>
            <a:ext cx="77724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5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5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023360"/>
            <a:ext cx="7772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2 Light"/>
              </a:rPr>
              <a:t>A Flávia não se realiza apenas conquistando para si. Ela encontra realização quando vê uma possibilidade se tornar concreta e produzir algo na vida de outras pessoas.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11680" y="5760720"/>
            <a:ext cx="77724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5943600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2 Light"/>
              </a:rPr>
              <a:t>Um cliente realiza um sonho.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632764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2 Light"/>
              </a:rPr>
              <a:t>Uma equipe cresce.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6711696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2 Light"/>
              </a:rPr>
              <a:t>Uma ideia sai do papel.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7095744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2 Light"/>
              </a:rPr>
              <a:t>Uma pessoa recebe uma oportunidade.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7635240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i="0" b="0">
                <a:solidFill>
                  <a:srgbClr val="A5A49F"/>
                </a:solidFill>
                <a:latin typeface="Outfit 2 Light"/>
              </a:rPr>
              <a:t>Sobre o legado que deseja deixar, a própria Flávia resume: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7918704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A9724A"/>
                </a:solidFill>
                <a:latin typeface="Outfit 2 Light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23160" y="7973568"/>
            <a:ext cx="7315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2 Light"/>
              </a:rPr>
              <a:t>Fazer diferença na vida das pessoas.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5A49F"/>
                </a:solidFill>
                <a:latin typeface="Outfit 1"/>
              </a:rPr>
              <a:t>O IKIGAI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2860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i="0" b="0" spc="240">
                <a:solidFill>
                  <a:srgbClr val="A9724A"/>
                </a:solidFill>
                <a:latin typeface="Outfit 2 Semi-Bold"/>
              </a:rPr>
              <a:t>RAZÃO DE SER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834640"/>
            <a:ext cx="13898880" cy="2482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4600" i="0" b="0">
                <a:solidFill>
                  <a:srgbClr val="1C1C1A"/>
                </a:solidFill>
                <a:latin typeface="Outfit 2 Light"/>
              </a:rPr>
              <a:t>Transformar possibilidades em realizações</a:t>
            </a:r>
          </a:p>
          <a:p>
            <a:pPr algn="l">
              <a:lnSpc>
                <a:spcPct val="126000"/>
              </a:lnSpc>
            </a:pPr>
            <a:r>
              <a:rPr sz="4600" i="0" b="0">
                <a:solidFill>
                  <a:srgbClr val="1C1C1A"/>
                </a:solidFill>
                <a:latin typeface="Outfit 2 Light"/>
              </a:rPr>
              <a:t>concretas que também ampliem a vida</a:t>
            </a:r>
          </a:p>
          <a:p>
            <a:pPr algn="l">
              <a:lnSpc>
                <a:spcPct val="126000"/>
              </a:lnSpc>
            </a:pPr>
            <a:r>
              <a:rPr sz="4600" i="0" b="0">
                <a:solidFill>
                  <a:srgbClr val="1C1C1A"/>
                </a:solidFill>
                <a:latin typeface="Outfit 2 Light"/>
              </a:rPr>
              <a:t>de outras pessoas.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6035040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6355080"/>
            <a:ext cx="12801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2 Light"/>
              </a:rPr>
              <a:t>A realização ganha sentido quando aquilo que a Flávia constrói também amplia possibilidades para outras pessoas.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173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83080" y="9290304"/>
            <a:ext cx="6949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2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2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pic>
        <p:nvPicPr>
          <p:cNvPr id="11" name="Picture 10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33320" y="9235440"/>
            <a:ext cx="1572768" cy="157276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9319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9724A"/>
                </a:solidFill>
                <a:latin typeface="Outfit 2 Semi-Bold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4389120"/>
            <a:ext cx="10972800" cy="106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i="0" b="0">
                <a:solidFill>
                  <a:srgbClr val="1C1C1A"/>
                </a:solidFill>
                <a:latin typeface="Outfit 2 Light"/>
              </a:rPr>
              <a:t>A essência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63550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173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83080" y="9290304"/>
            <a:ext cx="6949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2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2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pic>
        <p:nvPicPr>
          <p:cNvPr id="9" name="Picture 8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33320" y="9235440"/>
            <a:ext cx="1572768" cy="157276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5A49F"/>
                </a:solidFill>
                <a:latin typeface="Outfit 1"/>
              </a:rPr>
              <a:t>A ESSÊNCIA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331720"/>
            <a:ext cx="14264640" cy="824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i="0" b="0">
                <a:solidFill>
                  <a:srgbClr val="1C1C1A"/>
                </a:solidFill>
                <a:latin typeface="Outfit 2 Light"/>
              </a:rPr>
              <a:t>Onde a história e o Ikigai se encontram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31927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173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83080" y="9290304"/>
            <a:ext cx="6949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2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2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pic>
        <p:nvPicPr>
          <p:cNvPr id="9" name="Picture 8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33320" y="9235440"/>
            <a:ext cx="1572768" cy="1572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011680" y="3886200"/>
            <a:ext cx="1280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2 Light"/>
              </a:rPr>
              <a:t>A história revela como a Flávia se movimenta. O Ikigai revela o que dá sentido a esse movimento. Lado a lado, a mesma lógica aparece.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11680" y="5120640"/>
            <a:ext cx="30632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5376672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2 Light"/>
              </a:rPr>
              <a:t>Visão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5925312"/>
            <a:ext cx="3063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2 Light"/>
              </a:rPr>
              <a:t>A Flávia enxerga além da condição presente.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77840" y="5120640"/>
            <a:ext cx="30632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77840" y="5376672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2 Light"/>
              </a:rPr>
              <a:t>Movimento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7840" y="5925312"/>
            <a:ext cx="3063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2 Light"/>
              </a:rPr>
              <a:t>A distância entre aquilo que existe e aquilo que ela enxerga como possível a leva a buscar caminhos, conhecimento, pessoas e recursos.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0" y="5120640"/>
            <a:ext cx="30632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0" y="5376672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2 Light"/>
              </a:rPr>
              <a:t>Pessoas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5925312"/>
            <a:ext cx="3063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2 Light"/>
              </a:rPr>
              <a:t>A família, a equipe, os clientes e as relações fazem parte daquilo que dá significado às suas realizações.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2710160" y="5120640"/>
            <a:ext cx="30632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710160" y="5376672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2 Light"/>
              </a:rPr>
              <a:t>Impacto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10160" y="5925312"/>
            <a:ext cx="3063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2 Light"/>
              </a:rPr>
              <a:t>A conquista ganha mais sentido quando aquilo que ela constrói também amplia possibilidades para outras pessoas.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8092440"/>
            <a:ext cx="14264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i="0" b="0">
                <a:solidFill>
                  <a:srgbClr val="1C1C1A"/>
                </a:solidFill>
                <a:latin typeface="Outfit 2 Light"/>
              </a:rPr>
              <a:t>Enxergar além.</a:t>
            </a:r>
            <a:r>
              <a:rPr sz="2200" i="0" b="0">
                <a:solidFill>
                  <a:srgbClr val="A9724A"/>
                </a:solidFill>
                <a:latin typeface="Outfit 2 Light"/>
              </a:rPr>
              <a:t>  ·  </a:t>
            </a:r>
            <a:r>
              <a:rPr sz="2200" i="0" b="0">
                <a:solidFill>
                  <a:srgbClr val="1C1C1A"/>
                </a:solidFill>
                <a:latin typeface="Outfit 2 Light"/>
              </a:rPr>
              <a:t>Colocar em movimento.</a:t>
            </a:r>
            <a:r>
              <a:rPr sz="2200" i="0" b="0">
                <a:solidFill>
                  <a:srgbClr val="A9724A"/>
                </a:solidFill>
                <a:latin typeface="Outfit 2 Light"/>
              </a:rPr>
              <a:t>  ·  </a:t>
            </a:r>
            <a:r>
              <a:rPr sz="2200" i="0" b="0">
                <a:solidFill>
                  <a:srgbClr val="1C1C1A"/>
                </a:solidFill>
                <a:latin typeface="Outfit 2 Light"/>
              </a:rPr>
              <a:t>Fazer existir.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5A49F"/>
                </a:solidFill>
                <a:latin typeface="Outfit 1"/>
              </a:rPr>
              <a:t>A ESSÊNCIA DA FLÁVIA COMO FUNDADORA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331720"/>
            <a:ext cx="13898880" cy="1723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4600" i="0" b="0">
                <a:solidFill>
                  <a:srgbClr val="1C1C1A"/>
                </a:solidFill>
                <a:latin typeface="Outfit 2 Light"/>
              </a:rPr>
              <a:t>Enxergar além do que está posto e fazer</a:t>
            </a:r>
          </a:p>
          <a:p>
            <a:pPr algn="l">
              <a:lnSpc>
                <a:spcPct val="124000"/>
              </a:lnSpc>
            </a:pPr>
            <a:r>
              <a:rPr sz="4600" i="0" b="0">
                <a:solidFill>
                  <a:srgbClr val="1C1C1A"/>
                </a:solidFill>
                <a:latin typeface="Outfit 2 Light"/>
              </a:rPr>
              <a:t>existir o que ainda é possibilidade.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507492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5440680"/>
            <a:ext cx="4251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220">
                <a:solidFill>
                  <a:srgbClr val="A5A49F"/>
                </a:solidFill>
                <a:latin typeface="Outfit 2 Semi-Bold"/>
              </a:rPr>
              <a:t>ENXERGAR ALÉM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5806440"/>
            <a:ext cx="42519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2 Light"/>
              </a:rPr>
              <a:t>A Flávia não considera a realidade presente como a única possibilidade. Ela consegue enxergar aquilo que ainda pode existir.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5440680"/>
            <a:ext cx="4251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220">
                <a:solidFill>
                  <a:srgbClr val="A5A49F"/>
                </a:solidFill>
                <a:latin typeface="Outfit 2 Semi-Bold"/>
              </a:rPr>
              <a:t>FAZER EXISTIR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5806440"/>
            <a:ext cx="42519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2 Light"/>
              </a:rPr>
              <a:t>Ela não permanece apenas no campo da imaginação. Procura caminhos e transforma a possibilidade em realidade.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0" y="5440680"/>
            <a:ext cx="4251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220">
                <a:solidFill>
                  <a:srgbClr val="A5A49F"/>
                </a:solidFill>
                <a:latin typeface="Outfit 2 Semi-Bold"/>
              </a:rPr>
              <a:t>AMPLIAR POSSIBILIDADES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521440" y="5806440"/>
            <a:ext cx="42519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2 Light"/>
              </a:rPr>
              <a:t>A realização ganha sentido quando aquilo que ela constrói também cria valor, oportunidade ou transformação para outras pessoas.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0" y="800100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1680" y="8321040"/>
            <a:ext cx="13898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1C1C1A"/>
                </a:solidFill>
                <a:latin typeface="Outfit 2 Light"/>
              </a:rPr>
              <a:t>Forte, determinada, criativa, sonhadora e visionária são características da Flávia. Mas são manifestações de uma lógica mais profunda: enxergar além e fazer existir.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173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783080" y="9290304"/>
            <a:ext cx="6949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2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2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pic>
        <p:nvPicPr>
          <p:cNvPr id="17" name="Picture 16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33320" y="9235440"/>
            <a:ext cx="1572768" cy="157276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9319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9724A"/>
                </a:solidFill>
                <a:latin typeface="Outfit 2 Semi-Bold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4389120"/>
            <a:ext cx="10972800" cy="106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i="0" b="0">
                <a:solidFill>
                  <a:srgbClr val="1C1C1A"/>
                </a:solidFill>
                <a:latin typeface="Outfit 2 Light"/>
              </a:rPr>
              <a:t>As marcas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63550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173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83080" y="9290304"/>
            <a:ext cx="6949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2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2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pic>
        <p:nvPicPr>
          <p:cNvPr id="9" name="Picture 8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33320" y="9235440"/>
            <a:ext cx="1572768" cy="157276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29-marcas.jpg"/>
          <p:cNvPicPr>
            <a:picLocks noChangeAspect="1"/>
          </p:cNvPicPr>
          <p:nvPr/>
        </p:nvPicPr>
        <p:blipFill>
          <a:blip r:embed="rId3"/>
          <a:srcRect t="3445" b="3445"/>
          <a:stretch>
            <a:fillRect/>
          </a:stretch>
        </p:blipFill>
        <p:spPr>
          <a:xfrm>
            <a:off x="0" y="0"/>
            <a:ext cx="621792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217920" y="0"/>
            <a:ext cx="1207008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5A49F"/>
                </a:solidFill>
                <a:latin typeface="Outfit 1"/>
              </a:rPr>
              <a:t>AS MARCAS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0" y="2331720"/>
            <a:ext cx="10424160" cy="824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i="0" b="0">
                <a:solidFill>
                  <a:srgbClr val="1C1C1A"/>
                </a:solidFill>
                <a:latin typeface="Outfit 2 Light"/>
              </a:rPr>
              <a:t>Como essa essência se manifesta nas marcas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0880" y="3192780"/>
            <a:ext cx="104241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6751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0" y="9290304"/>
            <a:ext cx="104241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5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5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0" y="3611880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i="0" b="0">
                <a:solidFill>
                  <a:srgbClr val="A5A49F"/>
                </a:solidFill>
                <a:latin typeface="Outfit 2 Light"/>
              </a:rPr>
              <a:t>Uma mesma essência. Duas manifestações diferentes.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0" y="4069080"/>
            <a:ext cx="104241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0" y="4306824"/>
            <a:ext cx="10424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220">
                <a:solidFill>
                  <a:srgbClr val="A9724A"/>
                </a:solidFill>
                <a:latin typeface="Outfit 2 Semi-Bold"/>
              </a:rPr>
              <a:t>A FORMA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4599432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2 Light"/>
              </a:rPr>
              <a:t>Dar forma ao que ainda é ideia.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5120640"/>
            <a:ext cx="104241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2 Light"/>
              </a:rPr>
              <a:t>A empresa representa o espaço que a Flávia buscava para criar, personalizar e construir segundo a sua própria visão. Esse mesmo movimento está na natureza do negócio: uma necessidade, uma ideia ou um sonho se transformam em projeto e ganham forma concreta.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40880" y="6099048"/>
            <a:ext cx="104241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0880" y="6336792"/>
            <a:ext cx="10424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220">
                <a:solidFill>
                  <a:srgbClr val="A9724A"/>
                </a:solidFill>
                <a:latin typeface="Outfit 2 Semi-Bold"/>
              </a:rPr>
              <a:t>A MY HOME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662940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2 Light"/>
              </a:rPr>
              <a:t>Reabrir possibilidades.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7150608"/>
            <a:ext cx="104241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2 Light"/>
              </a:rPr>
              <a:t>A marca nasce quando a Flávia questiona o destino dado às sobras da marcenaria. Onde havia descarte, ela enxergou matéria. Onde havia fim, ela enxergou um novo começo. Aquilo que havia encerrado a sua função ganhou uma nova possibilidade de existir.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8238744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i="0" b="0">
                <a:solidFill>
                  <a:srgbClr val="A5A49F"/>
                </a:solidFill>
                <a:latin typeface="Outfit 2 Light"/>
              </a:rPr>
              <a:t>A Forma e a My Home são marcas diferentes e terão estratégias próprias. Mas as duas carregam, na origem, uma mesma forma de enxergar e transformar a realidade.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60704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0-estrategia.jpg"/>
          <p:cNvPicPr>
            <a:picLocks noChangeAspect="1"/>
          </p:cNvPicPr>
          <p:nvPr/>
        </p:nvPicPr>
        <p:blipFill>
          <a:blip r:embed="rId3"/>
          <a:srcRect t="12313" b="12313"/>
          <a:stretch>
            <a:fillRect/>
          </a:stretch>
        </p:blipFill>
        <p:spPr>
          <a:xfrm>
            <a:off x="10607040" y="0"/>
            <a:ext cx="768096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5A49F"/>
                </a:solidFill>
                <a:latin typeface="Outfit 1"/>
              </a:rPr>
              <a:t>PRÓXIMA ETAPA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331720"/>
            <a:ext cx="7772400" cy="824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i="0" b="0">
                <a:solidFill>
                  <a:srgbClr val="1C1C1A"/>
                </a:solidFill>
                <a:latin typeface="Outfit 2 Light"/>
              </a:rPr>
              <a:t>Da essência à estratégia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3192780"/>
            <a:ext cx="77724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6459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9290304"/>
            <a:ext cx="77724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5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5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069080"/>
            <a:ext cx="7772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2 Light"/>
              </a:rPr>
              <a:t>Esta etapa revelou a essência da Flávia como fundadora: uma forma própria de enxergar e transformar a realidade que já existia antes da Forma e da My Home.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11680" y="5760720"/>
            <a:ext cx="77724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6035040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220">
                <a:solidFill>
                  <a:srgbClr val="A5A49F"/>
                </a:solidFill>
                <a:latin typeface="Outfit 2 Semi-Bold"/>
              </a:rPr>
              <a:t>O QUE VEM A SEGUIR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6382512"/>
            <a:ext cx="7772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2 Light"/>
              </a:rPr>
              <a:t>Essa essência ajuda a compreender de onde as duas marcas vêm, mas não define, sozinha, quem cada marca precisa ser.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7635240"/>
            <a:ext cx="7772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2 Light"/>
              </a:rPr>
              <a:t>A Base Estratégica vai definir como essa origem se traduz em uma direção própria, relevante e diferenciada para a Forma e para a My Home.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0" y="4160520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4572000"/>
            <a:ext cx="13898880" cy="179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4600" i="0" b="0">
                <a:solidFill>
                  <a:srgbClr val="1C1C1A"/>
                </a:solidFill>
                <a:latin typeface="Outfit 2 Light"/>
              </a:rPr>
              <a:t>A essência revela a origem.</a:t>
            </a:r>
          </a:p>
          <a:p>
            <a:pPr algn="l">
              <a:lnSpc>
                <a:spcPct val="130000"/>
              </a:lnSpc>
            </a:pPr>
            <a:r>
              <a:rPr sz="4600" i="0" b="0">
                <a:solidFill>
                  <a:srgbClr val="1C1C1A"/>
                </a:solidFill>
                <a:latin typeface="Outfit 2 Light"/>
              </a:rPr>
              <a:t>A estratégia define a direção.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173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83080" y="9290304"/>
            <a:ext cx="6949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2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2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pic>
        <p:nvPicPr>
          <p:cNvPr id="8" name="Picture 7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33320" y="9235440"/>
            <a:ext cx="1572768" cy="1572768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11680" y="3703320"/>
            <a:ext cx="13716000" cy="9325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712" i="0" b="0">
                <a:solidFill>
                  <a:srgbClr val="1C1C1A"/>
                </a:solidFill>
                <a:latin typeface="Outfit 2 Light"/>
              </a:rPr>
              <a:t>MUITO OBRIGADA!</a:t>
            </a:r>
          </a:p>
        </p:txBody>
      </p:sp>
      <p:pic>
        <p:nvPicPr>
          <p:cNvPr id="4" name="Picture 3" descr="logo-kelly-alb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0" y="5440680"/>
            <a:ext cx="3246120" cy="77146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669280" y="5257800"/>
            <a:ext cx="12802" cy="114300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vm-rock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5394960"/>
            <a:ext cx="3291840" cy="94288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DAHVOuCspjk</dc:identifier>
  <dcterms:modified xsi:type="dcterms:W3CDTF">2011-08-01T06:04:30Z</dcterms:modified>
  <cp:revision>1</cp:revision>
  <dc:title>Revelacao-de-Essencia-Flavia-Pereira-Muccelin.pptx</dc:title>
</cp:coreProperties>
</file>