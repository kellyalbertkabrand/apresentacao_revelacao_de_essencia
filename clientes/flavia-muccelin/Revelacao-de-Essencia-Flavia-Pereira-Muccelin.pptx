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0" y="2880360"/>
            <a:ext cx="1325880" cy="1583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3246120"/>
            <a:ext cx="13716000" cy="2320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600" i="0" b="0">
                <a:solidFill>
                  <a:srgbClr val="1C1C1A"/>
                </a:solidFill>
                <a:latin typeface="Outfit 1 Bold"/>
              </a:rPr>
              <a:t>REVELAÇÃO DE</a:t>
            </a:r>
          </a:p>
          <a:p>
            <a:pPr algn="l">
              <a:lnSpc>
                <a:spcPct val="106000"/>
              </a:lnSpc>
            </a:pPr>
            <a:r>
              <a:rPr sz="7600" i="0" b="0">
                <a:solidFill>
                  <a:srgbClr val="1C1C1A"/>
                </a:solidFill>
                <a:latin typeface="Outfit 1 Bold"/>
              </a:rPr>
              <a:t>ESSÊNCIA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598932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6400800"/>
            <a:ext cx="1280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Flávia Pereira Muccelin  |  Origem Identitária da Fundadora</a:t>
            </a:r>
          </a:p>
        </p:txBody>
      </p:sp>
      <p:pic>
        <p:nvPicPr>
          <p:cNvPr id="7" name="Picture 6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8092440"/>
            <a:ext cx="2148840" cy="2148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0" y="8001000"/>
            <a:ext cx="10973" cy="7772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806500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Método Marca</a:t>
            </a:r>
          </a:p>
          <a:p>
            <a:pPr algn="l">
              <a:lnSpc>
                <a:spcPct val="125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com Essência 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8001000"/>
            <a:ext cx="10973" cy="7772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82478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00">
                <a:solidFill>
                  <a:srgbClr val="1C1C1A"/>
                </a:solidFill>
                <a:latin typeface="Outfit 2"/>
              </a:rPr>
              <a:t>SETEMBRO/2026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240280"/>
            <a:ext cx="14264640" cy="911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400" i="0" b="0">
                <a:solidFill>
                  <a:srgbClr val="1C1C1A"/>
                </a:solidFill>
                <a:latin typeface="Outfit 1 Light"/>
              </a:rPr>
              <a:t>Sumário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4612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570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44728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 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7947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As experiências que formaram a visão de mundo da Flávia.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11480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4256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3159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As tensões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6634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Os momentos que a colocaram em movimento.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98348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29437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18464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Os padrões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321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A lógica que se repete ao longo da trajetória.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585216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616305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605332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O Ikigai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64008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O que gera sentido e realização para a Flávia.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672084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703173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692200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 essência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7269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O princípio que conecta a sua história.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758952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79004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779068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As marcas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81381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A5A49F"/>
                </a:solidFill>
                <a:latin typeface="Outfit 1 Light"/>
              </a:rPr>
              <a:t>Como essa essência se manifesta na origem da Forma e da My Home.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8458200"/>
            <a:ext cx="122529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33" name="Picture 32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4-metodo.jpg"/>
          <p:cNvPicPr>
            <a:picLocks noChangeAspect="1"/>
          </p:cNvPicPr>
          <p:nvPr/>
        </p:nvPicPr>
        <p:blipFill>
          <a:blip r:embed="rId3"/>
          <a:srcRect l="22000" r="22000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Por que a essência vem primeiro?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023360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 Forma e a My Home são negócios distintos, mas nasceram e se desenvolveram a partir da visão de uma mesma fundadora.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257800"/>
            <a:ext cx="8961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Em marcas fortemente ligadas à fundadora, compreender a história de quem as criou ajuda a identificar crenças, princípios e formas de pensar e agir que influenciaram a construção dos negócios.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685800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7114032"/>
            <a:ext cx="8961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NÃO 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7388352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Uma análise psicológica da Flávia.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8028432"/>
            <a:ext cx="8961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8302752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investigação da origem identitária das marcas a partir da fundadora.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pergunta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PERGUNTA QUE CONDUZ ESTA 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31920"/>
            <a:ext cx="7772400" cy="199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588" i="0" b="0">
                <a:solidFill>
                  <a:srgbClr val="1C1C1A"/>
                </a:solidFill>
                <a:latin typeface="Outfit 1 Light"/>
              </a:rPr>
              <a:t>O que já fazia parte de quem</a:t>
            </a:r>
          </a:p>
          <a:p>
            <a:pPr algn="l">
              <a:lnSpc>
                <a:spcPct val="126000"/>
              </a:lnSpc>
            </a:pPr>
            <a:r>
              <a:rPr sz="3588" i="0" b="0">
                <a:solidFill>
                  <a:srgbClr val="1C1C1A"/>
                </a:solidFill>
                <a:latin typeface="Outfit 1 Light"/>
              </a:rPr>
              <a:t>a Flávia é antes da Forma</a:t>
            </a:r>
          </a:p>
          <a:p>
            <a:pPr algn="l">
              <a:lnSpc>
                <a:spcPct val="126000"/>
              </a:lnSpc>
            </a:pPr>
            <a:r>
              <a:rPr sz="3588" i="0" b="0">
                <a:solidFill>
                  <a:srgbClr val="1C1C1A"/>
                </a:solidFill>
                <a:latin typeface="Outfit 1 Light"/>
              </a:rPr>
              <a:t>e da My Home?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Como se chega à revelação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927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11680" y="38862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essência não é definida por uma característica isolada. Ela se revela quando diferentes momentos da trajetória apresentam uma mesma lógica.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História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925312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Mostra as experiências e as referências que formaram a visão de mundo da Flávia.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Tensões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925312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Mostram os momentos em que aquilo que existia entrou em conflito com aquilo que ela desejava ou conseguia enxergar.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Padrões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925312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Revelam como a Flávia responde, repetidamente, a essas situações.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Ikigai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0" y="5925312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Revela o que gera sentido, realização e vontade de contribuir.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7680960"/>
            <a:ext cx="1426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i="0" b="0">
                <a:solidFill>
                  <a:srgbClr val="6B6B66"/>
                </a:solidFill>
                <a:latin typeface="Outfit 1 Light"/>
              </a:rPr>
              <a:t>História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200" i="0" b="0">
                <a:solidFill>
                  <a:srgbClr val="6B6B66"/>
                </a:solidFill>
                <a:latin typeface="Outfit 1 Light"/>
              </a:rPr>
              <a:t>tensões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200" i="0" b="0">
                <a:solidFill>
                  <a:srgbClr val="6B6B66"/>
                </a:solidFill>
                <a:latin typeface="Outfit 1 Light"/>
              </a:rPr>
              <a:t>padrões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+  </a:t>
            </a:r>
            <a:r>
              <a:rPr sz="2200" i="0" b="0">
                <a:solidFill>
                  <a:srgbClr val="6B6B66"/>
                </a:solidFill>
                <a:latin typeface="Outfit 1 Light"/>
              </a:rPr>
              <a:t>Ikigai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=  </a:t>
            </a:r>
            <a:r>
              <a:rPr sz="2200" i="0" b="0">
                <a:solidFill>
                  <a:srgbClr val="1C1C1A"/>
                </a:solidFill>
                <a:latin typeface="Outfit 1 Semi-Bold"/>
              </a:rPr>
              <a:t>essência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8302752"/>
            <a:ext cx="1426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A essência é o princípio central que conecta essas dimensões e revela a lógica que orienta a forma como a Flávia enxerga, age e transforma.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A origem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9-origem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Onde essa história começa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069080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 história familiar da Flávia é marcada por limitações, trabalho, fé e recomeços.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349240"/>
            <a:ext cx="8961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família deixou Guiratinga e foi para Primavera do Leste em busca de uma vida melhor. O pai da Flávia passou a trabalhar como caseiro justamente na propriedade onde, décadas depois, ela viveria como proprietária.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72694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 Flávia chegou àquele lugar como “a filha do peão”.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809244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832104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00">
                <a:solidFill>
                  <a:srgbClr val="A5A49F"/>
                </a:solidFill>
                <a:latin typeface="Outfit 1 Semi-Bold"/>
              </a:rPr>
              <a:t>TRABALHO   ·   FAMÍLIA   ·   FÉ   ·   HONESTIDADE   ·   GRATIDÃO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-primeiros-sinais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Os primeiros sinais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7772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 vontade de construir uma realidade diferente aparece muito antes da criação das empresas.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166360"/>
            <a:ext cx="77724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Ainda criança, a Flávia acompanhava o pai no garimpo e chegou a cozinhar para os trabalhadores. Mais tarde, ia de bicicleta da chácara até o centro para trabalhar. Também estudava e jogava futsal para conquistar uma bolsa que ajudasse a manter a faculdade.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9037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Ela mesma diz: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71597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A9724A"/>
                </a:solidFill>
                <a:latin typeface="Outfit 1 Light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7214616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Eu não quero isso para mim.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8181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E, mais tarde, ao perceber que o cargo limitaria o seu crescimento: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807415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A9724A"/>
                </a:solidFill>
                <a:latin typeface="Outfit 1 Light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8129016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Eu queria 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1-experiencias-1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As experiências que a formaram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93192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0624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4114800"/>
            <a:ext cx="8001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 escassez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4645152"/>
            <a:ext cx="8001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Flávia cresceu em uma realidade de poucos recursos.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577840"/>
            <a:ext cx="8001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ISSO REVELA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5833872"/>
            <a:ext cx="8001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vontade de ampliar possibilidades e não aceitar a condição presente como limite.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644652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672084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6629400"/>
            <a:ext cx="8001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O portão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7159752"/>
            <a:ext cx="8001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Ainda adolescente, a Flávia entrava escondida na casa dos donos da fazenda onde o pai trabalhava e se imaginava vivendo aquela realidade. Anos depois, tornou-se proprietária daquele mesmo lugar.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8092440"/>
            <a:ext cx="8001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ISSO REVELA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8348472"/>
            <a:ext cx="8001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capacidade de se enxergar dentro de uma realidade antes de ela existir concretamente.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-experiencias-2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As experiências que a formaram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93192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20624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114800"/>
            <a:ext cx="681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O trabalho e o estudo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645152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Trabalho, faculdade, bicicleta e futsal como caminho para conquistar uma bolsa de estudos.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577840"/>
            <a:ext cx="6812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ISSO REVELA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833872"/>
            <a:ext cx="6812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Para a Flávia, enxergar uma possibilidade exige movimento para torná-la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644652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6720840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6629400"/>
            <a:ext cx="681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A trajetória dos pais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7159752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Flávia cresceu vendo os pais recomeçarem sem abandonar a honestidade, a fé, o trabalho e a família.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8092440"/>
            <a:ext cx="6812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ISSO REVELA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8348472"/>
            <a:ext cx="6812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forma de construir importa tanto quanto aquilo que é conquistado.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As tensões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4-tensoes.jpg"/>
          <p:cNvPicPr>
            <a:picLocks noChangeAspect="1"/>
          </p:cNvPicPr>
          <p:nvPr/>
        </p:nvPicPr>
        <p:blipFill>
          <a:blip r:embed="rId3"/>
          <a:srcRect t="12314" b="12314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AS TENSÕES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As tensões que a colocaram em movimento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93192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Existe uma lógica recorrente na trajetória da Flávia.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43484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690872"/>
            <a:ext cx="37636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A REALIDADE DIZIA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983480"/>
            <a:ext cx="49286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1" b="0">
                <a:solidFill>
                  <a:srgbClr val="6B6B66"/>
                </a:solidFill>
                <a:latin typeface="Outfit 1 Light"/>
              </a:rPr>
              <a:t>“Essa é a sua condição.”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80592" y="5020056"/>
            <a:ext cx="274320" cy="1280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597482" y="4892040"/>
            <a:ext cx="28675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Flávia enxergava outra.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54406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5696712"/>
            <a:ext cx="37636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CARGO DIZIA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989320"/>
            <a:ext cx="49286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1" b="0">
                <a:solidFill>
                  <a:srgbClr val="6B6B66"/>
                </a:solidFill>
                <a:latin typeface="Outfit 1 Light"/>
              </a:rPr>
              <a:t>“Até aqui você pode chegar.”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80592" y="6025896"/>
            <a:ext cx="274320" cy="1280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597482" y="5897880"/>
            <a:ext cx="28675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Flávia queria mais.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644652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6702552"/>
            <a:ext cx="37636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AS MARCAS PRONTAS DIZIAM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995160"/>
            <a:ext cx="49286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1" b="0">
                <a:solidFill>
                  <a:srgbClr val="6B6B66"/>
                </a:solidFill>
                <a:latin typeface="Outfit 1 Light"/>
              </a:rPr>
              <a:t>“É assim que deve ser feito.”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80592" y="7031736"/>
            <a:ext cx="274320" cy="1280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97482" y="6903720"/>
            <a:ext cx="286755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Flávia queria fazer do seu jeito.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745236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-tensoes.jpg"/>
          <p:cNvPicPr>
            <a:picLocks noChangeAspect="1"/>
          </p:cNvPicPr>
          <p:nvPr/>
        </p:nvPicPr>
        <p:blipFill>
          <a:blip r:embed="rId3"/>
          <a:srcRect t="12314" b="12314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AS TENSÕES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As tensões que a colocaram em movimento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0690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25112"/>
            <a:ext cx="3264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A MATERNIDADE EXIGIU UMA ESCOLHA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617720"/>
            <a:ext cx="42748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Conciliar a maternidade e o empreendedorismo não era possível como ela desejava naquele momento.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654296"/>
            <a:ext cx="274320" cy="1280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526280"/>
            <a:ext cx="2487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Ela parou e, anos depois, construiu um caminho de volta.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530352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559552"/>
            <a:ext cx="3264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AS SOBRAS TINHAM UM DESTINO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852160"/>
            <a:ext cx="42748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1" b="0">
                <a:solidFill>
                  <a:srgbClr val="6B6B66"/>
                </a:solidFill>
                <a:latin typeface="Outfit 1 Light"/>
              </a:rPr>
              <a:t>“O descarte.”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888736"/>
            <a:ext cx="274320" cy="1280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5760720"/>
            <a:ext cx="24871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A Flávia enxergou matéria para uma nova criação.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30936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660196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Quando aquilo que está dado não corresponde ao que a Flávia enxerga como possível, ela entra em movimento.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Os padrões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6-padrao-invisivel.jpg"/>
          <p:cNvPicPr>
            <a:picLocks noChangeAspect="1"/>
          </p:cNvPicPr>
          <p:nvPr/>
        </p:nvPicPr>
        <p:blipFill>
          <a:blip r:embed="rId3"/>
          <a:srcRect l="28989" r="28989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OS PADRÕES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 padrão invisível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97764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As situações são diferentes. A resposta da Flávia segue a mesma lógica.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4718304"/>
            <a:ext cx="91440" cy="91440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617720"/>
            <a:ext cx="8503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Ela encontra uma realidade ou um limite.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965192"/>
            <a:ext cx="14630" cy="50292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742432"/>
            <a:ext cx="91440" cy="91440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5641848"/>
            <a:ext cx="8503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Enxerga que aquilo pode ser diferente.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5989320"/>
            <a:ext cx="14630" cy="50292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6766560"/>
            <a:ext cx="91440" cy="91440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6665976"/>
            <a:ext cx="8503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Constrói um caminho para transformar essa possibilidade em realidade.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786384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8101584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O padrão está na forma como a Flávia responde quando percebe que existe uma possibilidade além daquilo que está dado.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8-movimento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OS PADRÕES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 movimento que se repete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Oval 9"/>
          <p:cNvSpPr/>
          <p:nvPr/>
        </p:nvSpPr>
        <p:spPr>
          <a:xfrm>
            <a:off x="2016252" y="3991356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886200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Enxerga a realidade como ela 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4178808"/>
            <a:ext cx="12802" cy="310896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6252" y="4704588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599432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Percebe que aquilo não precisa ser definitivo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4892040"/>
            <a:ext cx="12802" cy="310896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16252" y="5417820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5312664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Enxerga outra possibilidade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5605272"/>
            <a:ext cx="12802" cy="310896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6252" y="6131052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6025896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Procura um caminho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6318504"/>
            <a:ext cx="12802" cy="310896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6252" y="6844284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6739128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Busca conhecimento, mobiliza pessoas e recursos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7031736"/>
            <a:ext cx="12802" cy="310896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16252" y="7557516"/>
            <a:ext cx="82296" cy="82296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7452360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Transforma a possibilidade em realidade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7882128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8046720"/>
            <a:ext cx="7772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Enxergar além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→  </a:t>
            </a:r>
            <a:r>
              <a:rPr sz="2200" i="0" b="0">
                <a:solidFill>
                  <a:srgbClr val="1C1C1A"/>
                </a:solidFill>
                <a:latin typeface="Outfit 1 Light"/>
              </a:rPr>
              <a:t>colocar em movimento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→  </a:t>
            </a:r>
            <a:r>
              <a:rPr sz="2200" i="0" b="0">
                <a:solidFill>
                  <a:srgbClr val="1C1C1A"/>
                </a:solidFill>
                <a:latin typeface="Outfit 1 Light"/>
              </a:rPr>
              <a:t>fazer existir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346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OS PADRÕES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291840"/>
            <a:ext cx="1188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A5A49F"/>
                </a:solidFill>
                <a:latin typeface="Outfit 1 Light"/>
              </a:rPr>
              <a:t>Ao longo da sua trajetória, a Flávia repete um mesmo movimento: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77640"/>
            <a:ext cx="13898880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A Flávia não aceita que aquilo que</a:t>
            </a:r>
          </a:p>
          <a:p>
            <a:pPr algn="l">
              <a:lnSpc>
                <a:spcPct val="126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existe determine aquilo que pode existir.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736092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O Ikigai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20-ikigai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0" y="0"/>
            <a:ext cx="768096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896112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 que move a Flávia?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3192780"/>
            <a:ext cx="896112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290304"/>
            <a:ext cx="8961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023360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Até aqui, a história revelou como a Flávia responde à realidade e entra em movimento. O Ikigai acrescenta outra dimensão: o que faz esse movimento ter sentido para ela.</a:t>
            </a:r>
          </a:p>
        </p:txBody>
      </p:sp>
      <p:sp>
        <p:nvSpPr>
          <p:cNvPr id="11" name="Oval 10"/>
          <p:cNvSpPr/>
          <p:nvPr/>
        </p:nvSpPr>
        <p:spPr>
          <a:xfrm>
            <a:off x="8508492" y="5637276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553212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O que a Flávia ama?</a:t>
            </a:r>
          </a:p>
        </p:txBody>
      </p:sp>
      <p:sp>
        <p:nvSpPr>
          <p:cNvPr id="13" name="Oval 12"/>
          <p:cNvSpPr/>
          <p:nvPr/>
        </p:nvSpPr>
        <p:spPr>
          <a:xfrm>
            <a:off x="8508492" y="6185916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60807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No que reconhece as suas forças?</a:t>
            </a:r>
          </a:p>
        </p:txBody>
      </p:sp>
      <p:sp>
        <p:nvSpPr>
          <p:cNvPr id="15" name="Oval 14"/>
          <p:cNvSpPr/>
          <p:nvPr/>
        </p:nvSpPr>
        <p:spPr>
          <a:xfrm>
            <a:off x="8508492" y="6734556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662940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Onde encontra realização?</a:t>
            </a:r>
          </a:p>
        </p:txBody>
      </p:sp>
      <p:sp>
        <p:nvSpPr>
          <p:cNvPr id="17" name="Oval 16"/>
          <p:cNvSpPr/>
          <p:nvPr/>
        </p:nvSpPr>
        <p:spPr>
          <a:xfrm>
            <a:off x="8508492" y="7283196"/>
            <a:ext cx="82296" cy="82296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717804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Como deseja contribuir para outras pessoas?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786384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8119872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Não se busca apenas aquilo que ela gosta de fazer, e sim o que faz uma realização ter significado para a Flávia.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 mapa do Ikigai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927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  <p:pic>
        <p:nvPicPr>
          <p:cNvPr id="10" name="Picture 9" descr="simbolo-ikig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1880" y="1874520"/>
            <a:ext cx="1188720" cy="1188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011680" y="406908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3434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O que a Flávia 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0352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família. As pessoas. Os momentos de qualidade. As conversas e as trocas verdadeiras. As conexões.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406908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3434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No que a Flávia é boa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30352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No conhecimento que construiu. Na persuasão. Na seriedade. Na persistência. No domínio daquilo que vende. Na capacidade de envolver pessoas.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06908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3434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Como a Flávia gosta de contribuir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0352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Sendo útil. Compartilhando conhecimentos e experiências. Ajudando pessoas e empresários. Criando oportunidades. Fazendo diferença na vida das pessoas.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0" y="406908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0" y="43434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Onde a Flávia encontra realização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0" y="530352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Ao ver algo ganhar forma. Ao transformar matéria em algo de valor. Ao perceber a alegria do cliente. Ao ver o sonho de outra pessoa se tornar concreto. Ao saber que aquilo que construiu também ampliou as possibilidades de alguém.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3-centro-ikigai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 centro do Ikigai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 Flávia não se realiza apenas conquistando para si. Ela encontra realização quando vê uma possibilidade se tornar concreta e produzir algo na vida de outras pessoas.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76072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94360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Um cliente realiza um sonho.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63276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Uma equipe cresce.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71169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Uma ideia sai do papel.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095744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Uma pessoa recebe uma oportunidade.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7635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Sobre o legado que deseja deixar, a própria Flávia resume: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79187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A9724A"/>
                </a:solidFill>
                <a:latin typeface="Outfit 1 Light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797356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Fazer diferença na vida das pessoas.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O IKIGAI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286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 spc="240">
                <a:solidFill>
                  <a:srgbClr val="A9724A"/>
                </a:solidFill>
                <a:latin typeface="Outfit 1 Semi-Bold"/>
              </a:rPr>
              <a:t>RAZÃO DE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13898880" cy="2482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Transformar possibilidades em realizações</a:t>
            </a:r>
          </a:p>
          <a:p>
            <a:pPr algn="l">
              <a:lnSpc>
                <a:spcPct val="126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concretas que também ampliem a vida</a:t>
            </a:r>
          </a:p>
          <a:p>
            <a:pPr algn="l">
              <a:lnSpc>
                <a:spcPct val="126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de outras pessoas.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603504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35508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realização ganha sentido quando aquilo que a Flávia constrói também amplia possibilidades para outras pessoas.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11" name="Picture 10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A essência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ESSÊNCIA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Onde a história e o Ikigai se encontram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927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11680" y="38862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história revela como a Flávia se movimenta. O Ikigai revela o que dá sentido a esse movimento. Lado a lado, a mesma lógica aparece.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Visão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925312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Flávia enxerga além da condição presente.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Movimento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925312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distância entre aquilo que existe e aquilo que ela enxerga como possível a leva a buscar caminhos, conhecimento, pessoas e recursos.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Pessoas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925312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família, a equipe, os clientes e as relações fazem parte daquilo que dá significado às suas realizações.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0" y="5120640"/>
            <a:ext cx="30632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160" y="5376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Impacto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0" y="5925312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conquista ganha mais sentido quando aquilo que ela constrói também amplia possibilidades para outras pessoas.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8092440"/>
            <a:ext cx="1426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Enxergar além.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·  </a:t>
            </a:r>
            <a:r>
              <a:rPr sz="2200" i="0" b="0">
                <a:solidFill>
                  <a:srgbClr val="1C1C1A"/>
                </a:solidFill>
                <a:latin typeface="Outfit 1 Light"/>
              </a:rPr>
              <a:t>Colocar em movimento.</a:t>
            </a:r>
            <a:r>
              <a:rPr sz="2200" i="0" b="0">
                <a:solidFill>
                  <a:srgbClr val="A9724A"/>
                </a:solidFill>
                <a:latin typeface="Outfit 1 Light"/>
              </a:rPr>
              <a:t>  ·  </a:t>
            </a:r>
            <a:r>
              <a:rPr sz="2200" i="0" b="0">
                <a:solidFill>
                  <a:srgbClr val="1C1C1A"/>
                </a:solidFill>
                <a:latin typeface="Outfit 1 Light"/>
              </a:rPr>
              <a:t>Fazer existir.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 ESSÊNCIA DA FLÁVIA COMO FUNDADORA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3898880" cy="1723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Enxergar além do que está posto e fazer</a:t>
            </a:r>
          </a:p>
          <a:p>
            <a:pPr algn="l">
              <a:lnSpc>
                <a:spcPct val="124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existir o que ainda é possibilidade.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07492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44068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ENXERGAR ALÉM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806440"/>
            <a:ext cx="4251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Flávia não considera a realidade presente como a única possibilidade. Ela consegue enxergar aquilo que ainda pode existir.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44068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FAZER EXISTIR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806440"/>
            <a:ext cx="4251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Ela não permanece apenas no campo da imaginação. Procura caminhos e transforma a possibilidade em realidade.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544068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AMPLIAR POSSIBILIDADES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5806440"/>
            <a:ext cx="4251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realização ganha sentido quando aquilo que ela constrói também cria valor, oportunidade ou transformação para outras pessoas.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800100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8321040"/>
            <a:ext cx="1389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1C1C1A"/>
                </a:solidFill>
                <a:latin typeface="Outfit 1 Light"/>
              </a:rPr>
              <a:t>Forte, determinada, criativa, sonhadora e visionária são características da Flávia. Mas são manifestações de uma lógica mais profunda: enxergar além e fazer existir.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17" name="Picture 16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0972800" cy="106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i="0" b="0">
                <a:solidFill>
                  <a:srgbClr val="1C1C1A"/>
                </a:solidFill>
                <a:latin typeface="Outfit 1 Light"/>
              </a:rPr>
              <a:t>As marcas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29-marcas.jpg"/>
          <p:cNvPicPr>
            <a:picLocks noChangeAspect="1"/>
          </p:cNvPicPr>
          <p:nvPr/>
        </p:nvPicPr>
        <p:blipFill>
          <a:blip r:embed="rId3"/>
          <a:srcRect t="3445" b="3445"/>
          <a:stretch>
            <a:fillRect/>
          </a:stretch>
        </p:blipFill>
        <p:spPr>
          <a:xfrm>
            <a:off x="0" y="0"/>
            <a:ext cx="621792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0"/>
            <a:ext cx="1207008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AS MARCAS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331720"/>
            <a:ext cx="1042416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Como essa essência se manifesta nas marcas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3192780"/>
            <a:ext cx="104241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9290304"/>
            <a:ext cx="10424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61188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Uma mesma essência. Duas manifestações diferentes.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4069080"/>
            <a:ext cx="104241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306824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9724A"/>
                </a:solidFill>
                <a:latin typeface="Outfit 1 Semi-Bold"/>
              </a:rPr>
              <a:t>A 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599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Dar forma ao que ainda é ideia.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120640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empresa representa o espaço que a Flávia buscava para criar, personalizar e construir segundo a sua própria visão. Esse mesmo movimento está na natureza do negócio: uma necessidade, uma ideia ou um sonho se transformam em projeto e ganham forma concreta.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6099048"/>
            <a:ext cx="104241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6336792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9724A"/>
                </a:solidFill>
                <a:latin typeface="Outfit 1 Semi-Bold"/>
              </a:rPr>
              <a:t>A MY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66294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i="0" b="0">
                <a:solidFill>
                  <a:srgbClr val="1C1C1A"/>
                </a:solidFill>
                <a:latin typeface="Outfit 1 Light"/>
              </a:rPr>
              <a:t>Reabrir possibilidades.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7150608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A marca nasce quando a Flávia questiona o destino dado às sobras da marcenaria. Onde havia descarte, ela enxergou matéria. Onde havia fim, ela enxergou um novo começo. Aquilo que havia encerrado a sua função ganhou uma nova possibilidade de existir.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823874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i="0" b="0">
                <a:solidFill>
                  <a:srgbClr val="A5A49F"/>
                </a:solidFill>
                <a:latin typeface="Outfit 1 Light"/>
              </a:rPr>
              <a:t>A Forma e a My Home são marcas diferentes e terão estratégias próprias. Mas as duas carregam, na origem, uma mesma forma de enxergar e transformar a realidade.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60704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0-estrategia.jpg"/>
          <p:cNvPicPr>
            <a:picLocks noChangeAspect="1"/>
          </p:cNvPicPr>
          <p:nvPr/>
        </p:nvPicPr>
        <p:blipFill>
          <a:blip r:embed="rId3"/>
          <a:srcRect t="12313" b="12313"/>
          <a:stretch>
            <a:fillRect/>
          </a:stretch>
        </p:blipFill>
        <p:spPr>
          <a:xfrm>
            <a:off x="10607040" y="0"/>
            <a:ext cx="768096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300">
                <a:solidFill>
                  <a:srgbClr val="A5A49F"/>
                </a:solidFill>
                <a:latin typeface="Outfit 2"/>
              </a:rPr>
              <a:t>PRÓXIMA 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77724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Da essência à estratégia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9278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290304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i="0" b="0" spc="220">
                <a:solidFill>
                  <a:srgbClr val="1C1C1A"/>
                </a:solidFill>
                <a:latin typeface="Outfit 2"/>
              </a:rPr>
              <a:t>REVELAÇÃO DE ESSÊNCIA</a:t>
            </a:r>
            <a:r>
              <a:rPr sz="1700" i="0" b="0" spc="220">
                <a:solidFill>
                  <a:srgbClr val="A5A49F"/>
                </a:solidFill>
                <a:latin typeface="Outfit 2"/>
              </a:rPr>
              <a:t>   |   </a:t>
            </a:r>
            <a:r>
              <a:rPr sz="17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69080"/>
            <a:ext cx="7772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Esta etapa revelou a essência da Flávia como fundadora: uma forma própria de enxergar e transformar a realidade que já existia antes da Forma e da My Home.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760720"/>
            <a:ext cx="77724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603504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 b="0" spc="220">
                <a:solidFill>
                  <a:srgbClr val="A5A49F"/>
                </a:solidFill>
                <a:latin typeface="Outfit 1 Semi-Bold"/>
              </a:rPr>
              <a:t>O QUE VEM A SEGUIR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6382512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i="0" b="0">
                <a:solidFill>
                  <a:srgbClr val="6B6B66"/>
                </a:solidFill>
                <a:latin typeface="Outfit 1 Light"/>
              </a:rPr>
              <a:t>Essa essência ajuda a compreender de onde as duas marcas vêm, mas não define, sozinha, quem cada marca precisa 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635240"/>
            <a:ext cx="7772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 Base Estratégica vai definir como essa origem se traduz em uma direção própria, relevante e diferenciada para a Forma e para a My Home.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416052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13898880" cy="179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A essência revela a origem.</a:t>
            </a:r>
          </a:p>
          <a:p>
            <a:pPr algn="l">
              <a:lnSpc>
                <a:spcPct val="130000"/>
              </a:lnSpc>
            </a:pPr>
            <a:r>
              <a:rPr sz="4600" i="0" b="0">
                <a:solidFill>
                  <a:srgbClr val="1C1C1A"/>
                </a:solidFill>
                <a:latin typeface="Outfit 1 Light"/>
              </a:rPr>
              <a:t>A estratégia define a direção.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9290304"/>
            <a:ext cx="7635240" cy="530352"/>
          </a:xfrm>
          <a:prstGeom prst="roundRect">
            <a:avLst>
              <a:gd name="adj" fmla="val 27586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9290304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 b="0" spc="220">
                <a:solidFill>
                  <a:srgbClr val="1C1C1A"/>
                </a:solidFill>
                <a:latin typeface="Outfit 1"/>
              </a:rPr>
              <a:t>REVELAÇÃO DE ESSÊNCIA</a:t>
            </a:r>
            <a:r>
              <a:rPr sz="1200" i="0" b="0" spc="220">
                <a:solidFill>
                  <a:srgbClr val="A5A49F"/>
                </a:solidFill>
                <a:latin typeface="Outfit 1"/>
              </a:rPr>
              <a:t>   |   </a:t>
            </a:r>
            <a:r>
              <a:rPr sz="1200" i="0" b="0" spc="220">
                <a:solidFill>
                  <a:srgbClr val="1C1C1A"/>
                </a:solidFill>
                <a:latin typeface="Outfit 1 Bold"/>
              </a:rPr>
              <a:t>FLÁVIA PEREIRA MUCCELIN</a:t>
            </a:r>
          </a:p>
        </p:txBody>
      </p:sp>
      <p:pic>
        <p:nvPicPr>
          <p:cNvPr id="8" name="Picture 7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0" y="923544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325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712" i="0" b="0">
                <a:solidFill>
                  <a:srgbClr val="1C1C1A"/>
                </a:solidFill>
                <a:latin typeface="Outfit 1 Light"/>
              </a:rPr>
              <a:t>MUITO 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