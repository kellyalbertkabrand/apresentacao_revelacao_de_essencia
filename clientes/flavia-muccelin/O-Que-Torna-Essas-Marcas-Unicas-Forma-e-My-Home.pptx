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embedTrueTypeFonts="true">
  <p:sldMasterIdLst>
    <p:sldMasterId id="2147483648" r:id="rId1"/>
  </p:sldMasterIdLst>
  <p:sldIdLst>
    <p:sldId id="256" r:id="rId19"/>
    <p:sldId id="257" r:id="rId20"/>
    <p:sldId id="258" r:id="rId21"/>
    <p:sldId id="259" r:id="rId22"/>
    <p:sldId id="260" r:id="rId23"/>
    <p:sldId id="261" r:id="rId24"/>
    <p:sldId id="262" r:id="rId25"/>
    <p:sldId id="263" r:id="rId26"/>
    <p:sldId id="264" r:id="rId27"/>
    <p:sldId id="265" r:id="rId28"/>
    <p:sldId id="266" r:id="rId29"/>
    <p:sldId id="267" r:id="rId30"/>
    <p:sldId id="268" r:id="rId31"/>
    <p:sldId id="269" r:id="rId32"/>
    <p:sldId id="270" r:id="rId33"/>
    <p:sldId id="271" r:id="rId34"/>
    <p:sldId id="272" r:id="rId35"/>
    <p:sldId id="273" r:id="rId36"/>
    <p:sldId id="274" r:id="rId18"/>
    <p:sldId id="275" r:id="rId17"/>
    <p:sldId id="276" r:id="rId16"/>
    <p:sldId id="277" r:id="rId15"/>
    <p:sldId id="278" r:id="rId14"/>
    <p:sldId id="279" r:id="rId13"/>
    <p:sldId id="280" r:id="rId12"/>
    <p:sldId id="281" r:id="rId11"/>
    <p:sldId id="282" r:id="rId10"/>
    <p:sldId id="283" r:id="rId9"/>
    <p:sldId id="284" r:id="rId8"/>
    <p:sldId id="285" r:id="rId7"/>
    <p:sldId id="286" r:id="rId6"/>
    <p:sldId id="287" r:id="rId50"/>
    <p:sldId id="288" r:id="rId51"/>
    <p:sldId id="289" r:id="rId52"/>
    <p:sldId id="290" r:id="rId53"/>
    <p:sldId id="291" r:id="rId54"/>
    <p:sldId id="292" r:id="rId55"/>
    <p:sldId id="293" r:id="rId56"/>
    <p:sldId id="294" r:id="rId57"/>
    <p:sldId id="295" r:id="rId58"/>
    <p:sldId id="296" r:id="rId59"/>
    <p:sldId id="297" r:id="rId60"/>
    <p:sldId id="298" r:id="rId61"/>
    <p:sldId id="299" r:id="rId62"/>
    <p:sldId id="300" r:id="rId63"/>
    <p:sldId id="301" r:id="rId64"/>
    <p:sldId id="302" r:id="rId65"/>
    <p:sldId id="303" r:id="rId66"/>
    <p:sldId id="304" r:id="rId67"/>
    <p:sldId id="305" r:id="rId68"/>
    <p:sldId id="306" r:id="rId69"/>
    <p:sldId id="307" r:id="rId70"/>
    <p:sldId id="308" r:id="rId71"/>
    <p:sldId id="309" r:id="rId72"/>
    <p:sldId id="310" r:id="rId73"/>
    <p:sldId id="311" r:id="rId74"/>
    <p:sldId id="312" r:id="rId75"/>
    <p:sldId id="313" r:id="rId76"/>
    <p:sldId id="314" r:id="rId77"/>
    <p:sldId id="315" r:id="rId78"/>
  </p:sldIdLst>
  <p:sldSz cx="18288000" cy="10287000"/>
  <p:notesSz cx="6858000" cy="9144000"/>
  <p:embeddedFontLst>
    <p:embeddedFont>
      <p:font typeface="Koho" charset="1" panose="00000500000000000000"/>
      <p:regular r:id="rId37"/>
    </p:embeddedFont>
    <p:embeddedFont>
      <p:font typeface="Koho Medium" charset="1" panose="00000600000000000000"/>
      <p:regular r:id="rId38"/>
    </p:embeddedFont>
    <p:embeddedFont>
      <p:font typeface="Outfit 1 Medium" charset="1" panose="00000000000000000000"/>
      <p:regular r:id="rId39"/>
    </p:embeddedFont>
    <p:embeddedFont>
      <p:font typeface="IBM Plex Sans Thai" charset="1" panose="020B0503050203000203"/>
      <p:regular r:id="rId40"/>
    </p:embeddedFont>
    <p:embeddedFont>
      <p:font typeface="Outfit 2 Light" charset="1" panose="00000000000000000000"/>
      <p:regular r:id="rId41"/>
    </p:embeddedFont>
    <p:embeddedFont>
      <p:font typeface="Outfit 2 Medium" charset="1" panose="00000000000000000000"/>
      <p:regular r:id="rId42"/>
    </p:embeddedFont>
    <p:embeddedFont>
      <p:font typeface="Outfit 2 Semi-Bold" charset="1" panose="00000000000000000000"/>
      <p:regular r:id="rId43"/>
    </p:embeddedFont>
    <p:embeddedFont>
      <p:font typeface="Playfair Display" charset="1" panose="02000503000000020003"/>
      <p:regular r:id="rId44"/>
    </p:embeddedFont>
    <p:embeddedFont>
      <p:font typeface="Outfit 1 Bold" charset="1" panose="00000000000000000000"/>
      <p:regular r:id="rId45"/>
    </p:embeddedFont>
    <p:embeddedFont>
      <p:font typeface="Outfit 1" charset="1" panose="00000000000000000000"/>
      <p:regular r:id="rId46"/>
    </p:embeddedFont>
    <p:embeddedFont>
      <p:font typeface="Outfit 1 Semi-Bold" charset="1" panose="00000000000000000000"/>
      <p:regular r:id="rId47"/>
    </p:embeddedFont>
    <p:embeddedFont>
      <p:font typeface="Outfit 1 Light" charset="1" panose="00000000000000000000"/>
      <p:regular r:id="rId48"/>
    </p:embeddedFont>
    <p:embeddedFont>
      <p:font typeface="Outfit 1 Ultra-Bold" charset="1" panose="00000000000000000000"/>
      <p:regular r:id="rId49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 autoAdjust="0"/>
    <p:restoredTop sz="94622" autoAdjust="0"/>
  </p:normalViewPr>
  <p:slideViewPr>
    <p:cSldViewPr>
      <p:cViewPr varScale="1">
        <p:scale>
          <a:sx n="74" d="100"/>
          <a:sy n="74" d="100"/>
        </p:scale>
        <p:origin x="-1092" y="-90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esProps" Target="presProps.xml"/><Relationship Id="rId3" Type="http://schemas.openxmlformats.org/officeDocument/2006/relationships/viewProps" Target="viewProps.xml"/><Relationship Id="rId4" Type="http://schemas.openxmlformats.org/officeDocument/2006/relationships/theme" Target="theme/theme1.xml"/><Relationship Id="rId5" Type="http://schemas.openxmlformats.org/officeDocument/2006/relationships/tableStyles" Target="tableStyles.xml"/><Relationship Id="rId6" Type="http://schemas.openxmlformats.org/officeDocument/2006/relationships/slide" Target="slides/slide31.xml"/><Relationship Id="rId7" Type="http://schemas.openxmlformats.org/officeDocument/2006/relationships/slide" Target="slides/slide30.xml"/><Relationship Id="rId8" Type="http://schemas.openxmlformats.org/officeDocument/2006/relationships/slide" Target="slides/slide29.xml"/><Relationship Id="rId9" Type="http://schemas.openxmlformats.org/officeDocument/2006/relationships/slide" Target="slides/slide28.xml"/><Relationship Id="rId10" Type="http://schemas.openxmlformats.org/officeDocument/2006/relationships/slide" Target="slides/slide27.xml"/><Relationship Id="rId11" Type="http://schemas.openxmlformats.org/officeDocument/2006/relationships/slide" Target="slides/slide26.xml"/><Relationship Id="rId12" Type="http://schemas.openxmlformats.org/officeDocument/2006/relationships/slide" Target="slides/slide25.xml"/><Relationship Id="rId13" Type="http://schemas.openxmlformats.org/officeDocument/2006/relationships/slide" Target="slides/slide24.xml"/><Relationship Id="rId14" Type="http://schemas.openxmlformats.org/officeDocument/2006/relationships/slide" Target="slides/slide23.xml"/><Relationship Id="rId15" Type="http://schemas.openxmlformats.org/officeDocument/2006/relationships/slide" Target="slides/slide22.xml"/><Relationship Id="rId16" Type="http://schemas.openxmlformats.org/officeDocument/2006/relationships/slide" Target="slides/slide21.xml"/><Relationship Id="rId17" Type="http://schemas.openxmlformats.org/officeDocument/2006/relationships/slide" Target="slides/slide20.xml"/><Relationship Id="rId18" Type="http://schemas.openxmlformats.org/officeDocument/2006/relationships/slide" Target="slides/slide19.xml"/><Relationship Id="rId19" Type="http://schemas.openxmlformats.org/officeDocument/2006/relationships/slide" Target="slides/slide1.xml"/><Relationship Id="rId20" Type="http://schemas.openxmlformats.org/officeDocument/2006/relationships/slide" Target="slides/slide2.xml"/><Relationship Id="rId21" Type="http://schemas.openxmlformats.org/officeDocument/2006/relationships/slide" Target="slides/slide3.xml"/><Relationship Id="rId22" Type="http://schemas.openxmlformats.org/officeDocument/2006/relationships/slide" Target="slides/slide4.xml"/><Relationship Id="rId23" Type="http://schemas.openxmlformats.org/officeDocument/2006/relationships/slide" Target="slides/slide5.xml"/><Relationship Id="rId24" Type="http://schemas.openxmlformats.org/officeDocument/2006/relationships/slide" Target="slides/slide6.xml"/><Relationship Id="rId25" Type="http://schemas.openxmlformats.org/officeDocument/2006/relationships/slide" Target="slides/slide7.xml"/><Relationship Id="rId26" Type="http://schemas.openxmlformats.org/officeDocument/2006/relationships/slide" Target="slides/slide8.xml"/><Relationship Id="rId27" Type="http://schemas.openxmlformats.org/officeDocument/2006/relationships/slide" Target="slides/slide9.xml"/><Relationship Id="rId28" Type="http://schemas.openxmlformats.org/officeDocument/2006/relationships/slide" Target="slides/slide10.xml"/><Relationship Id="rId29" Type="http://schemas.openxmlformats.org/officeDocument/2006/relationships/slide" Target="slides/slide11.xml"/><Relationship Id="rId30" Type="http://schemas.openxmlformats.org/officeDocument/2006/relationships/slide" Target="slides/slide12.xml"/><Relationship Id="rId31" Type="http://schemas.openxmlformats.org/officeDocument/2006/relationships/slide" Target="slides/slide13.xml"/><Relationship Id="rId32" Type="http://schemas.openxmlformats.org/officeDocument/2006/relationships/slide" Target="slides/slide14.xml"/><Relationship Id="rId33" Type="http://schemas.openxmlformats.org/officeDocument/2006/relationships/slide" Target="slides/slide15.xml"/><Relationship Id="rId34" Type="http://schemas.openxmlformats.org/officeDocument/2006/relationships/slide" Target="slides/slide16.xml"/><Relationship Id="rId35" Type="http://schemas.openxmlformats.org/officeDocument/2006/relationships/slide" Target="slides/slide17.xml"/><Relationship Id="rId36" Type="http://schemas.openxmlformats.org/officeDocument/2006/relationships/slide" Target="slides/slide18.xml"/><Relationship Id="rId37" Type="http://schemas.openxmlformats.org/officeDocument/2006/relationships/font" Target="fonts/font37.fntdata"/><Relationship Id="rId38" Type="http://schemas.openxmlformats.org/officeDocument/2006/relationships/font" Target="fonts/font38.fntdata"/><Relationship Id="rId39" Type="http://schemas.openxmlformats.org/officeDocument/2006/relationships/font" Target="fonts/font39.fntdata"/><Relationship Id="rId40" Type="http://schemas.openxmlformats.org/officeDocument/2006/relationships/font" Target="fonts/font40.fntdata"/><Relationship Id="rId41" Type="http://schemas.openxmlformats.org/officeDocument/2006/relationships/font" Target="fonts/font41.fntdata"/><Relationship Id="rId42" Type="http://schemas.openxmlformats.org/officeDocument/2006/relationships/font" Target="fonts/font42.fntdata"/><Relationship Id="rId43" Type="http://schemas.openxmlformats.org/officeDocument/2006/relationships/font" Target="fonts/font43.fntdata"/><Relationship Id="rId44" Type="http://schemas.openxmlformats.org/officeDocument/2006/relationships/font" Target="fonts/font44.fntdata"/><Relationship Id="rId45" Type="http://schemas.openxmlformats.org/officeDocument/2006/relationships/font" Target="fonts/font45.fntdata"/><Relationship Id="rId46" Type="http://schemas.openxmlformats.org/officeDocument/2006/relationships/font" Target="fonts/font46.fntdata"/><Relationship Id="rId47" Type="http://schemas.openxmlformats.org/officeDocument/2006/relationships/font" Target="fonts/font47.fntdata"/><Relationship Id="rId48" Type="http://schemas.openxmlformats.org/officeDocument/2006/relationships/font" Target="fonts/font48.fntdata"/><Relationship Id="rId49" Type="http://schemas.openxmlformats.org/officeDocument/2006/relationships/font" Target="fonts/font49.fntdata"/><Relationship Id="rId50" Type="http://schemas.openxmlformats.org/officeDocument/2006/relationships/slide" Target="slides/slide32.xml"/><Relationship Id="rId51" Type="http://schemas.openxmlformats.org/officeDocument/2006/relationships/slide" Target="slides/slide33.xml"/><Relationship Id="rId52" Type="http://schemas.openxmlformats.org/officeDocument/2006/relationships/slide" Target="slides/slide34.xml"/><Relationship Id="rId53" Type="http://schemas.openxmlformats.org/officeDocument/2006/relationships/slide" Target="slides/slide35.xml"/><Relationship Id="rId54" Type="http://schemas.openxmlformats.org/officeDocument/2006/relationships/slide" Target="slides/slide36.xml"/><Relationship Id="rId55" Type="http://schemas.openxmlformats.org/officeDocument/2006/relationships/slide" Target="slides/slide37.xml"/><Relationship Id="rId56" Type="http://schemas.openxmlformats.org/officeDocument/2006/relationships/slide" Target="slides/slide38.xml"/><Relationship Id="rId57" Type="http://schemas.openxmlformats.org/officeDocument/2006/relationships/slide" Target="slides/slide39.xml"/><Relationship Id="rId58" Type="http://schemas.openxmlformats.org/officeDocument/2006/relationships/slide" Target="slides/slide40.xml"/><Relationship Id="rId59" Type="http://schemas.openxmlformats.org/officeDocument/2006/relationships/slide" Target="slides/slide41.xml"/><Relationship Id="rId60" Type="http://schemas.openxmlformats.org/officeDocument/2006/relationships/slide" Target="slides/slide42.xml"/><Relationship Id="rId61" Type="http://schemas.openxmlformats.org/officeDocument/2006/relationships/slide" Target="slides/slide43.xml"/><Relationship Id="rId62" Type="http://schemas.openxmlformats.org/officeDocument/2006/relationships/slide" Target="slides/slide44.xml"/><Relationship Id="rId63" Type="http://schemas.openxmlformats.org/officeDocument/2006/relationships/slide" Target="slides/slide45.xml"/><Relationship Id="rId64" Type="http://schemas.openxmlformats.org/officeDocument/2006/relationships/slide" Target="slides/slide46.xml"/><Relationship Id="rId65" Type="http://schemas.openxmlformats.org/officeDocument/2006/relationships/slide" Target="slides/slide47.xml"/><Relationship Id="rId66" Type="http://schemas.openxmlformats.org/officeDocument/2006/relationships/slide" Target="slides/slide48.xml"/><Relationship Id="rId67" Type="http://schemas.openxmlformats.org/officeDocument/2006/relationships/slide" Target="slides/slide49.xml"/><Relationship Id="rId68" Type="http://schemas.openxmlformats.org/officeDocument/2006/relationships/slide" Target="slides/slide50.xml"/><Relationship Id="rId69" Type="http://schemas.openxmlformats.org/officeDocument/2006/relationships/slide" Target="slides/slide51.xml"/><Relationship Id="rId70" Type="http://schemas.openxmlformats.org/officeDocument/2006/relationships/slide" Target="slides/slide52.xml"/><Relationship Id="rId71" Type="http://schemas.openxmlformats.org/officeDocument/2006/relationships/slide" Target="slides/slide53.xml"/><Relationship Id="rId72" Type="http://schemas.openxmlformats.org/officeDocument/2006/relationships/slide" Target="slides/slide54.xml"/><Relationship Id="rId73" Type="http://schemas.openxmlformats.org/officeDocument/2006/relationships/slide" Target="slides/slide55.xml"/><Relationship Id="rId74" Type="http://schemas.openxmlformats.org/officeDocument/2006/relationships/slide" Target="slides/slide56.xml"/><Relationship Id="rId75" Type="http://schemas.openxmlformats.org/officeDocument/2006/relationships/slide" Target="slides/slide57.xml"/><Relationship Id="rId76" Type="http://schemas.openxmlformats.org/officeDocument/2006/relationships/slide" Target="slides/slide58.xml"/><Relationship Id="rId77" Type="http://schemas.openxmlformats.org/officeDocument/2006/relationships/slide" Target="slides/slide59.xml"/><Relationship Id="rId78" Type="http://schemas.openxmlformats.org/officeDocument/2006/relationships/slide" Target="slides/slide6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7F2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xtura-ondas.jpeg"/>
          <p:cNvPicPr>
            <a:picLocks noChangeAspect="1"/>
          </p:cNvPicPr>
          <p:nvPr/>
        </p:nvPicPr>
        <p:blipFill>
          <a:blip r:embed="rId2">
            <a:alphaModFix amt="32000"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pic>
        <p:nvPicPr>
          <p:cNvPr id="3" name="Picture 2" descr="logo-kelly-alber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46120" y="4617720"/>
            <a:ext cx="3931920" cy="934452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9006840" y="4206240"/>
            <a:ext cx="12802" cy="1691640"/>
          </a:xfrm>
          <a:prstGeom prst="rect">
            <a:avLst/>
          </a:prstGeom>
          <a:solidFill>
            <a:srgbClr val="A5A4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-vm-rock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966960" y="4434840"/>
            <a:ext cx="4023360" cy="115242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7F2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xtura-ondas.jpeg"/>
          <p:cNvPicPr>
            <a:picLocks noChangeAspect="1"/>
          </p:cNvPicPr>
          <p:nvPr/>
        </p:nvPicPr>
        <p:blipFill>
          <a:blip r:embed="rId2">
            <a:alphaModFix amt="32000"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pic>
        <p:nvPicPr>
          <p:cNvPr id="3" name="Picture 2" descr="trac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785848" y="3364992"/>
            <a:ext cx="1490472" cy="1779572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536192" y="3593592"/>
            <a:ext cx="13551408" cy="2476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8549"/>
              </a:lnSpc>
            </a:pPr>
            <a:r>
              <a:rPr sz="7500" i="0" b="0" spc="300">
                <a:solidFill>
                  <a:srgbClr val="1C1C1A"/>
                </a:solidFill>
                <a:latin typeface="Outfit 1 Bold"/>
              </a:rPr>
              <a:t>O QUE TORNA</a:t>
            </a:r>
          </a:p>
          <a:p>
            <a:pPr algn="l">
              <a:lnSpc>
                <a:spcPts val="8549"/>
              </a:lnSpc>
            </a:pPr>
            <a:r>
              <a:rPr sz="7500" i="0" b="0" spc="300">
                <a:solidFill>
                  <a:srgbClr val="1C1C1A"/>
                </a:solidFill>
                <a:latin typeface="Outfit 1 Bold"/>
              </a:rPr>
              <a:t>ESSAS MARCAS ÚNICAS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536192" y="6179820"/>
            <a:ext cx="13551408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3000" i="0" b="0">
                <a:solidFill>
                  <a:srgbClr val="1C1C1A"/>
                </a:solidFill>
                <a:latin typeface="Outfit 1 Bold"/>
              </a:rPr>
              <a:t>Cultura Organizacional e Cultura de Marca</a:t>
            </a:r>
            <a:r>
              <a:rPr sz="3000" i="0" b="0">
                <a:solidFill>
                  <a:srgbClr val="1C1C1A"/>
                </a:solidFill>
                <a:latin typeface="Outfit 1"/>
              </a:rPr>
              <a:t>  |  FORMA · MY HOME</a:t>
            </a:r>
          </a:p>
        </p:txBody>
      </p:sp>
      <p:sp>
        <p:nvSpPr>
          <p:cNvPr id="6" name="Rectangle 5"/>
          <p:cNvSpPr/>
          <p:nvPr/>
        </p:nvSpPr>
        <p:spPr>
          <a:xfrm>
            <a:off x="1545336" y="7790688"/>
            <a:ext cx="10973" cy="896112"/>
          </a:xfrm>
          <a:prstGeom prst="rect">
            <a:avLst/>
          </a:prstGeom>
          <a:solidFill>
            <a:srgbClr val="A5A4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764024" y="7790688"/>
            <a:ext cx="10973" cy="896112"/>
          </a:xfrm>
          <a:prstGeom prst="rect">
            <a:avLst/>
          </a:prstGeom>
          <a:solidFill>
            <a:srgbClr val="A5A4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488936" y="7790688"/>
            <a:ext cx="10973" cy="896112"/>
          </a:xfrm>
          <a:prstGeom prst="rect">
            <a:avLst/>
          </a:prstGeom>
          <a:solidFill>
            <a:srgbClr val="A5A4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9692640" y="7790688"/>
            <a:ext cx="10973" cy="896112"/>
          </a:xfrm>
          <a:prstGeom prst="rect">
            <a:avLst/>
          </a:prstGeom>
          <a:solidFill>
            <a:srgbClr val="A5A4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logo-k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457133" y="6494587"/>
            <a:ext cx="3459591" cy="3459591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983480" y="7964424"/>
            <a:ext cx="23774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</a:pPr>
            <a:r>
              <a:rPr sz="2680" i="0" b="0">
                <a:solidFill>
                  <a:srgbClr val="1C1C1A"/>
                </a:solidFill>
                <a:latin typeface="Outfit 2 Light"/>
              </a:rPr>
              <a:t>Método </a:t>
            </a:r>
            <a:r>
              <a:rPr sz="2680" i="0" b="0">
                <a:solidFill>
                  <a:srgbClr val="1C1C1A"/>
                </a:solidFill>
                <a:latin typeface="Outfit 2 Semi-Bold"/>
              </a:rPr>
              <a:t>Marca</a:t>
            </a:r>
          </a:p>
          <a:p>
            <a:pPr algn="l">
              <a:lnSpc>
                <a:spcPct val="95000"/>
              </a:lnSpc>
            </a:pPr>
            <a:r>
              <a:rPr sz="2680" i="0" b="0">
                <a:solidFill>
                  <a:srgbClr val="1C1C1A"/>
                </a:solidFill>
                <a:latin typeface="Outfit 2 Semi-Bold"/>
              </a:rPr>
              <a:t>com Essência</a:t>
            </a:r>
            <a:r>
              <a:rPr sz="1470" i="0" b="0">
                <a:solidFill>
                  <a:srgbClr val="1C1C1A"/>
                </a:solidFill>
                <a:latin typeface="Outfit 2"/>
              </a:rPr>
              <a:t>©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543800" y="8156448"/>
            <a:ext cx="2103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ts val="2729"/>
              </a:lnSpc>
            </a:pPr>
            <a:r>
              <a:rPr sz="1950" i="0" b="0">
                <a:solidFill>
                  <a:srgbClr val="1C1C1A"/>
                </a:solidFill>
                <a:latin typeface="Outfit 1"/>
              </a:rPr>
              <a:t>OUTUBRO/2026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7F2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xtura-ondas.jpeg"/>
          <p:cNvPicPr>
            <a:picLocks noChangeAspect="1"/>
          </p:cNvPicPr>
          <p:nvPr/>
        </p:nvPicPr>
        <p:blipFill>
          <a:blip r:embed="rId2">
            <a:alphaModFix amt="32000"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1005840" y="1005840"/>
            <a:ext cx="16276320" cy="7772400"/>
          </a:xfrm>
          <a:prstGeom prst="roundRect">
            <a:avLst>
              <a:gd name="adj" fmla="val 2117"/>
            </a:avLst>
          </a:prstGeom>
          <a:solidFill>
            <a:srgbClr val="F8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2011680" y="3895852"/>
            <a:ext cx="1188720" cy="27432"/>
          </a:xfrm>
          <a:prstGeom prst="rect">
            <a:avLst/>
          </a:prstGeom>
          <a:solidFill>
            <a:srgbClr val="CC75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011680" y="4298188"/>
            <a:ext cx="14081760" cy="159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5180"/>
              </a:lnSpc>
            </a:pPr>
            <a:r>
              <a:rPr sz="3700" i="0" b="0">
                <a:solidFill>
                  <a:srgbClr val="323330"/>
                </a:solidFill>
                <a:latin typeface="Outfit 1 Light"/>
              </a:rPr>
              <a:t>Uma história que construiu uma cultura.</a:t>
            </a:r>
          </a:p>
          <a:p>
            <a:pPr algn="l">
              <a:lnSpc>
                <a:spcPts val="5180"/>
              </a:lnSpc>
            </a:pPr>
            <a:r>
              <a:rPr sz="3700" i="0" b="0">
                <a:solidFill>
                  <a:srgbClr val="323330"/>
                </a:solidFill>
                <a:latin typeface="Outfit 1 Light"/>
              </a:rPr>
              <a:t>Uma cultura que sustenta duas marcas.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7F2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xtura-ondas.jpeg"/>
          <p:cNvPicPr>
            <a:picLocks noChangeAspect="1"/>
          </p:cNvPicPr>
          <p:nvPr/>
        </p:nvPicPr>
        <p:blipFill>
          <a:blip r:embed="rId2">
            <a:alphaModFix amt="32000"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1005840" y="1005840"/>
            <a:ext cx="16276320" cy="7772400"/>
          </a:xfrm>
          <a:prstGeom prst="roundRect">
            <a:avLst>
              <a:gd name="adj" fmla="val 2117"/>
            </a:avLst>
          </a:prstGeom>
          <a:solidFill>
            <a:srgbClr val="F8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664208" y="804672"/>
            <a:ext cx="1426464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7800"/>
              </a:lnSpc>
            </a:pPr>
            <a:r>
              <a:rPr sz="7800" i="0" b="0">
                <a:solidFill>
                  <a:srgbClr val="1C1C1A"/>
                </a:solidFill>
                <a:latin typeface="Outfit 1 Ultra-Bold"/>
              </a:rPr>
              <a:t>O CAMINHO</a:t>
            </a:r>
          </a:p>
        </p:txBody>
      </p:sp>
      <p:sp>
        <p:nvSpPr>
          <p:cNvPr id="5" name="Rectangle 4"/>
          <p:cNvSpPr/>
          <p:nvPr/>
        </p:nvSpPr>
        <p:spPr>
          <a:xfrm>
            <a:off x="2011680" y="2697480"/>
            <a:ext cx="14264640" cy="10973"/>
          </a:xfrm>
          <a:prstGeom prst="rect">
            <a:avLst/>
          </a:prstGeom>
          <a:solidFill>
            <a:srgbClr val="A5A4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011680" y="2953512"/>
            <a:ext cx="100584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170"/>
              </a:lnSpc>
            </a:pPr>
            <a:r>
              <a:rPr sz="1550" i="0" b="0" spc="240">
                <a:solidFill>
                  <a:srgbClr val="CC754E"/>
                </a:solidFill>
                <a:latin typeface="Outfit 1 Semi-Bold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11880" y="2843784"/>
            <a:ext cx="12664440" cy="4508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500"/>
              </a:lnSpc>
            </a:pPr>
            <a:r>
              <a:rPr sz="2500" i="0" b="0">
                <a:solidFill>
                  <a:srgbClr val="1C1C1A"/>
                </a:solidFill>
                <a:latin typeface="Outfit 1 Light"/>
              </a:rPr>
              <a:t>Cultura organizacional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11880" y="3294634"/>
            <a:ext cx="12664440" cy="3429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520"/>
              </a:lnSpc>
            </a:pPr>
            <a:r>
              <a:rPr sz="1800" i="0" b="0">
                <a:solidFill>
                  <a:srgbClr val="A5A49F"/>
                </a:solidFill>
                <a:latin typeface="Outfit 1 Light"/>
              </a:rPr>
              <a:t>A história, as crenças e os comportamentos que conectam as duas empresas.</a:t>
            </a:r>
          </a:p>
        </p:txBody>
      </p:sp>
      <p:sp>
        <p:nvSpPr>
          <p:cNvPr id="9" name="Rectangle 8"/>
          <p:cNvSpPr/>
          <p:nvPr/>
        </p:nvSpPr>
        <p:spPr>
          <a:xfrm>
            <a:off x="2011680" y="4183380"/>
            <a:ext cx="14264640" cy="10973"/>
          </a:xfrm>
          <a:prstGeom prst="rect">
            <a:avLst/>
          </a:prstGeom>
          <a:solidFill>
            <a:srgbClr val="A5A4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011680" y="4439412"/>
            <a:ext cx="100584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170"/>
              </a:lnSpc>
            </a:pPr>
            <a:r>
              <a:rPr sz="1550" i="0" b="0" spc="240">
                <a:solidFill>
                  <a:srgbClr val="CC754E"/>
                </a:solidFill>
                <a:latin typeface="Outfit 1 Semi-Bold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11880" y="4329684"/>
            <a:ext cx="12664440" cy="4508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500"/>
              </a:lnSpc>
            </a:pPr>
            <a:r>
              <a:rPr sz="2500" i="0" b="0">
                <a:solidFill>
                  <a:srgbClr val="1C1C1A"/>
                </a:solidFill>
                <a:latin typeface="Outfit 1 Light"/>
              </a:rPr>
              <a:t>Cultura de marca Forma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11880" y="4780534"/>
            <a:ext cx="12664440" cy="3429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520"/>
              </a:lnSpc>
            </a:pPr>
            <a:r>
              <a:rPr sz="1800" i="0" b="0">
                <a:solidFill>
                  <a:srgbClr val="A5A49F"/>
                </a:solidFill>
                <a:latin typeface="Outfit 1 Light"/>
              </a:rPr>
              <a:t>A capacidade de transformar projetos complexos em confiança.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011680" y="5669280"/>
            <a:ext cx="14264640" cy="10973"/>
          </a:xfrm>
          <a:prstGeom prst="rect">
            <a:avLst/>
          </a:prstGeom>
          <a:solidFill>
            <a:srgbClr val="A5A4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011680" y="5925312"/>
            <a:ext cx="100584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170"/>
              </a:lnSpc>
            </a:pPr>
            <a:r>
              <a:rPr sz="1550" i="0" b="0" spc="240">
                <a:solidFill>
                  <a:srgbClr val="CC754E"/>
                </a:solidFill>
                <a:latin typeface="Outfit 1 Semi-Bold"/>
              </a:rPr>
              <a:t>03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11880" y="5815584"/>
            <a:ext cx="12664440" cy="4508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500"/>
              </a:lnSpc>
            </a:pPr>
            <a:r>
              <a:rPr sz="2500" i="0" b="0">
                <a:solidFill>
                  <a:srgbClr val="1C1C1A"/>
                </a:solidFill>
                <a:latin typeface="Outfit 1 Light"/>
              </a:rPr>
              <a:t>Cultura de marca My Home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11880" y="6266434"/>
            <a:ext cx="12664440" cy="3429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520"/>
              </a:lnSpc>
            </a:pPr>
            <a:r>
              <a:rPr sz="1800" i="0" b="0">
                <a:solidFill>
                  <a:srgbClr val="A5A49F"/>
                </a:solidFill>
                <a:latin typeface="Outfit 1 Light"/>
              </a:rPr>
              <a:t>A capacidade de transformar possibilidades em criação.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011680" y="7155180"/>
            <a:ext cx="14264640" cy="10973"/>
          </a:xfrm>
          <a:prstGeom prst="rect">
            <a:avLst/>
          </a:prstGeom>
          <a:solidFill>
            <a:srgbClr val="A5A4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011680" y="7411212"/>
            <a:ext cx="100584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170"/>
              </a:lnSpc>
            </a:pPr>
            <a:r>
              <a:rPr sz="1550" i="0" b="0" spc="240">
                <a:solidFill>
                  <a:srgbClr val="CC754E"/>
                </a:solidFill>
                <a:latin typeface="Outfit 1 Semi-Bold"/>
              </a:rPr>
              <a:t>04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11880" y="7301484"/>
            <a:ext cx="12664440" cy="4508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500"/>
              </a:lnSpc>
            </a:pPr>
            <a:r>
              <a:rPr sz="2500" i="0" b="0">
                <a:solidFill>
                  <a:srgbClr val="1C1C1A"/>
                </a:solidFill>
                <a:latin typeface="Outfit 1 Light"/>
              </a:rPr>
              <a:t>Síntese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11880" y="7752334"/>
            <a:ext cx="12664440" cy="3429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520"/>
              </a:lnSpc>
            </a:pPr>
            <a:r>
              <a:rPr sz="1800" i="0" b="0">
                <a:solidFill>
                  <a:srgbClr val="A5A49F"/>
                </a:solidFill>
                <a:latin typeface="Outfit 1 Light"/>
              </a:rPr>
              <a:t>O que compartilham e o que torna cada marca singular.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011680" y="8641080"/>
            <a:ext cx="14264640" cy="10973"/>
          </a:xfrm>
          <a:prstGeom prst="rect">
            <a:avLst/>
          </a:prstGeom>
          <a:solidFill>
            <a:srgbClr val="A5A4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7F2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xtura-ondas.jpeg"/>
          <p:cNvPicPr>
            <a:picLocks noChangeAspect="1"/>
          </p:cNvPicPr>
          <p:nvPr/>
        </p:nvPicPr>
        <p:blipFill>
          <a:blip r:embed="rId2">
            <a:alphaModFix amt="32000"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3233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011680" y="3485070"/>
            <a:ext cx="152476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ts val="1959"/>
              </a:lnSpc>
            </a:pPr>
            <a:r>
              <a:rPr sz="1400" i="0" b="0" spc="300">
                <a:solidFill>
                  <a:srgbClr val="C6986E"/>
                </a:solidFill>
                <a:latin typeface="Outfit 1 Semi-Bold"/>
              </a:rP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011680" y="3960558"/>
            <a:ext cx="15247620" cy="13493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ts val="9185"/>
              </a:lnSpc>
            </a:pPr>
            <a:r>
              <a:rPr sz="8350" i="0" b="0">
                <a:solidFill>
                  <a:srgbClr val="FFFFFF"/>
                </a:solidFill>
                <a:latin typeface="Outfit 1 Bold"/>
              </a:rPr>
              <a:t>CULTURA ORGANIZACIONAL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011680" y="5383086"/>
            <a:ext cx="15247620" cy="6233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ts val="3827"/>
              </a:lnSpc>
            </a:pPr>
            <a:r>
              <a:rPr sz="3300" i="0" b="0">
                <a:solidFill>
                  <a:srgbClr val="FFFFFF"/>
                </a:solidFill>
                <a:latin typeface="Outfit 1 Light"/>
              </a:rPr>
              <a:t>A história, as crenças e os comportamentos que conectam as duas empresas.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011680" y="8293100"/>
            <a:ext cx="11521440" cy="4119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i="0" b="0" spc="300">
                <a:solidFill>
                  <a:srgbClr val="C6986E"/>
                </a:solidFill>
                <a:latin typeface="Outfit 1 Semi-Bold"/>
              </a:rPr>
              <a:t>IMAGEM   </a:t>
            </a:r>
            <a:r>
              <a:rPr sz="1700" i="0" b="0">
                <a:solidFill>
                  <a:srgbClr val="C9C7C0"/>
                </a:solidFill>
                <a:latin typeface="Outfit 1 Light"/>
              </a:rPr>
              <a:t>A oficina com várias pessoas trabalhando ao mesmo tempo. Plano aberto, o coletivo em ação.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7F2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xtura-ondas.jpeg"/>
          <p:cNvPicPr>
            <a:picLocks noChangeAspect="1"/>
          </p:cNvPicPr>
          <p:nvPr/>
        </p:nvPicPr>
        <p:blipFill>
          <a:blip r:embed="rId2">
            <a:alphaModFix amt="32000"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1005840" y="1005840"/>
            <a:ext cx="16276320" cy="7772400"/>
          </a:xfrm>
          <a:prstGeom prst="roundRect">
            <a:avLst>
              <a:gd name="adj" fmla="val 2117"/>
            </a:avLst>
          </a:prstGeom>
          <a:solidFill>
            <a:srgbClr val="F8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011680" y="3549015"/>
            <a:ext cx="14264640" cy="100507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5754"/>
              </a:lnSpc>
            </a:pPr>
            <a:r>
              <a:rPr sz="4200" i="0" b="0">
                <a:solidFill>
                  <a:srgbClr val="1C1C1A"/>
                </a:solidFill>
                <a:latin typeface="Outfit 1 Light"/>
              </a:rPr>
              <a:t>O QUE É </a:t>
            </a:r>
            <a:r>
              <a:rPr sz="4200" i="0" b="0">
                <a:solidFill>
                  <a:srgbClr val="1C1C1A"/>
                </a:solidFill>
                <a:latin typeface="Outfit 1 Bold"/>
              </a:rPr>
              <a:t>CULTURA ORGANIZACIONAL</a:t>
            </a:r>
            <a:r>
              <a:rPr sz="4200" i="0" b="0">
                <a:solidFill>
                  <a:srgbClr val="1C1C1A"/>
                </a:solidFill>
                <a:latin typeface="Outfit 1 Light"/>
              </a:rPr>
              <a:t>?</a:t>
            </a:r>
          </a:p>
        </p:txBody>
      </p:sp>
      <p:sp>
        <p:nvSpPr>
          <p:cNvPr id="5" name="Rectangle 4"/>
          <p:cNvSpPr/>
          <p:nvPr/>
        </p:nvSpPr>
        <p:spPr>
          <a:xfrm>
            <a:off x="2011680" y="4462653"/>
            <a:ext cx="14264640" cy="10973"/>
          </a:xfrm>
          <a:prstGeom prst="rect">
            <a:avLst/>
          </a:prstGeom>
          <a:solidFill>
            <a:srgbClr val="A5A4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011680" y="4810125"/>
            <a:ext cx="12252960" cy="14249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500"/>
              </a:lnSpc>
            </a:pPr>
            <a:r>
              <a:rPr sz="2500" i="0" b="0">
                <a:solidFill>
                  <a:srgbClr val="6B6B66"/>
                </a:solidFill>
                <a:latin typeface="Outfit 1 Light"/>
              </a:rPr>
              <a:t>É o conjunto de crenças, valores e comportamentos que determina como as pessoas pensam, decidem, se relacionam e trabalham, mesmo quando ninguém está dizendo o que fazer.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7F2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xtura-ondas.jpeg"/>
          <p:cNvPicPr>
            <a:picLocks noChangeAspect="1"/>
          </p:cNvPicPr>
          <p:nvPr/>
        </p:nvPicPr>
        <p:blipFill>
          <a:blip r:embed="rId2">
            <a:alphaModFix amt="32000"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1005840" y="1005840"/>
            <a:ext cx="16276320" cy="7772400"/>
          </a:xfrm>
          <a:prstGeom prst="roundRect">
            <a:avLst>
              <a:gd name="adj" fmla="val 2117"/>
            </a:avLst>
          </a:prstGeom>
          <a:solidFill>
            <a:srgbClr val="F8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011680" y="3162173"/>
            <a:ext cx="14264640" cy="100507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5754"/>
              </a:lnSpc>
            </a:pPr>
            <a:r>
              <a:rPr sz="4200" i="0" b="0">
                <a:solidFill>
                  <a:srgbClr val="1C1C1A"/>
                </a:solidFill>
                <a:latin typeface="Outfit 1 Light"/>
              </a:rPr>
              <a:t>COMO FOI </a:t>
            </a:r>
            <a:r>
              <a:rPr sz="4200" i="0" b="0">
                <a:solidFill>
                  <a:srgbClr val="1C1C1A"/>
                </a:solidFill>
                <a:latin typeface="Outfit 1 Bold"/>
              </a:rPr>
              <a:t>MAPEADA</a:t>
            </a:r>
          </a:p>
        </p:txBody>
      </p:sp>
      <p:sp>
        <p:nvSpPr>
          <p:cNvPr id="5" name="Rectangle 4"/>
          <p:cNvSpPr/>
          <p:nvPr/>
        </p:nvSpPr>
        <p:spPr>
          <a:xfrm>
            <a:off x="2011680" y="4075811"/>
            <a:ext cx="14264640" cy="10973"/>
          </a:xfrm>
          <a:prstGeom prst="rect">
            <a:avLst/>
          </a:prstGeom>
          <a:solidFill>
            <a:srgbClr val="A5A4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011680" y="4423283"/>
            <a:ext cx="12252960" cy="980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500"/>
              </a:lnSpc>
            </a:pPr>
            <a:r>
              <a:rPr sz="2500" i="0" b="0">
                <a:solidFill>
                  <a:srgbClr val="6B6B66"/>
                </a:solidFill>
                <a:latin typeface="Outfit 1 Light"/>
              </a:rPr>
              <a:t>A análise cruzou a história da fundadora, entrevistas com oito colaboradores, relatos da liderança e depoimentos de clientes e arquitetos.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011680" y="5641467"/>
            <a:ext cx="12252960" cy="980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500"/>
              </a:lnSpc>
            </a:pPr>
            <a:r>
              <a:rPr sz="2500" i="0" b="0">
                <a:solidFill>
                  <a:srgbClr val="6B6B66"/>
                </a:solidFill>
                <a:latin typeface="Outfit 1 Light"/>
              </a:rPr>
              <a:t>Mais do que identificar valores declarados, o objetivo foi compreender quais princípios aparecem nas atitudes e decisões do cotidiano.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7F2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xtura-ondas.jpeg"/>
          <p:cNvPicPr>
            <a:picLocks noChangeAspect="1"/>
          </p:cNvPicPr>
          <p:nvPr/>
        </p:nvPicPr>
        <p:blipFill>
          <a:blip r:embed="rId2">
            <a:alphaModFix amt="32000"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1005840" y="1005840"/>
            <a:ext cx="16276320" cy="7772400"/>
          </a:xfrm>
          <a:prstGeom prst="roundRect">
            <a:avLst>
              <a:gd name="adj" fmla="val 2117"/>
            </a:avLst>
          </a:prstGeom>
          <a:solidFill>
            <a:srgbClr val="F8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011680" y="3137281"/>
            <a:ext cx="14264640" cy="100507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5754"/>
              </a:lnSpc>
            </a:pPr>
            <a:r>
              <a:rPr sz="4200" i="0" b="0">
                <a:solidFill>
                  <a:srgbClr val="1C1C1A"/>
                </a:solidFill>
                <a:latin typeface="Outfit 1 Light"/>
              </a:rPr>
              <a:t>O QUE FOI </a:t>
            </a:r>
            <a:r>
              <a:rPr sz="4200" i="0" b="0">
                <a:solidFill>
                  <a:srgbClr val="1C1C1A"/>
                </a:solidFill>
                <a:latin typeface="Outfit 1 Bold"/>
              </a:rPr>
              <a:t>INVESTIGADO</a:t>
            </a:r>
          </a:p>
        </p:txBody>
      </p:sp>
      <p:sp>
        <p:nvSpPr>
          <p:cNvPr id="5" name="Rectangle 4"/>
          <p:cNvSpPr/>
          <p:nvPr/>
        </p:nvSpPr>
        <p:spPr>
          <a:xfrm>
            <a:off x="2011680" y="4050919"/>
            <a:ext cx="14264640" cy="10973"/>
          </a:xfrm>
          <a:prstGeom prst="rect">
            <a:avLst/>
          </a:prstGeom>
          <a:solidFill>
            <a:srgbClr val="A5A4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011680" y="4800473"/>
            <a:ext cx="6880860" cy="10973"/>
          </a:xfrm>
          <a:prstGeom prst="rect">
            <a:avLst/>
          </a:prstGeom>
          <a:solidFill>
            <a:srgbClr val="A5A4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011680" y="4398391"/>
            <a:ext cx="6880860" cy="43865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500"/>
              </a:lnSpc>
            </a:pPr>
            <a:r>
              <a:rPr sz="2500" i="0" b="0">
                <a:solidFill>
                  <a:srgbClr val="1C1C1A"/>
                </a:solidFill>
                <a:latin typeface="Outfit 1 Light"/>
              </a:rPr>
              <a:t>História e origem</a:t>
            </a:r>
          </a:p>
        </p:txBody>
      </p:sp>
      <p:sp>
        <p:nvSpPr>
          <p:cNvPr id="8" name="Rectangle 7"/>
          <p:cNvSpPr/>
          <p:nvPr/>
        </p:nvSpPr>
        <p:spPr>
          <a:xfrm>
            <a:off x="2011680" y="5403723"/>
            <a:ext cx="6880860" cy="10973"/>
          </a:xfrm>
          <a:prstGeom prst="rect">
            <a:avLst/>
          </a:prstGeom>
          <a:solidFill>
            <a:srgbClr val="A5A4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011680" y="5001641"/>
            <a:ext cx="6880860" cy="43865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500"/>
              </a:lnSpc>
            </a:pPr>
            <a:r>
              <a:rPr sz="2500" i="0" b="0">
                <a:solidFill>
                  <a:srgbClr val="1C1C1A"/>
                </a:solidFill>
                <a:latin typeface="Outfit 1 Light"/>
              </a:rPr>
              <a:t>Valores e crenças</a:t>
            </a:r>
          </a:p>
        </p:txBody>
      </p:sp>
      <p:sp>
        <p:nvSpPr>
          <p:cNvPr id="10" name="Rectangle 9"/>
          <p:cNvSpPr/>
          <p:nvPr/>
        </p:nvSpPr>
        <p:spPr>
          <a:xfrm>
            <a:off x="2011680" y="6006973"/>
            <a:ext cx="6880860" cy="10973"/>
          </a:xfrm>
          <a:prstGeom prst="rect">
            <a:avLst/>
          </a:prstGeom>
          <a:solidFill>
            <a:srgbClr val="A5A4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011680" y="5604891"/>
            <a:ext cx="6880860" cy="43865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500"/>
              </a:lnSpc>
            </a:pPr>
            <a:r>
              <a:rPr sz="2500" i="0" b="0">
                <a:solidFill>
                  <a:srgbClr val="1C1C1A"/>
                </a:solidFill>
                <a:latin typeface="Outfit 1 Light"/>
              </a:rPr>
              <a:t>Liderança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011680" y="6610223"/>
            <a:ext cx="6880860" cy="10973"/>
          </a:xfrm>
          <a:prstGeom prst="rect">
            <a:avLst/>
          </a:prstGeom>
          <a:solidFill>
            <a:srgbClr val="A5A4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011680" y="6208141"/>
            <a:ext cx="6880860" cy="43865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500"/>
              </a:lnSpc>
            </a:pPr>
            <a:r>
              <a:rPr sz="2500" i="0" b="0">
                <a:solidFill>
                  <a:srgbClr val="1C1C1A"/>
                </a:solidFill>
                <a:latin typeface="Outfit 1 Light"/>
              </a:rPr>
              <a:t>Comportamentos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395460" y="4800473"/>
            <a:ext cx="6880860" cy="10973"/>
          </a:xfrm>
          <a:prstGeom prst="rect">
            <a:avLst/>
          </a:prstGeom>
          <a:solidFill>
            <a:srgbClr val="A5A4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395460" y="4398391"/>
            <a:ext cx="6880860" cy="43865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500"/>
              </a:lnSpc>
            </a:pPr>
            <a:r>
              <a:rPr sz="2500" i="0" b="0">
                <a:solidFill>
                  <a:srgbClr val="1C1C1A"/>
                </a:solidFill>
                <a:latin typeface="Outfit 1 Light"/>
              </a:rPr>
              <a:t>Relações internas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395460" y="5403723"/>
            <a:ext cx="6880860" cy="10973"/>
          </a:xfrm>
          <a:prstGeom prst="rect">
            <a:avLst/>
          </a:prstGeom>
          <a:solidFill>
            <a:srgbClr val="A5A4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395460" y="5001641"/>
            <a:ext cx="6880860" cy="43865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500"/>
              </a:lnSpc>
            </a:pPr>
            <a:r>
              <a:rPr sz="2500" i="0" b="0">
                <a:solidFill>
                  <a:srgbClr val="1C1C1A"/>
                </a:solidFill>
                <a:latin typeface="Outfit 1 Light"/>
              </a:rPr>
              <a:t>Práticas e rituais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395460" y="6006973"/>
            <a:ext cx="6880860" cy="10973"/>
          </a:xfrm>
          <a:prstGeom prst="rect">
            <a:avLst/>
          </a:prstGeom>
          <a:solidFill>
            <a:srgbClr val="A5A4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395460" y="5604891"/>
            <a:ext cx="6880860" cy="43865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500"/>
              </a:lnSpc>
            </a:pPr>
            <a:r>
              <a:rPr sz="2500" i="0" b="0">
                <a:solidFill>
                  <a:srgbClr val="1C1C1A"/>
                </a:solidFill>
                <a:latin typeface="Outfit 1 Light"/>
              </a:rPr>
              <a:t>Tensões culturais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7F2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xtura-ondas.jpeg"/>
          <p:cNvPicPr>
            <a:picLocks noChangeAspect="1"/>
          </p:cNvPicPr>
          <p:nvPr/>
        </p:nvPicPr>
        <p:blipFill>
          <a:blip r:embed="rId2">
            <a:alphaModFix amt="32000"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011680" y="4069715"/>
            <a:ext cx="15247620" cy="18732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ts val="13310"/>
              </a:lnSpc>
            </a:pPr>
            <a:r>
              <a:rPr sz="12100" i="0" b="0">
                <a:solidFill>
                  <a:srgbClr val="1C1C1A"/>
                </a:solidFill>
                <a:latin typeface="Outfit 1 Bold"/>
              </a:rPr>
              <a:t>HISTÓRIA E ORIGEM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7F2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xtura-ondas.jpeg"/>
          <p:cNvPicPr>
            <a:picLocks noChangeAspect="1"/>
          </p:cNvPicPr>
          <p:nvPr/>
        </p:nvPicPr>
        <p:blipFill>
          <a:blip r:embed="rId2">
            <a:alphaModFix amt="32000"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1338560" cy="10287000"/>
          </a:xfrm>
          <a:prstGeom prst="rect">
            <a:avLst/>
          </a:prstGeom>
          <a:solidFill>
            <a:srgbClr val="F8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338560" y="0"/>
            <a:ext cx="6949440" cy="10287000"/>
          </a:xfrm>
          <a:prstGeom prst="rect">
            <a:avLst/>
          </a:prstGeom>
          <a:solidFill>
            <a:srgbClr val="E9E5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1932920" y="4037838"/>
            <a:ext cx="1188720" cy="27432"/>
          </a:xfrm>
          <a:prstGeom prst="rect">
            <a:avLst/>
          </a:prstGeom>
          <a:solidFill>
            <a:srgbClr val="CC75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932920" y="4348734"/>
            <a:ext cx="57607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959"/>
              </a:lnSpc>
            </a:pPr>
            <a:r>
              <a:rPr sz="1400" i="0" b="0" spc="300">
                <a:solidFill>
                  <a:srgbClr val="CC754E"/>
                </a:solidFill>
                <a:latin typeface="Outfit 1 Semi-Bold"/>
              </a:rPr>
              <a:t>IMAGEM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932920" y="4915662"/>
            <a:ext cx="5760720" cy="14249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500"/>
              </a:lnSpc>
            </a:pPr>
            <a:r>
              <a:rPr sz="2500" i="0" b="0">
                <a:solidFill>
                  <a:srgbClr val="6B6B66"/>
                </a:solidFill>
                <a:latin typeface="Outfit 1 Light"/>
              </a:rPr>
              <a:t>A origem do ofício: a primeira oficina, uma máquina em operação, ou o lugar onde tudo começou.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011680" y="2267204"/>
            <a:ext cx="8458200" cy="100507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5754"/>
              </a:lnSpc>
            </a:pPr>
            <a:r>
              <a:rPr sz="4200" i="0" b="0">
                <a:solidFill>
                  <a:srgbClr val="1C1C1A"/>
                </a:solidFill>
                <a:latin typeface="Outfit 1 Light"/>
              </a:rPr>
              <a:t>NÃO ACEITAR O LIMITE COMO </a:t>
            </a:r>
            <a:r>
              <a:rPr sz="4200" i="0" b="0">
                <a:solidFill>
                  <a:srgbClr val="1C1C1A"/>
                </a:solidFill>
                <a:latin typeface="Outfit 1 Bold"/>
              </a:rPr>
              <a:t>RESPOSTA DEFINITIVA</a:t>
            </a:r>
            <a:r>
              <a:rPr sz="4200" i="0" b="0">
                <a:solidFill>
                  <a:srgbClr val="1C1C1A"/>
                </a:solidFill>
                <a:latin typeface="Outfit 1 Light"/>
              </a:rPr>
              <a:t>.</a:t>
            </a:r>
          </a:p>
        </p:txBody>
      </p:sp>
      <p:sp>
        <p:nvSpPr>
          <p:cNvPr id="9" name="Rectangle 8"/>
          <p:cNvSpPr/>
          <p:nvPr/>
        </p:nvSpPr>
        <p:spPr>
          <a:xfrm>
            <a:off x="2011680" y="3911600"/>
            <a:ext cx="8458200" cy="10973"/>
          </a:xfrm>
          <a:prstGeom prst="rect">
            <a:avLst/>
          </a:prstGeom>
          <a:solidFill>
            <a:srgbClr val="A5A4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011680" y="4259072"/>
            <a:ext cx="8458200" cy="23139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500"/>
              </a:lnSpc>
            </a:pPr>
            <a:r>
              <a:rPr sz="2500" i="0" b="0">
                <a:solidFill>
                  <a:srgbClr val="6B6B66"/>
                </a:solidFill>
                <a:latin typeface="Outfit 1 Light"/>
              </a:rPr>
              <a:t>A trajetória profissional e pessoal da Flávia revela o movimento de não aceitar que a posição de funcionária definisse seu futuro, que os padrões das franquias limitassem suas ideias ou que materiais descartados não pudessem ter outro destino.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011680" y="6810756"/>
            <a:ext cx="8458200" cy="980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500"/>
              </a:lnSpc>
            </a:pPr>
            <a:r>
              <a:rPr sz="2500" i="0" b="0">
                <a:solidFill>
                  <a:srgbClr val="6B6B66"/>
                </a:solidFill>
                <a:latin typeface="Outfit 1 Light"/>
              </a:rPr>
              <a:t>Essa mentalidade aparece nas equipes como disposição para buscar soluções, aprender e fazer acontecer.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7F2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xtura-ondas.jpeg"/>
          <p:cNvPicPr>
            <a:picLocks noChangeAspect="1"/>
          </p:cNvPicPr>
          <p:nvPr/>
        </p:nvPicPr>
        <p:blipFill>
          <a:blip r:embed="rId2">
            <a:alphaModFix amt="32000"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1005840" y="1005840"/>
            <a:ext cx="16276320" cy="7772400"/>
          </a:xfrm>
          <a:prstGeom prst="roundRect">
            <a:avLst>
              <a:gd name="adj" fmla="val 2117"/>
            </a:avLst>
          </a:prstGeom>
          <a:solidFill>
            <a:srgbClr val="F8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2011680" y="3314573"/>
            <a:ext cx="1188720" cy="27432"/>
          </a:xfrm>
          <a:prstGeom prst="rect">
            <a:avLst/>
          </a:prstGeom>
          <a:solidFill>
            <a:srgbClr val="CC75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011680" y="3716909"/>
            <a:ext cx="14081760" cy="22479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5180"/>
              </a:lnSpc>
            </a:pPr>
            <a:r>
              <a:rPr sz="3700" i="0" b="0">
                <a:solidFill>
                  <a:srgbClr val="323330"/>
                </a:solidFill>
                <a:latin typeface="Outfit 1 Light"/>
              </a:rPr>
              <a:t>As circunstâncias podem estabelecer condições,</a:t>
            </a:r>
          </a:p>
          <a:p>
            <a:pPr algn="l">
              <a:lnSpc>
                <a:spcPts val="5180"/>
              </a:lnSpc>
            </a:pPr>
            <a:r>
              <a:rPr sz="3700" i="0" b="0">
                <a:solidFill>
                  <a:srgbClr val="323330"/>
                </a:solidFill>
                <a:latin typeface="Outfit 1 Light"/>
              </a:rPr>
              <a:t>mas não precisam determinar</a:t>
            </a:r>
          </a:p>
          <a:p>
            <a:pPr algn="l">
              <a:lnSpc>
                <a:spcPts val="5180"/>
              </a:lnSpc>
            </a:pPr>
            <a:r>
              <a:rPr sz="3700" i="0" b="0">
                <a:solidFill>
                  <a:srgbClr val="323330"/>
                </a:solidFill>
                <a:latin typeface="Outfit 1 Light"/>
              </a:rPr>
              <a:t>até onde é possível chegar.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011680" y="5933567"/>
            <a:ext cx="11887200" cy="5359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500"/>
              </a:lnSpc>
            </a:pPr>
            <a:r>
              <a:rPr sz="2500" i="0" b="0">
                <a:solidFill>
                  <a:srgbClr val="6B6B66"/>
                </a:solidFill>
                <a:latin typeface="Outfit 1 Light"/>
              </a:rPr>
              <a:t>A crença de origem.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7F2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xtura-ondas.jpeg"/>
          <p:cNvPicPr>
            <a:picLocks noChangeAspect="1"/>
          </p:cNvPicPr>
          <p:nvPr/>
        </p:nvPicPr>
        <p:blipFill>
          <a:blip r:embed="rId2">
            <a:alphaModFix amt="32000"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011680" y="4106799"/>
            <a:ext cx="15247620" cy="11747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ts val="7810"/>
              </a:lnSpc>
            </a:pPr>
            <a:r>
              <a:rPr sz="7100" i="0" b="0">
                <a:solidFill>
                  <a:srgbClr val="1C1C1A"/>
                </a:solidFill>
                <a:latin typeface="Outfit 1 Bold"/>
              </a:rPr>
              <a:t>VALORES, CRENÇAS E LIDERANÇA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011680" y="5354701"/>
            <a:ext cx="15247620" cy="5054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ts val="2899"/>
              </a:lnSpc>
            </a:pPr>
            <a:r>
              <a:rPr sz="2500" i="0" b="0">
                <a:solidFill>
                  <a:srgbClr val="1C1C1A"/>
                </a:solidFill>
                <a:latin typeface="Outfit 1 Light"/>
              </a:rPr>
              <a:t>As entrevistas revelam uma combinação particular de liberdade, exigência e proximidade humana.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7F2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xtura-ondas.jpeg"/>
          <p:cNvPicPr>
            <a:picLocks noChangeAspect="1"/>
          </p:cNvPicPr>
          <p:nvPr/>
        </p:nvPicPr>
        <p:blipFill>
          <a:blip r:embed="rId2">
            <a:alphaModFix amt="32000"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1005840" y="1005840"/>
            <a:ext cx="16276320" cy="7772400"/>
          </a:xfrm>
          <a:prstGeom prst="roundRect">
            <a:avLst>
              <a:gd name="adj" fmla="val 2117"/>
            </a:avLst>
          </a:prstGeom>
          <a:solidFill>
            <a:srgbClr val="F8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011680" y="1723644"/>
            <a:ext cx="14264640" cy="100507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5754"/>
              </a:lnSpc>
            </a:pPr>
            <a:r>
              <a:rPr sz="4200" i="0" b="0">
                <a:solidFill>
                  <a:srgbClr val="1C1C1A"/>
                </a:solidFill>
                <a:latin typeface="Outfit 1 Bold"/>
              </a:rPr>
              <a:t>LIBERDADE</a:t>
            </a:r>
            <a:r>
              <a:rPr sz="4200" i="0" b="0">
                <a:solidFill>
                  <a:srgbClr val="1C1C1A"/>
                </a:solidFill>
                <a:latin typeface="Outfit 1 Light"/>
              </a:rPr>
              <a:t> PARA AGIR. </a:t>
            </a:r>
            <a:r>
              <a:rPr sz="4200" i="0" b="0">
                <a:solidFill>
                  <a:srgbClr val="1C1C1A"/>
                </a:solidFill>
                <a:latin typeface="Outfit 1 Bold"/>
              </a:rPr>
              <a:t>RESPONSABILIDADE</a:t>
            </a:r>
            <a:r>
              <a:rPr sz="4200" i="0" b="0">
                <a:solidFill>
                  <a:srgbClr val="1C1C1A"/>
                </a:solidFill>
                <a:latin typeface="Outfit 1 Light"/>
              </a:rPr>
              <a:t> PARA ENTREGAR.</a:t>
            </a:r>
          </a:p>
        </p:txBody>
      </p:sp>
      <p:sp>
        <p:nvSpPr>
          <p:cNvPr id="5" name="Rectangle 4"/>
          <p:cNvSpPr/>
          <p:nvPr/>
        </p:nvSpPr>
        <p:spPr>
          <a:xfrm>
            <a:off x="2011680" y="3368040"/>
            <a:ext cx="14264640" cy="10973"/>
          </a:xfrm>
          <a:prstGeom prst="rect">
            <a:avLst/>
          </a:prstGeom>
          <a:solidFill>
            <a:srgbClr val="A5A4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011680" y="3715512"/>
            <a:ext cx="14264640" cy="10973"/>
          </a:xfrm>
          <a:prstGeom prst="rect">
            <a:avLst/>
          </a:prstGeom>
          <a:solidFill>
            <a:srgbClr val="A5A4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011680" y="3989832"/>
            <a:ext cx="4754880" cy="3886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520"/>
              </a:lnSpc>
            </a:pPr>
            <a:r>
              <a:rPr sz="1800" i="0" b="0" spc="282">
                <a:solidFill>
                  <a:srgbClr val="1C1C1A"/>
                </a:solidFill>
                <a:latin typeface="Outfit 1 Semi-Bold"/>
              </a:rPr>
              <a:t>AUTONOMIA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0" y="3916680"/>
            <a:ext cx="9144000" cy="58917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500"/>
              </a:lnSpc>
            </a:pPr>
            <a:r>
              <a:rPr sz="2500" i="0" b="0">
                <a:solidFill>
                  <a:srgbClr val="1C1C1A"/>
                </a:solidFill>
                <a:latin typeface="Outfit 1 Light"/>
              </a:rPr>
              <a:t>Liberdade para encontrar soluções e agir com iniciativa.</a:t>
            </a:r>
          </a:p>
        </p:txBody>
      </p:sp>
      <p:sp>
        <p:nvSpPr>
          <p:cNvPr id="9" name="Rectangle 8"/>
          <p:cNvSpPr/>
          <p:nvPr/>
        </p:nvSpPr>
        <p:spPr>
          <a:xfrm>
            <a:off x="2011680" y="4579010"/>
            <a:ext cx="14264640" cy="10973"/>
          </a:xfrm>
          <a:prstGeom prst="rect">
            <a:avLst/>
          </a:prstGeom>
          <a:solidFill>
            <a:srgbClr val="A5A4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011680" y="4853330"/>
            <a:ext cx="4754880" cy="3886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520"/>
              </a:lnSpc>
            </a:pPr>
            <a:r>
              <a:rPr sz="1800" i="0" b="0" spc="282">
                <a:solidFill>
                  <a:srgbClr val="1C1C1A"/>
                </a:solidFill>
                <a:latin typeface="Outfit 1 Semi-Bold"/>
              </a:rPr>
              <a:t>COMPROMETIMENTO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132320" y="4780178"/>
            <a:ext cx="9144000" cy="58917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500"/>
              </a:lnSpc>
            </a:pPr>
            <a:r>
              <a:rPr sz="2500" i="0" b="0">
                <a:solidFill>
                  <a:srgbClr val="1C1C1A"/>
                </a:solidFill>
                <a:latin typeface="Outfit 1 Light"/>
              </a:rPr>
              <a:t>Responsabilidade que ultrapassa a tarefa individual.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011680" y="5442509"/>
            <a:ext cx="14264640" cy="10973"/>
          </a:xfrm>
          <a:prstGeom prst="rect">
            <a:avLst/>
          </a:prstGeom>
          <a:solidFill>
            <a:srgbClr val="A5A4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011680" y="5716829"/>
            <a:ext cx="4754880" cy="3886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520"/>
              </a:lnSpc>
            </a:pPr>
            <a:r>
              <a:rPr sz="1800" i="0" b="0" spc="282">
                <a:solidFill>
                  <a:srgbClr val="1C1C1A"/>
                </a:solidFill>
                <a:latin typeface="Outfit 1 Semi-Bold"/>
              </a:rPr>
              <a:t>EXCELÊNCIA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132320" y="5643677"/>
            <a:ext cx="9144000" cy="58917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500"/>
              </a:lnSpc>
            </a:pPr>
            <a:r>
              <a:rPr sz="2500" i="0" b="0">
                <a:solidFill>
                  <a:srgbClr val="1C1C1A"/>
                </a:solidFill>
                <a:latin typeface="Outfit 1 Light"/>
              </a:rPr>
              <a:t>Não aceitar uma entrega que poderia ter sido melhor.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011680" y="6306007"/>
            <a:ext cx="14264640" cy="10973"/>
          </a:xfrm>
          <a:prstGeom prst="rect">
            <a:avLst/>
          </a:prstGeom>
          <a:solidFill>
            <a:srgbClr val="A5A4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011680" y="6580327"/>
            <a:ext cx="4754880" cy="3886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520"/>
              </a:lnSpc>
            </a:pPr>
            <a:r>
              <a:rPr sz="1800" i="0" b="0" spc="282">
                <a:solidFill>
                  <a:srgbClr val="1C1C1A"/>
                </a:solidFill>
                <a:latin typeface="Outfit 1 Semi-Bold"/>
              </a:rPr>
              <a:t>COOPERAÇÃO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132320" y="6507175"/>
            <a:ext cx="9144000" cy="58917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500"/>
              </a:lnSpc>
            </a:pPr>
            <a:r>
              <a:rPr sz="2500" i="0" b="0">
                <a:solidFill>
                  <a:srgbClr val="1C1C1A"/>
                </a:solidFill>
                <a:latin typeface="Outfit 1 Light"/>
              </a:rPr>
              <a:t>Compreender que o resultado depende de muitas mãos.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011680" y="7169506"/>
            <a:ext cx="14264640" cy="10973"/>
          </a:xfrm>
          <a:prstGeom prst="rect">
            <a:avLst/>
          </a:prstGeom>
          <a:solidFill>
            <a:srgbClr val="A5A4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011680" y="7443826"/>
            <a:ext cx="4754880" cy="3886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520"/>
              </a:lnSpc>
            </a:pPr>
            <a:r>
              <a:rPr sz="1800" i="0" b="0" spc="282">
                <a:solidFill>
                  <a:srgbClr val="CC754E"/>
                </a:solidFill>
                <a:latin typeface="Outfit 1 Semi-Bold"/>
              </a:rPr>
              <a:t>EVOLUÇÃO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132320" y="7370674"/>
            <a:ext cx="9144000" cy="58917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500"/>
              </a:lnSpc>
            </a:pPr>
            <a:r>
              <a:rPr sz="2500" i="0" b="0">
                <a:solidFill>
                  <a:srgbClr val="1C1C1A"/>
                </a:solidFill>
                <a:latin typeface="Outfit 1 Light"/>
              </a:rPr>
              <a:t>Aprender continuamente para ampliar o que é possível realizar.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011680" y="8033004"/>
            <a:ext cx="1188720" cy="27432"/>
          </a:xfrm>
          <a:prstGeom prst="rect">
            <a:avLst/>
          </a:prstGeom>
          <a:solidFill>
            <a:srgbClr val="CC75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7F2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xtura-ondas.jpeg"/>
          <p:cNvPicPr>
            <a:picLocks noChangeAspect="1"/>
          </p:cNvPicPr>
          <p:nvPr/>
        </p:nvPicPr>
        <p:blipFill>
          <a:blip r:embed="rId2">
            <a:alphaModFix amt="32000"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1005840" y="1005840"/>
            <a:ext cx="16276320" cy="7772400"/>
          </a:xfrm>
          <a:prstGeom prst="roundRect">
            <a:avLst>
              <a:gd name="adj" fmla="val 2117"/>
            </a:avLst>
          </a:prstGeom>
          <a:solidFill>
            <a:srgbClr val="F8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011680" y="1723644"/>
            <a:ext cx="14264640" cy="100507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5754"/>
              </a:lnSpc>
            </a:pPr>
            <a:r>
              <a:rPr sz="4200" i="0" b="0">
                <a:solidFill>
                  <a:srgbClr val="1C1C1A"/>
                </a:solidFill>
                <a:latin typeface="Outfit 1 Light"/>
              </a:rPr>
              <a:t>A </a:t>
            </a:r>
            <a:r>
              <a:rPr sz="4200" i="0" b="0">
                <a:solidFill>
                  <a:srgbClr val="1C1C1A"/>
                </a:solidFill>
                <a:latin typeface="Outfit 1 Bold"/>
              </a:rPr>
              <a:t>LIDERANÇA</a:t>
            </a:r>
            <a:r>
              <a:rPr sz="4200" i="0" b="0">
                <a:solidFill>
                  <a:srgbClr val="1C1C1A"/>
                </a:solidFill>
                <a:latin typeface="Outfit 1 Light"/>
              </a:rPr>
              <a:t> POR TRÁS DESSA CULTURA</a:t>
            </a:r>
          </a:p>
        </p:txBody>
      </p:sp>
      <p:sp>
        <p:nvSpPr>
          <p:cNvPr id="5" name="Rectangle 4"/>
          <p:cNvSpPr/>
          <p:nvPr/>
        </p:nvSpPr>
        <p:spPr>
          <a:xfrm>
            <a:off x="2011680" y="2637282"/>
            <a:ext cx="14264640" cy="10973"/>
          </a:xfrm>
          <a:prstGeom prst="rect">
            <a:avLst/>
          </a:prstGeom>
          <a:solidFill>
            <a:srgbClr val="A5A4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011680" y="3232404"/>
            <a:ext cx="14264640" cy="10973"/>
          </a:xfrm>
          <a:prstGeom prst="rect">
            <a:avLst/>
          </a:prstGeom>
          <a:solidFill>
            <a:srgbClr val="A5A4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011680" y="3506724"/>
            <a:ext cx="4754880" cy="3886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520"/>
              </a:lnSpc>
            </a:pPr>
            <a:r>
              <a:rPr sz="1800" i="0" b="0" spc="282">
                <a:solidFill>
                  <a:srgbClr val="1C1C1A"/>
                </a:solidFill>
                <a:latin typeface="Outfit 1 Semi-Bold"/>
              </a:rPr>
              <a:t>TANYLLO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0" y="3433572"/>
            <a:ext cx="9144000" cy="103695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500"/>
              </a:lnSpc>
            </a:pPr>
            <a:r>
              <a:rPr sz="2500" i="0" b="0">
                <a:solidFill>
                  <a:srgbClr val="1C1C1A"/>
                </a:solidFill>
                <a:latin typeface="Outfit 1 Light"/>
              </a:rPr>
              <a:t>Descreve a liberdade de trabalhar sem medo de propor soluções.</a:t>
            </a:r>
          </a:p>
        </p:txBody>
      </p:sp>
      <p:sp>
        <p:nvSpPr>
          <p:cNvPr id="9" name="Rectangle 8"/>
          <p:cNvSpPr/>
          <p:nvPr/>
        </p:nvSpPr>
        <p:spPr>
          <a:xfrm>
            <a:off x="2011680" y="4543679"/>
            <a:ext cx="14264640" cy="10973"/>
          </a:xfrm>
          <a:prstGeom prst="rect">
            <a:avLst/>
          </a:prstGeom>
          <a:solidFill>
            <a:srgbClr val="A5A4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011680" y="4817999"/>
            <a:ext cx="4754880" cy="3886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520"/>
              </a:lnSpc>
            </a:pPr>
            <a:r>
              <a:rPr sz="1800" i="0" b="0" spc="282">
                <a:solidFill>
                  <a:srgbClr val="1C1C1A"/>
                </a:solidFill>
                <a:latin typeface="Outfit 1 Semi-Bold"/>
              </a:rPr>
              <a:t>PÂMELLA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132320" y="4744847"/>
            <a:ext cx="9144000" cy="103695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500"/>
              </a:lnSpc>
            </a:pPr>
            <a:r>
              <a:rPr sz="2500" i="0" b="0">
                <a:solidFill>
                  <a:srgbClr val="1C1C1A"/>
                </a:solidFill>
                <a:latin typeface="Outfit 1 Light"/>
              </a:rPr>
              <a:t>Destaca a facilidade de acesso à Flávia, independentemente do cargo.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011680" y="5854954"/>
            <a:ext cx="14264640" cy="10973"/>
          </a:xfrm>
          <a:prstGeom prst="rect">
            <a:avLst/>
          </a:prstGeom>
          <a:solidFill>
            <a:srgbClr val="A5A4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011680" y="6129274"/>
            <a:ext cx="4754880" cy="3886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520"/>
              </a:lnSpc>
            </a:pPr>
            <a:r>
              <a:rPr sz="1800" i="0" b="0" spc="282">
                <a:solidFill>
                  <a:srgbClr val="1C1C1A"/>
                </a:solidFill>
                <a:latin typeface="Outfit 1 Semi-Bold"/>
              </a:rPr>
              <a:t>LETÍCIA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132320" y="6056122"/>
            <a:ext cx="9144000" cy="103695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500"/>
              </a:lnSpc>
            </a:pPr>
            <a:r>
              <a:rPr sz="2500" i="0" b="0">
                <a:solidFill>
                  <a:srgbClr val="1C1C1A"/>
                </a:solidFill>
                <a:latin typeface="Outfit 1 Light"/>
              </a:rPr>
              <a:t>Reconhece a iniciativa e a força de vontade como atitudes especialmente valorizadas.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011680" y="7166229"/>
            <a:ext cx="14264640" cy="10973"/>
          </a:xfrm>
          <a:prstGeom prst="rect">
            <a:avLst/>
          </a:prstGeom>
          <a:solidFill>
            <a:srgbClr val="A5A4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011680" y="7440549"/>
            <a:ext cx="4754880" cy="3886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520"/>
              </a:lnSpc>
            </a:pPr>
            <a:r>
              <a:rPr sz="1800" i="0" b="0" spc="282">
                <a:solidFill>
                  <a:srgbClr val="CC754E"/>
                </a:solidFill>
                <a:latin typeface="Outfit 1 Semi-Bold"/>
              </a:rPr>
              <a:t>A LEITURA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132320" y="7367397"/>
            <a:ext cx="9144000" cy="59245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500"/>
              </a:lnSpc>
            </a:pPr>
            <a:r>
              <a:rPr sz="2500" i="0" b="0">
                <a:solidFill>
                  <a:srgbClr val="1C1C1A"/>
                </a:solidFill>
                <a:latin typeface="Outfit 1 Light"/>
              </a:rPr>
              <a:t>A liderança é percebida como próxima, exigente e acessível.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011680" y="8033004"/>
            <a:ext cx="1188720" cy="27432"/>
          </a:xfrm>
          <a:prstGeom prst="rect">
            <a:avLst/>
          </a:prstGeom>
          <a:solidFill>
            <a:srgbClr val="CC75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7F2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xtura-ondas.jpeg"/>
          <p:cNvPicPr>
            <a:picLocks noChangeAspect="1"/>
          </p:cNvPicPr>
          <p:nvPr/>
        </p:nvPicPr>
        <p:blipFill>
          <a:blip r:embed="rId2">
            <a:alphaModFix amt="32000"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1005840" y="1005840"/>
            <a:ext cx="16276320" cy="7772400"/>
          </a:xfrm>
          <a:prstGeom prst="roundRect">
            <a:avLst>
              <a:gd name="adj" fmla="val 2117"/>
            </a:avLst>
          </a:prstGeom>
          <a:solidFill>
            <a:srgbClr val="F8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2011680" y="3237992"/>
            <a:ext cx="1188720" cy="27432"/>
          </a:xfrm>
          <a:prstGeom prst="rect">
            <a:avLst/>
          </a:prstGeom>
          <a:solidFill>
            <a:srgbClr val="CC75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011680" y="3640328"/>
            <a:ext cx="14081760" cy="290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5180"/>
              </a:lnSpc>
            </a:pPr>
            <a:r>
              <a:rPr sz="3700" i="0" b="0">
                <a:solidFill>
                  <a:srgbClr val="323330"/>
                </a:solidFill>
                <a:latin typeface="Outfit 1 Light"/>
              </a:rPr>
              <a:t>O que distingue essa cultura não é apenas</a:t>
            </a:r>
          </a:p>
          <a:p>
            <a:pPr algn="l">
              <a:lnSpc>
                <a:spcPts val="5180"/>
              </a:lnSpc>
            </a:pPr>
            <a:r>
              <a:rPr sz="3700" i="0" b="0">
                <a:solidFill>
                  <a:srgbClr val="323330"/>
                </a:solidFill>
                <a:latin typeface="Outfit 1 Light"/>
              </a:rPr>
              <a:t>a liberdade oferecida às pessoas.</a:t>
            </a:r>
          </a:p>
          <a:p>
            <a:pPr algn="l">
              <a:lnSpc>
                <a:spcPts val="5180"/>
              </a:lnSpc>
            </a:pPr>
            <a:r>
              <a:rPr sz="3700" i="0" b="0">
                <a:solidFill>
                  <a:srgbClr val="323330"/>
                </a:solidFill>
                <a:latin typeface="Outfit 1 Light"/>
              </a:rPr>
              <a:t>É a confiança depositada na capacidade</a:t>
            </a:r>
          </a:p>
          <a:p>
            <a:pPr algn="l">
              <a:lnSpc>
                <a:spcPts val="5180"/>
              </a:lnSpc>
            </a:pPr>
            <a:r>
              <a:rPr sz="3700" i="0" b="0">
                <a:solidFill>
                  <a:srgbClr val="323330"/>
                </a:solidFill>
                <a:latin typeface="Outfit 1 Light"/>
              </a:rPr>
              <a:t>delas de assumir responsabilidades.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7F2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xtura-ondas.jpeg"/>
          <p:cNvPicPr>
            <a:picLocks noChangeAspect="1"/>
          </p:cNvPicPr>
          <p:nvPr/>
        </p:nvPicPr>
        <p:blipFill>
          <a:blip r:embed="rId2">
            <a:alphaModFix amt="32000"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011680" y="4229036"/>
            <a:ext cx="15247620" cy="9302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ts val="5885"/>
              </a:lnSpc>
            </a:pPr>
            <a:r>
              <a:rPr sz="5350" i="0" b="0">
                <a:solidFill>
                  <a:srgbClr val="1C1C1A"/>
                </a:solidFill>
                <a:latin typeface="Outfit 1 Bold"/>
              </a:rPr>
              <a:t>COMPORTAMENTOS, RELAÇÕES E PRÁTICAS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011680" y="5232464"/>
            <a:ext cx="15247620" cy="5054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ts val="2899"/>
              </a:lnSpc>
            </a:pPr>
            <a:r>
              <a:rPr sz="2500" i="0" b="0">
                <a:solidFill>
                  <a:srgbClr val="1C1C1A"/>
                </a:solidFill>
                <a:latin typeface="Outfit 1 Light"/>
              </a:rPr>
              <a:t>Três situações relatadas pelos colaboradores revelam mais do que qualquer declaração de valores.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7F2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xtura-ondas.jpeg"/>
          <p:cNvPicPr>
            <a:picLocks noChangeAspect="1"/>
          </p:cNvPicPr>
          <p:nvPr/>
        </p:nvPicPr>
        <p:blipFill>
          <a:blip r:embed="rId2">
            <a:alphaModFix amt="32000"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1005840" y="1005840"/>
            <a:ext cx="16276320" cy="7772400"/>
          </a:xfrm>
          <a:prstGeom prst="roundRect">
            <a:avLst>
              <a:gd name="adj" fmla="val 2117"/>
            </a:avLst>
          </a:prstGeom>
          <a:solidFill>
            <a:srgbClr val="F8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011680" y="1709801"/>
            <a:ext cx="14264640" cy="100507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5754"/>
              </a:lnSpc>
            </a:pPr>
            <a:r>
              <a:rPr sz="4200" i="0" b="0">
                <a:solidFill>
                  <a:srgbClr val="1C1C1A"/>
                </a:solidFill>
                <a:latin typeface="Outfit 1 Light"/>
              </a:rPr>
              <a:t>A CULTURA SE REVELA </a:t>
            </a:r>
            <a:r>
              <a:rPr sz="4200" i="0" b="0">
                <a:solidFill>
                  <a:srgbClr val="1C1C1A"/>
                </a:solidFill>
                <a:latin typeface="Outfit 1 Bold"/>
              </a:rPr>
              <a:t>DIANTE DOS PROBLEMAS</a:t>
            </a:r>
            <a:r>
              <a:rPr sz="4200" i="0" b="0">
                <a:solidFill>
                  <a:srgbClr val="1C1C1A"/>
                </a:solidFill>
                <a:latin typeface="Outfit 1 Light"/>
              </a:rPr>
              <a:t>.</a:t>
            </a:r>
          </a:p>
        </p:txBody>
      </p:sp>
      <p:sp>
        <p:nvSpPr>
          <p:cNvPr id="5" name="Rectangle 4"/>
          <p:cNvSpPr/>
          <p:nvPr/>
        </p:nvSpPr>
        <p:spPr>
          <a:xfrm>
            <a:off x="2011680" y="2623439"/>
            <a:ext cx="14264640" cy="10973"/>
          </a:xfrm>
          <a:prstGeom prst="rect">
            <a:avLst/>
          </a:prstGeom>
          <a:solidFill>
            <a:srgbClr val="A5A4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011680" y="2970911"/>
            <a:ext cx="4419600" cy="56693"/>
          </a:xfrm>
          <a:prstGeom prst="rect">
            <a:avLst/>
          </a:prstGeom>
          <a:solidFill>
            <a:srgbClr val="CC75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011680" y="3245231"/>
            <a:ext cx="4419600" cy="5359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500"/>
              </a:lnSpc>
            </a:pPr>
            <a:r>
              <a:rPr sz="2500" i="0" b="0">
                <a:solidFill>
                  <a:srgbClr val="1C1C1A"/>
                </a:solidFill>
                <a:latin typeface="Outfit 1 Light"/>
              </a:rPr>
              <a:t>Resolver · Letícia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011680" y="3982339"/>
            <a:ext cx="4419600" cy="23139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500"/>
              </a:lnSpc>
            </a:pPr>
            <a:r>
              <a:rPr sz="2500" i="0" b="0">
                <a:solidFill>
                  <a:srgbClr val="6B6B66"/>
                </a:solidFill>
                <a:latin typeface="Outfit 1 Light"/>
              </a:rPr>
              <a:t>Quando uma peça chega à obra com defeito, a própria equipe se mobiliza para corrigir. Nem toda decisão precisa passar pela liderança.</a:t>
            </a:r>
          </a:p>
        </p:txBody>
      </p:sp>
      <p:sp>
        <p:nvSpPr>
          <p:cNvPr id="9" name="Rectangle 8"/>
          <p:cNvSpPr/>
          <p:nvPr/>
        </p:nvSpPr>
        <p:spPr>
          <a:xfrm>
            <a:off x="6934200" y="2970911"/>
            <a:ext cx="4419600" cy="56693"/>
          </a:xfrm>
          <a:prstGeom prst="rect">
            <a:avLst/>
          </a:prstGeom>
          <a:solidFill>
            <a:srgbClr val="CC75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934200" y="3245231"/>
            <a:ext cx="4419600" cy="5359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500"/>
              </a:lnSpc>
            </a:pPr>
            <a:r>
              <a:rPr sz="2500" i="0" b="0">
                <a:solidFill>
                  <a:srgbClr val="1C1C1A"/>
                </a:solidFill>
                <a:latin typeface="Outfit 1 Light"/>
              </a:rPr>
              <a:t>Cuidar · Mapinha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934200" y="3982339"/>
            <a:ext cx="4419600" cy="40919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500"/>
              </a:lnSpc>
            </a:pPr>
            <a:r>
              <a:rPr sz="2500" i="0" b="0">
                <a:solidFill>
                  <a:srgbClr val="6B6B66"/>
                </a:solidFill>
                <a:latin typeface="Outfit 1 Light"/>
              </a:rPr>
              <a:t>Em experiências anteriores, presenciou empresas aceitarem peças inadequadas na esperança de que o cliente não percebesse. Na Forma e na My Home, descreve uma orientação diferente: se não ficou bom, é necessário refazer.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1856720" y="2970911"/>
            <a:ext cx="4419600" cy="56693"/>
          </a:xfrm>
          <a:prstGeom prst="rect">
            <a:avLst/>
          </a:prstGeom>
          <a:solidFill>
            <a:srgbClr val="CC75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856720" y="3245231"/>
            <a:ext cx="4419600" cy="5359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500"/>
              </a:lnSpc>
            </a:pPr>
            <a:r>
              <a:rPr sz="2500" i="0" b="0">
                <a:solidFill>
                  <a:srgbClr val="1C1C1A"/>
                </a:solidFill>
                <a:latin typeface="Outfit 1 Light"/>
              </a:rPr>
              <a:t>Se importar · Joel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856720" y="3982339"/>
            <a:ext cx="4419600" cy="2758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500"/>
              </a:lnSpc>
            </a:pPr>
            <a:r>
              <a:rPr sz="2500" i="0" b="0">
                <a:solidFill>
                  <a:srgbClr val="6B6B66"/>
                </a:solidFill>
                <a:latin typeface="Outfit 1 Light"/>
              </a:rPr>
              <a:t>A equipe procura ajudar até quando o problema surgiu com outros prestadores de serviço, porque reconhece o desgaste que o cliente já enfrentou durante a obra.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7F2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xtura-ondas.jpeg"/>
          <p:cNvPicPr>
            <a:picLocks noChangeAspect="1"/>
          </p:cNvPicPr>
          <p:nvPr/>
        </p:nvPicPr>
        <p:blipFill>
          <a:blip r:embed="rId2">
            <a:alphaModFix amt="32000"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3233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10479024" y="1028700"/>
            <a:ext cx="7808976" cy="3506724"/>
          </a:xfrm>
          <a:prstGeom prst="roundRect">
            <a:avLst>
              <a:gd name="adj" fmla="val 4693"/>
            </a:avLst>
          </a:prstGeom>
          <a:solidFill>
            <a:srgbClr val="F8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045952" y="1595628"/>
            <a:ext cx="6675120" cy="2015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752"/>
              </a:lnSpc>
            </a:pPr>
            <a:r>
              <a:rPr sz="2800" i="0" b="0">
                <a:solidFill>
                  <a:srgbClr val="1C1C1A"/>
                </a:solidFill>
                <a:latin typeface="Outfit 1 Light"/>
              </a:rPr>
              <a:t>“Então a gente tenta</a:t>
            </a:r>
          </a:p>
          <a:p>
            <a:pPr algn="l">
              <a:lnSpc>
                <a:spcPts val="3752"/>
              </a:lnSpc>
            </a:pPr>
            <a:r>
              <a:rPr sz="2800" i="0" b="0">
                <a:solidFill>
                  <a:srgbClr val="1C1C1A"/>
                </a:solidFill>
                <a:latin typeface="Outfit 1 Light"/>
              </a:rPr>
              <a:t>amenizar o máximo possível</a:t>
            </a:r>
          </a:p>
          <a:p>
            <a:pPr algn="l">
              <a:lnSpc>
                <a:spcPts val="3752"/>
              </a:lnSpc>
            </a:pPr>
            <a:r>
              <a:rPr sz="2800" i="0" b="0">
                <a:solidFill>
                  <a:srgbClr val="1C1C1A"/>
                </a:solidFill>
                <a:latin typeface="Outfit 1 Light"/>
              </a:rPr>
              <a:t>[...] pra que ele</a:t>
            </a:r>
          </a:p>
          <a:p>
            <a:pPr algn="l">
              <a:lnSpc>
                <a:spcPts val="3752"/>
              </a:lnSpc>
            </a:pPr>
            <a:r>
              <a:rPr sz="2800" i="0" b="0">
                <a:solidFill>
                  <a:srgbClr val="1C1C1A"/>
                </a:solidFill>
                <a:latin typeface="Outfit 1 Light"/>
              </a:rPr>
              <a:t>não sofra mais.”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45952" y="3666236"/>
            <a:ext cx="6675120" cy="3937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379"/>
              </a:lnSpc>
            </a:pPr>
            <a:r>
              <a:rPr sz="1700" i="0" b="0">
                <a:solidFill>
                  <a:srgbClr val="6B6B66"/>
                </a:solidFill>
                <a:latin typeface="Outfit 1 Light"/>
              </a:rPr>
              <a:t>Joel, sobre o cliente que já atravessou o desgaste de uma obra.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011680" y="8293100"/>
            <a:ext cx="11521440" cy="4119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i="0" b="0" spc="300">
                <a:solidFill>
                  <a:srgbClr val="C6986E"/>
                </a:solidFill>
                <a:latin typeface="Outfit 1 Semi-Bold"/>
              </a:rPr>
              <a:t>IMAGEM   </a:t>
            </a:r>
            <a:r>
              <a:rPr sz="1700" i="0" b="0">
                <a:solidFill>
                  <a:srgbClr val="C9C7C0"/>
                </a:solidFill>
                <a:latin typeface="Outfit 1 Light"/>
              </a:rPr>
              <a:t>A obra em andamento, do ponto de vista de quem mora ali: o ambiente ainda em processo. Imagem ampla.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7F2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xtura-ondas.jpeg"/>
          <p:cNvPicPr>
            <a:picLocks noChangeAspect="1"/>
          </p:cNvPicPr>
          <p:nvPr/>
        </p:nvPicPr>
        <p:blipFill>
          <a:blip r:embed="rId2">
            <a:alphaModFix amt="32000"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1005840" y="1005840"/>
            <a:ext cx="16276320" cy="7772400"/>
          </a:xfrm>
          <a:prstGeom prst="roundRect">
            <a:avLst>
              <a:gd name="adj" fmla="val 2117"/>
            </a:avLst>
          </a:prstGeom>
          <a:solidFill>
            <a:srgbClr val="F8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011680" y="3396615"/>
            <a:ext cx="1426464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959"/>
              </a:lnSpc>
            </a:pPr>
            <a:r>
              <a:rPr sz="1400" i="0" b="0" spc="300">
                <a:solidFill>
                  <a:srgbClr val="CC754E"/>
                </a:solidFill>
                <a:latin typeface="Outfit 1 Semi-Bold"/>
              </a:rPr>
              <a:t>A DESCOBERTA CULTURAL MAIS PROFUNDA</a:t>
            </a:r>
          </a:p>
        </p:txBody>
      </p:sp>
      <p:sp>
        <p:nvSpPr>
          <p:cNvPr id="5" name="Rectangle 4"/>
          <p:cNvSpPr/>
          <p:nvPr/>
        </p:nvSpPr>
        <p:spPr>
          <a:xfrm>
            <a:off x="2011680" y="3890391"/>
            <a:ext cx="1188720" cy="27432"/>
          </a:xfrm>
          <a:prstGeom prst="rect">
            <a:avLst/>
          </a:prstGeom>
          <a:solidFill>
            <a:srgbClr val="CC75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011680" y="4292727"/>
            <a:ext cx="14081760" cy="159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5180"/>
              </a:lnSpc>
            </a:pPr>
            <a:r>
              <a:rPr sz="3700" i="0" b="0">
                <a:solidFill>
                  <a:srgbClr val="323330"/>
                </a:solidFill>
                <a:latin typeface="Outfit 1 Light"/>
              </a:rPr>
              <a:t>A responsabilidade não termina</a:t>
            </a:r>
          </a:p>
          <a:p>
            <a:pPr algn="l">
              <a:lnSpc>
                <a:spcPts val="5180"/>
              </a:lnSpc>
            </a:pPr>
            <a:r>
              <a:rPr sz="3700" i="0" b="0">
                <a:solidFill>
                  <a:srgbClr val="323330"/>
                </a:solidFill>
                <a:latin typeface="Outfit 1 Light"/>
              </a:rPr>
              <a:t>quando a própria tarefa acaba.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011680" y="5851525"/>
            <a:ext cx="11887200" cy="5359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500"/>
              </a:lnSpc>
            </a:pPr>
            <a:r>
              <a:rPr sz="2500" i="0" b="0">
                <a:solidFill>
                  <a:srgbClr val="6B6B66"/>
                </a:solidFill>
                <a:latin typeface="Outfit 1 Light"/>
              </a:rPr>
              <a:t>Existe uma disposição de cuidar do resultado e das pessoas afetadas por ele.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7F2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xtura-ondas.jpeg"/>
          <p:cNvPicPr>
            <a:picLocks noChangeAspect="1"/>
          </p:cNvPicPr>
          <p:nvPr/>
        </p:nvPicPr>
        <p:blipFill>
          <a:blip r:embed="rId2">
            <a:alphaModFix amt="32000"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1005840" y="1005840"/>
            <a:ext cx="16276320" cy="7772400"/>
          </a:xfrm>
          <a:prstGeom prst="roundRect">
            <a:avLst>
              <a:gd name="adj" fmla="val 2117"/>
            </a:avLst>
          </a:prstGeom>
          <a:solidFill>
            <a:srgbClr val="F8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011680" y="3162173"/>
            <a:ext cx="14264640" cy="100507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5754"/>
              </a:lnSpc>
            </a:pPr>
            <a:r>
              <a:rPr sz="4200" i="0" b="0">
                <a:solidFill>
                  <a:srgbClr val="1C1C1A"/>
                </a:solidFill>
                <a:latin typeface="Outfit 1 Light"/>
              </a:rPr>
              <a:t>O CRESCIMENTO EXIGE A </a:t>
            </a:r>
            <a:r>
              <a:rPr sz="4200" i="0" b="0">
                <a:solidFill>
                  <a:srgbClr val="1C1C1A"/>
                </a:solidFill>
                <a:latin typeface="Outfit 1 Bold"/>
              </a:rPr>
              <a:t>EVOLUÇÃO DA CULTURA</a:t>
            </a:r>
            <a:r>
              <a:rPr sz="4200" i="0" b="0">
                <a:solidFill>
                  <a:srgbClr val="1C1C1A"/>
                </a:solidFill>
                <a:latin typeface="Outfit 1 Light"/>
              </a:rPr>
              <a:t>.</a:t>
            </a:r>
          </a:p>
        </p:txBody>
      </p:sp>
      <p:sp>
        <p:nvSpPr>
          <p:cNvPr id="5" name="Rectangle 4"/>
          <p:cNvSpPr/>
          <p:nvPr/>
        </p:nvSpPr>
        <p:spPr>
          <a:xfrm>
            <a:off x="2011680" y="4075811"/>
            <a:ext cx="14264640" cy="10973"/>
          </a:xfrm>
          <a:prstGeom prst="rect">
            <a:avLst/>
          </a:prstGeom>
          <a:solidFill>
            <a:srgbClr val="A5A4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011680" y="4423283"/>
            <a:ext cx="12252960" cy="980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500"/>
              </a:lnSpc>
            </a:pPr>
            <a:r>
              <a:rPr sz="2500" i="0" b="0">
                <a:solidFill>
                  <a:srgbClr val="6B6B66"/>
                </a:solidFill>
                <a:latin typeface="Outfit 1 Light"/>
              </a:rPr>
              <a:t>A cultura foi construída com relações próximas, pessoas experientes e grande capacidade de resolver situações inesperadas.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011680" y="5641467"/>
            <a:ext cx="12252960" cy="980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500"/>
              </a:lnSpc>
            </a:pPr>
            <a:r>
              <a:rPr sz="2500" i="0" b="0">
                <a:solidFill>
                  <a:srgbClr val="6B6B66"/>
                </a:solidFill>
                <a:latin typeface="Outfit 1 Light"/>
              </a:rPr>
              <a:t>Mas a expansão exige que essas forças deixem de depender apenas de quem já conhece profundamente o negócio.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7F2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xtura-ondas.jpeg"/>
          <p:cNvPicPr>
            <a:picLocks noChangeAspect="1"/>
          </p:cNvPicPr>
          <p:nvPr/>
        </p:nvPicPr>
        <p:blipFill>
          <a:blip r:embed="rId2">
            <a:alphaModFix amt="32000"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1005840" y="1005840"/>
            <a:ext cx="16276320" cy="7772400"/>
          </a:xfrm>
          <a:prstGeom prst="roundRect">
            <a:avLst>
              <a:gd name="adj" fmla="val 2117"/>
            </a:avLst>
          </a:prstGeom>
          <a:solidFill>
            <a:srgbClr val="F8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011680" y="1723644"/>
            <a:ext cx="14264640" cy="100507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5754"/>
              </a:lnSpc>
            </a:pPr>
            <a:r>
              <a:rPr sz="4200" i="0" b="0">
                <a:solidFill>
                  <a:srgbClr val="1C1C1A"/>
                </a:solidFill>
                <a:latin typeface="Outfit 1 Light"/>
              </a:rPr>
              <a:t>O QUE SUSTENTA HOJE E </a:t>
            </a:r>
            <a:r>
              <a:rPr sz="4200" i="0" b="0">
                <a:solidFill>
                  <a:srgbClr val="1C1C1A"/>
                </a:solidFill>
                <a:latin typeface="Outfit 1 Bold"/>
              </a:rPr>
              <a:t>O QUE A ESCALA VAI PEDIR</a:t>
            </a:r>
          </a:p>
        </p:txBody>
      </p:sp>
      <p:sp>
        <p:nvSpPr>
          <p:cNvPr id="5" name="Rectangle 4"/>
          <p:cNvSpPr/>
          <p:nvPr/>
        </p:nvSpPr>
        <p:spPr>
          <a:xfrm>
            <a:off x="2011680" y="2637282"/>
            <a:ext cx="14264640" cy="10973"/>
          </a:xfrm>
          <a:prstGeom prst="rect">
            <a:avLst/>
          </a:prstGeom>
          <a:solidFill>
            <a:srgbClr val="A5A4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011680" y="3005328"/>
            <a:ext cx="47548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959"/>
              </a:lnSpc>
            </a:pPr>
            <a:r>
              <a:rPr sz="1400" i="0" b="0" spc="220">
                <a:solidFill>
                  <a:srgbClr val="A5A49F"/>
                </a:solidFill>
                <a:latin typeface="Outfit 1 Semi-Bold"/>
              </a:rPr>
              <a:t>FORÇAS ATUAIS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0" y="3005328"/>
            <a:ext cx="91440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959"/>
              </a:lnSpc>
            </a:pPr>
            <a:r>
              <a:rPr sz="1400" i="0" b="0" spc="220">
                <a:solidFill>
                  <a:srgbClr val="CC754E"/>
                </a:solidFill>
                <a:latin typeface="Outfit 1 Semi-Bold"/>
              </a:rPr>
              <a:t>DESAFIOS DO CRESCIMENTO</a:t>
            </a:r>
          </a:p>
        </p:txBody>
      </p:sp>
      <p:sp>
        <p:nvSpPr>
          <p:cNvPr id="8" name="Rectangle 7"/>
          <p:cNvSpPr/>
          <p:nvPr/>
        </p:nvSpPr>
        <p:spPr>
          <a:xfrm>
            <a:off x="2011680" y="3517392"/>
            <a:ext cx="14264640" cy="10973"/>
          </a:xfrm>
          <a:prstGeom prst="rect">
            <a:avLst/>
          </a:prstGeom>
          <a:solidFill>
            <a:srgbClr val="A5A4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011680" y="3791712"/>
            <a:ext cx="475488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520"/>
              </a:lnSpc>
            </a:pPr>
            <a:r>
              <a:rPr sz="1800" i="0" b="0" spc="282">
                <a:solidFill>
                  <a:srgbClr val="1C1C1A"/>
                </a:solidFill>
                <a:latin typeface="Outfit 1 Semi-Bold"/>
              </a:rPr>
              <a:t>PROXIMIDADE COM A FUNDADORA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32320" y="3718560"/>
            <a:ext cx="9144000" cy="7955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500"/>
              </a:lnSpc>
            </a:pPr>
            <a:r>
              <a:rPr sz="2500" i="0" b="0">
                <a:solidFill>
                  <a:srgbClr val="1C1C1A"/>
                </a:solidFill>
                <a:latin typeface="Outfit 1 Light"/>
              </a:rPr>
              <a:t>Desenvolver lideranças com os mesmos princípios.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011680" y="4587240"/>
            <a:ext cx="14264640" cy="10973"/>
          </a:xfrm>
          <a:prstGeom prst="rect">
            <a:avLst/>
          </a:prstGeom>
          <a:solidFill>
            <a:srgbClr val="A5A4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011680" y="4861560"/>
            <a:ext cx="4754880" cy="3886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520"/>
              </a:lnSpc>
            </a:pPr>
            <a:r>
              <a:rPr sz="1800" i="0" b="0" spc="282">
                <a:solidFill>
                  <a:srgbClr val="1C1C1A"/>
                </a:solidFill>
                <a:latin typeface="Outfit 1 Semi-Bold"/>
              </a:rPr>
              <a:t>LIBERDADE PARA RESOLVER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132320" y="4788408"/>
            <a:ext cx="9144000" cy="5176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500"/>
              </a:lnSpc>
            </a:pPr>
            <a:r>
              <a:rPr sz="2500" i="0" b="0">
                <a:solidFill>
                  <a:srgbClr val="1C1C1A"/>
                </a:solidFill>
                <a:latin typeface="Outfit 1 Light"/>
              </a:rPr>
              <a:t>Estabelecer critérios e responsabilidades claros.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011680" y="5379212"/>
            <a:ext cx="14264640" cy="10973"/>
          </a:xfrm>
          <a:prstGeom prst="rect">
            <a:avLst/>
          </a:prstGeom>
          <a:solidFill>
            <a:srgbClr val="A5A4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011680" y="5653532"/>
            <a:ext cx="475488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520"/>
              </a:lnSpc>
            </a:pPr>
            <a:r>
              <a:rPr sz="1800" i="0" b="0" spc="282">
                <a:solidFill>
                  <a:srgbClr val="1C1C1A"/>
                </a:solidFill>
                <a:latin typeface="Outfit 1 Semi-Bold"/>
              </a:rPr>
              <a:t>AGILIDADE DIANTE DOS PROBLEMAS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32320" y="5580380"/>
            <a:ext cx="9144000" cy="7955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500"/>
              </a:lnSpc>
            </a:pPr>
            <a:r>
              <a:rPr sz="2500" i="0" b="0">
                <a:solidFill>
                  <a:srgbClr val="1C1C1A"/>
                </a:solidFill>
                <a:latin typeface="Outfit 1 Light"/>
              </a:rPr>
              <a:t>Criar processos que antecipem dificuldades.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011680" y="6449060"/>
            <a:ext cx="14264640" cy="10973"/>
          </a:xfrm>
          <a:prstGeom prst="rect">
            <a:avLst/>
          </a:prstGeom>
          <a:solidFill>
            <a:srgbClr val="A5A4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011680" y="6723380"/>
            <a:ext cx="4754880" cy="3886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520"/>
              </a:lnSpc>
            </a:pPr>
            <a:r>
              <a:rPr sz="1800" i="0" b="0" spc="282">
                <a:solidFill>
                  <a:srgbClr val="1C1C1A"/>
                </a:solidFill>
                <a:latin typeface="Outfit 1 Semi-Bold"/>
              </a:rPr>
              <a:t>CONHECIMENTO ACUMULADO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132320" y="6650228"/>
            <a:ext cx="9144000" cy="5176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500"/>
              </a:lnSpc>
            </a:pPr>
            <a:r>
              <a:rPr sz="2500" i="0" b="0">
                <a:solidFill>
                  <a:srgbClr val="1C1C1A"/>
                </a:solidFill>
                <a:latin typeface="Outfit 1 Light"/>
              </a:rPr>
              <a:t>Transmitir e reproduzir padrões de excelência.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011680" y="7241032"/>
            <a:ext cx="14264640" cy="10973"/>
          </a:xfrm>
          <a:prstGeom prst="rect">
            <a:avLst/>
          </a:prstGeom>
          <a:solidFill>
            <a:srgbClr val="A5A4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011680" y="7515352"/>
            <a:ext cx="4754880" cy="3886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520"/>
              </a:lnSpc>
            </a:pPr>
            <a:r>
              <a:rPr sz="1800" i="0" b="0" spc="282">
                <a:solidFill>
                  <a:srgbClr val="CC754E"/>
                </a:solidFill>
                <a:latin typeface="Outfit 1 Semi-Bold"/>
              </a:rPr>
              <a:t>UNIÃO ENTRE AS EQUIPES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132320" y="7442200"/>
            <a:ext cx="9144000" cy="5176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500"/>
              </a:lnSpc>
            </a:pPr>
            <a:r>
              <a:rPr sz="2500" i="0" b="0">
                <a:solidFill>
                  <a:srgbClr val="1C1C1A"/>
                </a:solidFill>
                <a:latin typeface="Outfit 1 Light"/>
              </a:rPr>
              <a:t>Preservar vínculos em estruturas maiores.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2011680" y="8033004"/>
            <a:ext cx="1188720" cy="27432"/>
          </a:xfrm>
          <a:prstGeom prst="rect">
            <a:avLst/>
          </a:prstGeom>
          <a:solidFill>
            <a:srgbClr val="CC75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7F2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xtura-ondas.jpeg"/>
          <p:cNvPicPr>
            <a:picLocks noChangeAspect="1"/>
          </p:cNvPicPr>
          <p:nvPr/>
        </p:nvPicPr>
        <p:blipFill>
          <a:blip r:embed="rId2">
            <a:alphaModFix amt="32000"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1005840" y="1005840"/>
            <a:ext cx="16276320" cy="7772400"/>
          </a:xfrm>
          <a:prstGeom prst="roundRect">
            <a:avLst>
              <a:gd name="adj" fmla="val 2117"/>
            </a:avLst>
          </a:prstGeom>
          <a:solidFill>
            <a:srgbClr val="F8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011680" y="3162173"/>
            <a:ext cx="14264640" cy="100507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5754"/>
              </a:lnSpc>
            </a:pPr>
            <a:r>
              <a:rPr sz="4200" i="0" b="0">
                <a:solidFill>
                  <a:srgbClr val="1C1C1A"/>
                </a:solidFill>
                <a:latin typeface="Outfit 1 Light"/>
              </a:rPr>
              <a:t>A </a:t>
            </a:r>
            <a:r>
              <a:rPr sz="4200" i="0" b="0">
                <a:solidFill>
                  <a:srgbClr val="1C1C1A"/>
                </a:solidFill>
                <a:latin typeface="Outfit 1 Bold"/>
              </a:rPr>
              <a:t>REFLEXÃO CENTRAL</a:t>
            </a:r>
          </a:p>
        </p:txBody>
      </p:sp>
      <p:sp>
        <p:nvSpPr>
          <p:cNvPr id="5" name="Rectangle 4"/>
          <p:cNvSpPr/>
          <p:nvPr/>
        </p:nvSpPr>
        <p:spPr>
          <a:xfrm>
            <a:off x="2011680" y="4075811"/>
            <a:ext cx="14264640" cy="10973"/>
          </a:xfrm>
          <a:prstGeom prst="rect">
            <a:avLst/>
          </a:prstGeom>
          <a:solidFill>
            <a:srgbClr val="A5A4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011680" y="4423283"/>
            <a:ext cx="12252960" cy="980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500"/>
              </a:lnSpc>
            </a:pPr>
            <a:r>
              <a:rPr sz="2500" i="0" b="0">
                <a:solidFill>
                  <a:srgbClr val="6B6B66"/>
                </a:solidFill>
                <a:latin typeface="Outfit 1 Light"/>
              </a:rPr>
              <a:t>O que hoje é resolvido pela experiência de algumas pessoas precisará se transformar em conhecimento compartilhado.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011680" y="5641467"/>
            <a:ext cx="12252960" cy="980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500"/>
              </a:lnSpc>
            </a:pPr>
            <a:r>
              <a:rPr sz="2500" i="0" b="0">
                <a:solidFill>
                  <a:srgbClr val="6B6B66"/>
                </a:solidFill>
                <a:latin typeface="Outfit 1 Light"/>
              </a:rPr>
              <a:t>O que hoje depende de relações próximas precisará ser preservado mesmo com novos funcionários e lideranças.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7F2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xtura-ondas.jpeg"/>
          <p:cNvPicPr>
            <a:picLocks noChangeAspect="1"/>
          </p:cNvPicPr>
          <p:nvPr/>
        </p:nvPicPr>
        <p:blipFill>
          <a:blip r:embed="rId2">
            <a:alphaModFix amt="32000"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1005840" y="1005840"/>
            <a:ext cx="16276320" cy="7772400"/>
          </a:xfrm>
          <a:prstGeom prst="roundRect">
            <a:avLst>
              <a:gd name="adj" fmla="val 2117"/>
            </a:avLst>
          </a:prstGeom>
          <a:solidFill>
            <a:srgbClr val="F8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2011680" y="3237992"/>
            <a:ext cx="1188720" cy="27432"/>
          </a:xfrm>
          <a:prstGeom prst="rect">
            <a:avLst/>
          </a:prstGeom>
          <a:solidFill>
            <a:srgbClr val="CC75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011680" y="3640328"/>
            <a:ext cx="14081760" cy="290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5180"/>
              </a:lnSpc>
            </a:pPr>
            <a:r>
              <a:rPr sz="3700" i="0" b="0">
                <a:solidFill>
                  <a:srgbClr val="323330"/>
                </a:solidFill>
                <a:latin typeface="Outfit 1 Light"/>
              </a:rPr>
              <a:t>O maior legado da Flávia não será fazer com que</a:t>
            </a:r>
          </a:p>
          <a:p>
            <a:pPr algn="l">
              <a:lnSpc>
                <a:spcPts val="5180"/>
              </a:lnSpc>
            </a:pPr>
            <a:r>
              <a:rPr sz="3700" i="0" b="0">
                <a:solidFill>
                  <a:srgbClr val="323330"/>
                </a:solidFill>
                <a:latin typeface="Outfit 1 Light"/>
              </a:rPr>
              <a:t>tudo continue dependendo dela, mas construir</a:t>
            </a:r>
          </a:p>
          <a:p>
            <a:pPr algn="l">
              <a:lnSpc>
                <a:spcPts val="5180"/>
              </a:lnSpc>
            </a:pPr>
            <a:r>
              <a:rPr sz="3700" i="0" b="0">
                <a:solidFill>
                  <a:srgbClr val="323330"/>
                </a:solidFill>
                <a:latin typeface="Outfit 1 Light"/>
              </a:rPr>
              <a:t>uma organização capaz de preservar seus princípios</a:t>
            </a:r>
          </a:p>
          <a:p>
            <a:pPr algn="l">
              <a:lnSpc>
                <a:spcPts val="5180"/>
              </a:lnSpc>
            </a:pPr>
            <a:r>
              <a:rPr sz="3700" i="0" b="0">
                <a:solidFill>
                  <a:srgbClr val="323330"/>
                </a:solidFill>
                <a:latin typeface="Outfit 1 Light"/>
              </a:rPr>
              <a:t>sem precisar de sua presença em cada decisão.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7F2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xtura-ondas.jpeg"/>
          <p:cNvPicPr>
            <a:picLocks noChangeAspect="1"/>
          </p:cNvPicPr>
          <p:nvPr/>
        </p:nvPicPr>
        <p:blipFill>
          <a:blip r:embed="rId2">
            <a:alphaModFix amt="32000"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011680" y="3497834"/>
            <a:ext cx="15247620" cy="1803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ts val="12760"/>
              </a:lnSpc>
            </a:pPr>
            <a:r>
              <a:rPr sz="11600" i="0" b="0">
                <a:solidFill>
                  <a:srgbClr val="1C1C1A"/>
                </a:solidFill>
                <a:latin typeface="Outfit 1 Bold"/>
              </a:rPr>
              <a:t>CULTURA DE MARCA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011680" y="5374386"/>
            <a:ext cx="15247620" cy="10947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ts val="7539"/>
              </a:lnSpc>
            </a:pPr>
            <a:r>
              <a:rPr sz="6500" i="0" b="0">
                <a:solidFill>
                  <a:srgbClr val="1C1C1A"/>
                </a:solidFill>
                <a:latin typeface="Outfit 1 Light"/>
              </a:rPr>
              <a:t>Forma · My Home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7F2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xtura-ondas.jpeg"/>
          <p:cNvPicPr>
            <a:picLocks noChangeAspect="1"/>
          </p:cNvPicPr>
          <p:nvPr/>
        </p:nvPicPr>
        <p:blipFill>
          <a:blip r:embed="rId2">
            <a:alphaModFix amt="32000"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1005840" y="1005840"/>
            <a:ext cx="16276320" cy="7772400"/>
          </a:xfrm>
          <a:prstGeom prst="roundRect">
            <a:avLst>
              <a:gd name="adj" fmla="val 2117"/>
            </a:avLst>
          </a:prstGeom>
          <a:solidFill>
            <a:srgbClr val="F8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011680" y="3549015"/>
            <a:ext cx="14264640" cy="100507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5754"/>
              </a:lnSpc>
            </a:pPr>
            <a:r>
              <a:rPr sz="4200" i="0" b="0">
                <a:solidFill>
                  <a:srgbClr val="1C1C1A"/>
                </a:solidFill>
                <a:latin typeface="Outfit 1 Light"/>
              </a:rPr>
              <a:t>O QUE É </a:t>
            </a:r>
            <a:r>
              <a:rPr sz="4200" i="0" b="0">
                <a:solidFill>
                  <a:srgbClr val="1C1C1A"/>
                </a:solidFill>
                <a:latin typeface="Outfit 1 Bold"/>
              </a:rPr>
              <a:t>CULTURA DE MARCA</a:t>
            </a:r>
            <a:r>
              <a:rPr sz="4200" i="0" b="0">
                <a:solidFill>
                  <a:srgbClr val="1C1C1A"/>
                </a:solidFill>
                <a:latin typeface="Outfit 1 Light"/>
              </a:rPr>
              <a:t>?</a:t>
            </a:r>
          </a:p>
        </p:txBody>
      </p:sp>
      <p:sp>
        <p:nvSpPr>
          <p:cNvPr id="5" name="Rectangle 4"/>
          <p:cNvSpPr/>
          <p:nvPr/>
        </p:nvSpPr>
        <p:spPr>
          <a:xfrm>
            <a:off x="2011680" y="4462653"/>
            <a:ext cx="14264640" cy="10973"/>
          </a:xfrm>
          <a:prstGeom prst="rect">
            <a:avLst/>
          </a:prstGeom>
          <a:solidFill>
            <a:srgbClr val="A5A4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011680" y="4810125"/>
            <a:ext cx="12252960" cy="14249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500"/>
              </a:lnSpc>
            </a:pPr>
            <a:r>
              <a:rPr sz="2500" i="0" b="0">
                <a:solidFill>
                  <a:srgbClr val="6B6B66"/>
                </a:solidFill>
                <a:latin typeface="Outfit 1 Light"/>
              </a:rPr>
              <a:t>É o conjunto de crenças, valores e significados que orientam a identidade de uma marca e se manifesta em seu comportamento, seus produtos, sua comunicação e na experiência que entrega.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7F2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xtura-ondas.jpeg"/>
          <p:cNvPicPr>
            <a:picLocks noChangeAspect="1"/>
          </p:cNvPicPr>
          <p:nvPr/>
        </p:nvPicPr>
        <p:blipFill>
          <a:blip r:embed="rId2">
            <a:alphaModFix amt="32000"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1005840" y="1005840"/>
            <a:ext cx="16276320" cy="7772400"/>
          </a:xfrm>
          <a:prstGeom prst="roundRect">
            <a:avLst>
              <a:gd name="adj" fmla="val 2117"/>
            </a:avLst>
          </a:prstGeom>
          <a:solidFill>
            <a:srgbClr val="F8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011680" y="3549015"/>
            <a:ext cx="14264640" cy="100507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5754"/>
              </a:lnSpc>
            </a:pPr>
            <a:r>
              <a:rPr sz="4200" i="0" b="0">
                <a:solidFill>
                  <a:srgbClr val="1C1C1A"/>
                </a:solidFill>
                <a:latin typeface="Outfit 1 Light"/>
              </a:rPr>
              <a:t>COMO FOI </a:t>
            </a:r>
            <a:r>
              <a:rPr sz="4200" i="0" b="0">
                <a:solidFill>
                  <a:srgbClr val="1C1C1A"/>
                </a:solidFill>
                <a:latin typeface="Outfit 1 Bold"/>
              </a:rPr>
              <a:t>MAPEADA</a:t>
            </a:r>
          </a:p>
        </p:txBody>
      </p:sp>
      <p:sp>
        <p:nvSpPr>
          <p:cNvPr id="5" name="Rectangle 4"/>
          <p:cNvSpPr/>
          <p:nvPr/>
        </p:nvSpPr>
        <p:spPr>
          <a:xfrm>
            <a:off x="2011680" y="4462653"/>
            <a:ext cx="14264640" cy="10973"/>
          </a:xfrm>
          <a:prstGeom prst="rect">
            <a:avLst/>
          </a:prstGeom>
          <a:solidFill>
            <a:srgbClr val="A5A4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011680" y="4810125"/>
            <a:ext cx="12252960" cy="14249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500"/>
              </a:lnSpc>
            </a:pPr>
            <a:r>
              <a:rPr sz="2500" i="0" b="0">
                <a:solidFill>
                  <a:srgbClr val="6B6B66"/>
                </a:solidFill>
                <a:latin typeface="Outfit 1 Light"/>
              </a:rPr>
              <a:t>Foram cruzados os relatos da Flávia, a trajetória das empresas, as entrevistas com colaboradores, os documentos de identidade verbal e as percepções de clientes e arquitetos.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7F2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xtura-ondas.jpeg"/>
          <p:cNvPicPr>
            <a:picLocks noChangeAspect="1"/>
          </p:cNvPicPr>
          <p:nvPr/>
        </p:nvPicPr>
        <p:blipFill>
          <a:blip r:embed="rId2">
            <a:alphaModFix amt="32000"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1005840" y="1005840"/>
            <a:ext cx="16276320" cy="7772400"/>
          </a:xfrm>
          <a:prstGeom prst="roundRect">
            <a:avLst>
              <a:gd name="adj" fmla="val 2117"/>
            </a:avLst>
          </a:prstGeom>
          <a:solidFill>
            <a:srgbClr val="F8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011680" y="3137281"/>
            <a:ext cx="14264640" cy="100507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5754"/>
              </a:lnSpc>
            </a:pPr>
            <a:r>
              <a:rPr sz="4200" i="0" b="0">
                <a:solidFill>
                  <a:srgbClr val="1C1C1A"/>
                </a:solidFill>
                <a:latin typeface="Outfit 1 Light"/>
              </a:rPr>
              <a:t>O QUE FOI </a:t>
            </a:r>
            <a:r>
              <a:rPr sz="4200" i="0" b="0">
                <a:solidFill>
                  <a:srgbClr val="1C1C1A"/>
                </a:solidFill>
                <a:latin typeface="Outfit 1 Bold"/>
              </a:rPr>
              <a:t>ANALISADO</a:t>
            </a:r>
          </a:p>
        </p:txBody>
      </p:sp>
      <p:sp>
        <p:nvSpPr>
          <p:cNvPr id="5" name="Rectangle 4"/>
          <p:cNvSpPr/>
          <p:nvPr/>
        </p:nvSpPr>
        <p:spPr>
          <a:xfrm>
            <a:off x="2011680" y="4050919"/>
            <a:ext cx="14264640" cy="10973"/>
          </a:xfrm>
          <a:prstGeom prst="rect">
            <a:avLst/>
          </a:prstGeom>
          <a:solidFill>
            <a:srgbClr val="A5A4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011680" y="4800473"/>
            <a:ext cx="6880860" cy="10973"/>
          </a:xfrm>
          <a:prstGeom prst="rect">
            <a:avLst/>
          </a:prstGeom>
          <a:solidFill>
            <a:srgbClr val="A5A4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011680" y="4398391"/>
            <a:ext cx="6880860" cy="43865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500"/>
              </a:lnSpc>
            </a:pPr>
            <a:r>
              <a:rPr sz="2500" i="0" b="0">
                <a:solidFill>
                  <a:srgbClr val="1C1C1A"/>
                </a:solidFill>
                <a:latin typeface="Outfit 1 Light"/>
              </a:rPr>
              <a:t>Origem e significado</a:t>
            </a:r>
          </a:p>
        </p:txBody>
      </p:sp>
      <p:sp>
        <p:nvSpPr>
          <p:cNvPr id="8" name="Rectangle 7"/>
          <p:cNvSpPr/>
          <p:nvPr/>
        </p:nvSpPr>
        <p:spPr>
          <a:xfrm>
            <a:off x="2011680" y="5403723"/>
            <a:ext cx="6880860" cy="10973"/>
          </a:xfrm>
          <a:prstGeom prst="rect">
            <a:avLst/>
          </a:prstGeom>
          <a:solidFill>
            <a:srgbClr val="A5A4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011680" y="5001641"/>
            <a:ext cx="6880860" cy="43865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500"/>
              </a:lnSpc>
            </a:pPr>
            <a:r>
              <a:rPr sz="2500" i="0" b="0">
                <a:solidFill>
                  <a:srgbClr val="1C1C1A"/>
                </a:solidFill>
                <a:latin typeface="Outfit 1 Light"/>
              </a:rPr>
              <a:t>Valores</a:t>
            </a:r>
          </a:p>
        </p:txBody>
      </p:sp>
      <p:sp>
        <p:nvSpPr>
          <p:cNvPr id="10" name="Rectangle 9"/>
          <p:cNvSpPr/>
          <p:nvPr/>
        </p:nvSpPr>
        <p:spPr>
          <a:xfrm>
            <a:off x="2011680" y="6006973"/>
            <a:ext cx="6880860" cy="10973"/>
          </a:xfrm>
          <a:prstGeom prst="rect">
            <a:avLst/>
          </a:prstGeom>
          <a:solidFill>
            <a:srgbClr val="A5A4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011680" y="5604891"/>
            <a:ext cx="6880860" cy="43865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500"/>
              </a:lnSpc>
            </a:pPr>
            <a:r>
              <a:rPr sz="2500" i="0" b="0">
                <a:solidFill>
                  <a:srgbClr val="1C1C1A"/>
                </a:solidFill>
                <a:latin typeface="Outfit 1 Light"/>
              </a:rPr>
              <a:t>Personalidade e expressão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011680" y="6610223"/>
            <a:ext cx="6880860" cy="10973"/>
          </a:xfrm>
          <a:prstGeom prst="rect">
            <a:avLst/>
          </a:prstGeom>
          <a:solidFill>
            <a:srgbClr val="A5A4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011680" y="6208141"/>
            <a:ext cx="6880860" cy="43865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500"/>
              </a:lnSpc>
            </a:pPr>
            <a:r>
              <a:rPr sz="2500" i="0" b="0">
                <a:solidFill>
                  <a:srgbClr val="1C1C1A"/>
                </a:solidFill>
                <a:latin typeface="Outfit 1 Light"/>
              </a:rPr>
              <a:t>Comportamento da equipe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395460" y="4800473"/>
            <a:ext cx="6880860" cy="10973"/>
          </a:xfrm>
          <a:prstGeom prst="rect">
            <a:avLst/>
          </a:prstGeom>
          <a:solidFill>
            <a:srgbClr val="A5A4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395460" y="4398391"/>
            <a:ext cx="6880860" cy="43865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500"/>
              </a:lnSpc>
            </a:pPr>
            <a:r>
              <a:rPr sz="2500" i="0" b="0">
                <a:solidFill>
                  <a:srgbClr val="1C1C1A"/>
                </a:solidFill>
                <a:latin typeface="Outfit 1 Light"/>
              </a:rPr>
              <a:t>Experiência entregue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395460" y="5403723"/>
            <a:ext cx="6880860" cy="10973"/>
          </a:xfrm>
          <a:prstGeom prst="rect">
            <a:avLst/>
          </a:prstGeom>
          <a:solidFill>
            <a:srgbClr val="A5A4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395460" y="5001641"/>
            <a:ext cx="6880860" cy="43865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500"/>
              </a:lnSpc>
            </a:pPr>
            <a:r>
              <a:rPr sz="2500" i="0" b="0">
                <a:solidFill>
                  <a:srgbClr val="1C1C1A"/>
                </a:solidFill>
                <a:latin typeface="Outfit 1 Light"/>
              </a:rPr>
              <a:t>Percepção externa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395460" y="6006973"/>
            <a:ext cx="6880860" cy="10973"/>
          </a:xfrm>
          <a:prstGeom prst="rect">
            <a:avLst/>
          </a:prstGeom>
          <a:solidFill>
            <a:srgbClr val="A5A4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395460" y="5604891"/>
            <a:ext cx="6880860" cy="43865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500"/>
              </a:lnSpc>
            </a:pPr>
            <a:r>
              <a:rPr sz="2500" i="0" b="0">
                <a:solidFill>
                  <a:srgbClr val="1C1C1A"/>
                </a:solidFill>
                <a:latin typeface="Outfit 1 Light"/>
              </a:rPr>
              <a:t>Coerência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7F2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xtura-ondas.jpeg"/>
          <p:cNvPicPr>
            <a:picLocks noChangeAspect="1"/>
          </p:cNvPicPr>
          <p:nvPr/>
        </p:nvPicPr>
        <p:blipFill>
          <a:blip r:embed="rId2">
            <a:alphaModFix amt="32000"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1005840" y="1005840"/>
            <a:ext cx="16276320" cy="7772400"/>
          </a:xfrm>
          <a:prstGeom prst="roundRect">
            <a:avLst>
              <a:gd name="adj" fmla="val 2117"/>
            </a:avLst>
          </a:prstGeom>
          <a:solidFill>
            <a:srgbClr val="F8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011680" y="3320034"/>
            <a:ext cx="1426464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959"/>
              </a:lnSpc>
            </a:pPr>
            <a:r>
              <a:rPr sz="1400" i="0" b="0" spc="300">
                <a:solidFill>
                  <a:srgbClr val="CC754E"/>
                </a:solidFill>
                <a:latin typeface="Outfit 1 Semi-Bold"/>
              </a:rPr>
              <a:t>A QUESTÃO CENTRAL</a:t>
            </a:r>
          </a:p>
        </p:txBody>
      </p:sp>
      <p:sp>
        <p:nvSpPr>
          <p:cNvPr id="5" name="Rectangle 4"/>
          <p:cNvSpPr/>
          <p:nvPr/>
        </p:nvSpPr>
        <p:spPr>
          <a:xfrm>
            <a:off x="2011680" y="3813810"/>
            <a:ext cx="1188720" cy="27432"/>
          </a:xfrm>
          <a:prstGeom prst="rect">
            <a:avLst/>
          </a:prstGeom>
          <a:solidFill>
            <a:srgbClr val="CC75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011680" y="4216146"/>
            <a:ext cx="14081760" cy="22479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5180"/>
              </a:lnSpc>
            </a:pPr>
            <a:r>
              <a:rPr sz="3700" i="0" b="0">
                <a:solidFill>
                  <a:srgbClr val="323330"/>
                </a:solidFill>
                <a:latin typeface="Outfit 1 Light"/>
              </a:rPr>
              <a:t>Compreender não apenas o que cada empresa faz,</a:t>
            </a:r>
          </a:p>
          <a:p>
            <a:pPr algn="l">
              <a:lnSpc>
                <a:spcPts val="5180"/>
              </a:lnSpc>
            </a:pPr>
            <a:r>
              <a:rPr sz="3700" i="0" b="0">
                <a:solidFill>
                  <a:srgbClr val="323330"/>
                </a:solidFill>
                <a:latin typeface="Outfit 1 Light"/>
              </a:rPr>
              <a:t>mas o significado que seu trabalho assume</a:t>
            </a:r>
          </a:p>
          <a:p>
            <a:pPr algn="l">
              <a:lnSpc>
                <a:spcPts val="5180"/>
              </a:lnSpc>
            </a:pPr>
            <a:r>
              <a:rPr sz="3700" i="0" b="0">
                <a:solidFill>
                  <a:srgbClr val="323330"/>
                </a:solidFill>
                <a:latin typeface="Outfit 1 Light"/>
              </a:rPr>
              <a:t>para as pessoas e o que a diferencia no mercado.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7F2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xtura-ondas.jpeg"/>
          <p:cNvPicPr>
            <a:picLocks noChangeAspect="1"/>
          </p:cNvPicPr>
          <p:nvPr/>
        </p:nvPicPr>
        <p:blipFill>
          <a:blip r:embed="rId2">
            <a:alphaModFix amt="32000"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3233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011680" y="2933382"/>
            <a:ext cx="152476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ts val="1959"/>
              </a:lnSpc>
            </a:pPr>
            <a:r>
              <a:rPr sz="1400" i="0" b="0" spc="300">
                <a:solidFill>
                  <a:srgbClr val="C6986E"/>
                </a:solidFill>
                <a:latin typeface="Outfit 1 Semi-Bold"/>
              </a:rPr>
              <a:t>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011680" y="3408870"/>
            <a:ext cx="15247620" cy="21875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ts val="15785"/>
              </a:lnSpc>
            </a:pPr>
            <a:r>
              <a:rPr sz="14350" i="0" b="0">
                <a:solidFill>
                  <a:srgbClr val="FFFFFF"/>
                </a:solidFill>
                <a:latin typeface="Outfit 1 Bold"/>
              </a:rPr>
              <a:t>FORMA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011680" y="5669598"/>
            <a:ext cx="15247620" cy="8884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ts val="5916"/>
              </a:lnSpc>
            </a:pPr>
            <a:r>
              <a:rPr sz="5100" i="0" b="0">
                <a:solidFill>
                  <a:srgbClr val="FFFFFF"/>
                </a:solidFill>
                <a:latin typeface="Outfit 1 Light"/>
              </a:rPr>
              <a:t>Cultura de marca · origem, valores e personalidade.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011680" y="8293100"/>
            <a:ext cx="11521440" cy="4119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i="0" b="0" spc="300">
                <a:solidFill>
                  <a:srgbClr val="C6986E"/>
                </a:solidFill>
                <a:latin typeface="Outfit 1 Semi-Bold"/>
              </a:rPr>
              <a:t>IMAGEM   </a:t>
            </a:r>
            <a:r>
              <a:rPr sz="1700" i="0" b="0">
                <a:solidFill>
                  <a:srgbClr val="C9C7C0"/>
                </a:solidFill>
                <a:latin typeface="Outfit 1 Light"/>
              </a:rPr>
              <a:t>Um projeto complexo em execução — marcenaria sob medida, encaixe, peça grande em montagem.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7F2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xtura-ondas.jpeg"/>
          <p:cNvPicPr>
            <a:picLocks noChangeAspect="1"/>
          </p:cNvPicPr>
          <p:nvPr/>
        </p:nvPicPr>
        <p:blipFill>
          <a:blip r:embed="rId2">
            <a:alphaModFix amt="32000"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1005840" y="1005840"/>
            <a:ext cx="16276320" cy="7772400"/>
          </a:xfrm>
          <a:prstGeom prst="roundRect">
            <a:avLst>
              <a:gd name="adj" fmla="val 2117"/>
            </a:avLst>
          </a:prstGeom>
          <a:solidFill>
            <a:srgbClr val="F8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10927080" y="1303020"/>
            <a:ext cx="6355080" cy="7178040"/>
          </a:xfrm>
          <a:prstGeom prst="roundRect">
            <a:avLst>
              <a:gd name="adj" fmla="val 2589"/>
            </a:avLst>
          </a:prstGeom>
          <a:solidFill>
            <a:srgbClr val="E9E5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1521440" y="3786378"/>
            <a:ext cx="1188720" cy="27432"/>
          </a:xfrm>
          <a:prstGeom prst="rect">
            <a:avLst/>
          </a:prstGeom>
          <a:solidFill>
            <a:srgbClr val="CC75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521440" y="4097274"/>
            <a:ext cx="51663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959"/>
              </a:lnSpc>
            </a:pPr>
            <a:r>
              <a:rPr sz="1400" i="0" b="0" spc="300">
                <a:solidFill>
                  <a:srgbClr val="CC754E"/>
                </a:solidFill>
                <a:latin typeface="Outfit 1 Semi-Bold"/>
              </a:rPr>
              <a:t>IMAGEM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521440" y="4664202"/>
            <a:ext cx="5166360" cy="14249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500"/>
              </a:lnSpc>
            </a:pPr>
            <a:r>
              <a:rPr sz="2500" i="0" b="0">
                <a:solidFill>
                  <a:srgbClr val="6B6B66"/>
                </a:solidFill>
                <a:latin typeface="Outfit 1 Light"/>
              </a:rPr>
              <a:t>Uma conversa técnica sobre o projeto — prancha, amostra de material, desenho na mesa.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011680" y="2072386"/>
            <a:ext cx="8458200" cy="100507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5754"/>
              </a:lnSpc>
            </a:pPr>
            <a:r>
              <a:rPr sz="4200" i="0" b="0">
                <a:solidFill>
                  <a:srgbClr val="1C1C1A"/>
                </a:solidFill>
                <a:latin typeface="Outfit 1 Light"/>
              </a:rPr>
              <a:t>A LIBERDADE DE CRIAR EXIGE A </a:t>
            </a:r>
            <a:r>
              <a:rPr sz="4200" i="0" b="0">
                <a:solidFill>
                  <a:srgbClr val="1C1C1A"/>
                </a:solidFill>
                <a:latin typeface="Outfit 1 Bold"/>
              </a:rPr>
              <a:t>CAPACIDADE DE REALIZAR</a:t>
            </a:r>
            <a:r>
              <a:rPr sz="4200" i="0" b="0">
                <a:solidFill>
                  <a:srgbClr val="1C1C1A"/>
                </a:solidFill>
                <a:latin typeface="Outfit 1 Light"/>
              </a:rPr>
              <a:t>.</a:t>
            </a:r>
          </a:p>
        </p:txBody>
      </p:sp>
      <p:sp>
        <p:nvSpPr>
          <p:cNvPr id="9" name="Rectangle 8"/>
          <p:cNvSpPr/>
          <p:nvPr/>
        </p:nvSpPr>
        <p:spPr>
          <a:xfrm>
            <a:off x="2011680" y="3716782"/>
            <a:ext cx="8458200" cy="10973"/>
          </a:xfrm>
          <a:prstGeom prst="rect">
            <a:avLst/>
          </a:prstGeom>
          <a:solidFill>
            <a:srgbClr val="A5A4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011680" y="4064254"/>
            <a:ext cx="8458200" cy="364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500"/>
              </a:lnSpc>
            </a:pPr>
            <a:r>
              <a:rPr sz="2500" i="0" b="0">
                <a:solidFill>
                  <a:srgbClr val="6B6B66"/>
                </a:solidFill>
                <a:latin typeface="Outfit 1 Light"/>
              </a:rPr>
              <a:t>Durante anos, Flávia aprendeu a trabalhar com marcas de móveis consolidadas. Conhecia os sistemas, os padrões e as possibilidades oferecidas por eles. Mas havia algo que a incomodava: saber que uma ideia poderia ser melhor e precisar adaptá-la aos limites de uma marca pronta. Quando assumiu a Forma, encontrou a possibilidade de construir seus próprios padrões e executar projetos com maior liberdade.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7F2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xtura-ondas.jpeg"/>
          <p:cNvPicPr>
            <a:picLocks noChangeAspect="1"/>
          </p:cNvPicPr>
          <p:nvPr/>
        </p:nvPicPr>
        <p:blipFill>
          <a:blip r:embed="rId2">
            <a:alphaModFix amt="32000"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1005840" y="1005840"/>
            <a:ext cx="16276320" cy="7772400"/>
          </a:xfrm>
          <a:prstGeom prst="roundRect">
            <a:avLst>
              <a:gd name="adj" fmla="val 2117"/>
            </a:avLst>
          </a:prstGeom>
          <a:solidFill>
            <a:srgbClr val="F8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2011680" y="3237992"/>
            <a:ext cx="1188720" cy="27432"/>
          </a:xfrm>
          <a:prstGeom prst="rect">
            <a:avLst/>
          </a:prstGeom>
          <a:solidFill>
            <a:srgbClr val="CC75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011680" y="3640328"/>
            <a:ext cx="14081760" cy="290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5180"/>
              </a:lnSpc>
            </a:pPr>
            <a:r>
              <a:rPr sz="3700" i="0" b="0">
                <a:solidFill>
                  <a:srgbClr val="323330"/>
                </a:solidFill>
                <a:latin typeface="Outfit 1 Light"/>
              </a:rPr>
              <a:t>A essência da Forma não está apenas</a:t>
            </a:r>
          </a:p>
          <a:p>
            <a:pPr algn="l">
              <a:lnSpc>
                <a:spcPts val="5180"/>
              </a:lnSpc>
            </a:pPr>
            <a:r>
              <a:rPr sz="3700" i="0" b="0">
                <a:solidFill>
                  <a:srgbClr val="323330"/>
                </a:solidFill>
                <a:latin typeface="Outfit 1 Light"/>
              </a:rPr>
              <a:t>em personalizar móveis.</a:t>
            </a:r>
          </a:p>
          <a:p>
            <a:pPr algn="l">
              <a:lnSpc>
                <a:spcPts val="5180"/>
              </a:lnSpc>
            </a:pPr>
            <a:r>
              <a:rPr sz="3700" i="0" b="0">
                <a:solidFill>
                  <a:srgbClr val="323330"/>
                </a:solidFill>
                <a:latin typeface="Outfit 1 Light"/>
              </a:rPr>
              <a:t>Está em colocar o conhecimento técnico a serviço</a:t>
            </a:r>
          </a:p>
          <a:p>
            <a:pPr algn="l">
              <a:lnSpc>
                <a:spcPts val="5180"/>
              </a:lnSpc>
            </a:pPr>
            <a:r>
              <a:rPr sz="3700" i="0" b="0">
                <a:solidFill>
                  <a:srgbClr val="323330"/>
                </a:solidFill>
                <a:latin typeface="Outfit 1 Light"/>
              </a:rPr>
              <a:t>daquilo que cada projeto realmente necessita.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7F2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xtura-ondas.jpeg"/>
          <p:cNvPicPr>
            <a:picLocks noChangeAspect="1"/>
          </p:cNvPicPr>
          <p:nvPr/>
        </p:nvPicPr>
        <p:blipFill>
          <a:blip r:embed="rId2">
            <a:alphaModFix amt="32000"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1005840" y="1005840"/>
            <a:ext cx="16276320" cy="7772400"/>
          </a:xfrm>
          <a:prstGeom prst="roundRect">
            <a:avLst>
              <a:gd name="adj" fmla="val 2117"/>
            </a:avLst>
          </a:prstGeom>
          <a:solidFill>
            <a:srgbClr val="F8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011680" y="3648964"/>
            <a:ext cx="1426464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959"/>
              </a:lnSpc>
            </a:pPr>
            <a:r>
              <a:rPr sz="1400" i="0" b="0" spc="300">
                <a:solidFill>
                  <a:srgbClr val="CC754E"/>
                </a:solidFill>
                <a:latin typeface="Outfit 1 Semi-Bold"/>
              </a:rPr>
              <a:t>CRENÇA CENTRAL</a:t>
            </a:r>
          </a:p>
        </p:txBody>
      </p:sp>
      <p:sp>
        <p:nvSpPr>
          <p:cNvPr id="5" name="Rectangle 4"/>
          <p:cNvSpPr/>
          <p:nvPr/>
        </p:nvSpPr>
        <p:spPr>
          <a:xfrm>
            <a:off x="2011680" y="4142740"/>
            <a:ext cx="1188720" cy="27432"/>
          </a:xfrm>
          <a:prstGeom prst="rect">
            <a:avLst/>
          </a:prstGeom>
          <a:solidFill>
            <a:srgbClr val="CC75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011680" y="4545076"/>
            <a:ext cx="14081760" cy="159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5180"/>
              </a:lnSpc>
            </a:pPr>
            <a:r>
              <a:rPr sz="3700" i="0" b="0">
                <a:solidFill>
                  <a:srgbClr val="323330"/>
                </a:solidFill>
                <a:latin typeface="Outfit 1 Light"/>
              </a:rPr>
              <a:t>Uma ideia singular merece</a:t>
            </a:r>
          </a:p>
          <a:p>
            <a:pPr algn="l">
              <a:lnSpc>
                <a:spcPts val="5180"/>
              </a:lnSpc>
            </a:pPr>
            <a:r>
              <a:rPr sz="3700" i="0" b="0">
                <a:solidFill>
                  <a:srgbClr val="323330"/>
                </a:solidFill>
                <a:latin typeface="Outfit 1 Light"/>
              </a:rPr>
              <a:t>uma execução à sua altura.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7F2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xtura-ondas.jpeg"/>
          <p:cNvPicPr>
            <a:picLocks noChangeAspect="1"/>
          </p:cNvPicPr>
          <p:nvPr/>
        </p:nvPicPr>
        <p:blipFill>
          <a:blip r:embed="rId2">
            <a:alphaModFix amt="32000"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1005840" y="1005840"/>
            <a:ext cx="16276320" cy="7772400"/>
          </a:xfrm>
          <a:prstGeom prst="roundRect">
            <a:avLst>
              <a:gd name="adj" fmla="val 2117"/>
            </a:avLst>
          </a:prstGeom>
          <a:solidFill>
            <a:srgbClr val="F8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011680" y="3043301"/>
            <a:ext cx="14264640" cy="100507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5754"/>
              </a:lnSpc>
            </a:pPr>
            <a:r>
              <a:rPr sz="4200" i="0" b="0">
                <a:solidFill>
                  <a:srgbClr val="1C1C1A"/>
                </a:solidFill>
                <a:latin typeface="Outfit 1 Light"/>
              </a:rPr>
              <a:t>OS VALORES E A PERSONALIDADE DA </a:t>
            </a:r>
            <a:r>
              <a:rPr sz="4200" i="0" b="0">
                <a:solidFill>
                  <a:srgbClr val="1C1C1A"/>
                </a:solidFill>
                <a:latin typeface="Outfit 1 Bold"/>
              </a:rPr>
              <a:t>FORMA</a:t>
            </a:r>
          </a:p>
        </p:txBody>
      </p:sp>
      <p:sp>
        <p:nvSpPr>
          <p:cNvPr id="5" name="Rectangle 4"/>
          <p:cNvSpPr/>
          <p:nvPr/>
        </p:nvSpPr>
        <p:spPr>
          <a:xfrm>
            <a:off x="2011680" y="3956939"/>
            <a:ext cx="14264640" cy="10973"/>
          </a:xfrm>
          <a:prstGeom prst="rect">
            <a:avLst/>
          </a:prstGeom>
          <a:solidFill>
            <a:srgbClr val="A5A4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011680" y="4304411"/>
            <a:ext cx="4419600" cy="56693"/>
          </a:xfrm>
          <a:prstGeom prst="rect">
            <a:avLst/>
          </a:prstGeom>
          <a:solidFill>
            <a:srgbClr val="CC75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011680" y="4578731"/>
            <a:ext cx="4419600" cy="5359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500"/>
              </a:lnSpc>
            </a:pPr>
            <a:r>
              <a:rPr sz="2500" i="0" b="0">
                <a:solidFill>
                  <a:srgbClr val="1C1C1A"/>
                </a:solidFill>
                <a:latin typeface="Outfit 1 Light"/>
              </a:rPr>
              <a:t>Valores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011680" y="5315839"/>
            <a:ext cx="4419600" cy="14249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500"/>
              </a:lnSpc>
            </a:pPr>
            <a:r>
              <a:rPr sz="2500" i="0" b="0">
                <a:solidFill>
                  <a:srgbClr val="6B6B66"/>
                </a:solidFill>
                <a:latin typeface="Outfit 1 Light"/>
              </a:rPr>
              <a:t>Precisão · Personalização · Responsabilidade · Confiança · Evolução técnica</a:t>
            </a:r>
          </a:p>
        </p:txBody>
      </p:sp>
      <p:sp>
        <p:nvSpPr>
          <p:cNvPr id="9" name="Rectangle 8"/>
          <p:cNvSpPr/>
          <p:nvPr/>
        </p:nvSpPr>
        <p:spPr>
          <a:xfrm>
            <a:off x="6934200" y="4304411"/>
            <a:ext cx="4419600" cy="56693"/>
          </a:xfrm>
          <a:prstGeom prst="rect">
            <a:avLst/>
          </a:prstGeom>
          <a:solidFill>
            <a:srgbClr val="CC75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934200" y="4578731"/>
            <a:ext cx="4419600" cy="5359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500"/>
              </a:lnSpc>
            </a:pPr>
            <a:r>
              <a:rPr sz="2500" i="0" b="0">
                <a:solidFill>
                  <a:srgbClr val="1C1C1A"/>
                </a:solidFill>
                <a:latin typeface="Outfit 1 Light"/>
              </a:rPr>
              <a:t>Personalidade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934200" y="5315839"/>
            <a:ext cx="4419600" cy="980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500"/>
              </a:lnSpc>
            </a:pPr>
            <a:r>
              <a:rPr sz="2500" i="0" b="0">
                <a:solidFill>
                  <a:srgbClr val="6B6B66"/>
                </a:solidFill>
                <a:latin typeface="Outfit 1 Light"/>
              </a:rPr>
              <a:t>Segura · Criteriosa · Determinada · Próxima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1856720" y="4304411"/>
            <a:ext cx="4419600" cy="56693"/>
          </a:xfrm>
          <a:prstGeom prst="rect">
            <a:avLst/>
          </a:prstGeom>
          <a:solidFill>
            <a:srgbClr val="CC75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856720" y="4578731"/>
            <a:ext cx="4419600" cy="5359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500"/>
              </a:lnSpc>
            </a:pPr>
            <a:r>
              <a:rPr sz="2500" i="0" b="0">
                <a:solidFill>
                  <a:srgbClr val="1C1C1A"/>
                </a:solidFill>
                <a:latin typeface="Outfit 1 Light"/>
              </a:rPr>
              <a:t>Expressão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856720" y="5315839"/>
            <a:ext cx="4419600" cy="14249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500"/>
              </a:lnSpc>
            </a:pPr>
            <a:r>
              <a:rPr sz="2500" i="0" b="0">
                <a:solidFill>
                  <a:srgbClr val="6B6B66"/>
                </a:solidFill>
                <a:latin typeface="Outfit 1 Light"/>
              </a:rPr>
              <a:t>Sofisticação que se comprova na competência, não na ostentação.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7F2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xtura-ondas.jpeg"/>
          <p:cNvPicPr>
            <a:picLocks noChangeAspect="1"/>
          </p:cNvPicPr>
          <p:nvPr/>
        </p:nvPicPr>
        <p:blipFill>
          <a:blip r:embed="rId2">
            <a:alphaModFix amt="32000"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011680" y="3847084"/>
            <a:ext cx="15247620" cy="11049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ts val="7260"/>
              </a:lnSpc>
            </a:pPr>
            <a:r>
              <a:rPr sz="6600" i="0" b="0">
                <a:solidFill>
                  <a:srgbClr val="1C1C1A"/>
                </a:solidFill>
                <a:latin typeface="Outfit 1 Bold"/>
              </a:rPr>
              <a:t>COMPORTAMENTOS E EXPERIÊNCIA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011680" y="5025136"/>
            <a:ext cx="15247620" cy="10947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ts val="7539"/>
              </a:lnSpc>
            </a:pPr>
            <a:r>
              <a:rPr sz="6500" i="0" b="0">
                <a:solidFill>
                  <a:srgbClr val="1C1C1A"/>
                </a:solidFill>
                <a:latin typeface="Outfit 1 Light"/>
              </a:rPr>
              <a:t>Cultura de marca Forma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7F2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xtura-ondas.jpeg"/>
          <p:cNvPicPr>
            <a:picLocks noChangeAspect="1"/>
          </p:cNvPicPr>
          <p:nvPr/>
        </p:nvPicPr>
        <p:blipFill>
          <a:blip r:embed="rId2">
            <a:alphaModFix amt="32000"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1005840" y="1005840"/>
            <a:ext cx="16276320" cy="7772400"/>
          </a:xfrm>
          <a:prstGeom prst="roundRect">
            <a:avLst>
              <a:gd name="adj" fmla="val 2117"/>
            </a:avLst>
          </a:prstGeom>
          <a:solidFill>
            <a:srgbClr val="F8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011680" y="2130044"/>
            <a:ext cx="14264640" cy="100507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5754"/>
              </a:lnSpc>
            </a:pPr>
            <a:r>
              <a:rPr sz="4200" i="0" b="0">
                <a:solidFill>
                  <a:srgbClr val="1C1C1A"/>
                </a:solidFill>
                <a:latin typeface="Outfit 1 Light"/>
              </a:rPr>
              <a:t>O VERDADEIRO ALTO PADRÃO É A </a:t>
            </a:r>
            <a:r>
              <a:rPr sz="4200" i="0" b="0">
                <a:solidFill>
                  <a:srgbClr val="1C1C1A"/>
                </a:solidFill>
                <a:latin typeface="Outfit 1 Bold"/>
              </a:rPr>
              <a:t>TRANQUILIDADE DE QUEM CONFIA</a:t>
            </a:r>
            <a:r>
              <a:rPr sz="4200" i="0" b="0">
                <a:solidFill>
                  <a:srgbClr val="1C1C1A"/>
                </a:solidFill>
                <a:latin typeface="Outfit 1 Light"/>
              </a:rPr>
              <a:t>.</a:t>
            </a:r>
          </a:p>
        </p:txBody>
      </p:sp>
      <p:sp>
        <p:nvSpPr>
          <p:cNvPr id="5" name="Rectangle 4"/>
          <p:cNvSpPr/>
          <p:nvPr/>
        </p:nvSpPr>
        <p:spPr>
          <a:xfrm>
            <a:off x="2011680" y="3774440"/>
            <a:ext cx="14264640" cy="10973"/>
          </a:xfrm>
          <a:prstGeom prst="rect">
            <a:avLst/>
          </a:prstGeom>
          <a:solidFill>
            <a:srgbClr val="A5A4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011680" y="4121912"/>
            <a:ext cx="12252960" cy="1869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500"/>
              </a:lnSpc>
            </a:pPr>
            <a:r>
              <a:rPr sz="2500" i="0" b="0">
                <a:solidFill>
                  <a:srgbClr val="6B6B66"/>
                </a:solidFill>
                <a:latin typeface="Outfit 1 Light"/>
              </a:rPr>
              <a:t>Uma cliente relatou que atravessava o ano mais desafiador de sua vida. Ao agradecer à Forma, não destacou apenas a beleza dos móveis. Disse que o profissionalismo da equipe havia aliviado seu fardo, porque sabia que tudo estava em boas mãos.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011680" y="6229096"/>
            <a:ext cx="12252960" cy="14249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500"/>
              </a:lnSpc>
            </a:pPr>
            <a:r>
              <a:rPr sz="2500" i="0" b="0">
                <a:solidFill>
                  <a:srgbClr val="6B6B66"/>
                </a:solidFill>
                <a:latin typeface="Outfit 1 Light"/>
              </a:rPr>
              <a:t>Um projeto de móveis faz parte de um momento importante, mas muitas vezes exaustivo, da vida do cliente. Esse depoimento revela algo profundamente significativo sobre o valor da marca.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7F2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xtura-ondas.jpeg"/>
          <p:cNvPicPr>
            <a:picLocks noChangeAspect="1"/>
          </p:cNvPicPr>
          <p:nvPr/>
        </p:nvPicPr>
        <p:blipFill>
          <a:blip r:embed="rId2">
            <a:alphaModFix amt="32000"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1005840" y="1005840"/>
            <a:ext cx="16276320" cy="7772400"/>
          </a:xfrm>
          <a:prstGeom prst="roundRect">
            <a:avLst>
              <a:gd name="adj" fmla="val 2117"/>
            </a:avLst>
          </a:prstGeom>
          <a:solidFill>
            <a:srgbClr val="F8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011680" y="1825117"/>
            <a:ext cx="14264640" cy="100507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5754"/>
              </a:lnSpc>
            </a:pPr>
            <a:r>
              <a:rPr sz="4200" i="0" b="0">
                <a:solidFill>
                  <a:srgbClr val="1C1C1A"/>
                </a:solidFill>
                <a:latin typeface="Outfit 1 Light"/>
              </a:rPr>
              <a:t>A CULTURA EM AÇÃO, </a:t>
            </a:r>
            <a:r>
              <a:rPr sz="4200" i="0" b="0">
                <a:solidFill>
                  <a:srgbClr val="1C1C1A"/>
                </a:solidFill>
                <a:latin typeface="Outfit 1 Bold"/>
              </a:rPr>
              <a:t>A EXPERIÊNCIA ENTREGUE</a:t>
            </a:r>
            <a:r>
              <a:rPr sz="4200" i="0" b="0">
                <a:solidFill>
                  <a:srgbClr val="1C1C1A"/>
                </a:solidFill>
                <a:latin typeface="Outfit 1 Light"/>
              </a:rPr>
              <a:t>.</a:t>
            </a:r>
          </a:p>
        </p:txBody>
      </p:sp>
      <p:sp>
        <p:nvSpPr>
          <p:cNvPr id="5" name="Rectangle 4"/>
          <p:cNvSpPr/>
          <p:nvPr/>
        </p:nvSpPr>
        <p:spPr>
          <a:xfrm>
            <a:off x="2011680" y="2738755"/>
            <a:ext cx="14264640" cy="10973"/>
          </a:xfrm>
          <a:prstGeom prst="rect">
            <a:avLst/>
          </a:prstGeom>
          <a:solidFill>
            <a:srgbClr val="A5A4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011680" y="3086227"/>
            <a:ext cx="6880860" cy="56693"/>
          </a:xfrm>
          <a:prstGeom prst="rect">
            <a:avLst/>
          </a:prstGeom>
          <a:solidFill>
            <a:srgbClr val="CC75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011680" y="3360547"/>
            <a:ext cx="6880860" cy="5359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500"/>
              </a:lnSpc>
            </a:pPr>
            <a:r>
              <a:rPr sz="2500" i="0" b="0">
                <a:solidFill>
                  <a:srgbClr val="1C1C1A"/>
                </a:solidFill>
                <a:latin typeface="Outfit 1 Light"/>
              </a:rPr>
              <a:t>A cultura em ação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011680" y="4097655"/>
            <a:ext cx="6880860" cy="1869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500"/>
              </a:lnSpc>
            </a:pPr>
            <a:r>
              <a:rPr sz="2500" i="0" b="0">
                <a:solidFill>
                  <a:srgbClr val="6B6B66"/>
                </a:solidFill>
                <a:latin typeface="Outfit 1 Light"/>
              </a:rPr>
              <a:t>Compreender necessidades. Antecipar dificuldades. Respeitar o projeto. Cuidar da casa. Assumir a responsabilidade até a entrega.</a:t>
            </a:r>
          </a:p>
        </p:txBody>
      </p:sp>
      <p:sp>
        <p:nvSpPr>
          <p:cNvPr id="9" name="Rectangle 8"/>
          <p:cNvSpPr/>
          <p:nvPr/>
        </p:nvSpPr>
        <p:spPr>
          <a:xfrm>
            <a:off x="9395460" y="3086227"/>
            <a:ext cx="6880860" cy="56693"/>
          </a:xfrm>
          <a:prstGeom prst="rect">
            <a:avLst/>
          </a:prstGeom>
          <a:solidFill>
            <a:srgbClr val="CC75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395460" y="3360547"/>
            <a:ext cx="6880860" cy="5359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500"/>
              </a:lnSpc>
            </a:pPr>
            <a:r>
              <a:rPr sz="2500" i="0" b="0">
                <a:solidFill>
                  <a:srgbClr val="1C1C1A"/>
                </a:solidFill>
                <a:latin typeface="Outfit 1 Light"/>
              </a:rPr>
              <a:t>A experiência entregue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395460" y="4097655"/>
            <a:ext cx="6880860" cy="14249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500"/>
              </a:lnSpc>
            </a:pPr>
            <a:r>
              <a:rPr sz="2500" i="0" b="0">
                <a:solidFill>
                  <a:srgbClr val="6B6B66"/>
                </a:solidFill>
                <a:latin typeface="Outfit 1 Light"/>
              </a:rPr>
              <a:t>Mais do que um ambiente bonito, a possibilidade de atravessar um processo complexo com segurança e confiança.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133942" y="3397123"/>
            <a:ext cx="19202" cy="2423668"/>
          </a:xfrm>
          <a:prstGeom prst="rect">
            <a:avLst/>
          </a:prstGeom>
          <a:solidFill>
            <a:srgbClr val="CC75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986784" y="6534023"/>
            <a:ext cx="10314432" cy="14249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ts val="3500"/>
              </a:lnSpc>
            </a:pPr>
            <a:r>
              <a:rPr sz="2500" i="0" b="0">
                <a:solidFill>
                  <a:srgbClr val="6B6B66"/>
                </a:solidFill>
                <a:latin typeface="Outfit 1 Light"/>
              </a:rPr>
              <a:t>A Forma não elimina todos os imprevistos de uma obra. Mas pode ser a parte dessa experiência em que o cliente encontra cuidado, competência e tranquilidade.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7F2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xtura-ondas.jpeg"/>
          <p:cNvPicPr>
            <a:picLocks noChangeAspect="1"/>
          </p:cNvPicPr>
          <p:nvPr/>
        </p:nvPicPr>
        <p:blipFill>
          <a:blip r:embed="rId2">
            <a:alphaModFix amt="32000"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011680" y="4141724"/>
            <a:ext cx="15247620" cy="11049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ts val="7260"/>
              </a:lnSpc>
            </a:pPr>
            <a:r>
              <a:rPr sz="6600" i="0" b="0">
                <a:solidFill>
                  <a:srgbClr val="1C1C1A"/>
                </a:solidFill>
                <a:latin typeface="Outfit 1 Bold"/>
              </a:rPr>
              <a:t>PERCEPÇÃO EXTERNA E COERÊNCIA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011680" y="5319776"/>
            <a:ext cx="15247620" cy="5054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ts val="2899"/>
              </a:lnSpc>
            </a:pPr>
            <a:r>
              <a:rPr sz="2500" i="0" b="0">
                <a:solidFill>
                  <a:srgbClr val="1C1C1A"/>
                </a:solidFill>
                <a:latin typeface="Outfit 1 Light"/>
              </a:rPr>
              <a:t>Os depoimentos dos arquitetos revelam uma relação que ultrapassa a contratação de um fornecedor.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7F2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xtura-ondas.jpeg"/>
          <p:cNvPicPr>
            <a:picLocks noChangeAspect="1"/>
          </p:cNvPicPr>
          <p:nvPr/>
        </p:nvPicPr>
        <p:blipFill>
          <a:blip r:embed="rId2">
            <a:alphaModFix amt="32000"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1005840" y="1005840"/>
            <a:ext cx="16276320" cy="7772400"/>
          </a:xfrm>
          <a:prstGeom prst="roundRect">
            <a:avLst>
              <a:gd name="adj" fmla="val 2117"/>
            </a:avLst>
          </a:prstGeom>
          <a:solidFill>
            <a:srgbClr val="F8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011680" y="1723644"/>
            <a:ext cx="14264640" cy="100507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5754"/>
              </a:lnSpc>
            </a:pPr>
            <a:r>
              <a:rPr sz="4200" i="0" b="0">
                <a:solidFill>
                  <a:srgbClr val="1C1C1A"/>
                </a:solidFill>
                <a:latin typeface="Outfit 1 Light"/>
              </a:rPr>
              <a:t>O VALOR DA FORMA ESTÁ NA </a:t>
            </a:r>
            <a:r>
              <a:rPr sz="4200" i="0" b="0">
                <a:solidFill>
                  <a:srgbClr val="1C1C1A"/>
                </a:solidFill>
                <a:latin typeface="Outfit 1 Bold"/>
              </a:rPr>
              <a:t>CONFIANÇA QUE CONSTRÓI</a:t>
            </a:r>
            <a:r>
              <a:rPr sz="4200" i="0" b="0">
                <a:solidFill>
                  <a:srgbClr val="1C1C1A"/>
                </a:solidFill>
                <a:latin typeface="Outfit 1 Light"/>
              </a:rPr>
              <a:t>.</a:t>
            </a:r>
          </a:p>
        </p:txBody>
      </p:sp>
      <p:sp>
        <p:nvSpPr>
          <p:cNvPr id="5" name="Rectangle 4"/>
          <p:cNvSpPr/>
          <p:nvPr/>
        </p:nvSpPr>
        <p:spPr>
          <a:xfrm>
            <a:off x="2011680" y="3368040"/>
            <a:ext cx="14264640" cy="10973"/>
          </a:xfrm>
          <a:prstGeom prst="rect">
            <a:avLst/>
          </a:prstGeom>
          <a:solidFill>
            <a:srgbClr val="A5A4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011680" y="3715512"/>
            <a:ext cx="14264640" cy="10973"/>
          </a:xfrm>
          <a:prstGeom prst="rect">
            <a:avLst/>
          </a:prstGeom>
          <a:solidFill>
            <a:srgbClr val="A5A4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011680" y="3989832"/>
            <a:ext cx="4754880" cy="3886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520"/>
              </a:lnSpc>
            </a:pPr>
            <a:r>
              <a:rPr sz="1800" i="0" b="0" spc="282">
                <a:solidFill>
                  <a:srgbClr val="1C1C1A"/>
                </a:solidFill>
                <a:latin typeface="Outfit 1 Semi-Bold"/>
              </a:rPr>
              <a:t>JÚLIA MATSUDA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0" y="3916680"/>
            <a:ext cx="9144000" cy="11648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500"/>
              </a:lnSpc>
            </a:pPr>
            <a:r>
              <a:rPr sz="2500" i="0" b="0">
                <a:solidFill>
                  <a:srgbClr val="1C1C1A"/>
                </a:solidFill>
                <a:latin typeface="Outfit 1 Light"/>
              </a:rPr>
              <a:t>Destaca a atenção minuciosa aos detalhes e a presença da equipe durante a execução.</a:t>
            </a:r>
          </a:p>
        </p:txBody>
      </p:sp>
      <p:sp>
        <p:nvSpPr>
          <p:cNvPr id="9" name="Rectangle 8"/>
          <p:cNvSpPr/>
          <p:nvPr/>
        </p:nvSpPr>
        <p:spPr>
          <a:xfrm>
            <a:off x="2011680" y="5154676"/>
            <a:ext cx="14264640" cy="10973"/>
          </a:xfrm>
          <a:prstGeom prst="rect">
            <a:avLst/>
          </a:prstGeom>
          <a:solidFill>
            <a:srgbClr val="A5A4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011680" y="5428996"/>
            <a:ext cx="4754880" cy="3886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520"/>
              </a:lnSpc>
            </a:pPr>
            <a:r>
              <a:rPr sz="1800" i="0" b="0" spc="282">
                <a:solidFill>
                  <a:srgbClr val="1C1C1A"/>
                </a:solidFill>
                <a:latin typeface="Outfit 1 Semi-Bold"/>
              </a:rPr>
              <a:t>RODRIGUES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132320" y="5355844"/>
            <a:ext cx="9144000" cy="11648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500"/>
              </a:lnSpc>
            </a:pPr>
            <a:r>
              <a:rPr sz="2500" i="0" b="0">
                <a:solidFill>
                  <a:srgbClr val="1C1C1A"/>
                </a:solidFill>
                <a:latin typeface="Outfit 1 Light"/>
              </a:rPr>
              <a:t>Procurava uma empresa que abraçasse a responsabilidade de entregar aquilo que havia sido prometido ao cliente.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011680" y="6593840"/>
            <a:ext cx="14264640" cy="10973"/>
          </a:xfrm>
          <a:prstGeom prst="rect">
            <a:avLst/>
          </a:prstGeom>
          <a:solidFill>
            <a:srgbClr val="A5A4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011680" y="6868160"/>
            <a:ext cx="4754880" cy="3886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520"/>
              </a:lnSpc>
            </a:pPr>
            <a:r>
              <a:rPr sz="1800" i="0" b="0" spc="282">
                <a:solidFill>
                  <a:srgbClr val="CC754E"/>
                </a:solidFill>
                <a:latin typeface="Outfit 1 Semi-Bold"/>
              </a:rPr>
              <a:t>NATHALY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132320" y="6795008"/>
            <a:ext cx="9144000" cy="11648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500"/>
              </a:lnSpc>
            </a:pPr>
            <a:r>
              <a:rPr sz="2500" i="0" b="0">
                <a:solidFill>
                  <a:srgbClr val="1C1C1A"/>
                </a:solidFill>
                <a:latin typeface="Outfit 1 Light"/>
              </a:rPr>
              <a:t>Valoriza a confiança de contar com uma equipe capaz de discutir soluções técnicas e integrar diferentes acabamentos.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011680" y="8033004"/>
            <a:ext cx="1188720" cy="27432"/>
          </a:xfrm>
          <a:prstGeom prst="rect">
            <a:avLst/>
          </a:prstGeom>
          <a:solidFill>
            <a:srgbClr val="CC75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7F2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xtura-ondas.jpeg"/>
          <p:cNvPicPr>
            <a:picLocks noChangeAspect="1"/>
          </p:cNvPicPr>
          <p:nvPr/>
        </p:nvPicPr>
        <p:blipFill>
          <a:blip r:embed="rId2">
            <a:alphaModFix amt="32000"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1005840" y="1005840"/>
            <a:ext cx="16276320" cy="7772400"/>
          </a:xfrm>
          <a:prstGeom prst="roundRect">
            <a:avLst>
              <a:gd name="adj" fmla="val 2117"/>
            </a:avLst>
          </a:prstGeom>
          <a:solidFill>
            <a:srgbClr val="F8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2011680" y="3566922"/>
            <a:ext cx="1188720" cy="27432"/>
          </a:xfrm>
          <a:prstGeom prst="rect">
            <a:avLst/>
          </a:prstGeom>
          <a:solidFill>
            <a:srgbClr val="CC75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011680" y="3969258"/>
            <a:ext cx="14081760" cy="22479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5180"/>
              </a:lnSpc>
            </a:pPr>
            <a:r>
              <a:rPr sz="3700" i="0" b="0">
                <a:solidFill>
                  <a:srgbClr val="323330"/>
                </a:solidFill>
                <a:latin typeface="Outfit 1 Light"/>
              </a:rPr>
              <a:t>A Forma não é reconhecida somente</a:t>
            </a:r>
          </a:p>
          <a:p>
            <a:pPr algn="l">
              <a:lnSpc>
                <a:spcPts val="5180"/>
              </a:lnSpc>
            </a:pPr>
            <a:r>
              <a:rPr sz="3700" i="0" b="0">
                <a:solidFill>
                  <a:srgbClr val="323330"/>
                </a:solidFill>
                <a:latin typeface="Outfit 1 Light"/>
              </a:rPr>
              <a:t>pelo produto final, mas pela segurança que oferece</a:t>
            </a:r>
          </a:p>
          <a:p>
            <a:pPr algn="l">
              <a:lnSpc>
                <a:spcPts val="5180"/>
              </a:lnSpc>
            </a:pPr>
            <a:r>
              <a:rPr sz="3700" i="0" b="0">
                <a:solidFill>
                  <a:srgbClr val="323330"/>
                </a:solidFill>
                <a:latin typeface="Outfit 1 Light"/>
              </a:rPr>
              <a:t>a quem precisa confiar a execução de um projeto.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7F2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xtura-ondas.jpeg"/>
          <p:cNvPicPr>
            <a:picLocks noChangeAspect="1"/>
          </p:cNvPicPr>
          <p:nvPr/>
        </p:nvPicPr>
        <p:blipFill>
          <a:blip r:embed="rId2">
            <a:alphaModFix amt="32000"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1005840" y="1005840"/>
            <a:ext cx="16276320" cy="7772400"/>
          </a:xfrm>
          <a:prstGeom prst="roundRect">
            <a:avLst>
              <a:gd name="adj" fmla="val 2117"/>
            </a:avLst>
          </a:prstGeom>
          <a:solidFill>
            <a:srgbClr val="F8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011680" y="3771265"/>
            <a:ext cx="14264640" cy="100507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5754"/>
              </a:lnSpc>
            </a:pPr>
            <a:r>
              <a:rPr sz="4200" i="0" b="0">
                <a:solidFill>
                  <a:srgbClr val="1C1C1A"/>
                </a:solidFill>
                <a:latin typeface="Outfit 1 Light"/>
              </a:rPr>
              <a:t>PONTO DE ATENÇÃO</a:t>
            </a:r>
          </a:p>
        </p:txBody>
      </p:sp>
      <p:sp>
        <p:nvSpPr>
          <p:cNvPr id="5" name="Rectangle 4"/>
          <p:cNvSpPr/>
          <p:nvPr/>
        </p:nvSpPr>
        <p:spPr>
          <a:xfrm>
            <a:off x="2011680" y="4684903"/>
            <a:ext cx="14264640" cy="10973"/>
          </a:xfrm>
          <a:prstGeom prst="rect">
            <a:avLst/>
          </a:prstGeom>
          <a:solidFill>
            <a:srgbClr val="A5A4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011680" y="5032375"/>
            <a:ext cx="12252960" cy="980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500"/>
              </a:lnSpc>
            </a:pPr>
            <a:r>
              <a:rPr sz="2500" i="0" b="0">
                <a:solidFill>
                  <a:srgbClr val="6B6B66"/>
                </a:solidFill>
                <a:latin typeface="Outfit 1 Light"/>
              </a:rPr>
              <a:t>A expansão industrial não pode transformar a personalização em uma promessa comercial desconectada da experiência.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7F2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xtura-ondas.jpeg"/>
          <p:cNvPicPr>
            <a:picLocks noChangeAspect="1"/>
          </p:cNvPicPr>
          <p:nvPr/>
        </p:nvPicPr>
        <p:blipFill>
          <a:blip r:embed="rId2">
            <a:alphaModFix amt="32000"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3233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10479024" y="1028700"/>
            <a:ext cx="7808976" cy="2553716"/>
          </a:xfrm>
          <a:prstGeom prst="roundRect">
            <a:avLst>
              <a:gd name="adj" fmla="val 6445"/>
            </a:avLst>
          </a:prstGeom>
          <a:solidFill>
            <a:srgbClr val="F8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045952" y="1595628"/>
            <a:ext cx="6675120" cy="10627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752"/>
              </a:lnSpc>
            </a:pPr>
            <a:r>
              <a:rPr sz="2800" i="0" b="0">
                <a:solidFill>
                  <a:srgbClr val="1C1C1A"/>
                </a:solidFill>
                <a:latin typeface="Outfit 1 Light"/>
              </a:rPr>
              <a:t>Transformar complexidade</a:t>
            </a:r>
          </a:p>
          <a:p>
            <a:pPr algn="l">
              <a:lnSpc>
                <a:spcPts val="3752"/>
              </a:lnSpc>
            </a:pPr>
            <a:r>
              <a:rPr sz="2800" i="0" b="0">
                <a:solidFill>
                  <a:srgbClr val="1C1C1A"/>
                </a:solidFill>
                <a:latin typeface="Outfit 1 Light"/>
              </a:rPr>
              <a:t>em confiança.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45952" y="2713228"/>
            <a:ext cx="6675120" cy="3937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379"/>
              </a:lnSpc>
            </a:pPr>
            <a:r>
              <a:rPr sz="1700" i="0" b="0">
                <a:solidFill>
                  <a:srgbClr val="6B6B66"/>
                </a:solidFill>
                <a:latin typeface="Outfit 1 Light"/>
              </a:rPr>
              <a:t>Precisão que realiza. A essência cultural da Forma.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011680" y="8293100"/>
            <a:ext cx="11521440" cy="4119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i="0" b="0" spc="300">
                <a:solidFill>
                  <a:srgbClr val="C6986E"/>
                </a:solidFill>
                <a:latin typeface="Outfit 1 Semi-Bold"/>
              </a:rPr>
              <a:t>IMAGEM   </a:t>
            </a:r>
            <a:r>
              <a:rPr sz="1700" i="0" b="0">
                <a:solidFill>
                  <a:srgbClr val="C9C7C0"/>
                </a:solidFill>
                <a:latin typeface="Outfit 1 Light"/>
              </a:rPr>
              <a:t>Um ambiente completo entregue pela Forma. Imagem ampla, que aguente a frase por cima.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7F2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xtura-ondas.jpeg"/>
          <p:cNvPicPr>
            <a:picLocks noChangeAspect="1"/>
          </p:cNvPicPr>
          <p:nvPr/>
        </p:nvPicPr>
        <p:blipFill>
          <a:blip r:embed="rId2">
            <a:alphaModFix amt="32000"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3233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011680" y="2933382"/>
            <a:ext cx="152476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ts val="1959"/>
              </a:lnSpc>
            </a:pPr>
            <a:r>
              <a:rPr sz="1400" i="0" b="0" spc="300">
                <a:solidFill>
                  <a:srgbClr val="C6986E"/>
                </a:solidFill>
                <a:latin typeface="Outfit 1 Semi-Bold"/>
              </a:rPr>
              <a:t>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011680" y="3408870"/>
            <a:ext cx="15247620" cy="21875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ts val="15785"/>
              </a:lnSpc>
            </a:pPr>
            <a:r>
              <a:rPr sz="14350" i="0" b="0">
                <a:solidFill>
                  <a:srgbClr val="FFFFFF"/>
                </a:solidFill>
                <a:latin typeface="Outfit 1 Bold"/>
              </a:rPr>
              <a:t>MY HOME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011680" y="5669598"/>
            <a:ext cx="15247620" cy="8884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ts val="5916"/>
              </a:lnSpc>
            </a:pPr>
            <a:r>
              <a:rPr sz="5100" i="0" b="0">
                <a:solidFill>
                  <a:srgbClr val="FFFFFF"/>
                </a:solidFill>
                <a:latin typeface="Outfit 1 Light"/>
              </a:rPr>
              <a:t>Cultura de marca · origem, valores e personalidade.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011680" y="8293100"/>
            <a:ext cx="11521440" cy="4119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i="0" b="0" spc="300">
                <a:solidFill>
                  <a:srgbClr val="C6986E"/>
                </a:solidFill>
                <a:latin typeface="Outfit 1 Semi-Bold"/>
              </a:rPr>
              <a:t>IMAGEM   </a:t>
            </a:r>
            <a:r>
              <a:rPr sz="1700" i="0" b="0">
                <a:solidFill>
                  <a:srgbClr val="C9C7C0"/>
                </a:solidFill>
                <a:latin typeface="Outfit 1 Light"/>
              </a:rPr>
              <a:t>A bancada de criação: protótipo, teste de acabamento, peça em desenvolvimento.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7F2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xtura-ondas.jpeg"/>
          <p:cNvPicPr>
            <a:picLocks noChangeAspect="1"/>
          </p:cNvPicPr>
          <p:nvPr/>
        </p:nvPicPr>
        <p:blipFill>
          <a:blip r:embed="rId2">
            <a:alphaModFix amt="32000"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6949440" cy="10287000"/>
          </a:xfrm>
          <a:prstGeom prst="rect">
            <a:avLst/>
          </a:prstGeom>
          <a:solidFill>
            <a:srgbClr val="E9E5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94360" y="4037838"/>
            <a:ext cx="1188720" cy="27432"/>
          </a:xfrm>
          <a:prstGeom prst="rect">
            <a:avLst/>
          </a:prstGeom>
          <a:solidFill>
            <a:srgbClr val="CC75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94360" y="4348734"/>
            <a:ext cx="57607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959"/>
              </a:lnSpc>
            </a:pPr>
            <a:r>
              <a:rPr sz="1400" i="0" b="0" spc="300">
                <a:solidFill>
                  <a:srgbClr val="CC754E"/>
                </a:solidFill>
                <a:latin typeface="Outfit 1 Semi-Bold"/>
              </a:rPr>
              <a:t>IMAGEM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4915662"/>
            <a:ext cx="5760720" cy="14249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500"/>
              </a:lnSpc>
            </a:pPr>
            <a:r>
              <a:rPr sz="2500" i="0" b="0">
                <a:solidFill>
                  <a:srgbClr val="6B6B66"/>
                </a:solidFill>
                <a:latin typeface="Outfit 1 Light"/>
              </a:rPr>
              <a:t>O material antes de virar produto — a sobra, o retalho, a chapa separada. O ponto de partida.</a:t>
            </a:r>
          </a:p>
        </p:txBody>
      </p:sp>
      <p:sp>
        <p:nvSpPr>
          <p:cNvPr id="7" name="Rectangle 6"/>
          <p:cNvSpPr/>
          <p:nvPr/>
        </p:nvSpPr>
        <p:spPr>
          <a:xfrm>
            <a:off x="6949440" y="0"/>
            <a:ext cx="11338560" cy="10287000"/>
          </a:xfrm>
          <a:prstGeom prst="rect">
            <a:avLst/>
          </a:prstGeom>
          <a:solidFill>
            <a:srgbClr val="F8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818120" y="2155942"/>
            <a:ext cx="9601200" cy="100507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5754"/>
              </a:lnSpc>
            </a:pPr>
            <a:r>
              <a:rPr sz="4200" i="0" b="0">
                <a:solidFill>
                  <a:srgbClr val="1C1C1A"/>
                </a:solidFill>
                <a:latin typeface="Outfit 1 Light"/>
              </a:rPr>
              <a:t>ENXERGAR </a:t>
            </a:r>
            <a:r>
              <a:rPr sz="4200" i="0" b="0">
                <a:solidFill>
                  <a:srgbClr val="1C1C1A"/>
                </a:solidFill>
                <a:latin typeface="Outfit 1 Bold"/>
              </a:rPr>
              <a:t>POSSIBILIDADES</a:t>
            </a:r>
            <a:r>
              <a:rPr sz="4200" i="0" b="0">
                <a:solidFill>
                  <a:srgbClr val="1C1C1A"/>
                </a:solidFill>
                <a:latin typeface="Outfit 1 Light"/>
              </a:rPr>
              <a:t> ONDE OUTROS ENXERGAM LIMITES.</a:t>
            </a:r>
          </a:p>
        </p:txBody>
      </p:sp>
      <p:sp>
        <p:nvSpPr>
          <p:cNvPr id="9" name="Rectangle 8"/>
          <p:cNvSpPr/>
          <p:nvPr/>
        </p:nvSpPr>
        <p:spPr>
          <a:xfrm>
            <a:off x="7818120" y="3800338"/>
            <a:ext cx="9601200" cy="10973"/>
          </a:xfrm>
          <a:prstGeom prst="rect">
            <a:avLst/>
          </a:prstGeom>
          <a:solidFill>
            <a:srgbClr val="A5A4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818120" y="4147810"/>
            <a:ext cx="960120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359"/>
              </a:lnSpc>
            </a:pPr>
            <a:r>
              <a:rPr sz="2400" i="0" b="0">
                <a:solidFill>
                  <a:srgbClr val="6B6B66"/>
                </a:solidFill>
                <a:latin typeface="Outfit 1 Light"/>
              </a:rPr>
              <a:t>Na produção da Forma, materiais eram descartados porque já não tinham aplicação prevista. Para Flávia, aquilo representava uma possibilidade ainda não explorada.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818120" y="5677418"/>
            <a:ext cx="9601200" cy="2225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359"/>
              </a:lnSpc>
            </a:pPr>
            <a:r>
              <a:rPr sz="2400" i="0" b="0">
                <a:solidFill>
                  <a:srgbClr val="6B6B66"/>
                </a:solidFill>
                <a:latin typeface="Outfit 1 Light"/>
              </a:rPr>
              <a:t>A decisão de guardar e transformar as sobras deu origem a produtos decorativos e a uma nova empresa. Inicialmente, foi necessário convencer a equipe de que aquela ideia poderia funcionar. Com o desenvolvimento da produção, as sobras deixaram de ser suficientes para atender à demanda.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7F2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xtura-ondas.jpeg"/>
          <p:cNvPicPr>
            <a:picLocks noChangeAspect="1"/>
          </p:cNvPicPr>
          <p:nvPr/>
        </p:nvPicPr>
        <p:blipFill>
          <a:blip r:embed="rId2">
            <a:alphaModFix amt="32000"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1005840" y="1005840"/>
            <a:ext cx="16276320" cy="7772400"/>
          </a:xfrm>
          <a:prstGeom prst="roundRect">
            <a:avLst>
              <a:gd name="adj" fmla="val 2117"/>
            </a:avLst>
          </a:prstGeom>
          <a:solidFill>
            <a:srgbClr val="F8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011680" y="2991104"/>
            <a:ext cx="1426464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959"/>
              </a:lnSpc>
            </a:pPr>
            <a:r>
              <a:rPr sz="1400" i="0" b="0" spc="300">
                <a:solidFill>
                  <a:srgbClr val="CC754E"/>
                </a:solidFill>
                <a:latin typeface="Outfit 1 Semi-Bold"/>
              </a:rPr>
              <a:t>A DESCOBERTA</a:t>
            </a:r>
          </a:p>
        </p:txBody>
      </p:sp>
      <p:sp>
        <p:nvSpPr>
          <p:cNvPr id="5" name="Rectangle 4"/>
          <p:cNvSpPr/>
          <p:nvPr/>
        </p:nvSpPr>
        <p:spPr>
          <a:xfrm>
            <a:off x="2011680" y="3484880"/>
            <a:ext cx="1188720" cy="27432"/>
          </a:xfrm>
          <a:prstGeom prst="rect">
            <a:avLst/>
          </a:prstGeom>
          <a:solidFill>
            <a:srgbClr val="CC75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011680" y="3887216"/>
            <a:ext cx="14081760" cy="290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5180"/>
              </a:lnSpc>
            </a:pPr>
            <a:r>
              <a:rPr sz="3700" i="0" b="0">
                <a:solidFill>
                  <a:srgbClr val="323330"/>
                </a:solidFill>
                <a:latin typeface="Outfit 1 Light"/>
              </a:rPr>
              <a:t>A My Home não nasceu apenas do reaproveitamento</a:t>
            </a:r>
          </a:p>
          <a:p>
            <a:pPr algn="l">
              <a:lnSpc>
                <a:spcPts val="5180"/>
              </a:lnSpc>
            </a:pPr>
            <a:r>
              <a:rPr sz="3700" i="0" b="0">
                <a:solidFill>
                  <a:srgbClr val="323330"/>
                </a:solidFill>
                <a:latin typeface="Outfit 1 Light"/>
              </a:rPr>
              <a:t>de materiais. Nasceu da recusa em aceitar</a:t>
            </a:r>
          </a:p>
          <a:p>
            <a:pPr algn="l">
              <a:lnSpc>
                <a:spcPts val="5180"/>
              </a:lnSpc>
            </a:pPr>
            <a:r>
              <a:rPr sz="3700" i="0" b="0">
                <a:solidFill>
                  <a:srgbClr val="323330"/>
                </a:solidFill>
                <a:latin typeface="Outfit 1 Light"/>
              </a:rPr>
              <a:t>que algo havia perdido seu valor porque</a:t>
            </a:r>
          </a:p>
          <a:p>
            <a:pPr algn="l">
              <a:lnSpc>
                <a:spcPts val="5180"/>
              </a:lnSpc>
            </a:pPr>
            <a:r>
              <a:rPr sz="3700" i="0" b="0">
                <a:solidFill>
                  <a:srgbClr val="323330"/>
                </a:solidFill>
                <a:latin typeface="Outfit 1 Light"/>
              </a:rPr>
              <a:t>seu uso original havia terminado.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7F2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xtura-ondas.jpeg"/>
          <p:cNvPicPr>
            <a:picLocks noChangeAspect="1"/>
          </p:cNvPicPr>
          <p:nvPr/>
        </p:nvPicPr>
        <p:blipFill>
          <a:blip r:embed="rId2">
            <a:alphaModFix amt="32000"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1005840" y="1005840"/>
            <a:ext cx="16276320" cy="7772400"/>
          </a:xfrm>
          <a:prstGeom prst="roundRect">
            <a:avLst>
              <a:gd name="adj" fmla="val 2117"/>
            </a:avLst>
          </a:prstGeom>
          <a:solidFill>
            <a:srgbClr val="F8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011680" y="3648964"/>
            <a:ext cx="1426464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959"/>
              </a:lnSpc>
            </a:pPr>
            <a:r>
              <a:rPr sz="1400" i="0" b="0" spc="300">
                <a:solidFill>
                  <a:srgbClr val="CC754E"/>
                </a:solidFill>
                <a:latin typeface="Outfit 1 Semi-Bold"/>
              </a:rPr>
              <a:t>CRENÇA CENTRAL</a:t>
            </a:r>
          </a:p>
        </p:txBody>
      </p:sp>
      <p:sp>
        <p:nvSpPr>
          <p:cNvPr id="5" name="Rectangle 4"/>
          <p:cNvSpPr/>
          <p:nvPr/>
        </p:nvSpPr>
        <p:spPr>
          <a:xfrm>
            <a:off x="2011680" y="4142740"/>
            <a:ext cx="1188720" cy="27432"/>
          </a:xfrm>
          <a:prstGeom prst="rect">
            <a:avLst/>
          </a:prstGeom>
          <a:solidFill>
            <a:srgbClr val="CC75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011680" y="4545076"/>
            <a:ext cx="14081760" cy="159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5180"/>
              </a:lnSpc>
            </a:pPr>
            <a:r>
              <a:rPr sz="3700" i="0" b="0">
                <a:solidFill>
                  <a:srgbClr val="323330"/>
                </a:solidFill>
                <a:latin typeface="Outfit 1 Light"/>
              </a:rPr>
              <a:t>Uma possibilidade ainda não explorada</a:t>
            </a:r>
          </a:p>
          <a:p>
            <a:pPr algn="l">
              <a:lnSpc>
                <a:spcPts val="5180"/>
              </a:lnSpc>
            </a:pPr>
            <a:r>
              <a:rPr sz="3700" i="0" b="0">
                <a:solidFill>
                  <a:srgbClr val="323330"/>
                </a:solidFill>
                <a:latin typeface="Outfit 1 Light"/>
              </a:rPr>
              <a:t>não significa uma possibilidade inexistente.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7F2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xtura-ondas.jpeg"/>
          <p:cNvPicPr>
            <a:picLocks noChangeAspect="1"/>
          </p:cNvPicPr>
          <p:nvPr/>
        </p:nvPicPr>
        <p:blipFill>
          <a:blip r:embed="rId2">
            <a:alphaModFix amt="32000"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1005840" y="1005840"/>
            <a:ext cx="16276320" cy="7772400"/>
          </a:xfrm>
          <a:prstGeom prst="roundRect">
            <a:avLst>
              <a:gd name="adj" fmla="val 2117"/>
            </a:avLst>
          </a:prstGeom>
          <a:solidFill>
            <a:srgbClr val="F8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011680" y="3043301"/>
            <a:ext cx="14264640" cy="100507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5754"/>
              </a:lnSpc>
            </a:pPr>
            <a:r>
              <a:rPr sz="4200" i="0" b="0">
                <a:solidFill>
                  <a:srgbClr val="1C1C1A"/>
                </a:solidFill>
                <a:latin typeface="Outfit 1 Light"/>
              </a:rPr>
              <a:t>OS VALORES E A PERSONALIDADE DA </a:t>
            </a:r>
            <a:r>
              <a:rPr sz="4200" i="0" b="0">
                <a:solidFill>
                  <a:srgbClr val="1C1C1A"/>
                </a:solidFill>
                <a:latin typeface="Outfit 1 Bold"/>
              </a:rPr>
              <a:t>MY HOME</a:t>
            </a:r>
          </a:p>
        </p:txBody>
      </p:sp>
      <p:sp>
        <p:nvSpPr>
          <p:cNvPr id="5" name="Rectangle 4"/>
          <p:cNvSpPr/>
          <p:nvPr/>
        </p:nvSpPr>
        <p:spPr>
          <a:xfrm>
            <a:off x="2011680" y="3956939"/>
            <a:ext cx="14264640" cy="10973"/>
          </a:xfrm>
          <a:prstGeom prst="rect">
            <a:avLst/>
          </a:prstGeom>
          <a:solidFill>
            <a:srgbClr val="A5A4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011680" y="4304411"/>
            <a:ext cx="4419600" cy="56693"/>
          </a:xfrm>
          <a:prstGeom prst="rect">
            <a:avLst/>
          </a:prstGeom>
          <a:solidFill>
            <a:srgbClr val="CC75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011680" y="4578731"/>
            <a:ext cx="4419600" cy="5359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500"/>
              </a:lnSpc>
            </a:pPr>
            <a:r>
              <a:rPr sz="2500" i="0" b="0">
                <a:solidFill>
                  <a:srgbClr val="1C1C1A"/>
                </a:solidFill>
                <a:latin typeface="Outfit 1 Light"/>
              </a:rPr>
              <a:t>Valores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011680" y="5315839"/>
            <a:ext cx="4419600" cy="14249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500"/>
              </a:lnSpc>
            </a:pPr>
            <a:r>
              <a:rPr sz="2500" i="0" b="0">
                <a:solidFill>
                  <a:srgbClr val="6B6B66"/>
                </a:solidFill>
                <a:latin typeface="Outfit 1 Light"/>
              </a:rPr>
              <a:t>Inventividade · Transformação · Originalidade · Qualidade · Acessibilidade · Evolução</a:t>
            </a:r>
          </a:p>
        </p:txBody>
      </p:sp>
      <p:sp>
        <p:nvSpPr>
          <p:cNvPr id="9" name="Rectangle 8"/>
          <p:cNvSpPr/>
          <p:nvPr/>
        </p:nvSpPr>
        <p:spPr>
          <a:xfrm>
            <a:off x="6934200" y="4304411"/>
            <a:ext cx="4419600" cy="56693"/>
          </a:xfrm>
          <a:prstGeom prst="rect">
            <a:avLst/>
          </a:prstGeom>
          <a:solidFill>
            <a:srgbClr val="CC75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934200" y="4578731"/>
            <a:ext cx="4419600" cy="5359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500"/>
              </a:lnSpc>
            </a:pPr>
            <a:r>
              <a:rPr sz="2500" i="0" b="0">
                <a:solidFill>
                  <a:srgbClr val="1C1C1A"/>
                </a:solidFill>
                <a:latin typeface="Outfit 1 Light"/>
              </a:rPr>
              <a:t>Personalidade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934200" y="5315839"/>
            <a:ext cx="4419600" cy="980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500"/>
              </a:lnSpc>
            </a:pPr>
            <a:r>
              <a:rPr sz="2500" i="0" b="0">
                <a:solidFill>
                  <a:srgbClr val="6B6B66"/>
                </a:solidFill>
                <a:latin typeface="Outfit 1 Light"/>
              </a:rPr>
              <a:t>Criativa · Curiosa · Expressiva · Vibrante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1856720" y="4304411"/>
            <a:ext cx="4419600" cy="56693"/>
          </a:xfrm>
          <a:prstGeom prst="rect">
            <a:avLst/>
          </a:prstGeom>
          <a:solidFill>
            <a:srgbClr val="CC75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856720" y="4578731"/>
            <a:ext cx="4419600" cy="5359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500"/>
              </a:lnSpc>
            </a:pPr>
            <a:r>
              <a:rPr sz="2500" i="0" b="0">
                <a:solidFill>
                  <a:srgbClr val="1C1C1A"/>
                </a:solidFill>
                <a:latin typeface="Outfit 1 Light"/>
              </a:rPr>
              <a:t>Expressão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856720" y="5315839"/>
            <a:ext cx="4419600" cy="14249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500"/>
              </a:lnSpc>
            </a:pPr>
            <a:r>
              <a:rPr sz="2500" i="0" b="0">
                <a:solidFill>
                  <a:srgbClr val="6B6B66"/>
                </a:solidFill>
                <a:latin typeface="Outfit 1 Light"/>
              </a:rPr>
              <a:t>O prazer de descobrir novas possibilidades para materiais, objetos e ambientes.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7F2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xtura-ondas.jpeg"/>
          <p:cNvPicPr>
            <a:picLocks noChangeAspect="1"/>
          </p:cNvPicPr>
          <p:nvPr/>
        </p:nvPicPr>
        <p:blipFill>
          <a:blip r:embed="rId2">
            <a:alphaModFix amt="32000"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011680" y="3847084"/>
            <a:ext cx="15247620" cy="11049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ts val="7260"/>
              </a:lnSpc>
            </a:pPr>
            <a:r>
              <a:rPr sz="6600" i="0" b="0">
                <a:solidFill>
                  <a:srgbClr val="1C1C1A"/>
                </a:solidFill>
                <a:latin typeface="Outfit 1 Bold"/>
              </a:rPr>
              <a:t>COMPORTAMENTOS E EXPERIÊNCIA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011680" y="5025136"/>
            <a:ext cx="15247620" cy="10947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ts val="7539"/>
              </a:lnSpc>
            </a:pPr>
            <a:r>
              <a:rPr sz="6500" i="0" b="0">
                <a:solidFill>
                  <a:srgbClr val="1C1C1A"/>
                </a:solidFill>
                <a:latin typeface="Outfit 1 Light"/>
              </a:rPr>
              <a:t>Cultura de marca My Home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7F2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xtura-ondas.jpeg"/>
          <p:cNvPicPr>
            <a:picLocks noChangeAspect="1"/>
          </p:cNvPicPr>
          <p:nvPr/>
        </p:nvPicPr>
        <p:blipFill>
          <a:blip r:embed="rId2">
            <a:alphaModFix amt="32000"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1005840" y="1005840"/>
            <a:ext cx="16276320" cy="7772400"/>
          </a:xfrm>
          <a:prstGeom prst="roundRect">
            <a:avLst>
              <a:gd name="adj" fmla="val 2117"/>
            </a:avLst>
          </a:prstGeom>
          <a:solidFill>
            <a:srgbClr val="F8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011680" y="1723644"/>
            <a:ext cx="14264640" cy="100507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5754"/>
              </a:lnSpc>
            </a:pPr>
            <a:r>
              <a:rPr sz="4200" i="0" b="0">
                <a:solidFill>
                  <a:srgbClr val="1C1C1A"/>
                </a:solidFill>
                <a:latin typeface="Outfit 1 Light"/>
              </a:rPr>
              <a:t>CRIATIVIDADE NÃO É IMPROVISAÇÃO. É </a:t>
            </a:r>
            <a:r>
              <a:rPr sz="4200" i="0" b="0">
                <a:solidFill>
                  <a:srgbClr val="1C1C1A"/>
                </a:solidFill>
                <a:latin typeface="Outfit 1 Bold"/>
              </a:rPr>
              <a:t>TRANSFORMAÇÃO COM CONHECIMENTO</a:t>
            </a:r>
            <a:r>
              <a:rPr sz="4200" i="0" b="0">
                <a:solidFill>
                  <a:srgbClr val="1C1C1A"/>
                </a:solidFill>
                <a:latin typeface="Outfit 1 Light"/>
              </a:rPr>
              <a:t>.</a:t>
            </a:r>
          </a:p>
        </p:txBody>
      </p:sp>
      <p:sp>
        <p:nvSpPr>
          <p:cNvPr id="5" name="Rectangle 4"/>
          <p:cNvSpPr/>
          <p:nvPr/>
        </p:nvSpPr>
        <p:spPr>
          <a:xfrm>
            <a:off x="2011680" y="3368040"/>
            <a:ext cx="14264640" cy="10973"/>
          </a:xfrm>
          <a:prstGeom prst="rect">
            <a:avLst/>
          </a:prstGeom>
          <a:solidFill>
            <a:srgbClr val="A5A4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011680" y="3715512"/>
            <a:ext cx="14264640" cy="10973"/>
          </a:xfrm>
          <a:prstGeom prst="rect">
            <a:avLst/>
          </a:prstGeom>
          <a:solidFill>
            <a:srgbClr val="A5A4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011680" y="3989832"/>
            <a:ext cx="4754880" cy="3886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520"/>
              </a:lnSpc>
            </a:pPr>
            <a:r>
              <a:rPr sz="1800" i="0" b="0" spc="282">
                <a:solidFill>
                  <a:srgbClr val="1C1C1A"/>
                </a:solidFill>
                <a:latin typeface="Outfit 1 Semi-Bold"/>
              </a:rPr>
              <a:t>NA MY HOME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0" y="3916680"/>
            <a:ext cx="9144000" cy="10170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500"/>
              </a:lnSpc>
            </a:pPr>
            <a:r>
              <a:rPr sz="2500" i="0" b="0">
                <a:solidFill>
                  <a:srgbClr val="1C1C1A"/>
                </a:solidFill>
                <a:latin typeface="Outfit 1 Light"/>
              </a:rPr>
              <a:t>Uma ideia precisa passar pelas mãos e pelo conhecimento de quem sabe transformá-la em algo concreto.</a:t>
            </a:r>
          </a:p>
        </p:txBody>
      </p:sp>
      <p:sp>
        <p:nvSpPr>
          <p:cNvPr id="9" name="Rectangle 8"/>
          <p:cNvSpPr/>
          <p:nvPr/>
        </p:nvSpPr>
        <p:spPr>
          <a:xfrm>
            <a:off x="2011680" y="5006848"/>
            <a:ext cx="14264640" cy="10973"/>
          </a:xfrm>
          <a:prstGeom prst="rect">
            <a:avLst/>
          </a:prstGeom>
          <a:solidFill>
            <a:srgbClr val="A5A4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011680" y="5281168"/>
            <a:ext cx="4754880" cy="3886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520"/>
              </a:lnSpc>
            </a:pPr>
            <a:r>
              <a:rPr sz="1800" i="0" b="0" spc="282">
                <a:solidFill>
                  <a:srgbClr val="1C1C1A"/>
                </a:solidFill>
                <a:latin typeface="Outfit 1 Semi-Bold"/>
              </a:rPr>
              <a:t>LETÍCIA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132320" y="5208016"/>
            <a:ext cx="9144000" cy="10170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500"/>
              </a:lnSpc>
            </a:pPr>
            <a:r>
              <a:rPr sz="2500" i="0" b="0">
                <a:solidFill>
                  <a:srgbClr val="1C1C1A"/>
                </a:solidFill>
                <a:latin typeface="Outfit 1 Light"/>
              </a:rPr>
              <a:t>Até o desenho de uma borboleta previsto em um projeto pode se tornar um molde enviado para a produção.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011680" y="6298184"/>
            <a:ext cx="14264640" cy="10973"/>
          </a:xfrm>
          <a:prstGeom prst="rect">
            <a:avLst/>
          </a:prstGeom>
          <a:solidFill>
            <a:srgbClr val="A5A4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011680" y="6572504"/>
            <a:ext cx="4754880" cy="3886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520"/>
              </a:lnSpc>
            </a:pPr>
            <a:r>
              <a:rPr sz="1800" i="0" b="0" spc="282">
                <a:solidFill>
                  <a:srgbClr val="CC754E"/>
                </a:solidFill>
                <a:latin typeface="Outfit 1 Semi-Bold"/>
              </a:rPr>
              <a:t>WEUDES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132320" y="6499352"/>
            <a:ext cx="9144000" cy="14615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500"/>
              </a:lnSpc>
            </a:pPr>
            <a:r>
              <a:rPr sz="2500" i="0" b="0">
                <a:solidFill>
                  <a:srgbClr val="1C1C1A"/>
                </a:solidFill>
                <a:latin typeface="Outfit 1 Light"/>
              </a:rPr>
              <a:t>Processos que exigem concentração, trabalhos manuais minuciosos e acabamentos que não admitem soluções pela metade.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011680" y="8033004"/>
            <a:ext cx="1188720" cy="27432"/>
          </a:xfrm>
          <a:prstGeom prst="rect">
            <a:avLst/>
          </a:prstGeom>
          <a:solidFill>
            <a:srgbClr val="CC75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7F2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xtura-ondas.jpeg"/>
          <p:cNvPicPr>
            <a:picLocks noChangeAspect="1"/>
          </p:cNvPicPr>
          <p:nvPr/>
        </p:nvPicPr>
        <p:blipFill>
          <a:blip r:embed="rId2">
            <a:alphaModFix amt="32000"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1005840" y="1005840"/>
            <a:ext cx="16276320" cy="7772400"/>
          </a:xfrm>
          <a:prstGeom prst="roundRect">
            <a:avLst>
              <a:gd name="adj" fmla="val 2117"/>
            </a:avLst>
          </a:prstGeom>
          <a:solidFill>
            <a:srgbClr val="F8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2011680" y="3643503"/>
            <a:ext cx="1188720" cy="27432"/>
          </a:xfrm>
          <a:prstGeom prst="rect">
            <a:avLst/>
          </a:prstGeom>
          <a:solidFill>
            <a:srgbClr val="CC75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011680" y="4045839"/>
            <a:ext cx="14081760" cy="159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5180"/>
              </a:lnSpc>
            </a:pPr>
            <a:r>
              <a:rPr sz="3700" i="0" b="0">
                <a:solidFill>
                  <a:srgbClr val="323330"/>
                </a:solidFill>
                <a:latin typeface="Outfit 1 Light"/>
              </a:rPr>
              <a:t>A criatividade da My Home também depende</a:t>
            </a:r>
          </a:p>
          <a:p>
            <a:pPr algn="l">
              <a:lnSpc>
                <a:spcPts val="5180"/>
              </a:lnSpc>
            </a:pPr>
            <a:r>
              <a:rPr sz="3700" i="0" b="0">
                <a:solidFill>
                  <a:srgbClr val="323330"/>
                </a:solidFill>
                <a:latin typeface="Outfit 1 Light"/>
              </a:rPr>
              <a:t>de precisão, técnica e habilidade de execução.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011680" y="5604637"/>
            <a:ext cx="11887200" cy="5359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500"/>
              </a:lnSpc>
            </a:pPr>
            <a:r>
              <a:rPr sz="2500" i="0" b="0">
                <a:solidFill>
                  <a:srgbClr val="6B6B66"/>
                </a:solidFill>
                <a:latin typeface="Outfit 1 Light"/>
              </a:rPr>
              <a:t>Uma característica pouco evidente para quem observa somente o produto pronto.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7F2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xtura-ondas.jpeg"/>
          <p:cNvPicPr>
            <a:picLocks noChangeAspect="1"/>
          </p:cNvPicPr>
          <p:nvPr/>
        </p:nvPicPr>
        <p:blipFill>
          <a:blip r:embed="rId2">
            <a:alphaModFix amt="32000"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1005840" y="1005840"/>
            <a:ext cx="16276320" cy="7772400"/>
          </a:xfrm>
          <a:prstGeom prst="roundRect">
            <a:avLst>
              <a:gd name="adj" fmla="val 2117"/>
            </a:avLst>
          </a:prstGeom>
          <a:solidFill>
            <a:srgbClr val="F8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011680" y="2269617"/>
            <a:ext cx="14264640" cy="100507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5754"/>
              </a:lnSpc>
            </a:pPr>
            <a:r>
              <a:rPr sz="4200" i="0" b="0">
                <a:solidFill>
                  <a:srgbClr val="1C1C1A"/>
                </a:solidFill>
                <a:latin typeface="Outfit 1 Light"/>
              </a:rPr>
              <a:t>A CULTURA EM AÇÃO, </a:t>
            </a:r>
            <a:r>
              <a:rPr sz="4200" i="0" b="0">
                <a:solidFill>
                  <a:srgbClr val="1C1C1A"/>
                </a:solidFill>
                <a:latin typeface="Outfit 1 Bold"/>
              </a:rPr>
              <a:t>A EXPERIÊNCIA PRETENDIDA</a:t>
            </a:r>
            <a:r>
              <a:rPr sz="4200" i="0" b="0">
                <a:solidFill>
                  <a:srgbClr val="1C1C1A"/>
                </a:solidFill>
                <a:latin typeface="Outfit 1 Light"/>
              </a:rPr>
              <a:t>.</a:t>
            </a:r>
          </a:p>
        </p:txBody>
      </p:sp>
      <p:sp>
        <p:nvSpPr>
          <p:cNvPr id="5" name="Rectangle 4"/>
          <p:cNvSpPr/>
          <p:nvPr/>
        </p:nvSpPr>
        <p:spPr>
          <a:xfrm>
            <a:off x="2011680" y="3183255"/>
            <a:ext cx="14264640" cy="10973"/>
          </a:xfrm>
          <a:prstGeom prst="rect">
            <a:avLst/>
          </a:prstGeom>
          <a:solidFill>
            <a:srgbClr val="A5A4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011680" y="3530727"/>
            <a:ext cx="6880860" cy="56693"/>
          </a:xfrm>
          <a:prstGeom prst="rect">
            <a:avLst/>
          </a:prstGeom>
          <a:solidFill>
            <a:srgbClr val="CC75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011680" y="3805047"/>
            <a:ext cx="6880860" cy="5359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500"/>
              </a:lnSpc>
            </a:pPr>
            <a:r>
              <a:rPr sz="2500" i="0" b="0">
                <a:solidFill>
                  <a:srgbClr val="1C1C1A"/>
                </a:solidFill>
                <a:latin typeface="Outfit 1 Light"/>
              </a:rPr>
              <a:t>A cultura em ação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011680" y="4542155"/>
            <a:ext cx="6880860" cy="14249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500"/>
              </a:lnSpc>
            </a:pPr>
            <a:r>
              <a:rPr sz="2500" i="0" b="0">
                <a:solidFill>
                  <a:srgbClr val="6B6B66"/>
                </a:solidFill>
                <a:latin typeface="Outfit 1 Light"/>
              </a:rPr>
              <a:t>Experimentar. Encontrar novos usos. Dominar materiais. Transformar ideias em produtos. Aperfeiçoar cada detalhe.</a:t>
            </a:r>
          </a:p>
        </p:txBody>
      </p:sp>
      <p:sp>
        <p:nvSpPr>
          <p:cNvPr id="9" name="Rectangle 8"/>
          <p:cNvSpPr/>
          <p:nvPr/>
        </p:nvSpPr>
        <p:spPr>
          <a:xfrm>
            <a:off x="9395460" y="3530727"/>
            <a:ext cx="6880860" cy="56693"/>
          </a:xfrm>
          <a:prstGeom prst="rect">
            <a:avLst/>
          </a:prstGeom>
          <a:solidFill>
            <a:srgbClr val="CC75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395460" y="3805047"/>
            <a:ext cx="6880860" cy="5359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500"/>
              </a:lnSpc>
            </a:pPr>
            <a:r>
              <a:rPr sz="2500" i="0" b="0">
                <a:solidFill>
                  <a:srgbClr val="1C1C1A"/>
                </a:solidFill>
                <a:latin typeface="Outfit 1 Light"/>
              </a:rPr>
              <a:t>A experiência pretendida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395460" y="4542155"/>
            <a:ext cx="6880860" cy="14249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500"/>
              </a:lnSpc>
            </a:pPr>
            <a:r>
              <a:rPr sz="2500" i="0" b="0">
                <a:solidFill>
                  <a:srgbClr val="6B6B66"/>
                </a:solidFill>
                <a:latin typeface="Outfit 1 Light"/>
              </a:rPr>
              <a:t>Surpreender com produtos criativos que acrescentem personalidade, originalidade e novas possibilidades aos ambientes.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133942" y="3841623"/>
            <a:ext cx="19202" cy="1979168"/>
          </a:xfrm>
          <a:prstGeom prst="rect">
            <a:avLst/>
          </a:prstGeom>
          <a:solidFill>
            <a:srgbClr val="CC75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986784" y="6534023"/>
            <a:ext cx="10314432" cy="980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ts val="3500"/>
              </a:lnSpc>
            </a:pPr>
            <a:r>
              <a:rPr sz="2500" i="0" b="0">
                <a:solidFill>
                  <a:srgbClr val="6B6B66"/>
                </a:solidFill>
                <a:latin typeface="Outfit 1 Light"/>
              </a:rPr>
              <a:t>A My Home pode transformar aquilo que parecia comum em algo que desperta um novo olhar.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7F2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xtura-ondas.jpeg"/>
          <p:cNvPicPr>
            <a:picLocks noChangeAspect="1"/>
          </p:cNvPicPr>
          <p:nvPr/>
        </p:nvPicPr>
        <p:blipFill>
          <a:blip r:embed="rId2">
            <a:alphaModFix amt="32000"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011680" y="3847084"/>
            <a:ext cx="15247620" cy="11049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ts val="7260"/>
              </a:lnSpc>
            </a:pPr>
            <a:r>
              <a:rPr sz="6600" i="0" b="0">
                <a:solidFill>
                  <a:srgbClr val="1C1C1A"/>
                </a:solidFill>
                <a:latin typeface="Outfit 1 Bold"/>
              </a:rPr>
              <a:t>PERCEPÇÃO EXTERNA E COERÊNCIA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011680" y="5025136"/>
            <a:ext cx="15247620" cy="10947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ts val="7539"/>
              </a:lnSpc>
            </a:pPr>
            <a:r>
              <a:rPr sz="6500" i="0" b="0">
                <a:solidFill>
                  <a:srgbClr val="1C1C1A"/>
                </a:solidFill>
                <a:latin typeface="Outfit 1 Light"/>
              </a:rPr>
              <a:t>Cultura de marca My Home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7F2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xtura-ondas.jpeg"/>
          <p:cNvPicPr>
            <a:picLocks noChangeAspect="1"/>
          </p:cNvPicPr>
          <p:nvPr/>
        </p:nvPicPr>
        <p:blipFill>
          <a:blip r:embed="rId2">
            <a:alphaModFix amt="32000"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1005840" y="1005840"/>
            <a:ext cx="16276320" cy="7772400"/>
          </a:xfrm>
          <a:prstGeom prst="roundRect">
            <a:avLst>
              <a:gd name="adj" fmla="val 2117"/>
            </a:avLst>
          </a:prstGeom>
          <a:solidFill>
            <a:srgbClr val="F8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011680" y="2574544"/>
            <a:ext cx="14264640" cy="100507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5754"/>
              </a:lnSpc>
            </a:pPr>
            <a:r>
              <a:rPr sz="4200" i="0" b="0">
                <a:solidFill>
                  <a:srgbClr val="1C1C1A"/>
                </a:solidFill>
                <a:latin typeface="Outfit 1 Light"/>
              </a:rPr>
              <a:t>UMA MARCA QUE APRENDEU A CRIAR PARA OUTROS. AGORA PRECISA SER </a:t>
            </a:r>
            <a:r>
              <a:rPr sz="4200" i="0" b="0">
                <a:solidFill>
                  <a:srgbClr val="1C1C1A"/>
                </a:solidFill>
                <a:latin typeface="Outfit 1 Bold"/>
              </a:rPr>
              <a:t>RECONHECIDA PELO QUE CRIA</a:t>
            </a:r>
            <a:r>
              <a:rPr sz="4200" i="0" b="0">
                <a:solidFill>
                  <a:srgbClr val="1C1C1A"/>
                </a:solidFill>
                <a:latin typeface="Outfit 1 Light"/>
              </a:rPr>
              <a:t>.</a:t>
            </a:r>
          </a:p>
        </p:txBody>
      </p:sp>
      <p:sp>
        <p:nvSpPr>
          <p:cNvPr id="5" name="Rectangle 4"/>
          <p:cNvSpPr/>
          <p:nvPr/>
        </p:nvSpPr>
        <p:spPr>
          <a:xfrm>
            <a:off x="2011680" y="4218940"/>
            <a:ext cx="14264640" cy="10973"/>
          </a:xfrm>
          <a:prstGeom prst="rect">
            <a:avLst/>
          </a:prstGeom>
          <a:solidFill>
            <a:srgbClr val="A5A4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011680" y="4566412"/>
            <a:ext cx="12252960" cy="14249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500"/>
              </a:lnSpc>
            </a:pPr>
            <a:r>
              <a:rPr sz="2500" i="0" b="0">
                <a:solidFill>
                  <a:srgbClr val="6B6B66"/>
                </a:solidFill>
                <a:latin typeface="Outfit 1 Light"/>
              </a:rPr>
              <a:t>A My Home já possui uma competência produtiva reconhecida. Arquitetos valorizam sua capacidade de executar detalhes que ampliam as possibilidades dos projetos da Forma.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011680" y="6229096"/>
            <a:ext cx="12252960" cy="980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500"/>
              </a:lnSpc>
            </a:pPr>
            <a:r>
              <a:rPr sz="2500" i="0" b="0">
                <a:solidFill>
                  <a:srgbClr val="6B6B66"/>
                </a:solidFill>
                <a:latin typeface="Outfit 1 Light"/>
              </a:rPr>
              <a:t>Entretanto, as entrevistas revelam uma questão importante sobre sua identidade: Júlio César descreve a My Home como o braço direito da Forma.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7F2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xtura-ondas.jpeg"/>
          <p:cNvPicPr>
            <a:picLocks noChangeAspect="1"/>
          </p:cNvPicPr>
          <p:nvPr/>
        </p:nvPicPr>
        <p:blipFill>
          <a:blip r:embed="rId2">
            <a:alphaModFix amt="32000"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3233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10479024" y="1028700"/>
            <a:ext cx="7808976" cy="3332480"/>
          </a:xfrm>
          <a:prstGeom prst="roundRect">
            <a:avLst>
              <a:gd name="adj" fmla="val 4939"/>
            </a:avLst>
          </a:prstGeom>
          <a:solidFill>
            <a:srgbClr val="F8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045952" y="1595628"/>
            <a:ext cx="6675120" cy="1539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752"/>
              </a:lnSpc>
            </a:pPr>
            <a:r>
              <a:rPr sz="2800" i="0" b="0">
                <a:solidFill>
                  <a:srgbClr val="1C1C1A"/>
                </a:solidFill>
                <a:latin typeface="Outfit 1 Light"/>
              </a:rPr>
              <a:t>“A My Home [...]</a:t>
            </a:r>
          </a:p>
          <a:p>
            <a:pPr algn="l">
              <a:lnSpc>
                <a:spcPts val="3752"/>
              </a:lnSpc>
            </a:pPr>
            <a:r>
              <a:rPr sz="2800" i="0" b="0">
                <a:solidFill>
                  <a:srgbClr val="1C1C1A"/>
                </a:solidFill>
                <a:latin typeface="Outfit 1 Light"/>
              </a:rPr>
              <a:t>monta o palco</a:t>
            </a:r>
          </a:p>
          <a:p>
            <a:pPr algn="l">
              <a:lnSpc>
                <a:spcPts val="3752"/>
              </a:lnSpc>
            </a:pPr>
            <a:r>
              <a:rPr sz="2800" i="0" b="0">
                <a:solidFill>
                  <a:srgbClr val="1C1C1A"/>
                </a:solidFill>
                <a:latin typeface="Outfit 1 Light"/>
              </a:rPr>
              <a:t>pra Forma dançar.”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45952" y="3189732"/>
            <a:ext cx="6675120" cy="695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379"/>
              </a:lnSpc>
            </a:pPr>
            <a:r>
              <a:rPr sz="1700" i="0" b="0">
                <a:solidFill>
                  <a:srgbClr val="6B6B66"/>
                </a:solidFill>
                <a:latin typeface="Outfit 1 Light"/>
              </a:rPr>
              <a:t>Pâmella. A fala não diminui a importância da marca: mostra o quanto sua contribuição permanece associada à outra.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011680" y="8293100"/>
            <a:ext cx="11521440" cy="4119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i="0" b="0" spc="300">
                <a:solidFill>
                  <a:srgbClr val="C6986E"/>
                </a:solidFill>
                <a:latin typeface="Outfit 1 Semi-Bold"/>
              </a:rPr>
              <a:t>IMAGEM   </a:t>
            </a:r>
            <a:r>
              <a:rPr sz="1700" i="0" b="0">
                <a:solidFill>
                  <a:srgbClr val="C9C7C0"/>
                </a:solidFill>
                <a:latin typeface="Outfit 1 Light"/>
              </a:rPr>
              <a:t>A produção da My Home em plano aberto — a bancada, as peças em série, o trabalho acontecendo.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7F2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xtura-ondas.jpeg"/>
          <p:cNvPicPr>
            <a:picLocks noChangeAspect="1"/>
          </p:cNvPicPr>
          <p:nvPr/>
        </p:nvPicPr>
        <p:blipFill>
          <a:blip r:embed="rId2">
            <a:alphaModFix amt="32000"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1005840" y="1005840"/>
            <a:ext cx="16276320" cy="7772400"/>
          </a:xfrm>
          <a:prstGeom prst="roundRect">
            <a:avLst>
              <a:gd name="adj" fmla="val 2117"/>
            </a:avLst>
          </a:prstGeom>
          <a:solidFill>
            <a:srgbClr val="F8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011680" y="3162173"/>
            <a:ext cx="14264640" cy="100507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5754"/>
              </a:lnSpc>
            </a:pPr>
            <a:r>
              <a:rPr sz="4200" i="0" b="0">
                <a:solidFill>
                  <a:srgbClr val="1C1C1A"/>
                </a:solidFill>
                <a:latin typeface="Outfit 1 Light"/>
              </a:rPr>
              <a:t>O DESAFIO</a:t>
            </a:r>
          </a:p>
        </p:txBody>
      </p:sp>
      <p:sp>
        <p:nvSpPr>
          <p:cNvPr id="5" name="Rectangle 4"/>
          <p:cNvSpPr/>
          <p:nvPr/>
        </p:nvSpPr>
        <p:spPr>
          <a:xfrm>
            <a:off x="2011680" y="4075811"/>
            <a:ext cx="14264640" cy="10973"/>
          </a:xfrm>
          <a:prstGeom prst="rect">
            <a:avLst/>
          </a:prstGeom>
          <a:solidFill>
            <a:srgbClr val="A5A4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011680" y="4423283"/>
            <a:ext cx="12252960" cy="14249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500"/>
              </a:lnSpc>
            </a:pPr>
            <a:r>
              <a:rPr sz="2500" i="0" b="0">
                <a:solidFill>
                  <a:srgbClr val="6B6B66"/>
                </a:solidFill>
                <a:latin typeface="Outfit 1 Light"/>
              </a:rPr>
              <a:t>Preservar a capacidade de apoiar a Forma, mas conquistar reconhecimento independente por seus próprios produtos, sua criatividade e sua experiência de compra.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011680" y="6085967"/>
            <a:ext cx="12252960" cy="5359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500"/>
              </a:lnSpc>
            </a:pPr>
            <a:r>
              <a:rPr sz="2500" i="0" b="0">
                <a:solidFill>
                  <a:srgbClr val="6B6B66"/>
                </a:solidFill>
                <a:latin typeface="Outfit 1 Light"/>
              </a:rPr>
              <a:t>A confiança no e-commerce também precisará ser fortalecida.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7F2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xtura-ondas.jpeg"/>
          <p:cNvPicPr>
            <a:picLocks noChangeAspect="1"/>
          </p:cNvPicPr>
          <p:nvPr/>
        </p:nvPicPr>
        <p:blipFill>
          <a:blip r:embed="rId2">
            <a:alphaModFix amt="32000"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3233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10479024" y="1028700"/>
            <a:ext cx="7808976" cy="2553716"/>
          </a:xfrm>
          <a:prstGeom prst="roundRect">
            <a:avLst>
              <a:gd name="adj" fmla="val 6445"/>
            </a:avLst>
          </a:prstGeom>
          <a:solidFill>
            <a:srgbClr val="F8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045952" y="1595628"/>
            <a:ext cx="6675120" cy="10627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752"/>
              </a:lnSpc>
            </a:pPr>
            <a:r>
              <a:rPr sz="2800" i="0" b="0">
                <a:solidFill>
                  <a:srgbClr val="1C1C1A"/>
                </a:solidFill>
                <a:latin typeface="Outfit 1 Light"/>
              </a:rPr>
              <a:t>Transformar possibilidades</a:t>
            </a:r>
          </a:p>
          <a:p>
            <a:pPr algn="l">
              <a:lnSpc>
                <a:spcPts val="3752"/>
              </a:lnSpc>
            </a:pPr>
            <a:r>
              <a:rPr sz="2800" i="0" b="0">
                <a:solidFill>
                  <a:srgbClr val="1C1C1A"/>
                </a:solidFill>
                <a:latin typeface="Outfit 1 Light"/>
              </a:rPr>
              <a:t>em criação.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45952" y="2713228"/>
            <a:ext cx="6675120" cy="3937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379"/>
              </a:lnSpc>
            </a:pPr>
            <a:r>
              <a:rPr sz="1700" i="0" b="0">
                <a:solidFill>
                  <a:srgbClr val="6B6B66"/>
                </a:solidFill>
                <a:latin typeface="Outfit 1 Light"/>
              </a:rPr>
              <a:t>Criatividade que transforma. A essência cultural da My Home.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011680" y="8293100"/>
            <a:ext cx="11521440" cy="4119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i="0" b="0" spc="300">
                <a:solidFill>
                  <a:srgbClr val="C6986E"/>
                </a:solidFill>
                <a:latin typeface="Outfit 1 Semi-Bold"/>
              </a:rPr>
              <a:t>IMAGEM   </a:t>
            </a:r>
            <a:r>
              <a:rPr sz="1700" i="0" b="0">
                <a:solidFill>
                  <a:srgbClr val="C9C7C0"/>
                </a:solidFill>
                <a:latin typeface="Outfit 1 Light"/>
              </a:rPr>
              <a:t>Um produto My Home em destaque no ambiente. Imagem ampla, que aguente a frase por cima.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7F2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xtura-ondas.jpeg"/>
          <p:cNvPicPr>
            <a:picLocks noChangeAspect="1"/>
          </p:cNvPicPr>
          <p:nvPr/>
        </p:nvPicPr>
        <p:blipFill>
          <a:blip r:embed="rId2">
            <a:alphaModFix amt="32000"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3233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011680" y="2962846"/>
            <a:ext cx="152476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ts val="1959"/>
              </a:lnSpc>
            </a:pPr>
            <a:r>
              <a:rPr sz="1400" i="0" b="0" spc="300">
                <a:solidFill>
                  <a:srgbClr val="C6986E"/>
                </a:solidFill>
                <a:latin typeface="Outfit 1 Semi-Bold"/>
              </a:rPr>
              <a:t>04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011680" y="3438334"/>
            <a:ext cx="15247620" cy="21875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ts val="15785"/>
              </a:lnSpc>
            </a:pPr>
            <a:r>
              <a:rPr sz="14350" i="0" b="0">
                <a:solidFill>
                  <a:srgbClr val="FFFFFF"/>
                </a:solidFill>
                <a:latin typeface="Outfit 1 Bold"/>
              </a:rPr>
              <a:t>SÍNTESE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011680" y="5699062"/>
            <a:ext cx="15247620" cy="8295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ts val="5452"/>
              </a:lnSpc>
            </a:pPr>
            <a:r>
              <a:rPr sz="4700" i="0" b="0">
                <a:solidFill>
                  <a:srgbClr val="FFFFFF"/>
                </a:solidFill>
                <a:latin typeface="Outfit 1 Light"/>
              </a:rPr>
              <a:t>O que compartilham e o que torna cada marca singular.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011680" y="8293100"/>
            <a:ext cx="11521440" cy="4119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i="0" b="0" spc="300">
                <a:solidFill>
                  <a:srgbClr val="C6986E"/>
                </a:solidFill>
                <a:latin typeface="Outfit 1 Semi-Bold"/>
              </a:rPr>
              <a:t>IMAGEM   </a:t>
            </a:r>
            <a:r>
              <a:rPr sz="1700" i="0" b="0">
                <a:solidFill>
                  <a:srgbClr val="C9C7C0"/>
                </a:solidFill>
                <a:latin typeface="Outfit 1 Light"/>
              </a:rPr>
              <a:t>O time completo das duas operações, ou o ambiente de trabalho cheio de gente. Plano aberto.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7F2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xtura-ondas.jpeg"/>
          <p:cNvPicPr>
            <a:picLocks noChangeAspect="1"/>
          </p:cNvPicPr>
          <p:nvPr/>
        </p:nvPicPr>
        <p:blipFill>
          <a:blip r:embed="rId2">
            <a:alphaModFix amt="32000"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1005840" y="1005840"/>
            <a:ext cx="16276320" cy="7772400"/>
          </a:xfrm>
          <a:prstGeom prst="roundRect">
            <a:avLst>
              <a:gd name="adj" fmla="val 2117"/>
            </a:avLst>
          </a:prstGeom>
          <a:solidFill>
            <a:srgbClr val="F8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011680" y="2939923"/>
            <a:ext cx="14264640" cy="100507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5754"/>
              </a:lnSpc>
            </a:pPr>
            <a:r>
              <a:rPr sz="4200" i="0" b="0">
                <a:solidFill>
                  <a:srgbClr val="1C1C1A"/>
                </a:solidFill>
                <a:latin typeface="Outfit 1 Light"/>
              </a:rPr>
              <a:t>UMA ORIGEM. </a:t>
            </a:r>
            <a:r>
              <a:rPr sz="4200" i="0" b="0">
                <a:solidFill>
                  <a:srgbClr val="1C1C1A"/>
                </a:solidFill>
                <a:latin typeface="Outfit 1 Bold"/>
              </a:rPr>
              <a:t>DUAS FORMAS DE TRANSFORMAR</a:t>
            </a:r>
            <a:r>
              <a:rPr sz="4200" i="0" b="0">
                <a:solidFill>
                  <a:srgbClr val="1C1C1A"/>
                </a:solidFill>
                <a:latin typeface="Outfit 1 Light"/>
              </a:rPr>
              <a:t>.</a:t>
            </a:r>
          </a:p>
        </p:txBody>
      </p:sp>
      <p:sp>
        <p:nvSpPr>
          <p:cNvPr id="5" name="Rectangle 4"/>
          <p:cNvSpPr/>
          <p:nvPr/>
        </p:nvSpPr>
        <p:spPr>
          <a:xfrm>
            <a:off x="2011680" y="3853561"/>
            <a:ext cx="14264640" cy="10973"/>
          </a:xfrm>
          <a:prstGeom prst="rect">
            <a:avLst/>
          </a:prstGeom>
          <a:solidFill>
            <a:srgbClr val="A5A4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011680" y="4201033"/>
            <a:ext cx="12252960" cy="980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500"/>
              </a:lnSpc>
            </a:pPr>
            <a:r>
              <a:rPr sz="2500" i="0" b="0">
                <a:solidFill>
                  <a:srgbClr val="6B6B66"/>
                </a:solidFill>
                <a:latin typeface="Outfit 1 Light"/>
              </a:rPr>
              <a:t>A trajetória de Flávia revela uma constante: recusar que as circunstâncias determinem todas as possibilidades do futuro.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011680" y="5419217"/>
            <a:ext cx="12252960" cy="14249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500"/>
              </a:lnSpc>
            </a:pPr>
            <a:r>
              <a:rPr sz="2500" i="0" b="0">
                <a:solidFill>
                  <a:srgbClr val="6B6B66"/>
                </a:solidFill>
                <a:latin typeface="Outfit 1 Light"/>
              </a:rPr>
              <a:t>Essa mentalidade contribuiu para construir uma cultura organizacional marcada pela iniciativa, pela proximidade humana e pela responsabilidade com o resultado. Mas encontrou expressões distintas em cada marca.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7F2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xtura-ondas.jpeg"/>
          <p:cNvPicPr>
            <a:picLocks noChangeAspect="1"/>
          </p:cNvPicPr>
          <p:nvPr/>
        </p:nvPicPr>
        <p:blipFill>
          <a:blip r:embed="rId2">
            <a:alphaModFix amt="32000"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1005840" y="1005840"/>
            <a:ext cx="16276320" cy="7772400"/>
          </a:xfrm>
          <a:prstGeom prst="roundRect">
            <a:avLst>
              <a:gd name="adj" fmla="val 2117"/>
            </a:avLst>
          </a:prstGeom>
          <a:solidFill>
            <a:srgbClr val="F8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011680" y="1723644"/>
            <a:ext cx="14264640" cy="100507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5754"/>
              </a:lnSpc>
            </a:pPr>
            <a:r>
              <a:rPr sz="4200" i="0" b="0">
                <a:solidFill>
                  <a:srgbClr val="1C1C1A"/>
                </a:solidFill>
                <a:latin typeface="Outfit 1 Light"/>
              </a:rPr>
              <a:t>UMA CULTURA COMPARTILHADA. </a:t>
            </a:r>
            <a:r>
              <a:rPr sz="4200" i="0" b="0">
                <a:solidFill>
                  <a:srgbClr val="1C1C1A"/>
                </a:solidFill>
                <a:latin typeface="Outfit 1 Bold"/>
              </a:rPr>
              <a:t>DUAS EXPRESSÕES</a:t>
            </a:r>
            <a:r>
              <a:rPr sz="4200" i="0" b="0">
                <a:solidFill>
                  <a:srgbClr val="1C1C1A"/>
                </a:solidFill>
                <a:latin typeface="Outfit 1 Light"/>
              </a:rPr>
              <a:t>.</a:t>
            </a:r>
          </a:p>
        </p:txBody>
      </p:sp>
      <p:sp>
        <p:nvSpPr>
          <p:cNvPr id="5" name="Rectangle 4"/>
          <p:cNvSpPr/>
          <p:nvPr/>
        </p:nvSpPr>
        <p:spPr>
          <a:xfrm>
            <a:off x="2011680" y="2637282"/>
            <a:ext cx="14264640" cy="10973"/>
          </a:xfrm>
          <a:prstGeom prst="rect">
            <a:avLst/>
          </a:prstGeom>
          <a:solidFill>
            <a:srgbClr val="A5A4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011680" y="3232404"/>
            <a:ext cx="14264640" cy="10973"/>
          </a:xfrm>
          <a:prstGeom prst="rect">
            <a:avLst/>
          </a:prstGeom>
          <a:solidFill>
            <a:srgbClr val="A5A4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011680" y="3506724"/>
            <a:ext cx="4754880" cy="3886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520"/>
              </a:lnSpc>
            </a:pPr>
            <a:r>
              <a:rPr sz="1800" i="0" b="0" spc="282">
                <a:solidFill>
                  <a:srgbClr val="1C1C1A"/>
                </a:solidFill>
                <a:latin typeface="Outfit 1 Semi-Bold"/>
              </a:rPr>
              <a:t>CULTURA ORGANIZACIONAL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0" y="3433572"/>
            <a:ext cx="9144000" cy="1325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500"/>
              </a:lnSpc>
            </a:pPr>
            <a:r>
              <a:rPr sz="2500" i="0" b="0">
                <a:solidFill>
                  <a:srgbClr val="1C1C1A"/>
                </a:solidFill>
                <a:latin typeface="Outfit 1 Light"/>
              </a:rPr>
              <a:t>Liberdade para encontrar caminhos. Responsabilidade pelo resultado coletivo.</a:t>
            </a:r>
          </a:p>
        </p:txBody>
      </p:sp>
      <p:sp>
        <p:nvSpPr>
          <p:cNvPr id="9" name="Rectangle 8"/>
          <p:cNvSpPr/>
          <p:nvPr/>
        </p:nvSpPr>
        <p:spPr>
          <a:xfrm>
            <a:off x="2011680" y="4832604"/>
            <a:ext cx="14264640" cy="10973"/>
          </a:xfrm>
          <a:prstGeom prst="rect">
            <a:avLst/>
          </a:prstGeom>
          <a:solidFill>
            <a:srgbClr val="A5A4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011680" y="5106924"/>
            <a:ext cx="4754880" cy="3886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520"/>
              </a:lnSpc>
            </a:pPr>
            <a:r>
              <a:rPr sz="1800" i="0" b="0" spc="282">
                <a:solidFill>
                  <a:srgbClr val="1C1C1A"/>
                </a:solidFill>
                <a:latin typeface="Outfit 1 Semi-Bold"/>
              </a:rPr>
              <a:t>FORMA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132320" y="5033772"/>
            <a:ext cx="9144000" cy="1325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500"/>
              </a:lnSpc>
            </a:pPr>
            <a:r>
              <a:rPr sz="2500" i="0" b="0">
                <a:solidFill>
                  <a:srgbClr val="1C1C1A"/>
                </a:solidFill>
                <a:latin typeface="Outfit 1 Light"/>
              </a:rPr>
              <a:t>O conhecimento e a liberdade técnica transformam projetos complexos em confiança.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011680" y="6432804"/>
            <a:ext cx="14264640" cy="10973"/>
          </a:xfrm>
          <a:prstGeom prst="rect">
            <a:avLst/>
          </a:prstGeom>
          <a:solidFill>
            <a:srgbClr val="A5A4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011680" y="6707124"/>
            <a:ext cx="4754880" cy="3886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520"/>
              </a:lnSpc>
            </a:pPr>
            <a:r>
              <a:rPr sz="1800" i="0" b="0" spc="282">
                <a:solidFill>
                  <a:srgbClr val="CC754E"/>
                </a:solidFill>
                <a:latin typeface="Outfit 1 Semi-Bold"/>
              </a:rPr>
              <a:t>MY HOME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132320" y="6633972"/>
            <a:ext cx="9144000" cy="1325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500"/>
              </a:lnSpc>
            </a:pPr>
            <a:r>
              <a:rPr sz="2500" i="0" b="0">
                <a:solidFill>
                  <a:srgbClr val="1C1C1A"/>
                </a:solidFill>
                <a:latin typeface="Outfit 1 Light"/>
              </a:rPr>
              <a:t>A inventividade e a capacidade de execução transformam possibilidades em novas criações.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011680" y="8033004"/>
            <a:ext cx="1188720" cy="27432"/>
          </a:xfrm>
          <a:prstGeom prst="rect">
            <a:avLst/>
          </a:prstGeom>
          <a:solidFill>
            <a:srgbClr val="CC75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7F2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xtura-ondas.jpeg"/>
          <p:cNvPicPr>
            <a:picLocks noChangeAspect="1"/>
          </p:cNvPicPr>
          <p:nvPr/>
        </p:nvPicPr>
        <p:blipFill>
          <a:blip r:embed="rId2">
            <a:alphaModFix amt="32000"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1005840" y="1005840"/>
            <a:ext cx="16276320" cy="7772400"/>
          </a:xfrm>
          <a:prstGeom prst="roundRect">
            <a:avLst>
              <a:gd name="adj" fmla="val 2117"/>
            </a:avLst>
          </a:prstGeom>
          <a:solidFill>
            <a:srgbClr val="F8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2011680" y="3237992"/>
            <a:ext cx="1188720" cy="27432"/>
          </a:xfrm>
          <a:prstGeom prst="rect">
            <a:avLst/>
          </a:prstGeom>
          <a:solidFill>
            <a:srgbClr val="CC75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011680" y="3640328"/>
            <a:ext cx="14081760" cy="290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5180"/>
              </a:lnSpc>
            </a:pPr>
            <a:r>
              <a:rPr sz="3700" i="0" b="0">
                <a:solidFill>
                  <a:srgbClr val="323330"/>
                </a:solidFill>
                <a:latin typeface="Outfit 1 Light"/>
              </a:rPr>
              <a:t>O que conecta as duas marcas não é apenas</a:t>
            </a:r>
          </a:p>
          <a:p>
            <a:pPr algn="l">
              <a:lnSpc>
                <a:spcPts val="5180"/>
              </a:lnSpc>
            </a:pPr>
            <a:r>
              <a:rPr sz="3700" i="0" b="0">
                <a:solidFill>
                  <a:srgbClr val="323330"/>
                </a:solidFill>
                <a:latin typeface="Outfit 1 Light"/>
              </a:rPr>
              <a:t>a história de quem as construiu.</a:t>
            </a:r>
          </a:p>
          <a:p>
            <a:pPr algn="l">
              <a:lnSpc>
                <a:spcPts val="5180"/>
              </a:lnSpc>
            </a:pPr>
            <a:r>
              <a:rPr sz="3700" i="0" b="0">
                <a:solidFill>
                  <a:srgbClr val="323330"/>
                </a:solidFill>
                <a:latin typeface="Outfit 1 Light"/>
              </a:rPr>
              <a:t>É a convicção de que sempre existe algo mais</a:t>
            </a:r>
          </a:p>
          <a:p>
            <a:pPr algn="l">
              <a:lnSpc>
                <a:spcPts val="5180"/>
              </a:lnSpc>
            </a:pPr>
            <a:r>
              <a:rPr sz="3700" i="0" b="0">
                <a:solidFill>
                  <a:srgbClr val="323330"/>
                </a:solidFill>
                <a:latin typeface="Outfit 1 Light"/>
              </a:rPr>
              <a:t>que pode ser feito, criado ou transformado.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7F2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xtura-ondas.jpeg"/>
          <p:cNvPicPr>
            <a:picLocks noChangeAspect="1"/>
          </p:cNvPicPr>
          <p:nvPr/>
        </p:nvPicPr>
        <p:blipFill>
          <a:blip r:embed="rId2">
            <a:alphaModFix amt="32000"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011680" y="2651760"/>
            <a:ext cx="13716000" cy="1625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0640"/>
              </a:lnSpc>
            </a:pPr>
            <a:r>
              <a:rPr sz="9500" i="0" b="0">
                <a:solidFill>
                  <a:srgbClr val="1C1C1A"/>
                </a:solidFill>
                <a:latin typeface="Outfit 1 Light"/>
              </a:rPr>
              <a:t>OBRIGADA!</a:t>
            </a:r>
          </a:p>
        </p:txBody>
      </p:sp>
      <p:pic>
        <p:nvPicPr>
          <p:cNvPr id="4" name="Picture 3" descr="logo-kelly-alber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28700" y="5257800"/>
            <a:ext cx="4421124" cy="1050715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5669280" y="5257800"/>
            <a:ext cx="12802" cy="1143000"/>
          </a:xfrm>
          <a:prstGeom prst="rect">
            <a:avLst/>
          </a:prstGeom>
          <a:solidFill>
            <a:srgbClr val="A5A4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-vm-rock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73445" y="5312664"/>
            <a:ext cx="3291840" cy="942889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Company/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terms:created xsi:type="dcterms:W3CDTF">2006-08-16T00:00:00Z</dcterms:created>
  <dc:identifier>DAHVOuCspjk</dc:identifier>
  <dcterms:modified xsi:type="dcterms:W3CDTF">2011-08-01T06:04:30Z</dcterms:modified>
  <cp:revision>1</cp:revision>
  <dc:title>Revelacao-de-Essencia-Flavia-Pereira-Muccelin.pptx</dc:title>
</cp:coreProperties>
</file>