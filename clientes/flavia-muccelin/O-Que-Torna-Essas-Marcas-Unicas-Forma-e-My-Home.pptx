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18"/>
    <p:sldId id="275" r:id="rId17"/>
    <p:sldId id="276" r:id="rId16"/>
    <p:sldId id="277" r:id="rId15"/>
    <p:sldId id="278" r:id="rId14"/>
    <p:sldId id="279" r:id="rId13"/>
    <p:sldId id="280" r:id="rId12"/>
    <p:sldId id="281" r:id="rId11"/>
    <p:sldId id="282" r:id="rId10"/>
    <p:sldId id="283" r:id="rId9"/>
    <p:sldId id="284" r:id="rId8"/>
    <p:sldId id="285" r:id="rId7"/>
    <p:sldId id="286" r:id="rId6"/>
    <p:sldId id="287" r:id="rId50"/>
    <p:sldId id="288" r:id="rId51"/>
    <p:sldId id="289" r:id="rId52"/>
    <p:sldId id="290" r:id="rId53"/>
    <p:sldId id="291" r:id="rId54"/>
    <p:sldId id="292" r:id="rId55"/>
    <p:sldId id="293" r:id="rId56"/>
    <p:sldId id="294" r:id="rId57"/>
    <p:sldId id="295" r:id="rId58"/>
    <p:sldId id="296" r:id="rId59"/>
    <p:sldId id="297" r:id="rId60"/>
    <p:sldId id="298" r:id="rId61"/>
    <p:sldId id="299" r:id="rId62"/>
    <p:sldId id="300" r:id="rId63"/>
    <p:sldId id="301" r:id="rId64"/>
    <p:sldId id="302" r:id="rId65"/>
    <p:sldId id="303" r:id="rId66"/>
    <p:sldId id="304" r:id="rId67"/>
    <p:sldId id="305" r:id="rId68"/>
    <p:sldId id="306" r:id="rId69"/>
    <p:sldId id="307" r:id="rId70"/>
    <p:sldId id="308" r:id="rId71"/>
    <p:sldId id="309" r:id="rId72"/>
    <p:sldId id="310" r:id="rId73"/>
    <p:sldId id="311" r:id="rId74"/>
    <p:sldId id="312" r:id="rId75"/>
    <p:sldId id="313" r:id="rId76"/>
    <p:sldId id="314" r:id="rId77"/>
    <p:sldId id="315" r:id="rId78"/>
  </p:sldIdLst>
  <p:sldSz cx="18288000" cy="10287000"/>
  <p:notesSz cx="6858000" cy="9144000"/>
  <p:embeddedFontLst>
    <p:embeddedFont>
      <p:font typeface="Koho" charset="1" panose="00000500000000000000"/>
      <p:regular r:id="rId37"/>
    </p:embeddedFont>
    <p:embeddedFont>
      <p:font typeface="Koho Medium" charset="1" panose="00000600000000000000"/>
      <p:regular r:id="rId38"/>
    </p:embeddedFont>
    <p:embeddedFont>
      <p:font typeface="Outfit 1 Medium" charset="1" panose="00000000000000000000"/>
      <p:regular r:id="rId39"/>
    </p:embeddedFont>
    <p:embeddedFont>
      <p:font typeface="IBM Plex Sans Thai" charset="1" panose="020B0503050203000203"/>
      <p:regular r:id="rId40"/>
    </p:embeddedFont>
    <p:embeddedFont>
      <p:font typeface="Outfit 2 Light" charset="1" panose="00000000000000000000"/>
      <p:regular r:id="rId41"/>
    </p:embeddedFont>
    <p:embeddedFont>
      <p:font typeface="Outfit 2 Medium" charset="1" panose="00000000000000000000"/>
      <p:regular r:id="rId42"/>
    </p:embeddedFont>
    <p:embeddedFont>
      <p:font typeface="Outfit 2 Semi-Bold" charset="1" panose="00000000000000000000"/>
      <p:regular r:id="rId43"/>
    </p:embeddedFont>
    <p:embeddedFont>
      <p:font typeface="Playfair Display" charset="1" panose="02000503000000020003"/>
      <p:regular r:id="rId44"/>
    </p:embeddedFont>
    <p:embeddedFont>
      <p:font typeface="Outfit 1 Bold" charset="1" panose="00000000000000000000"/>
      <p:regular r:id="rId45"/>
    </p:embeddedFont>
    <p:embeddedFont>
      <p:font typeface="Outfit 1" charset="1" panose="00000000000000000000"/>
      <p:regular r:id="rId46"/>
    </p:embeddedFont>
    <p:embeddedFont>
      <p:font typeface="Outfit 1 Semi-Bold" charset="1" panose="00000000000000000000"/>
      <p:regular r:id="rId47"/>
    </p:embeddedFont>
    <p:embeddedFont>
      <p:font typeface="Outfit 1 Light" charset="1" panose="00000000000000000000"/>
      <p:regular r:id="rId48"/>
    </p:embeddedFont>
    <p:embeddedFont>
      <p:font typeface="Outfit 1 Ultra-Bold" charset="1" panose="000000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31.xml"/><Relationship Id="rId7" Type="http://schemas.openxmlformats.org/officeDocument/2006/relationships/slide" Target="slides/slide30.xml"/><Relationship Id="rId8" Type="http://schemas.openxmlformats.org/officeDocument/2006/relationships/slide" Target="slides/slide29.xml"/><Relationship Id="rId9" Type="http://schemas.openxmlformats.org/officeDocument/2006/relationships/slide" Target="slides/slide28.xml"/><Relationship Id="rId10" Type="http://schemas.openxmlformats.org/officeDocument/2006/relationships/slide" Target="slides/slide27.xml"/><Relationship Id="rId11" Type="http://schemas.openxmlformats.org/officeDocument/2006/relationships/slide" Target="slides/slide26.xml"/><Relationship Id="rId12" Type="http://schemas.openxmlformats.org/officeDocument/2006/relationships/slide" Target="slides/slide25.xml"/><Relationship Id="rId13" Type="http://schemas.openxmlformats.org/officeDocument/2006/relationships/slide" Target="slides/slide24.xml"/><Relationship Id="rId14" Type="http://schemas.openxmlformats.org/officeDocument/2006/relationships/slide" Target="slides/slide23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Relationship Id="rId49" Type="http://schemas.openxmlformats.org/officeDocument/2006/relationships/font" Target="fonts/font49.fntdata"/><Relationship Id="rId50" Type="http://schemas.openxmlformats.org/officeDocument/2006/relationships/slide" Target="slides/slide32.xml"/><Relationship Id="rId51" Type="http://schemas.openxmlformats.org/officeDocument/2006/relationships/slide" Target="slides/slide33.xml"/><Relationship Id="rId52" Type="http://schemas.openxmlformats.org/officeDocument/2006/relationships/slide" Target="slides/slide34.xml"/><Relationship Id="rId53" Type="http://schemas.openxmlformats.org/officeDocument/2006/relationships/slide" Target="slides/slide35.xml"/><Relationship Id="rId54" Type="http://schemas.openxmlformats.org/officeDocument/2006/relationships/slide" Target="slides/slide36.xml"/><Relationship Id="rId55" Type="http://schemas.openxmlformats.org/officeDocument/2006/relationships/slide" Target="slides/slide37.xml"/><Relationship Id="rId56" Type="http://schemas.openxmlformats.org/officeDocument/2006/relationships/slide" Target="slides/slide38.xml"/><Relationship Id="rId57" Type="http://schemas.openxmlformats.org/officeDocument/2006/relationships/slide" Target="slides/slide39.xml"/><Relationship Id="rId58" Type="http://schemas.openxmlformats.org/officeDocument/2006/relationships/slide" Target="slides/slide40.xml"/><Relationship Id="rId59" Type="http://schemas.openxmlformats.org/officeDocument/2006/relationships/slide" Target="slides/slide41.xml"/><Relationship Id="rId60" Type="http://schemas.openxmlformats.org/officeDocument/2006/relationships/slide" Target="slides/slide42.xml"/><Relationship Id="rId61" Type="http://schemas.openxmlformats.org/officeDocument/2006/relationships/slide" Target="slides/slide43.xml"/><Relationship Id="rId62" Type="http://schemas.openxmlformats.org/officeDocument/2006/relationships/slide" Target="slides/slide44.xml"/><Relationship Id="rId63" Type="http://schemas.openxmlformats.org/officeDocument/2006/relationships/slide" Target="slides/slide45.xml"/><Relationship Id="rId64" Type="http://schemas.openxmlformats.org/officeDocument/2006/relationships/slide" Target="slides/slide46.xml"/><Relationship Id="rId65" Type="http://schemas.openxmlformats.org/officeDocument/2006/relationships/slide" Target="slides/slide47.xml"/><Relationship Id="rId66" Type="http://schemas.openxmlformats.org/officeDocument/2006/relationships/slide" Target="slides/slide48.xml"/><Relationship Id="rId67" Type="http://schemas.openxmlformats.org/officeDocument/2006/relationships/slide" Target="slides/slide49.xml"/><Relationship Id="rId68" Type="http://schemas.openxmlformats.org/officeDocument/2006/relationships/slide" Target="slides/slide50.xml"/><Relationship Id="rId69" Type="http://schemas.openxmlformats.org/officeDocument/2006/relationships/slide" Target="slides/slide51.xml"/><Relationship Id="rId70" Type="http://schemas.openxmlformats.org/officeDocument/2006/relationships/slide" Target="slides/slide52.xml"/><Relationship Id="rId71" Type="http://schemas.openxmlformats.org/officeDocument/2006/relationships/slide" Target="slides/slide53.xml"/><Relationship Id="rId72" Type="http://schemas.openxmlformats.org/officeDocument/2006/relationships/slide" Target="slides/slide54.xml"/><Relationship Id="rId73" Type="http://schemas.openxmlformats.org/officeDocument/2006/relationships/slide" Target="slides/slide55.xml"/><Relationship Id="rId74" Type="http://schemas.openxmlformats.org/officeDocument/2006/relationships/slide" Target="slides/slide56.xml"/><Relationship Id="rId75" Type="http://schemas.openxmlformats.org/officeDocument/2006/relationships/slide" Target="slides/slide57.xml"/><Relationship Id="rId76" Type="http://schemas.openxmlformats.org/officeDocument/2006/relationships/slide" Target="slides/slide58.xml"/><Relationship Id="rId77" Type="http://schemas.openxmlformats.org/officeDocument/2006/relationships/slide" Target="slides/slide59.xml"/><Relationship Id="rId78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617720"/>
            <a:ext cx="3931920" cy="9344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06840" y="4206240"/>
            <a:ext cx="12802" cy="169164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4434840"/>
            <a:ext cx="4023360" cy="1152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tra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848" y="3364992"/>
            <a:ext cx="1490472" cy="17795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3593592"/>
            <a:ext cx="13551408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8549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O QUE TORNA</a:t>
            </a:r>
          </a:p>
          <a:p>
            <a:pPr algn="l">
              <a:lnSpc>
                <a:spcPts val="8549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ESSAS MARCAS ÚNICAS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6179820"/>
            <a:ext cx="1355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i="0" b="0">
                <a:solidFill>
                  <a:srgbClr val="1C1C1A"/>
                </a:solidFill>
                <a:latin typeface="Outfit 1 Bold"/>
              </a:rPr>
              <a:t>Cultura Organizacional e Cultura de Marca</a:t>
            </a:r>
            <a:r>
              <a:rPr sz="3000" i="0" b="0">
                <a:solidFill>
                  <a:srgbClr val="1C1C1A"/>
                </a:solidFill>
                <a:latin typeface="Outfit 1"/>
              </a:rPr>
              <a:t>  |  FORMA · MY 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5453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64024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889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92640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-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133" y="6494587"/>
            <a:ext cx="3459591" cy="34595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83480" y="7964424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Light"/>
              </a:rPr>
              <a:t>Método </a:t>
            </a:r>
            <a:r>
              <a:rPr sz="2680" i="0" b="0">
                <a:solidFill>
                  <a:srgbClr val="1C1C1A"/>
                </a:solidFill>
                <a:latin typeface="Outfit 2 Semi-Bold"/>
              </a:rPr>
              <a:t>Marca</a:t>
            </a:r>
          </a:p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Semi-Bold"/>
              </a:rPr>
              <a:t>com Essência</a:t>
            </a:r>
            <a:r>
              <a:rPr sz="1470" i="0" b="0">
                <a:solidFill>
                  <a:srgbClr val="1C1C1A"/>
                </a:solidFill>
                <a:latin typeface="Outfit 2"/>
              </a:rPr>
              <a:t>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81564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2729"/>
              </a:lnSpc>
            </a:pPr>
            <a:r>
              <a:rPr sz="1950" i="0" b="0">
                <a:solidFill>
                  <a:srgbClr val="1C1C1A"/>
                </a:solidFill>
                <a:latin typeface="Outfit 1"/>
              </a:rPr>
              <a:t>OUTUBRO/2026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895852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4298188"/>
            <a:ext cx="14081760" cy="159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Uma história que construiu uma cultura.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Uma cultura que sustenta duas marcas.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804672"/>
            <a:ext cx="1426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7800"/>
              </a:lnSpc>
            </a:pPr>
            <a:r>
              <a:rPr sz="7800" i="0" b="0">
                <a:solidFill>
                  <a:srgbClr val="1C1C1A"/>
                </a:solidFill>
                <a:latin typeface="Outfit 1 Ultra-Bold"/>
              </a:rPr>
              <a:t>O CAMINHO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9748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9535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8437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Cultura organizacional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32946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A história, as crenças e os comportamentos que conectam as duas empresas.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18338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4394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43296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Cultura de marca Forma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7805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A capacidade de transformar projetos complexos em confiança.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566928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59253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58155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Cultura de marca My 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62664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A capacidade de transformar possibilidades em criação.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715518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74112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170"/>
              </a:lnSpc>
            </a:pPr>
            <a:r>
              <a:rPr sz="1550" i="0" b="0" spc="240">
                <a:solidFill>
                  <a:srgbClr val="CC754E"/>
                </a:solidFill>
                <a:latin typeface="Outfit 1 Semi-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73014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Síntese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77523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O que compartilham e o que torna cada marca singular.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864108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485070"/>
            <a:ext cx="152476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59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960558"/>
            <a:ext cx="15247620" cy="1349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9185"/>
              </a:lnSpc>
            </a:pPr>
            <a:r>
              <a:rPr sz="8350" i="0" b="0">
                <a:solidFill>
                  <a:srgbClr val="FFFFFF"/>
                </a:solidFill>
                <a:latin typeface="Outfit 1 Bold"/>
              </a:rPr>
              <a:t>CULTURA ORGANIZACIONAL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383086"/>
            <a:ext cx="15247620" cy="623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3827"/>
              </a:lnSpc>
            </a:pPr>
            <a:r>
              <a:rPr sz="3300" i="0" b="0">
                <a:solidFill>
                  <a:srgbClr val="FFFFFF"/>
                </a:solidFill>
                <a:latin typeface="Outfit 1 Light"/>
              </a:rPr>
              <a:t>A história, as crenças e os comportamentos que conectam as duas empresas.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293100"/>
            <a:ext cx="11521440" cy="4119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A oficina com várias pessoas trabalhando ao mesmo tempo. Plano aberto, o coletivo em 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549015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QUE É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CULTURA ORGANIZACIONAL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462653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810125"/>
            <a:ext cx="122529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É o conjunto de crenças, valores e comportamentos que determina como as pessoas pensam, decidem, se relacionam e trabalham, mesmo quando ninguém está dizendo o que fazer.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162173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COMO FOI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MAPEADA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075811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423283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análise cruzou a história da fundadora, entrevistas com oito colaboradores, relatos da liderança e depoimentos de clientes e arquitetos.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641467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Mais do que identificar valores declarados, o objetivo foi compreender quais princípios aparecem nas atitudes e decisões do cotidiano.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13728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QUE FOI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INVESTIGADO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05091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480047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39839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História e origem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540372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500164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Valores e crenças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600697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60489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Liderança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61022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620814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Comportamentos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95460" y="480047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5460" y="439839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Relações internas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5460" y="540372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5460" y="500164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Práticas e rituais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95460" y="600697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5460" y="560489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Tensões culturais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4069715"/>
            <a:ext cx="15247620" cy="1873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3310"/>
              </a:lnSpc>
            </a:pPr>
            <a:r>
              <a:rPr sz="12100" i="0" b="0">
                <a:solidFill>
                  <a:srgbClr val="1C1C1A"/>
                </a:solidFill>
                <a:latin typeface="Outfit 1 Bold"/>
              </a:rPr>
              <a:t>HISTÓRIA E ORIGEM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2920" y="4037838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932920" y="4348734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IMAGEM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32920" y="4915662"/>
            <a:ext cx="576072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origem do ofício: a primeira oficina, uma máquina em operação, ou o lugar onde tudo começou.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267204"/>
            <a:ext cx="845820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NÃO ACEITAR O LIMITE COMO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RESPOSTA DEFINITIVA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3911600"/>
            <a:ext cx="845820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259072"/>
            <a:ext cx="8458200" cy="2313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trajetória profissional e pessoal da Flávia revela o movimento de não aceitar que a posição de funcionária definisse seu futuro, que os padrões das franquias limitassem suas ideias ou que materiais descartados não pudessem ter outro destino.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6810756"/>
            <a:ext cx="845820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Essa mentalidade aparece nas equipes como disposição para buscar soluções, aprender e fazer acontecer.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314573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716909"/>
            <a:ext cx="14081760" cy="2247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As circunstâncias podem estabelecer condições,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mas não precisam determinar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até onde é possível chegar.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933567"/>
            <a:ext cx="118872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crença de origem.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4106799"/>
            <a:ext cx="15247620" cy="1174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7810"/>
              </a:lnSpc>
            </a:pPr>
            <a:r>
              <a:rPr sz="7100" i="0" b="0">
                <a:solidFill>
                  <a:srgbClr val="1C1C1A"/>
                </a:solidFill>
                <a:latin typeface="Outfit 1 Bold"/>
              </a:rPr>
              <a:t>VALORES, CRENÇAS E LIDERANÇA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5354701"/>
            <a:ext cx="15247620" cy="505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2899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As entrevistas revelam uma combinação particular de liberdade, exigência e proximidade humana.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Bold"/>
              </a:rPr>
              <a:t>LIBERDADE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 PARA AGIR.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RESPONSABILIDADE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 PARA ENTREGAR.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36804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71551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989832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AUTONOMIA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916680"/>
            <a:ext cx="9144000" cy="589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Liberdade para encontrar soluções e agir com iniciativa.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57901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853330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COMPROMETIMENTO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780178"/>
            <a:ext cx="9144000" cy="589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Responsabilidade que ultrapassa a tarefa individual.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544250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716829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EXCELÊNCIA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643677"/>
            <a:ext cx="9144000" cy="589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Não aceitar uma entrega que poderia ter sido melhor.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6306007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6580327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COOPERAÇÃO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6507175"/>
            <a:ext cx="9144000" cy="589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Compreender que o resultado depende de muitas mãos.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7169506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7443826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CC754E"/>
                </a:solidFill>
                <a:latin typeface="Outfit 1 Semi-Bold"/>
              </a:rPr>
              <a:t>EVOLUÇÃO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7370674"/>
            <a:ext cx="9144000" cy="589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Aprender continuamente para ampliar o que é possível realizar.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LIDERANÇA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 POR TRÁS DESSA CULTURA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3728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2324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5067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TANYLLO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433572"/>
            <a:ext cx="9144000" cy="10369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Descreve a liberdade de trabalhar sem medo de propor soluções.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54367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817999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PÂMELLA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744847"/>
            <a:ext cx="9144000" cy="10369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Destaca a facilidade de acesso à Flávia, independentemente do cargo.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585495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612927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LETÍCIA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6056122"/>
            <a:ext cx="9144000" cy="10369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Reconhece a iniciativa e a força de vontade como atitudes especialmente valorizadas.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716622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7440549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CC754E"/>
                </a:solidFill>
                <a:latin typeface="Outfit 1 Semi-Bold"/>
              </a:rPr>
              <a:t>A LEITURA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7367397"/>
            <a:ext cx="9144000" cy="592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A liderança é percebida como próxima, exigente e acessível.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237992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640328"/>
            <a:ext cx="14081760" cy="290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O que distingue essa cultura não é apenas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 liberdade oferecida às pessoas.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É a confiança depositada na capacidade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delas de assumir responsabilidades.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4229036"/>
            <a:ext cx="15247620" cy="930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5885"/>
              </a:lnSpc>
            </a:pPr>
            <a:r>
              <a:rPr sz="5350" i="0" b="0">
                <a:solidFill>
                  <a:srgbClr val="1C1C1A"/>
                </a:solidFill>
                <a:latin typeface="Outfit 1 Bold"/>
              </a:rPr>
              <a:t>COMPORTAMENTOS, RELAÇÕES E PRÁTICAS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5232464"/>
            <a:ext cx="15247620" cy="505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2899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Três situações relatadas pelos colaboradores revelam mais do que qualquer declaração de valores.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0980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CULTURA SE REVELA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DIANTE DOS PROBLEMAS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2343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2970911"/>
            <a:ext cx="441960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245231"/>
            <a:ext cx="44196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Resolver · Letícia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982339"/>
            <a:ext cx="4419600" cy="2313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Quando uma peça chega à obra com defeito, a própria equipe se mobiliza para corrigir. Nem toda decisão precisa passar pela liderança.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34200" y="2970911"/>
            <a:ext cx="441960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4200" y="3245231"/>
            <a:ext cx="44196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Cuidar · Mapinha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4200" y="3982339"/>
            <a:ext cx="4419600" cy="409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Em experiências anteriores, presenciou empresas aceitarem peças inadequadas na esperança de que o cliente não percebesse. Na Forma e na My Home, descreve uma orientação diferente: se não ficou bom, é necessário refazer.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56720" y="2970911"/>
            <a:ext cx="441960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56720" y="3245231"/>
            <a:ext cx="44196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Se importar · Joel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56720" y="3982339"/>
            <a:ext cx="4419600" cy="2758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equipe procura ajudar até quando o problema surgiu com outros prestadores de serviço, porque reconhece o desgaste que o cliente já enfrentou durante a obra.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79024" y="1028700"/>
            <a:ext cx="7808976" cy="3506724"/>
          </a:xfrm>
          <a:prstGeom prst="roundRect">
            <a:avLst>
              <a:gd name="adj" fmla="val 4693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45952" y="1595628"/>
            <a:ext cx="6675120" cy="2015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752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“Então a gente tenta</a:t>
            </a:r>
          </a:p>
          <a:p>
            <a:pPr algn="l">
              <a:lnSpc>
                <a:spcPts val="3752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amenizar o máximo possível</a:t>
            </a:r>
          </a:p>
          <a:p>
            <a:pPr algn="l">
              <a:lnSpc>
                <a:spcPts val="3752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[...] pra que ele</a:t>
            </a:r>
          </a:p>
          <a:p>
            <a:pPr algn="l">
              <a:lnSpc>
                <a:spcPts val="3752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não sofra mais.”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3666236"/>
            <a:ext cx="6675120" cy="393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</a:pPr>
            <a:r>
              <a:rPr sz="1700" i="0" b="0">
                <a:solidFill>
                  <a:srgbClr val="6B6B66"/>
                </a:solidFill>
                <a:latin typeface="Outfit 1 Light"/>
              </a:rPr>
              <a:t>Joel, sobre o cliente que já atravessou o desgaste de uma obra.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293100"/>
            <a:ext cx="11521440" cy="4119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A obra em andamento, do ponto de vista de quem mora ali: o ambiente ainda em processo. Imagem ampla.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396615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A DESCOBERTA CULTURAL MAIS PROFUNDA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890391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292727"/>
            <a:ext cx="14081760" cy="159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 responsabilidade não termina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quando a própria tarefa acaba.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851525"/>
            <a:ext cx="118872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Existe uma disposição de cuidar do resultado e das pessoas afetadas por ele.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162173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CRESCIMENTO EXIGE 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EVOLUÇÃO DA CULTURA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075811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423283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cultura foi construída com relações próximas, pessoas experientes e grande capacidade de resolver situações inesperadas.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641467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Mas a expansão exige que essas forças deixem de depender apenas de quem já conhece profundamente o negócio.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68935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QUE SUSTENTA HOJE E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O QUE A ESCALA VAI PEDIR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0299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19811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FORÇAS ATUAIS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319811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220">
                <a:solidFill>
                  <a:srgbClr val="CC754E"/>
                </a:solidFill>
                <a:latin typeface="Outfit 1 Semi-Bold"/>
              </a:rPr>
              <a:t>DESAFIOS DO CRESCIMENTO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3710178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984498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PROXIMIDADE COM A FUNDADORA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911346"/>
            <a:ext cx="9144000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Desenvolver lideranças com os mesmos princípios.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4780026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5054346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LIBERDADE PARA RESOLVER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4981194"/>
            <a:ext cx="914400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Estabelecer critérios e responsabilidades claros.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555269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5827014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AGILIDADE DIANTE DOS PROBLEMAS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5753862"/>
            <a:ext cx="9144000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Criar processos que antecipem dificuldades.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662254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6896862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CONHECIMENTO ACUMULADO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6823710"/>
            <a:ext cx="914400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Transmitir e reproduzir padrões de excelência.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739521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7669530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CC754E"/>
                </a:solidFill>
                <a:latin typeface="Outfit 1 Semi-Bold"/>
              </a:rPr>
              <a:t>UNIÃO ENTRE AS EQUIPES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7596378"/>
            <a:ext cx="9144000" cy="498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Preservar vínculos em estruturas maiores.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7998714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162173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REFLEXÃO CENTRAL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075811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423283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O que hoje é resolvido pela experiência de algumas pessoas precisará se transformar em conhecimento compartilhado.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641467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O que hoje depende de relações próximas precisará ser preservado mesmo com novos funcionários e lideranças.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237992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640328"/>
            <a:ext cx="14081760" cy="290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O maior legado da Flávia não será fazer com que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tudo continue dependendo dela, mas construir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uma organização capaz de preservar seus princípios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sem precisar de sua presença em cada decisão.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497834"/>
            <a:ext cx="15247620" cy="180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2760"/>
              </a:lnSpc>
            </a:pPr>
            <a:r>
              <a:rPr sz="11600" i="0" b="0">
                <a:solidFill>
                  <a:srgbClr val="1C1C1A"/>
                </a:solidFill>
                <a:latin typeface="Outfit 1 Bold"/>
              </a:rPr>
              <a:t>CULTURA DE MARCA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5374386"/>
            <a:ext cx="15247620" cy="1094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7539"/>
              </a:lnSpc>
            </a:pPr>
            <a:r>
              <a:rPr sz="6500" i="0" b="0">
                <a:solidFill>
                  <a:srgbClr val="1C1C1A"/>
                </a:solidFill>
                <a:latin typeface="Outfit 1 Light"/>
              </a:rPr>
              <a:t>Forma · My Home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549015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QUE É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CULTURA DE MARCA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462653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810125"/>
            <a:ext cx="122529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É o conjunto de crenças, valores e significados que orientam a identidade de uma marca e se manifesta em seu comportamento, seus produtos, sua comunicação e na experiência que entrega.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549015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COMO FOI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MAPEADA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462653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810125"/>
            <a:ext cx="122529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Foram cruzados os relatos da Flávia, a trajetória das empresas, as entrevistas com colaboradores, os documentos de identidade verbal e as percepções de clientes e arquitetos.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13728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QUE FOI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ANALISADO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05091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480047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39839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Origem e significado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540372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500164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Valores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600697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60489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Personalidade e expressão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61022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620814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Comportamento da equipe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95460" y="480047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5460" y="439839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Experiência entregue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5460" y="540372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5460" y="500164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Percepção externa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95460" y="6006973"/>
            <a:ext cx="688086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5460" y="5604891"/>
            <a:ext cx="6880860" cy="4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Coerência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320034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A QUESTÃO CENTRAL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813810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216146"/>
            <a:ext cx="14081760" cy="2247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Compreender não apenas o que cada empresa faz,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mas o significado que seu trabalho assume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para as pessoas e o que a diferencia no mercado.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933382"/>
            <a:ext cx="152476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59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408870"/>
            <a:ext cx="15247620" cy="2187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785"/>
              </a:lnSpc>
            </a:pPr>
            <a:r>
              <a:rPr sz="14350" i="0" b="0">
                <a:solidFill>
                  <a:srgbClr val="FFFFFF"/>
                </a:solidFill>
                <a:latin typeface="Outfit 1 Bold"/>
              </a:rPr>
              <a:t>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669598"/>
            <a:ext cx="15247620" cy="888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5916"/>
              </a:lnSpc>
            </a:pPr>
            <a:r>
              <a:rPr sz="5100" i="0" b="0">
                <a:solidFill>
                  <a:srgbClr val="FFFFFF"/>
                </a:solidFill>
                <a:latin typeface="Outfit 1 Light"/>
              </a:rPr>
              <a:t>Cultura de marca · origem, valores e personalidade.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293100"/>
            <a:ext cx="11521440" cy="4119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Um projeto complexo em execução — marcenaria sob medida, encaixe, peça grande em montagem.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27080" y="1303020"/>
            <a:ext cx="6355080" cy="7178040"/>
          </a:xfrm>
          <a:prstGeom prst="roundRect">
            <a:avLst>
              <a:gd name="adj" fmla="val 2589"/>
            </a:avLst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21440" y="3786378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4097274"/>
            <a:ext cx="5166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IMAGEM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4664202"/>
            <a:ext cx="51663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Uma conversa técnica sobre o projeto — prancha, amostra de material, desenho na mesa.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072386"/>
            <a:ext cx="845820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LIBERDADE DE CRIAR EXIGE 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CAPACIDADE DE REALIZAR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3716782"/>
            <a:ext cx="845820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064254"/>
            <a:ext cx="8458200" cy="364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Durante anos, Flávia aprendeu a trabalhar com marcas de móveis consolidadas. Conhecia os sistemas, os padrões e as possibilidades oferecidas por eles. Mas havia algo que a incomodava: saber que uma ideia poderia ser melhor e precisar adaptá-la aos limites de uma marca pronta. Quando assumiu a Forma, encontrou a possibilidade de construir seus próprios padrões e executar projetos com maior liberdade.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237992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640328"/>
            <a:ext cx="14081760" cy="290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 essência da Forma não está apenas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em personalizar móveis.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Está em colocar o conhecimento técnico a serviço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daquilo que cada projeto realmente necessita.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648964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CRENÇA CENTRAL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142740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545076"/>
            <a:ext cx="14081760" cy="159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Uma ideia singular merece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uma execução à sua altura.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04330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OS VALORES E A PERSONALIDADE DA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FORMA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95693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4304411"/>
            <a:ext cx="441960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578731"/>
            <a:ext cx="44196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Valores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315839"/>
            <a:ext cx="441960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Precisão · Personalização · Responsabilidade · Confiança · Evolução técnica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6934200" y="4304411"/>
            <a:ext cx="441960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4200" y="4578731"/>
            <a:ext cx="44196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Personalidade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4200" y="5315839"/>
            <a:ext cx="441960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Segura · Criteriosa · Determinada · Próxima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56720" y="4304411"/>
            <a:ext cx="441960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56720" y="4578731"/>
            <a:ext cx="44196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Expressão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56720" y="5315839"/>
            <a:ext cx="441960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Sofisticação que se comprova na competência, não na ostentação.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847084"/>
            <a:ext cx="15247620" cy="1104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7260"/>
              </a:lnSpc>
            </a:pPr>
            <a:r>
              <a:rPr sz="6600" i="0" b="0">
                <a:solidFill>
                  <a:srgbClr val="1C1C1A"/>
                </a:solidFill>
                <a:latin typeface="Outfit 1 Bold"/>
              </a:rPr>
              <a:t>COMPORTAMENTOS E EXPERIÊNCIA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5025136"/>
            <a:ext cx="15247620" cy="1094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7539"/>
              </a:lnSpc>
            </a:pPr>
            <a:r>
              <a:rPr sz="6500" i="0" b="0">
                <a:solidFill>
                  <a:srgbClr val="1C1C1A"/>
                </a:solidFill>
                <a:latin typeface="Outfit 1 Light"/>
              </a:rPr>
              <a:t>Cultura de marca Forma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13004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VERDADEIRO ALTO PADRÃO É 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TRANQUILIDADE DE QUEM CONFIA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77444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121912"/>
            <a:ext cx="12252960" cy="186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Uma cliente relatou que atravessava o ano mais desafiador de sua vida. Ao agradecer à Forma, não destacou apenas a beleza dos móveis. Disse que o profissionalismo da equipe havia aliviado seu fardo, porque sabia que tudo estava em boas mãos.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6229096"/>
            <a:ext cx="122529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Um projeto de móveis faz parte de um momento importante, mas muitas vezes exaustivo, da vida do cliente. Esse depoimento revela algo profundamente significativo sobre o valor da marca.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825117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CULTURA EM AÇÃO,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A EXPERIÊNCIA ENTREGUE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738755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086227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360547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A cultura em 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097655"/>
            <a:ext cx="6880860" cy="186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Compreender necessidades. Antecipar dificuldades. Respeitar o projeto. Cuidar da casa. Assumir a responsabilidade até a entrega.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95460" y="3086227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0" y="3360547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A experiência entregue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5460" y="4097655"/>
            <a:ext cx="68808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Mais do que um ambiente bonito, a possibilidade de atravessar um processo complexo com segurança e confiança.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33942" y="3397123"/>
            <a:ext cx="19202" cy="2423668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6784" y="6534023"/>
            <a:ext cx="10314432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Forma não elimina todos os imprevistos de uma obra. Mas pode ser a parte dessa experiência em que o cliente encontra cuidado, competência e tranquilidade.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4141724"/>
            <a:ext cx="15247620" cy="1104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7260"/>
              </a:lnSpc>
            </a:pPr>
            <a:r>
              <a:rPr sz="6600" i="0" b="0">
                <a:solidFill>
                  <a:srgbClr val="1C1C1A"/>
                </a:solidFill>
                <a:latin typeface="Outfit 1 Bold"/>
              </a:rPr>
              <a:t>PERCEPÇÃO EXTERNA E COERÊNCIA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5319776"/>
            <a:ext cx="15247620" cy="505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2899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Os depoimentos dos arquitetos revelam uma relação que ultrapassa a contratação de um fornecedor.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VALOR DA FORMA ESTÁ NA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CONFIANÇA QUE CONSTRÓI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36804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71551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989832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JÚLIA MATSUDA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916680"/>
            <a:ext cx="9144000" cy="1164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Destaca a atenção minuciosa aos detalhes e a presença da equipe durante a execução.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5154676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5428996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RODRIGUES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5355844"/>
            <a:ext cx="9144000" cy="1164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Procurava uma empresa que abraçasse a responsabilidade de entregar aquilo que havia sido prometido ao cliente.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59384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6868160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CC754E"/>
                </a:solidFill>
                <a:latin typeface="Outfit 1 Semi-Bold"/>
              </a:rPr>
              <a:t>NATHALY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6795008"/>
            <a:ext cx="9144000" cy="1164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Valoriza a confiança de contar com uma equipe capaz de discutir soluções técnicas e integrar diferentes acabamentos.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566922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969258"/>
            <a:ext cx="14081760" cy="2247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 Forma não é reconhecida somente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pelo produto final, mas pela segurança que oferece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 quem precisa confiar a execução de um projeto.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771265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PONTO DE ATENÇÃO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684903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5032375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expansão industrial não pode transformar a personalização em uma promessa comercial desconectada da experiência.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79024" y="1028700"/>
            <a:ext cx="7808976" cy="2553716"/>
          </a:xfrm>
          <a:prstGeom prst="roundRect">
            <a:avLst>
              <a:gd name="adj" fmla="val 6445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45952" y="1595628"/>
            <a:ext cx="6675120" cy="1062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752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Transformar complexidade</a:t>
            </a:r>
          </a:p>
          <a:p>
            <a:pPr algn="l">
              <a:lnSpc>
                <a:spcPts val="3752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em confiança.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2713228"/>
            <a:ext cx="6675120" cy="393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</a:pPr>
            <a:r>
              <a:rPr sz="1700" i="0" b="0">
                <a:solidFill>
                  <a:srgbClr val="6B6B66"/>
                </a:solidFill>
                <a:latin typeface="Outfit 1 Light"/>
              </a:rPr>
              <a:t>Precisão que realiza. A essência cultural da Forma.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293100"/>
            <a:ext cx="11521440" cy="4119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Um ambiente completo entregue pela Forma. Imagem ampla, que aguente a frase por cima.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933382"/>
            <a:ext cx="152476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59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408870"/>
            <a:ext cx="15247620" cy="2187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785"/>
              </a:lnSpc>
            </a:pPr>
            <a:r>
              <a:rPr sz="14350" i="0" b="0">
                <a:solidFill>
                  <a:srgbClr val="FFFFFF"/>
                </a:solidFill>
                <a:latin typeface="Outfit 1 Bold"/>
              </a:rPr>
              <a:t>MY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669598"/>
            <a:ext cx="15247620" cy="888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5916"/>
              </a:lnSpc>
            </a:pPr>
            <a:r>
              <a:rPr sz="5100" i="0" b="0">
                <a:solidFill>
                  <a:srgbClr val="FFFFFF"/>
                </a:solidFill>
                <a:latin typeface="Outfit 1 Light"/>
              </a:rPr>
              <a:t>Cultura de marca · origem, valores e personalidade.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293100"/>
            <a:ext cx="11521440" cy="4119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A bancada de criação: protótipo, teste de acabamento, peça em desenvolvimento.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4037838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48734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IMAGEM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915662"/>
            <a:ext cx="576072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O material antes de virar produto — a sobra, o retalho, a chapa separada. O ponto de partida.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2155942"/>
            <a:ext cx="960120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ENXERGAR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POSSIBILIDADES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 ONDE OUTROS ENXERGAM LIMITES.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3800338"/>
            <a:ext cx="960120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14781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59"/>
              </a:lnSpc>
            </a:pPr>
            <a:r>
              <a:rPr sz="2400" i="0" b="0">
                <a:solidFill>
                  <a:srgbClr val="6B6B66"/>
                </a:solidFill>
                <a:latin typeface="Outfit 1 Light"/>
              </a:rPr>
              <a:t>Na produção da Forma, materiais eram descartados porque já não tinham aplicação prevista. Para Flávia, aquilo representava uma possibilidade ainda não explorada.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5677418"/>
            <a:ext cx="9601200" cy="2225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359"/>
              </a:lnSpc>
            </a:pPr>
            <a:r>
              <a:rPr sz="2400" i="0" b="0">
                <a:solidFill>
                  <a:srgbClr val="6B6B66"/>
                </a:solidFill>
                <a:latin typeface="Outfit 1 Light"/>
              </a:rPr>
              <a:t>A decisão de guardar e transformar as sobras deu origem a produtos decorativos e a uma nova empresa. Inicialmente, foi necessário convencer a equipe de que aquela ideia poderia funcionar. Com o desenvolvimento da produção, as sobras deixaram de ser suficientes para atender à demanda.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991104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A DESCOBERTA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484880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887216"/>
            <a:ext cx="14081760" cy="290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 My Home não nasceu apenas do reaproveitamento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de materiais. Nasceu da recusa em aceitar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que algo havia perdido seu valor porque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seu uso original havia terminado.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648964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59"/>
              </a:lnSpc>
            </a:pPr>
            <a:r>
              <a:rPr sz="1400" i="0" b="0" spc="300">
                <a:solidFill>
                  <a:srgbClr val="CC754E"/>
                </a:solidFill>
                <a:latin typeface="Outfit 1 Semi-Bold"/>
              </a:rPr>
              <a:t>CRENÇA CENTRAL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142740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545076"/>
            <a:ext cx="14081760" cy="159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Uma possibilidade ainda não explorada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não significa uma possibilidade inexistente.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043301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OS VALORES E A PERSONALIDADE DA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MY HOME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956939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4304411"/>
            <a:ext cx="441960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578731"/>
            <a:ext cx="44196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Valores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315839"/>
            <a:ext cx="441960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Inventividade · Transformação · Originalidade · Qualidade · Acessibilidade · Evolução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6934200" y="4304411"/>
            <a:ext cx="441960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4200" y="4578731"/>
            <a:ext cx="44196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Personalidade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4200" y="5315839"/>
            <a:ext cx="441960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Criativa · Curiosa · Expressiva · Vibrante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56720" y="4304411"/>
            <a:ext cx="441960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56720" y="4578731"/>
            <a:ext cx="44196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Expressão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56720" y="5315839"/>
            <a:ext cx="441960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O prazer de descobrir novas possibilidades para materiais, objetos e ambientes.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847084"/>
            <a:ext cx="15247620" cy="1104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7260"/>
              </a:lnSpc>
            </a:pPr>
            <a:r>
              <a:rPr sz="6600" i="0" b="0">
                <a:solidFill>
                  <a:srgbClr val="1C1C1A"/>
                </a:solidFill>
                <a:latin typeface="Outfit 1 Bold"/>
              </a:rPr>
              <a:t>COMPORTAMENTOS E EXPERIÊNCIA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5025136"/>
            <a:ext cx="15247620" cy="1094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7539"/>
              </a:lnSpc>
            </a:pPr>
            <a:r>
              <a:rPr sz="6500" i="0" b="0">
                <a:solidFill>
                  <a:srgbClr val="1C1C1A"/>
                </a:solidFill>
                <a:latin typeface="Outfit 1 Light"/>
              </a:rPr>
              <a:t>Cultura de marca My Home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9603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CRIATIVIDADE NÃO É IMPROVISAÇÃO. É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TRANSFORMAÇÃO COM CONHECIMENTO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44043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78790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062222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NA MY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989070"/>
            <a:ext cx="9144000" cy="1116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Uma ideia precisa passar pelas mãos e pelo conhecimento de quem sabe transformá-la em algo concreto.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5178806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5453126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LETÍCIA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5379974"/>
            <a:ext cx="9144000" cy="1116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Até o desenho de uma borboleta previsto em um projeto pode se tornar um molde enviado para a produção.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56971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6844030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CC754E"/>
                </a:solidFill>
                <a:latin typeface="Outfit 1 Semi-Bold"/>
              </a:rPr>
              <a:t>WEUDES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6770878"/>
            <a:ext cx="9144000" cy="1116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</a:pPr>
            <a:r>
              <a:rPr sz="1700" i="0" b="0">
                <a:solidFill>
                  <a:srgbClr val="1C1C1A"/>
                </a:solidFill>
                <a:latin typeface="Outfit 1 Light"/>
              </a:rPr>
              <a:t>Processos que exigem concentração, trabalhos manuais minuciosos e acabamentos que não admitem soluções pela metade.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7960614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643503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4045839"/>
            <a:ext cx="14081760" cy="159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 criatividade da My Home também depende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de precisão, técnica e habilidade de execução.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604637"/>
            <a:ext cx="1188720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Uma característica pouco evidente para quem observa somente o produto pronto.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269617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CULTURA EM AÇÃO,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A EXPERIÊNCIA PRETENDIDA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183255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530727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805047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A cultura em 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542155"/>
            <a:ext cx="68808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Experimentar. Encontrar novos usos. Dominar materiais. Transformar ideias em produtos. Aperfeiçoar cada detalhe.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95460" y="3530727"/>
            <a:ext cx="6880860" cy="56693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5460" y="3805047"/>
            <a:ext cx="68808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A experiência pretendida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5460" y="4542155"/>
            <a:ext cx="68808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Surpreender com produtos criativos que acrescentem personalidade, originalidade e novas possibilidades aos ambientes.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33942" y="3841623"/>
            <a:ext cx="19202" cy="1979168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6784" y="6534023"/>
            <a:ext cx="10314432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My Home pode transformar aquilo que parecia comum em algo que desperta um novo olhar.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847084"/>
            <a:ext cx="15247620" cy="1104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7260"/>
              </a:lnSpc>
            </a:pPr>
            <a:r>
              <a:rPr sz="6600" i="0" b="0">
                <a:solidFill>
                  <a:srgbClr val="1C1C1A"/>
                </a:solidFill>
                <a:latin typeface="Outfit 1 Bold"/>
              </a:rPr>
              <a:t>PERCEPÇÃO EXTERNA E COERÊNCIA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5025136"/>
            <a:ext cx="15247620" cy="1094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7539"/>
              </a:lnSpc>
            </a:pPr>
            <a:r>
              <a:rPr sz="6500" i="0" b="0">
                <a:solidFill>
                  <a:srgbClr val="1C1C1A"/>
                </a:solidFill>
                <a:latin typeface="Outfit 1 Light"/>
              </a:rPr>
              <a:t>Cultura de marca My Home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57454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UMA MARCA QUE APRENDEU A CRIAR PARA OUTROS. AGORA PRECISA SER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RECONHECIDA PELO QUE CRIA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218940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566412"/>
            <a:ext cx="122529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My Home já possui uma competência produtiva reconhecida. Arquitetos valorizam sua capacidade de executar detalhes que ampliam as possibilidades dos projetos da Forma.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6229096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Entretanto, as entrevistas revelam uma questão importante sobre sua identidade: Júlio César descreve a My Home como o braço direito da Forma.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79024" y="1028700"/>
            <a:ext cx="7808976" cy="3332480"/>
          </a:xfrm>
          <a:prstGeom prst="roundRect">
            <a:avLst>
              <a:gd name="adj" fmla="val 4939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45952" y="1595628"/>
            <a:ext cx="6675120" cy="153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752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“A My Home [...]</a:t>
            </a:r>
          </a:p>
          <a:p>
            <a:pPr algn="l">
              <a:lnSpc>
                <a:spcPts val="3752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monta o palco</a:t>
            </a:r>
          </a:p>
          <a:p>
            <a:pPr algn="l">
              <a:lnSpc>
                <a:spcPts val="3752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pra Forma dançar.”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3189732"/>
            <a:ext cx="6675120" cy="69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</a:pPr>
            <a:r>
              <a:rPr sz="1700" i="0" b="0">
                <a:solidFill>
                  <a:srgbClr val="6B6B66"/>
                </a:solidFill>
                <a:latin typeface="Outfit 1 Light"/>
              </a:rPr>
              <a:t>Pâmella. A fala não diminui a importância da marca: mostra o quanto sua contribuição permanece associada à outra.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293100"/>
            <a:ext cx="11521440" cy="4119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A produção da My Home em plano aberto — a bancada, as peças em série, o trabalho acontecendo.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162173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DESAFIO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075811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423283"/>
            <a:ext cx="122529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Preservar a capacidade de apoiar a Forma, mas conquistar reconhecimento independente por seus próprios produtos, sua criatividade e sua experiência de compra.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6085967"/>
            <a:ext cx="12252960" cy="535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confiança no e-commerce também precisará ser fortalecida.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79024" y="1028700"/>
            <a:ext cx="7808976" cy="2553716"/>
          </a:xfrm>
          <a:prstGeom prst="roundRect">
            <a:avLst>
              <a:gd name="adj" fmla="val 6445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45952" y="1595628"/>
            <a:ext cx="6675120" cy="1062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752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Transformar possibilidades</a:t>
            </a:r>
          </a:p>
          <a:p>
            <a:pPr algn="l">
              <a:lnSpc>
                <a:spcPts val="3752"/>
              </a:lnSpc>
            </a:pPr>
            <a:r>
              <a:rPr sz="2800" i="0" b="0">
                <a:solidFill>
                  <a:srgbClr val="1C1C1A"/>
                </a:solidFill>
                <a:latin typeface="Outfit 1 Light"/>
              </a:rPr>
              <a:t>em criação.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2713228"/>
            <a:ext cx="6675120" cy="393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79"/>
              </a:lnSpc>
            </a:pPr>
            <a:r>
              <a:rPr sz="1700" i="0" b="0">
                <a:solidFill>
                  <a:srgbClr val="6B6B66"/>
                </a:solidFill>
                <a:latin typeface="Outfit 1 Light"/>
              </a:rPr>
              <a:t>Criatividade que transforma. A essência cultural da My Home.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293100"/>
            <a:ext cx="11521440" cy="4119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Um produto My Home em destaque no ambiente. Imagem ampla, que aguente a frase por cima.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962846"/>
            <a:ext cx="152476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959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438334"/>
            <a:ext cx="15247620" cy="2187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5785"/>
              </a:lnSpc>
            </a:pPr>
            <a:r>
              <a:rPr sz="14350" i="0" b="0">
                <a:solidFill>
                  <a:srgbClr val="FFFFFF"/>
                </a:solidFill>
                <a:latin typeface="Outfit 1 Bold"/>
              </a:rPr>
              <a:t>SÍNTESE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699062"/>
            <a:ext cx="15247620" cy="829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5452"/>
              </a:lnSpc>
            </a:pPr>
            <a:r>
              <a:rPr sz="4700" i="0" b="0">
                <a:solidFill>
                  <a:srgbClr val="FFFFFF"/>
                </a:solidFill>
                <a:latin typeface="Outfit 1 Light"/>
              </a:rPr>
              <a:t>O que compartilham e o que torna cada marca singular.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293100"/>
            <a:ext cx="11521440" cy="4119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   </a:t>
            </a:r>
            <a:r>
              <a:rPr sz="1700" i="0" b="0">
                <a:solidFill>
                  <a:srgbClr val="C9C7C0"/>
                </a:solidFill>
                <a:latin typeface="Outfit 1 Light"/>
              </a:rPr>
              <a:t>O time completo das duas operações, ou o ambiente de trabalho cheio de gente. Plano aberto.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939923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UMA ORIGEM.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DUAS FORMAS DE TRANSFORMAR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853561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201033"/>
            <a:ext cx="12252960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A trajetória de Flávia revela uma constante: recusar que as circunstâncias determinem todas as possibilidades do futuro.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419217"/>
            <a:ext cx="12252960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6B6B66"/>
                </a:solidFill>
                <a:latin typeface="Outfit 1 Light"/>
              </a:rPr>
              <a:t>Essa mentalidade contribuiu para construir uma cultura organizacional marcada pela iniciativa, pela proximidade humana e pela responsabilidade com o resultado. Mas encontrou expressões distintas em cada marca.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10050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4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UMA CULTURA COMPARTILHADA. </a:t>
            </a:r>
            <a:r>
              <a:rPr sz="4200" i="0" b="0">
                <a:solidFill>
                  <a:srgbClr val="1C1C1A"/>
                </a:solidFill>
                <a:latin typeface="Outfit 1 Bold"/>
              </a:rPr>
              <a:t>DUAS EXPRESSÕES</a:t>
            </a:r>
            <a:r>
              <a:rPr sz="4200" i="0" b="0">
                <a:solidFill>
                  <a:srgbClr val="1C1C1A"/>
                </a:solidFill>
                <a:latin typeface="Outfit 1 Light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37282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2324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5067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CULTURA ORGANIZACIONAL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433572"/>
            <a:ext cx="91440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Liberdade para encontrar caminhos. Responsabilidade pelo resultado coletivo.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8326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51069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1C1C1A"/>
                </a:solidFill>
                <a:latin typeface="Outfit 1 Semi-Bold"/>
              </a:rPr>
              <a:t>FORMA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5033772"/>
            <a:ext cx="91440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O conhecimento e a liberdade técnica transformam projetos complexos em confiança.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432804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6707124"/>
            <a:ext cx="475488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i="0" b="0" spc="282">
                <a:solidFill>
                  <a:srgbClr val="CC754E"/>
                </a:solidFill>
                <a:latin typeface="Outfit 1 Semi-Bold"/>
              </a:rPr>
              <a:t>MY HOME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6633972"/>
            <a:ext cx="91440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A inventividade e a capacidade de execução transformam possibilidades em novas criações.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237992"/>
            <a:ext cx="1188720" cy="27432"/>
          </a:xfrm>
          <a:prstGeom prst="rect">
            <a:avLst/>
          </a:prstGeom>
          <a:solidFill>
            <a:srgbClr val="CC7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640328"/>
            <a:ext cx="14081760" cy="290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O que conecta as duas marcas não é apenas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a história de quem as construiu.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É a convicção de que sempre existe algo mais</a:t>
            </a:r>
          </a:p>
          <a:p>
            <a:pPr algn="l">
              <a:lnSpc>
                <a:spcPts val="5180"/>
              </a:lnSpc>
            </a:pPr>
            <a:r>
              <a:rPr sz="3700" i="0" b="0">
                <a:solidFill>
                  <a:srgbClr val="323330"/>
                </a:solidFill>
                <a:latin typeface="Outfit 1 Light"/>
              </a:rPr>
              <a:t>que pode ser feito, criado ou transformado.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2651760"/>
            <a:ext cx="13716000" cy="162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0640"/>
              </a:lnSpc>
            </a:pPr>
            <a:r>
              <a:rPr sz="9500" i="0" b="0">
                <a:solidFill>
                  <a:srgbClr val="1C1C1A"/>
                </a:solidFill>
                <a:latin typeface="Outfit 1 Light"/>
              </a:rPr>
              <a:t>OBRIGADA!</a:t>
            </a:r>
          </a:p>
        </p:txBody>
      </p:sp>
      <p:pic>
        <p:nvPicPr>
          <p:cNvPr id="4" name="Picture 3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5257800"/>
            <a:ext cx="4421124" cy="10507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0" y="5257800"/>
            <a:ext cx="12802" cy="114300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445" y="5312664"/>
            <a:ext cx="3291840" cy="942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DAHVOuCspjk</dc:identifier>
  <dcterms:modified xsi:type="dcterms:W3CDTF">2011-08-01T06:04:30Z</dcterms:modified>
  <cp:revision>1</cp:revision>
  <dc:title>Revelacao-de-Essencia-Flavia-Pereira-Muccelin.pptx</dc:title>
</cp:coreProperties>
</file>