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O QUE DEFINE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ESTA CULTURA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Organizacional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8629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88633"/>
            <a:ext cx="14081760" cy="22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1C1C1A"/>
                </a:solidFill>
                <a:latin typeface="Outfit 1 Light"/>
              </a:rPr>
              <a:t>O que conecta as duas empresas,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1C1C1A"/>
                </a:solidFill>
                <a:latin typeface="Outfit 1 Light"/>
              </a:rPr>
              <a:t>como elas trabalham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1C1C1A"/>
                </a:solidFill>
                <a:latin typeface="Outfit 1 Light"/>
              </a:rPr>
              <a:t>e o que precisa ser preservado no crescimento.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A CULTURA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De onde vem o jeito de pensar.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8862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14223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3250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valores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48335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Aquilo em que a empresa acredita e como ela lidera.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33095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22122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jeito de trabalhar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67207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comportamentos e as relações que a definem.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2636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1967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40994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cultura na prática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86079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Como as crenças aparecem no dia a dia.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745236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70839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759866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futuro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804951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preservar e o que desenvolver.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De onde vem o jeito de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origem do ofício: a primeira oficina, uma foto antiga da Flávia trabalhando, ou o lugar onde tudo começou.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oficina da FORMA em trabalho — marcenaria, máquina, material, mãos. O ofício, não o retrato.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ACEITAR O LIMITE COMO RESPOSTA DEFINITIVA.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cultura da Forma e da My Home tem origem na trajetória da Flávia e em sua capacidade de encontrar alternativas diante das limitações.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Essa mentalidade ultrapassou sua história pessoal e passou a influenciar as empresas e as pessoas que trabalham nelas.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nasceu como uma característica da fundadora tornou-se um jeito coletivo de enfrentar desafios.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15361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555947"/>
            <a:ext cx="14081760" cy="25564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833" i="0" b="0">
                <a:solidFill>
                  <a:srgbClr val="1C1C1A"/>
                </a:solidFill>
                <a:latin typeface="Outfit 1 Light"/>
              </a:rPr>
              <a:t>Diante de uma dificuldade,</a:t>
            </a:r>
          </a:p>
          <a:p>
            <a:pPr algn="l">
              <a:lnSpc>
                <a:spcPct val="126000"/>
              </a:lnSpc>
            </a:pPr>
            <a:r>
              <a:rPr sz="3833" i="0" b="0">
                <a:solidFill>
                  <a:srgbClr val="1C1C1A"/>
                </a:solidFill>
                <a:latin typeface="Outfit 1 Light"/>
              </a:rPr>
              <a:t>a empresa não se limita ao problema.</a:t>
            </a:r>
          </a:p>
          <a:p>
            <a:pPr algn="l">
              <a:lnSpc>
                <a:spcPct val="126000"/>
              </a:lnSpc>
            </a:pPr>
            <a:r>
              <a:rPr sz="3833" i="0" b="0">
                <a:solidFill>
                  <a:srgbClr val="1C1C1A"/>
                </a:solidFill>
                <a:latin typeface="Outfit 1 Light"/>
              </a:rPr>
              <a:t>Procura possibilidades para resolvê-lo.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76038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de origem.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OS VALORES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Aquilo em que a empresa acredita e como ela lidera.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Alguém da equipe concentrado no trabalho — o cuidado aparecendo na mão e no olhar. Plano fechado.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LIBERDADE PARA AGIR. RESPONSABILIDADE PARA ENTREGAR.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620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99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COMPROMETIMENTO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26616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Responsabilidade pelo resultado, não apenas pela tarefa.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6162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5396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80812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Liberdade para propor, decidir e solucionar.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47041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081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635008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Nada é entregue quando ainda pode ser melhor.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32461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56235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489204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 resultado depende do trabalho de todos.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788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4165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EVOLUÇÃO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343400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Aprender, melhorar e ampliar as possibilidades.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9793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00267"/>
            <a:ext cx="14081760" cy="1654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477" i="0" b="0">
                <a:solidFill>
                  <a:srgbClr val="1C1C1A"/>
                </a:solidFill>
                <a:latin typeface="Outfit 1 Light"/>
              </a:rPr>
              <a:t>Não basta saber fazer.</a:t>
            </a:r>
          </a:p>
          <a:p>
            <a:pPr algn="l">
              <a:lnSpc>
                <a:spcPct val="126000"/>
              </a:lnSpc>
            </a:pPr>
            <a:r>
              <a:rPr sz="3477" i="0" b="0">
                <a:solidFill>
                  <a:srgbClr val="1C1C1A"/>
                </a:solidFill>
                <a:latin typeface="Outfit 1 Light"/>
              </a:rPr>
              <a:t>É preciso se envolver para fazer acontecer.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31717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em conversa de trabalho — chão de fábrica, mesa ou obra. Liderança próxima,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73716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PROXIMIDADE QUE ACOLHE. CONFIANÇA QUE DÁ AUTONOMIA.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564624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912096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As entrevistas revelam uma liderança reconhecida pela acessibilidade, pelo conhecimento técnico e pela exigência com os resultados.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67263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Flávia construiu relações próximas, nas quais as pessoas encontram espaço para conversar, aprender e agir.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0570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08045"/>
            <a:ext cx="14081760" cy="24451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Seu maior legado cultural não está apenas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naquilo que ela realiza, mas na maneira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como incentiva outras pessoas a realizar.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23939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desafio é fazer com que esses princípios sejam compartilhados pelas futuras lideranças.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O JEITO DE TRABALHAR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Os comportamentos e as relações que a definem.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oficina em movimento, com várias pessoas trabalhando ao mesmo tempo. Plano aberto, o coletivo em 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3736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PROBLEMA NÃO DEIXA DE IMPORTAR PORQUE COMEÇOU EM OUTRO LUGAR.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28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22449"/>
            <a:ext cx="44196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Tomar iniciativa diante dos desafios.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Cuidar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722449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Não aceitar uma entrega abaixo do padrão esperado.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Colaborar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722449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Ajudar outras pessoas e áreas para alcançar o resultado.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6103315"/>
            <a:ext cx="1225296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Letícia relata correções feitas pela própria equipe, Mapinha descreve peças refeitas por não atenderem ao padrão e Joel destaca o envolvimento com problemas que afetam o cliente, mesmo quando surgem de terceiros. A responsabilidade vai além da execução individual: alcança o resultado construído em conjunto.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Duas ou três pessoas da equipe conversando no trabalho — proximidade real, sem pose. Pode ser um momento de pausa.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873716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PROXIMIDADE É UMA FORÇA DESTA CULTURA.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64624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912096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As pessoas descrevem um ambiente marcado por acolhimento, confiança e facilidade de acesso à liderança.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167263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união não aparece apenas como sentimento. Ela facilita a comunicação, a colaboração e a resolução de problemas.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1333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15670"/>
            <a:ext cx="14081760" cy="274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O diferencial não é trabalhar como uma família,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mas construir relações humanas em que as pessoas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se sintam respeitadas e responsáveis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umas pelas outras.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53324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crescimento deve preservar esse vínculo, sem abrir mão do profissionalismo e da clareza de responsabilidades.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A CULTURA NA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Como as crenças aparecem no dia a dia.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Uma montagem na casa do cliente, ou a equipe protegendo o ambiente antes de começar. O cuidado em ato.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5228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APARECE NAS PEQUENAS DECISÕES.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78917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24408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136646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Uma peça é refeita porque não ficou boa.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38022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3694847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Um colaborador resolve um problema sem esperar uma ordem.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43604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4253047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 equipe protege e cuida da casa do cliente.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491869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4811248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Colegas de diferentes áreas se ajudam.</a:t>
            </a:r>
          </a:p>
        </p:txBody>
      </p:sp>
      <p:sp>
        <p:nvSpPr>
          <p:cNvPr id="14" name="Oval 13"/>
          <p:cNvSpPr/>
          <p:nvPr/>
        </p:nvSpPr>
        <p:spPr>
          <a:xfrm>
            <a:off x="2018538" y="547689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5369448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 liderança mantém o diálogo aberto.</a:t>
            </a:r>
          </a:p>
        </p:txBody>
      </p:sp>
      <p:sp>
        <p:nvSpPr>
          <p:cNvPr id="16" name="Oval 15"/>
          <p:cNvSpPr/>
          <p:nvPr/>
        </p:nvSpPr>
        <p:spPr>
          <a:xfrm>
            <a:off x="2018538" y="6035091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0592" y="5927649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Os encontros e as celebrações fortalecem os vínculos.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91437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conecta essas atitudes é a combinação de responsabilidade com o trabalho e cuidado com as pessoas. É assim que valores deixam de ser palavras e se transformam em cultura.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O FUTURO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que preservar e o que desenvolver.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entregue, pronto e em uso — o resultado. Ou a fachada/expansão das empresas. Imagem de horizonte.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CRESCER SEM PERDER O QUE TORNA ESTAS EMPRESAS DIFERENTES.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76202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QUE PRESERVAR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762024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O QUE DESENVOLVER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27408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51183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PROXIMIDADE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438680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Lideranças capazes de manter os mesmos princípios.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03784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27558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202433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Critérios e responsabilidades compartilhados.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80159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603933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AGILIDADE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966186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Processos que evitem problemas recorrentes.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56534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80309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6729938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Padrões que possam ser ensinados e reproduzidos.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32909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566843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COOPERAÇÃO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7493691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Integração com papéis claros entre as operações.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95006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352405"/>
            <a:ext cx="14081760" cy="3481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O desafio não é mudar a essência.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É fazer com que ela continue presente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quando as empresas crescerem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e novas pessoas chegarem.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trabalho acontecendo: mãos, ferramenta, acabamento, montagem. Detalhe fechado, sem rosto.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96709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CULTURA QUE SE CONSTRÓI COM PESSOAS E SE COMPROVA NAS ENTREGAS.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94163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528910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e a My Home compartilham uma cultura de proximidade, autonomia e responsabilidade.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54427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Uma cultura em que as pessoas são incentivadas a encontrar soluções, colaborar e buscar o melhor resultado possível.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0868"/>
            <a:ext cx="14081760" cy="289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Liberdade para encontrar caminhos.</a:t>
            </a:r>
          </a:p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Responsabilidade pelo que</a:t>
            </a:r>
          </a:p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se constrói em conjunto.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587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2331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O princípio cultural das duas marcas. Uma cultura organizacional compartilhada.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O time completo das duas operações. Imagem ampla, que aguente a frase por cima.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