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O QUE NOS TORNA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QUEM SOMOS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Cultura Organizacional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FORMA e My Home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44118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43520"/>
            <a:ext cx="14081760" cy="2499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1C1C1A"/>
                </a:solidFill>
                <a:latin typeface="Outfit 1 Light"/>
              </a:rPr>
              <a:t>O que nos conecta,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1C1C1A"/>
                </a:solidFill>
                <a:latin typeface="Outfit 1 Light"/>
              </a:rPr>
              <a:t>como trabalhamos</a:t>
            </a:r>
          </a:p>
          <a:p>
            <a:pPr algn="l">
              <a:lnSpc>
                <a:spcPct val="126000"/>
              </a:lnSpc>
            </a:pPr>
            <a:r>
              <a:rPr sz="3737" i="0" b="0">
                <a:solidFill>
                  <a:srgbClr val="1C1C1A"/>
                </a:solidFill>
                <a:latin typeface="Outfit 1 Light"/>
              </a:rPr>
              <a:t>e o que precisamos preservar ao crescer.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NOSSA CULTURA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Nossa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De onde vem nosso jeito de pensar.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88620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14223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403250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Nossos valores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48335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Aquilo em que acreditamos e como lideramos.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0749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33095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522122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Nosso jeito de trabalhar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67207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comportamentos e as relações que nos definem.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26364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1967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640994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Nossa cultura na prática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86079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Como nossas crenças aparecem no dia a dia.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745236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70839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759866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Nosso futuro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804951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precisamos preservar e desenvolver.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NOSSA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De onde vem nosso jeito de pensar.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origem do ofício: a primeira oficina, uma foto antiga da Flávia trabalhando, ou o lugar onde tudo começou.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oficina da FORMA em trabalho — marcenaria, máquina, material, mãos. O ofício, não o retrato.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24613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NÃO ACEITAR O LIMITE COMO RESPOSTA DEFINITIVA.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93704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28451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cultura da Forma e da My Home tem origem na trajetória da Flávia e em sua capacidade de encontrar alternativas diante das limitações.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5539679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Essa mentalidade ultrapassou sua história pessoal e passou a influenciar as empresas e as pessoas que trabalham nelas.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6794845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nasceu como uma característica da fundadora tornou-se um jeito coletivo de enfrentar desafios.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298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32234"/>
            <a:ext cx="14081760" cy="2393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559" i="0" b="0">
                <a:solidFill>
                  <a:srgbClr val="1C1C1A"/>
                </a:solidFill>
                <a:latin typeface="Outfit 1 Light"/>
              </a:rPr>
              <a:t>Diante de uma dificuldade,</a:t>
            </a:r>
          </a:p>
          <a:p>
            <a:pPr algn="l">
              <a:lnSpc>
                <a:spcPct val="126000"/>
              </a:lnSpc>
            </a:pPr>
            <a:r>
              <a:rPr sz="3559" i="0" b="0">
                <a:solidFill>
                  <a:srgbClr val="1C1C1A"/>
                </a:solidFill>
                <a:latin typeface="Outfit 1 Light"/>
              </a:rPr>
              <a:t>não nos limitamos ao problema.</a:t>
            </a:r>
          </a:p>
          <a:p>
            <a:pPr algn="l">
              <a:lnSpc>
                <a:spcPct val="126000"/>
              </a:lnSpc>
            </a:pPr>
            <a:r>
              <a:rPr sz="3559" i="0" b="0">
                <a:solidFill>
                  <a:srgbClr val="1C1C1A"/>
                </a:solidFill>
                <a:latin typeface="Outfit 1 Light"/>
              </a:rPr>
              <a:t>Procuramos possibilidades para resolvê-lo.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99751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nossa crença de origem.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NOSSOS VALORES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Aquilo em que acreditamos e como lideramos.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Alguém da equipe concentrado no trabalho — o cuidado aparecendo na mão e no olhar. Plano fechado.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LIBERDADE PARA AGIR. RESPONSABILIDADE PARA ENTREGAR.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1455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6202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99976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COMPROMETIMENTO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926616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Assumimos responsabilidade pelo resultado, não apenas pela tarefa.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61622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85396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4780812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Temos liberdade para propor, decidir e solucionar.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547041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570816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5635008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Não aceitamos entregar aquilo que sabemos que pode ser melhor.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632461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656235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COOPERAÇÃO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6489204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Entendemos que o resultado depende do trabalho de todos.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788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4165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EVOLUÇÃO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7343400"/>
            <a:ext cx="9144000" cy="6164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Buscamos aprender, melhorar e ampliar nossas possibilidades.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9793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00267"/>
            <a:ext cx="14081760" cy="1654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477" i="0" b="0">
                <a:solidFill>
                  <a:srgbClr val="1C1C1A"/>
                </a:solidFill>
                <a:latin typeface="Outfit 1 Light"/>
              </a:rPr>
              <a:t>Não basta saber fazer.</a:t>
            </a:r>
          </a:p>
          <a:p>
            <a:pPr algn="l">
              <a:lnSpc>
                <a:spcPct val="126000"/>
              </a:lnSpc>
            </a:pPr>
            <a:r>
              <a:rPr sz="3477" i="0" b="0">
                <a:solidFill>
                  <a:srgbClr val="1C1C1A"/>
                </a:solidFill>
                <a:latin typeface="Outfit 1 Light"/>
              </a:rPr>
              <a:t>É preciso se envolver para fazer acontecer.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631717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nossa crença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Flávia com a equipe, em conversa de trabalho — chão de fábrica, mesa ou obra. Liderança próxima, não retrato posado.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873716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PROXIMIDADE QUE ACOLHE. CONFIANÇA QUE DÁ AUTONOMIA.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564624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4912096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As entrevistas revelam uma liderança reconhecida pela acessibilidade, pelo conhecimento técnico e pela exigência com os resultados.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167263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Flávia construiu relações próximas, nas quais as pessoas encontram espaço para conversar, aprender e agir.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20570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608045"/>
            <a:ext cx="14081760" cy="24451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Seu maior legado cultural não está apenas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naquilo que ela realiza, mas na maneira</a:t>
            </a:r>
          </a:p>
          <a:p>
            <a:pPr algn="l">
              <a:lnSpc>
                <a:spcPct val="126000"/>
              </a:lnSpc>
            </a:pPr>
            <a:r>
              <a:rPr sz="3646" i="0" b="0">
                <a:solidFill>
                  <a:srgbClr val="1C1C1A"/>
                </a:solidFill>
                <a:latin typeface="Outfit 1 Light"/>
              </a:rPr>
              <a:t>como incentiva outras pessoas a realizar.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023939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desafio é fazer com que esses princípios sejam compartilhados pelas futuras lideranças.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NOSSO JEITO DE TRABALHAR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Os comportamentos e as relações que nos definem.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A oficina em movimento, com várias pessoas trabalhando ao mesmo tempo. Plano aberto, o coletivo em 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3736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PROBLEMA NÃO DEIXA DE IMPORTAR PORQUE COMEÇOU EM OUTRO LUGAR.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428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Resolver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722449"/>
            <a:ext cx="44196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Tomar iniciativa diante dos desafios.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3420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420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Cuidar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34200" y="4722449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Não aceitar uma entrega abaixo do padrão esperado.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56720" y="3775740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56720" y="4031772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Colaborar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56720" y="4722449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Ajudar outras pessoas e áreas para alcançar o resultado.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6103315"/>
            <a:ext cx="12252960" cy="19434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Letícia relata correções feitas pela própria equipe, Mapinha descreve peças refeitas por não atenderem ao padrão e Joel destaca o envolvimento com problemas que afetam o cliente, mesmo quando surgem de terceiros. Nossa responsabilidade vai além da execução individual: ela alcança o resultado que construímos juntos.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33856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93292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93292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3292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Duas ou três pessoas da equipe conversando no trabalho — proximidade real, sem pose. Pode ser um momento de pausa.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873716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PROXIMIDADE É UMA FORÇA DA NOSSA CULTURA.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564624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912096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As pessoas descrevem um ambiente marcado por acolhimento, confiança e facilidade de acesso à liderança.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6167263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união não aparece apenas como sentimento. Ela facilita a comunicação, a colaboração e a resolução de problemas.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81333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215670"/>
            <a:ext cx="14081760" cy="27466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O diferencial não é trabalhar como uma família,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mas construir relações humanas em que as pessoas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se sintam respeitadas e responsáveis</a:t>
            </a:r>
          </a:p>
          <a:p>
            <a:pPr algn="l">
              <a:lnSpc>
                <a:spcPct val="126000"/>
              </a:lnSpc>
            </a:pPr>
            <a:r>
              <a:rPr sz="3114" i="0" b="0">
                <a:solidFill>
                  <a:srgbClr val="1C1C1A"/>
                </a:solidFill>
                <a:latin typeface="Outfit 1 Light"/>
              </a:rPr>
              <a:t>umas pelas outras.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953324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crescimento deve preservar esse vínculo, sem abrir mão do profissionalismo e da clareza de responsabilidades.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61655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165193"/>
            <a:ext cx="12801600" cy="1122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i="0" b="0">
                <a:solidFill>
                  <a:srgbClr val="FFFFFF"/>
                </a:solidFill>
                <a:latin typeface="Outfit 1 Light"/>
              </a:rPr>
              <a:t>NOSSA CULTURA NA PRÁTICA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546953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21273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Como nossas crenças aparecem no dia a dia.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Uma montagem na casa do cliente, ou a equipe protegendo o ambiente antes de começar. O cuidado em ato.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5228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A CULTURA APARECE NAS PEQUENAS DECISÕES.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78917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18538" y="3244088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0592" y="3136646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Uma peça é refeita porque não ficou boa.</a:t>
            </a:r>
          </a:p>
        </p:txBody>
      </p:sp>
      <p:sp>
        <p:nvSpPr>
          <p:cNvPr id="8" name="Oval 7"/>
          <p:cNvSpPr/>
          <p:nvPr/>
        </p:nvSpPr>
        <p:spPr>
          <a:xfrm>
            <a:off x="2018538" y="38022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50592" y="3694847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Um colaborador resolve um problema sem esperar uma ordem.</a:t>
            </a:r>
          </a:p>
        </p:txBody>
      </p:sp>
      <p:sp>
        <p:nvSpPr>
          <p:cNvPr id="10" name="Oval 9"/>
          <p:cNvSpPr/>
          <p:nvPr/>
        </p:nvSpPr>
        <p:spPr>
          <a:xfrm>
            <a:off x="2018538" y="43604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4253047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 equipe protege e cuida da casa do cliente.</a:t>
            </a:r>
          </a:p>
        </p:txBody>
      </p:sp>
      <p:sp>
        <p:nvSpPr>
          <p:cNvPr id="12" name="Oval 11"/>
          <p:cNvSpPr/>
          <p:nvPr/>
        </p:nvSpPr>
        <p:spPr>
          <a:xfrm>
            <a:off x="2018538" y="491869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4811248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Colegas de diferentes áreas se ajudam.</a:t>
            </a:r>
          </a:p>
        </p:txBody>
      </p:sp>
      <p:sp>
        <p:nvSpPr>
          <p:cNvPr id="14" name="Oval 13"/>
          <p:cNvSpPr/>
          <p:nvPr/>
        </p:nvSpPr>
        <p:spPr>
          <a:xfrm>
            <a:off x="2018538" y="5476890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0592" y="5369448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A liderança mantém o diálogo aberto.</a:t>
            </a:r>
          </a:p>
        </p:txBody>
      </p:sp>
      <p:sp>
        <p:nvSpPr>
          <p:cNvPr id="16" name="Oval 15"/>
          <p:cNvSpPr/>
          <p:nvPr/>
        </p:nvSpPr>
        <p:spPr>
          <a:xfrm>
            <a:off x="2018538" y="6035091"/>
            <a:ext cx="77724" cy="77724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50592" y="5927649"/>
            <a:ext cx="11448288" cy="5112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Os encontros e as celebrações fortalecem os vínculos.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6914378"/>
            <a:ext cx="1225296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conecta essas atitudes é a combinação de responsabilidade com o trabalho e cuidado com as pessoas. É assim que valores deixam de ser palavras e se transformam em cultura.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41182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96046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FFFFFF"/>
                </a:solidFill>
                <a:latin typeface="Outfit 1 Light"/>
              </a:rPr>
              <a:t>NOSSO FUTURO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751677"/>
            <a:ext cx="14264640" cy="10973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02599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FFFFFF"/>
                </a:solidFill>
                <a:latin typeface="Outfit 1 Light"/>
              </a:rPr>
              <a:t>O que precisamos preservar e desenvolver.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845755"/>
            <a:ext cx="11521440" cy="85933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Um ambiente entregue, pronto e em uso — o resultado. Ou a fachada/expansão das empresas. Imagem de horizonte.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236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CRESCER SEM PERDER O QUE NOS TORNA DIFERENTES.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605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23240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QUE PRECISAMOS PRESERVAR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3232404"/>
            <a:ext cx="9144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O QUE PRECISAMOS DESENVOLVER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37444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398221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PROXIMIDADE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909060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Lideranças capazes de manter os mesmos princípios.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602175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4839919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AUTONOMIA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4766767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Critérios e responsabilidades compartilhados.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54598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69762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AGILIDADE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624474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Processos que evitem problemas recorrentes.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631759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655533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EXCELÊNCIA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6482182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Padrões que possam ser ensinados e reproduzidos.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17529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413041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COOPERAÇÃO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7339889"/>
            <a:ext cx="9144000" cy="6199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Integração com papéis claros entre as operações.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803300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295006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352405"/>
            <a:ext cx="14081760" cy="3481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O desafio não é mudar nossa essência.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É fazer com que ela continue presente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quando as empresas crescerem</a:t>
            </a:r>
          </a:p>
          <a:p>
            <a:pPr algn="l">
              <a:lnSpc>
                <a:spcPct val="126000"/>
              </a:lnSpc>
            </a:pPr>
            <a:r>
              <a:rPr sz="4040" i="0" b="0">
                <a:solidFill>
                  <a:srgbClr val="1C1C1A"/>
                </a:solidFill>
                <a:latin typeface="Outfit 1 Light"/>
              </a:rPr>
              <a:t>e novas pessoas chegarem.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949440" cy="10287000"/>
          </a:xfrm>
          <a:prstGeom prst="rect">
            <a:avLst/>
          </a:prstGeom>
          <a:solidFill>
            <a:srgbClr val="E9E5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4010101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4320997"/>
            <a:ext cx="5760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IMAGEM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87925"/>
            <a:ext cx="576072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trabalho acontecendo: mãos, ferramenta, acabamento, montagem. Detalhe fechado, sem rosto.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496709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CULTURA QUE SE CONSTRÓI COM PESSOAS E SE COMPROVA NAS ENTREGAS.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494163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5289104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e a My Home compartilham uma cultura de proximidade, autonomia e responsabilidade.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6544270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Uma cultura em que as pessoas são incentivadas a encontrar soluções, colaborar e buscar o melhor resultado possível.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323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0868"/>
            <a:ext cx="14081760" cy="2892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Liberdade para encontrar caminhos.</a:t>
            </a:r>
          </a:p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Responsabilidade pelo que</a:t>
            </a:r>
          </a:p>
          <a:p>
            <a:pPr algn="l">
              <a:lnSpc>
                <a:spcPct val="126000"/>
              </a:lnSpc>
            </a:pPr>
            <a:r>
              <a:rPr sz="4397" i="0" b="0">
                <a:solidFill>
                  <a:srgbClr val="FFFFFF"/>
                </a:solidFill>
                <a:latin typeface="Outfit 1 Light"/>
              </a:rPr>
              <a:t>construímos juntos.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9587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233100"/>
            <a:ext cx="11887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O nosso princípio cultural. Duas marcas, uma cultura organizacional compartilhada.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8220558"/>
            <a:ext cx="11521440" cy="484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i="0" b="0" spc="300">
                <a:solidFill>
                  <a:srgbClr val="C6986E"/>
                </a:solidFill>
                <a:latin typeface="Outfit 1 Semi-Bold"/>
              </a:rPr>
              <a:t>IMAGEM   </a:t>
            </a:r>
            <a:r>
              <a:rPr sz="1700" i="0" b="0">
                <a:solidFill>
                  <a:srgbClr val="C9C7C0"/>
                </a:solidFill>
                <a:latin typeface="Outfit 1 Light"/>
              </a:rPr>
              <a:t>O time completo das duas operações. Imagem ampla, que aguente a frase por cima.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