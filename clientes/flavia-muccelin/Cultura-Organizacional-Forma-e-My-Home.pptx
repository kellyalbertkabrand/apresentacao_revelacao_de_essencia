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18"/>
    <p:sldId id="275" r:id="rId17"/>
    <p:sldId id="276" r:id="rId16"/>
    <p:sldId id="277" r:id="rId15"/>
    <p:sldId id="278" r:id="rId14"/>
    <p:sldId id="279" r:id="rId13"/>
  </p:sldIdLst>
  <p:sldSz cx="18288000" cy="10287000"/>
  <p:notesSz cx="6858000" cy="9144000"/>
  <p:embeddedFontLst>
    <p:embeddedFont>
      <p:font typeface="Koho" charset="1" panose="00000500000000000000"/>
      <p:regular r:id="rId37"/>
    </p:embeddedFont>
    <p:embeddedFont>
      <p:font typeface="Koho Medium" charset="1" panose="00000600000000000000"/>
      <p:regular r:id="rId38"/>
    </p:embeddedFont>
    <p:embeddedFont>
      <p:font typeface="Outfit 1 Medium" charset="1" panose="00000000000000000000"/>
      <p:regular r:id="rId39"/>
    </p:embeddedFont>
    <p:embeddedFont>
      <p:font typeface="IBM Plex Sans Thai" charset="1" panose="020B0503050203000203"/>
      <p:regular r:id="rId40"/>
    </p:embeddedFont>
    <p:embeddedFont>
      <p:font typeface="Outfit 2 Light" charset="1" panose="00000000000000000000"/>
      <p:regular r:id="rId41"/>
    </p:embeddedFont>
    <p:embeddedFont>
      <p:font typeface="Outfit 2 Medium" charset="1" panose="00000000000000000000"/>
      <p:regular r:id="rId42"/>
    </p:embeddedFont>
    <p:embeddedFont>
      <p:font typeface="Outfit 2 Semi-Bold" charset="1" panose="00000000000000000000"/>
      <p:regular r:id="rId43"/>
    </p:embeddedFont>
    <p:embeddedFont>
      <p:font typeface="Playfair Display" charset="1" panose="02000503000000020003"/>
      <p:regular r:id="rId44"/>
    </p:embeddedFont>
    <p:embeddedFont>
      <p:font typeface="Outfit 1 Bold" charset="1" panose="00000000000000000000"/>
      <p:regular r:id="rId45"/>
    </p:embeddedFont>
    <p:embeddedFont>
      <p:font typeface="Outfit 1" charset="1" panose="00000000000000000000"/>
      <p:regular r:id="rId46"/>
    </p:embeddedFont>
    <p:embeddedFont>
      <p:font typeface="Outfit 1 Semi-Bold" charset="1" panose="00000000000000000000"/>
      <p:regular r:id="rId47"/>
    </p:embeddedFont>
    <p:embeddedFont>
      <p:font typeface="Outfit 1 Light" charset="1" panose="00000000000000000000"/>
      <p:regular r:id="rId48"/>
    </p:embeddedFont>
    <p:embeddedFont>
      <p:font typeface="Outfit 1 Ultra-Bold" charset="1" panose="0000000000000000000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3" Type="http://schemas.openxmlformats.org/officeDocument/2006/relationships/slide" Target="slides/slide24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20.xml"/><Relationship Id="rId18" Type="http://schemas.openxmlformats.org/officeDocument/2006/relationships/slide" Target="slides/slide19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29" Type="http://schemas.openxmlformats.org/officeDocument/2006/relationships/slide" Target="slides/slide11.xml"/><Relationship Id="rId30" Type="http://schemas.openxmlformats.org/officeDocument/2006/relationships/slide" Target="slides/slide12.xml"/><Relationship Id="rId31" Type="http://schemas.openxmlformats.org/officeDocument/2006/relationships/slide" Target="slides/slide13.xml"/><Relationship Id="rId32" Type="http://schemas.openxmlformats.org/officeDocument/2006/relationships/slide" Target="slides/slide14.xml"/><Relationship Id="rId33" Type="http://schemas.openxmlformats.org/officeDocument/2006/relationships/slide" Target="slides/slide15.xml"/><Relationship Id="rId34" Type="http://schemas.openxmlformats.org/officeDocument/2006/relationships/slide" Target="slides/slide16.xml"/><Relationship Id="rId35" Type="http://schemas.openxmlformats.org/officeDocument/2006/relationships/slide" Target="slides/slide17.xml"/><Relationship Id="rId36" Type="http://schemas.openxmlformats.org/officeDocument/2006/relationships/slide" Target="slides/slide18.xml"/><Relationship Id="rId37" Type="http://schemas.openxmlformats.org/officeDocument/2006/relationships/font" Target="fonts/font37.fntdata"/><Relationship Id="rId38" Type="http://schemas.openxmlformats.org/officeDocument/2006/relationships/font" Target="fonts/font38.fntdata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font" Target="fonts/font4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617720"/>
            <a:ext cx="3931920" cy="9344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06840" y="4206240"/>
            <a:ext cx="12802" cy="169164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0" y="4434840"/>
            <a:ext cx="4023360" cy="11524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tra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5848" y="3364992"/>
            <a:ext cx="1490472" cy="17795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36192" y="3593592"/>
            <a:ext cx="13551408" cy="2476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O QUE NOS TORNA</a:t>
            </a:r>
          </a:p>
          <a:p>
            <a:pPr algn="l">
              <a:lnSpc>
                <a:spcPct val="114000"/>
              </a:lnSpc>
            </a:pPr>
            <a:r>
              <a:rPr sz="7500" i="0" b="0" spc="300">
                <a:solidFill>
                  <a:srgbClr val="1C1C1A"/>
                </a:solidFill>
                <a:latin typeface="Outfit 1 Bold"/>
              </a:rP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36192" y="6179820"/>
            <a:ext cx="135514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i="0" b="0">
                <a:solidFill>
                  <a:srgbClr val="1C1C1A"/>
                </a:solidFill>
                <a:latin typeface="Outfit 1 Bold"/>
              </a:rPr>
              <a:t>Cultura Organizacional</a:t>
            </a:r>
            <a:r>
              <a:rPr sz="3000" i="0" b="0">
                <a:solidFill>
                  <a:srgbClr val="1C1C1A"/>
                </a:solidFill>
                <a:latin typeface="Outfit 1"/>
              </a:rPr>
              <a:t>  |  FORMA e My 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53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64024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88936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692640" y="7790688"/>
            <a:ext cx="10973" cy="896112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-k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133" y="6494587"/>
            <a:ext cx="3459591" cy="34595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83480" y="7964424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Light"/>
              </a:rPr>
              <a:t>Método </a:t>
            </a:r>
            <a:r>
              <a:rPr sz="2680" i="0" b="0">
                <a:solidFill>
                  <a:srgbClr val="1C1C1A"/>
                </a:solidFill>
                <a:latin typeface="Outfit 2 Semi-Bold"/>
              </a:rPr>
              <a:t>Marca</a:t>
            </a:r>
          </a:p>
          <a:p>
            <a:pPr algn="l">
              <a:lnSpc>
                <a:spcPct val="95000"/>
              </a:lnSpc>
            </a:pPr>
            <a:r>
              <a:rPr sz="2680" i="0" b="0">
                <a:solidFill>
                  <a:srgbClr val="1C1C1A"/>
                </a:solidFill>
                <a:latin typeface="Outfit 2 Semi-Bold"/>
              </a:rPr>
              <a:t>com Essência</a:t>
            </a:r>
            <a:r>
              <a:rPr sz="1470" i="0" b="0">
                <a:solidFill>
                  <a:srgbClr val="1C1C1A"/>
                </a:solidFill>
                <a:latin typeface="Outfit 2"/>
              </a:rPr>
              <a:t>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815644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950" i="0" b="0">
                <a:solidFill>
                  <a:srgbClr val="1C1C1A"/>
                </a:solidFill>
                <a:latin typeface="Outfit 1"/>
              </a:rPr>
              <a:t>OUTUBRO/2026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44118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843520"/>
            <a:ext cx="14081760" cy="2499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O que nos conecta,</a:t>
            </a:r>
          </a:p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como trabalhamos</a:t>
            </a:r>
          </a:p>
          <a:p>
            <a:pPr algn="l">
              <a:lnSpc>
                <a:spcPct val="126000"/>
              </a:lnSpc>
            </a:pPr>
            <a:r>
              <a:rPr sz="3737" i="0" b="0">
                <a:solidFill>
                  <a:srgbClr val="1C1C1A"/>
                </a:solidFill>
                <a:latin typeface="Outfit 1 Light"/>
              </a:rPr>
              <a:t>e o que precisamos preservar ao crescer.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804672"/>
            <a:ext cx="10972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i="0" b="0">
                <a:solidFill>
                  <a:srgbClr val="1C1C1A"/>
                </a:solidFill>
                <a:latin typeface="Outfit 1 Ultra-Bold"/>
              </a:rPr>
              <a:t>NOSSA CULTURA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974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95351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84378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Nossa origem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29463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De onde vem nosso jeito de pensar.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88620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14223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403250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Nossos valores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448335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Aquilo em que acreditamos e como lideramos.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507492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533095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522122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Nosso jeito de trabalhar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567207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Os comportamentos e as relações que nos definem.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26364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51967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40994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Nossa cultura na 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686079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Como nossas crenças aparecem no dia a dia.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745236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11680" y="7708392"/>
            <a:ext cx="1005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i="0" b="0" spc="240">
                <a:solidFill>
                  <a:srgbClr val="A9724A"/>
                </a:solidFill>
                <a:latin typeface="Outfit 1 Semi-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7598664"/>
            <a:ext cx="12664440" cy="450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i="0" b="0">
                <a:solidFill>
                  <a:srgbClr val="1C1C1A"/>
                </a:solidFill>
                <a:latin typeface="Outfit 1 Light"/>
              </a:rPr>
              <a:t>Nosso futuro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8049514"/>
            <a:ext cx="1266444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i="0" b="0">
                <a:solidFill>
                  <a:srgbClr val="A5A49F"/>
                </a:solidFill>
                <a:latin typeface="Outfit 1 Light"/>
              </a:rPr>
              <a:t>O que precisamos preservar e desenvolver.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864108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NOSSA ORIGEM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De onde vem nosso jeito de pensar.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A origem do ofício: a primeira oficina, uma foto antiga da Flávia trabalhando, ou o lugar onde tudo começou.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oficina da FORMA em trabalho — marcenaria, máquina, material, mãos. O ofício, não o retrato.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46132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NÃO ACEITAR O LIMITE COMO RESPOSTA DEFINITIVA.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3937040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284512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cultura da Forma e da My Home tem origem na trajetória da Flávia e em sua capacidade de encontrar alternativas diante das limitações.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539679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Essa mentalidade ultrapassou sua história pessoal e passou a influenciar as empresas e as pessoas que trabalham nelas.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6794845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que nasceu como uma característica da fundadora tornou-se um jeito coletivo de enfrentar desafios.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29898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32234"/>
            <a:ext cx="14081760" cy="2393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Diante de uma dificuldade,</a:t>
            </a:r>
          </a:p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não nos limitamos ao problema.</a:t>
            </a:r>
          </a:p>
          <a:p>
            <a:pPr algn="l">
              <a:lnSpc>
                <a:spcPct val="126000"/>
              </a:lnSpc>
            </a:pPr>
            <a:r>
              <a:rPr sz="3559" i="0" b="0">
                <a:solidFill>
                  <a:srgbClr val="1C1C1A"/>
                </a:solidFill>
                <a:latin typeface="Outfit 1 Light"/>
              </a:rPr>
              <a:t>Procuramos possibilidades para resolvê-lo.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99751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nossa crença de origem.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NOSSOS VALORES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Aquilo em que acreditamos e como lideramos.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Alguém da equipe concentrado no trabalho — o cuidado aparecendo na mão e no olhar. Plano fechado.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LIBERDADE PARA AGIR. RESPONSABILIDADE PARA ENTREGAR.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1455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6202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99976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COMPROMETIMENTO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3926616"/>
            <a:ext cx="9144000" cy="616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Assumimos responsabilidade pelo resultado, não apenas pela tarefa.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61622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85396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AUTONOMIA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780812"/>
            <a:ext cx="9144000" cy="616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Temos liberdade para propor, decidir e solucionar.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470416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80" y="5708160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EXCELÊNCIA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5635008"/>
            <a:ext cx="9144000" cy="616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Não aceitamos entregar aquilo que sabemos que pode ser melhor.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632461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656235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COOPERAÇÃO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6489204"/>
            <a:ext cx="9144000" cy="616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Entendemos que o resultado depende do trabalho de todos.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717880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741655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EVOLUÇÃO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7343400"/>
            <a:ext cx="9144000" cy="616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Buscamos aprender, melhorar e ampliar nossas possibilidades.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59793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4000267"/>
            <a:ext cx="14081760" cy="1654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477" i="0" b="0">
                <a:solidFill>
                  <a:srgbClr val="1C1C1A"/>
                </a:solidFill>
                <a:latin typeface="Outfit 1 Light"/>
              </a:rPr>
              <a:t>Não basta saber fazer.</a:t>
            </a:r>
          </a:p>
          <a:p>
            <a:pPr algn="l">
              <a:lnSpc>
                <a:spcPct val="126000"/>
              </a:lnSpc>
            </a:pPr>
            <a:r>
              <a:rPr sz="3477" i="0" b="0">
                <a:solidFill>
                  <a:srgbClr val="1C1C1A"/>
                </a:solidFill>
                <a:latin typeface="Outfit 1 Light"/>
              </a:rPr>
              <a:t>É preciso se envolver para fazer acontecer.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631717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nossa crença central.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Flávia com a equipe, em conversa de trabalho — chão de fábrica, mesa ou obra. Liderança próxima, não retrato posado.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873716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PROXIMIDADE QUE ACOLHE. CONFIANÇA QUE DÁ AUTONOMIA.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564624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4912096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As entrevistas revelam uma liderança reconhecida pela acessibilidade, pelo conhecimento técnico e pela exigência com os resultados.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6167263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Flávia construiu relações próximas, nas quais as pessoas encontram espaço para conversar, aprender e agir.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320570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608045"/>
            <a:ext cx="14081760" cy="24451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646" i="0" b="0">
                <a:solidFill>
                  <a:srgbClr val="1C1C1A"/>
                </a:solidFill>
                <a:latin typeface="Outfit 1 Light"/>
              </a:rPr>
              <a:t>Seu maior legado cultural não está apenas</a:t>
            </a:r>
          </a:p>
          <a:p>
            <a:pPr algn="l">
              <a:lnSpc>
                <a:spcPct val="126000"/>
              </a:lnSpc>
            </a:pPr>
            <a:r>
              <a:rPr sz="3646" i="0" b="0">
                <a:solidFill>
                  <a:srgbClr val="1C1C1A"/>
                </a:solidFill>
                <a:latin typeface="Outfit 1 Light"/>
              </a:rPr>
              <a:t>naquilo que ela realiza, mas na maneira</a:t>
            </a:r>
          </a:p>
          <a:p>
            <a:pPr algn="l">
              <a:lnSpc>
                <a:spcPct val="126000"/>
              </a:lnSpc>
            </a:pPr>
            <a:r>
              <a:rPr sz="3646" i="0" b="0">
                <a:solidFill>
                  <a:srgbClr val="1C1C1A"/>
                </a:solidFill>
                <a:latin typeface="Outfit 1 Light"/>
              </a:rPr>
              <a:t>como incentiva outras pessoas a realizar.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6023939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desafio é fazer com que esses princípios sejam compartilhados pelas futuras lideranças.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1655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65193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NOSSO JEITO DE TRABALHAR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5469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21273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Os comportamentos e as relações que nos definem.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A oficina em movimento, com várias pessoas trabalhando ao mesmo tempo. Plano aberto, o coletivo em 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3736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O PROBLEMA NÃO DEIXA DE IMPORTAR PORQUE COMEÇOU EM OUTRO LUGAR.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342826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3775740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4031772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Resolver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722449"/>
            <a:ext cx="44196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Tomar iniciativa diante dos desafios.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4200" y="3775740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4200" y="4031772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Cuidar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4200" y="4722449"/>
            <a:ext cx="44196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Não aceitar uma entrega abaixo do padrão esperado.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56720" y="3775740"/>
            <a:ext cx="44196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56720" y="4031772"/>
            <a:ext cx="4419600" cy="5260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i="0" b="0">
                <a:solidFill>
                  <a:srgbClr val="1C1C1A"/>
                </a:solidFill>
                <a:latin typeface="Outfit 1 Light"/>
              </a:rPr>
              <a:t>Colaborar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56720" y="4722449"/>
            <a:ext cx="44196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Ajudar outras pessoas e áreas para alcançar o resultado.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6103315"/>
            <a:ext cx="12252960" cy="19434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Letícia relata correções feitas pela própria equipe, Mapinha descreve peças refeitas por não atenderem ao padrão e Joel destaca o envolvimento com problemas que afetam o cliente, mesmo quando surgem de terceiros. Nossa responsabilidade vai além da execução individual: ela alcança o resultado que construímos juntos.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33856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93292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3292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3292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Duas ou três pessoas da equipe conversando no trabalho — proximidade real, sem pose. Pode ser um momento de pausa.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873716"/>
            <a:ext cx="8458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PROXIMIDADE É UMA FORÇA DA NOSSA CULTURA.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4564624"/>
            <a:ext cx="8458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912096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As pessoas descrevem um ambiente marcado por acolhimento, confiança e facilidade de acesso à liderança.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6167263"/>
            <a:ext cx="8458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união não aparece apenas como sentimento. Ela facilita a comunicação, a colaboração e a resolução de problemas.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81333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215670"/>
            <a:ext cx="14081760" cy="27466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3114" i="0" b="0">
                <a:solidFill>
                  <a:srgbClr val="1C1C1A"/>
                </a:solidFill>
                <a:latin typeface="Outfit 1 Light"/>
              </a:rPr>
              <a:t>O diferencial não é trabalhar como uma família,</a:t>
            </a:r>
          </a:p>
          <a:p>
            <a:pPr algn="l">
              <a:lnSpc>
                <a:spcPct val="126000"/>
              </a:lnSpc>
            </a:pPr>
            <a:r>
              <a:rPr sz="3114" i="0" b="0">
                <a:solidFill>
                  <a:srgbClr val="1C1C1A"/>
                </a:solidFill>
                <a:latin typeface="Outfit 1 Light"/>
              </a:rPr>
              <a:t>mas construir relações humanas em que as pessoas</a:t>
            </a:r>
          </a:p>
          <a:p>
            <a:pPr algn="l">
              <a:lnSpc>
                <a:spcPct val="126000"/>
              </a:lnSpc>
            </a:pPr>
            <a:r>
              <a:rPr sz="3114" i="0" b="0">
                <a:solidFill>
                  <a:srgbClr val="1C1C1A"/>
                </a:solidFill>
                <a:latin typeface="Outfit 1 Light"/>
              </a:rPr>
              <a:t>se sintam respeitadas e responsáveis</a:t>
            </a:r>
          </a:p>
          <a:p>
            <a:pPr algn="l">
              <a:lnSpc>
                <a:spcPct val="126000"/>
              </a:lnSpc>
            </a:pPr>
            <a:r>
              <a:rPr sz="3114" i="0" b="0">
                <a:solidFill>
                  <a:srgbClr val="1C1C1A"/>
                </a:solidFill>
                <a:latin typeface="Outfit 1 Light"/>
              </a:rPr>
              <a:t>umas pelas outras.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5953324"/>
            <a:ext cx="11887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crescimento deve preservar esse vínculo, sem abrir mão do profissionalismo e da clareza de responsabilidades.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616553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165193"/>
            <a:ext cx="12801600" cy="1122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i="0" b="0">
                <a:solidFill>
                  <a:srgbClr val="FFFFFF"/>
                </a:solidFill>
                <a:latin typeface="Outfit 1 Light"/>
              </a:rPr>
              <a:t>NOSSA CULTURA NA PRÁTICA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546953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5821273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Como nossas crenças aparecem no dia a 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Uma montagem na casa do cliente, ou a equipe protegendo o ambiente antes de começar. O cuidado em ato.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852280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A CULTURA APARECE NAS PEQUENAS DECISÕES.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789174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8538" y="3244088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50592" y="3136646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Uma peça é refeita porque não ficou boa.</a:t>
            </a:r>
          </a:p>
        </p:txBody>
      </p:sp>
      <p:sp>
        <p:nvSpPr>
          <p:cNvPr id="8" name="Oval 7"/>
          <p:cNvSpPr/>
          <p:nvPr/>
        </p:nvSpPr>
        <p:spPr>
          <a:xfrm>
            <a:off x="2018538" y="380228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3694847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Um colaborador resolve um problema sem esperar uma ordem.</a:t>
            </a:r>
          </a:p>
        </p:txBody>
      </p:sp>
      <p:sp>
        <p:nvSpPr>
          <p:cNvPr id="10" name="Oval 9"/>
          <p:cNvSpPr/>
          <p:nvPr/>
        </p:nvSpPr>
        <p:spPr>
          <a:xfrm>
            <a:off x="2018538" y="4360489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50592" y="4253047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 equipe protege e cuida da casa do cliente.</a:t>
            </a:r>
          </a:p>
        </p:txBody>
      </p:sp>
      <p:sp>
        <p:nvSpPr>
          <p:cNvPr id="12" name="Oval 11"/>
          <p:cNvSpPr/>
          <p:nvPr/>
        </p:nvSpPr>
        <p:spPr>
          <a:xfrm>
            <a:off x="2018538" y="4918690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4811248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Colegas de diferentes áreas se ajudam.</a:t>
            </a:r>
          </a:p>
        </p:txBody>
      </p:sp>
      <p:sp>
        <p:nvSpPr>
          <p:cNvPr id="14" name="Oval 13"/>
          <p:cNvSpPr/>
          <p:nvPr/>
        </p:nvSpPr>
        <p:spPr>
          <a:xfrm>
            <a:off x="2018538" y="5476890"/>
            <a:ext cx="77724" cy="77724"/>
          </a:xfrm>
          <a:prstGeom prst="ellipse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50592" y="5369448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A liderança mantém o diálogo aberto.</a:t>
            </a:r>
          </a:p>
        </p:txBody>
      </p:sp>
      <p:sp>
        <p:nvSpPr>
          <p:cNvPr id="16" name="Oval 15"/>
          <p:cNvSpPr/>
          <p:nvPr/>
        </p:nvSpPr>
        <p:spPr>
          <a:xfrm>
            <a:off x="2018538" y="6035091"/>
            <a:ext cx="77724" cy="77724"/>
          </a:xfrm>
          <a:prstGeom prst="ellipse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5927649"/>
            <a:ext cx="11448288" cy="5112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Os encontros e as celebrações fortalecem os vínculos.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6914378"/>
            <a:ext cx="1225296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que conecta essas atitudes é a combinação de responsabilidade com o trabalho e cuidado com as pessoas. É assim que valores deixam de ser palavras e se transformam em cultura.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41182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3960469"/>
            <a:ext cx="12801600" cy="15519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0" i="0" b="0">
                <a:solidFill>
                  <a:srgbClr val="FFFFFF"/>
                </a:solidFill>
                <a:latin typeface="Outfit 1 Light"/>
              </a:rPr>
              <a:t>NOSSO FUTURO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5751677"/>
            <a:ext cx="14264640" cy="10973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6025997"/>
            <a:ext cx="11887200" cy="6205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i="0" b="0">
                <a:solidFill>
                  <a:srgbClr val="FFFFFF"/>
                </a:solidFill>
                <a:latin typeface="Outfit 1 Light"/>
              </a:rPr>
              <a:t>O que precisamos preservar e desenvolver.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Um ambiente entregue, pronto e em uso — o resultado. Ou a fachada/expansão das empresas. Imagem de horizonte.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723644"/>
            <a:ext cx="1426464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CRESCER SEM PERDER O QUE NOS TORNA DIFERENTES.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66053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23240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O QUE PRECISAMOS PRESERVAR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232404"/>
            <a:ext cx="9144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O QUE PRECISAMOS DESENVOLVER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3744468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398221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PROXIMIDADE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909060"/>
            <a:ext cx="9144000" cy="6199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Lideranças capazes de manter os mesmos princípios.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4602175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4839919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AUTONOMIA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766767"/>
            <a:ext cx="9144000" cy="6199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Critérios e responsabilidades compartilhados.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5459882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5697626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AGILIDADE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624474"/>
            <a:ext cx="9144000" cy="6199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Processos que evitem problemas recorrentes.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6317590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6555334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5A49F"/>
                </a:solidFill>
                <a:latin typeface="Outfit 1 Semi-Bold"/>
              </a:rPr>
              <a:t>EXCELÊNCIA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6482182"/>
            <a:ext cx="9144000" cy="6199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Padrões que possam ser ensinados e reproduzidos.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7175297"/>
            <a:ext cx="1426464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7413041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220">
                <a:solidFill>
                  <a:srgbClr val="A9724A"/>
                </a:solidFill>
                <a:latin typeface="Outfit 1 Semi-Bold"/>
              </a:rPr>
              <a:t>COOPERAÇÃO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7339889"/>
            <a:ext cx="9144000" cy="6199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1C1C1A"/>
                </a:solidFill>
                <a:latin typeface="Outfit 1 Light"/>
              </a:rPr>
              <a:t>Integração com papéis claros entre as operações.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8033004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5840" y="1005840"/>
            <a:ext cx="16276320" cy="7772400"/>
          </a:xfrm>
          <a:prstGeom prst="roundRect">
            <a:avLst>
              <a:gd name="adj" fmla="val 2117"/>
            </a:avLst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2950069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352405"/>
            <a:ext cx="14081760" cy="34816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040" i="0" b="0">
                <a:solidFill>
                  <a:srgbClr val="1C1C1A"/>
                </a:solidFill>
                <a:latin typeface="Outfit 1 Light"/>
              </a:rPr>
              <a:t>O desafio não é mudar nossa essência.</a:t>
            </a:r>
          </a:p>
          <a:p>
            <a:pPr algn="l">
              <a:lnSpc>
                <a:spcPct val="126000"/>
              </a:lnSpc>
            </a:pPr>
            <a:r>
              <a:rPr sz="4040" i="0" b="0">
                <a:solidFill>
                  <a:srgbClr val="1C1C1A"/>
                </a:solidFill>
                <a:latin typeface="Outfit 1 Light"/>
              </a:rPr>
              <a:t>É fazer com que ela continue presente</a:t>
            </a:r>
          </a:p>
          <a:p>
            <a:pPr algn="l">
              <a:lnSpc>
                <a:spcPct val="126000"/>
              </a:lnSpc>
            </a:pPr>
            <a:r>
              <a:rPr sz="4040" i="0" b="0">
                <a:solidFill>
                  <a:srgbClr val="1C1C1A"/>
                </a:solidFill>
                <a:latin typeface="Outfit 1 Light"/>
              </a:rPr>
              <a:t>quando as empresas crescerem</a:t>
            </a:r>
          </a:p>
          <a:p>
            <a:pPr algn="l">
              <a:lnSpc>
                <a:spcPct val="126000"/>
              </a:lnSpc>
            </a:pPr>
            <a:r>
              <a:rPr sz="4040" i="0" b="0">
                <a:solidFill>
                  <a:srgbClr val="1C1C1A"/>
                </a:solidFill>
                <a:latin typeface="Outfit 1 Light"/>
              </a:rPr>
              <a:t>e novas pessoas chegarem.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949440" cy="10287000"/>
          </a:xfrm>
          <a:prstGeom prst="rect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4010101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320997"/>
            <a:ext cx="57607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A9724A"/>
                </a:solidFill>
                <a:latin typeface="Outfit 1 Semi-Bold"/>
              </a:rPr>
              <a:t>IMAGEM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887925"/>
            <a:ext cx="5760720" cy="148041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O trabalho acontecendo: mãos, ferramenta, acabamento, montagem. Detalhe fechado, sem rosto.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0"/>
            <a:ext cx="11338560" cy="10287000"/>
          </a:xfrm>
          <a:prstGeom prst="rect">
            <a:avLst/>
          </a:prstGeom>
          <a:solidFill>
            <a:srgbClr val="F8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2496709"/>
            <a:ext cx="9601200" cy="8823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200" i="0" b="0">
                <a:solidFill>
                  <a:srgbClr val="1C1C1A"/>
                </a:solidFill>
                <a:latin typeface="Outfit 1 Light"/>
              </a:rPr>
              <a:t>UMA CULTURA QUE SE CONSTRÓI COM PESSOAS E SE COMPROVA NAS ENTREGAS.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18120" y="4941632"/>
            <a:ext cx="9601200" cy="10973"/>
          </a:xfrm>
          <a:prstGeom prst="rect">
            <a:avLst/>
          </a:prstGeom>
          <a:solidFill>
            <a:srgbClr val="DFDD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18120" y="5289104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A Forma e a My Home compartilham uma cultura de proximidade, autonomia e responsabilidade.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6544270"/>
            <a:ext cx="9601200" cy="101742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6B6B66"/>
                </a:solidFill>
                <a:latin typeface="Outfit 1 Light"/>
              </a:rPr>
              <a:t>Uma cultura em que as pessoas são incentivadas a encontrar soluções, colaborar e buscar o melhor resultado possível.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323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3270868"/>
            <a:ext cx="14081760" cy="289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4397" i="0" b="0">
                <a:solidFill>
                  <a:srgbClr val="FFFFFF"/>
                </a:solidFill>
                <a:latin typeface="Outfit 1 Light"/>
              </a:rPr>
              <a:t>Liberdade para encontrar caminhos.</a:t>
            </a:r>
          </a:p>
          <a:p>
            <a:pPr algn="l">
              <a:lnSpc>
                <a:spcPct val="126000"/>
              </a:lnSpc>
            </a:pPr>
            <a:r>
              <a:rPr sz="4397" i="0" b="0">
                <a:solidFill>
                  <a:srgbClr val="FFFFFF"/>
                </a:solidFill>
                <a:latin typeface="Outfit 1 Light"/>
              </a:rPr>
              <a:t>Responsabilidade pelo que</a:t>
            </a:r>
          </a:p>
          <a:p>
            <a:pPr algn="l">
              <a:lnSpc>
                <a:spcPct val="126000"/>
              </a:lnSpc>
            </a:pPr>
            <a:r>
              <a:rPr sz="4397" i="0" b="0">
                <a:solidFill>
                  <a:srgbClr val="FFFFFF"/>
                </a:solidFill>
                <a:latin typeface="Outfit 1 Light"/>
              </a:rPr>
              <a:t>construímos juntos.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5958780"/>
            <a:ext cx="1188720" cy="27432"/>
          </a:xfrm>
          <a:prstGeom prst="rect">
            <a:avLst/>
          </a:prstGeom>
          <a:solidFill>
            <a:srgbClr val="A97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6233100"/>
            <a:ext cx="11887200" cy="554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100" i="0" b="0">
                <a:solidFill>
                  <a:srgbClr val="FFFFFF"/>
                </a:solidFill>
                <a:latin typeface="Outfit 1 Light"/>
              </a:rPr>
              <a:t>O nosso princípio cultural. Duas marcas, uma cultura organizacional compartilhada.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7818222"/>
            <a:ext cx="11521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i="0" b="0" spc="300">
                <a:solidFill>
                  <a:srgbClr val="C6986E"/>
                </a:solidFill>
                <a:latin typeface="Outfit 1 Semi-Bold"/>
              </a:rPr>
              <a:t>IMAGEM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8220558"/>
            <a:ext cx="11521440" cy="4662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i="0" b="0">
                <a:solidFill>
                  <a:srgbClr val="C9C7C0"/>
                </a:solidFill>
                <a:latin typeface="Outfit 1 Light"/>
              </a:rPr>
              <a:t>O time completo das duas operações. Imagem ampla, que aguente a frase por cima.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-ondas.jpeg"/>
          <p:cNvPicPr>
            <a:picLocks noChangeAspect="1"/>
          </p:cNvPicPr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011680" y="3703320"/>
            <a:ext cx="13716000" cy="923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650" i="0" b="0">
                <a:solidFill>
                  <a:srgbClr val="1C1C1A"/>
                </a:solidFill>
                <a:latin typeface="Outfit 1 Light"/>
              </a:rPr>
              <a:t>OBRIGADA!</a:t>
            </a:r>
          </a:p>
        </p:txBody>
      </p:sp>
      <p:pic>
        <p:nvPicPr>
          <p:cNvPr id="4" name="Picture 3" descr="logo-kelly-alb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5440680"/>
            <a:ext cx="3246120" cy="771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69280" y="5257800"/>
            <a:ext cx="12802" cy="1143000"/>
          </a:xfrm>
          <a:prstGeom prst="rect">
            <a:avLst/>
          </a:prstGeom>
          <a:solidFill>
            <a:srgbClr val="A5A4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-vm-roc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5394960"/>
            <a:ext cx="3291840" cy="9428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DAHVOuCspjk</dc:identifier>
  <dcterms:modified xsi:type="dcterms:W3CDTF">2011-08-01T06:04:30Z</dcterms:modified>
  <cp:revision>1</cp:revision>
  <dc:title>Revelacao-de-Essencia-Flavia-Pereira-Muccelin.pptx</dc:title>
</cp:coreProperties>
</file>