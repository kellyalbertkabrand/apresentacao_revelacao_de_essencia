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  <p:sldId id="286" r:id="rId6"/>
    <p:sldId id="287" r:id="rId50"/>
    <p:sldId id="288" r:id="rId51"/>
    <p:sldId id="289" r:id="rId52"/>
    <p:sldId id="290" r:id="rId53"/>
    <p:sldId id="291" r:id="rId54"/>
    <p:sldId id="292" r:id="rId55"/>
    <p:sldId id="293" r:id="rId56"/>
    <p:sldId id="294" r:id="rId57"/>
    <p:sldId id="295" r:id="rId58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31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Relationship Id="rId54" Type="http://schemas.openxmlformats.org/officeDocument/2006/relationships/slide" Target="slides/slide36.xml"/><Relationship Id="rId55" Type="http://schemas.openxmlformats.org/officeDocument/2006/relationships/slide" Target="slides/slide37.xml"/><Relationship Id="rId56" Type="http://schemas.openxmlformats.org/officeDocument/2006/relationships/slide" Target="slides/slide38.xml"/><Relationship Id="rId57" Type="http://schemas.openxmlformats.org/officeDocument/2006/relationships/slide" Target="slides/slide39.xml"/><Relationship Id="rId58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DEFINE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A FORMA E A MY HOME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 e de Marca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86943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89279"/>
            <a:ext cx="14081760" cy="36078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600" i="0" b="0">
                <a:solidFill>
                  <a:srgbClr val="1C1C1A"/>
                </a:solidFill>
                <a:latin typeface="Outfit 1 Light"/>
              </a:rPr>
              <a:t>Uma cultura organizacional compartilhada.</a:t>
            </a:r>
          </a:p>
          <a:p>
            <a:pPr algn="l">
              <a:lnSpc>
                <a:spcPct val="126000"/>
              </a:lnSpc>
            </a:pPr>
            <a:r>
              <a:rPr sz="5600" i="0" b="0">
                <a:solidFill>
                  <a:srgbClr val="1C1C1A"/>
                </a:solidFill>
                <a:latin typeface="Outfit 1 Light"/>
              </a:rPr>
              <a:t>Duas culturas de marca</a:t>
            </a:r>
          </a:p>
          <a:p>
            <a:pPr algn="l">
              <a:lnSpc>
                <a:spcPct val="126000"/>
              </a:lnSpc>
            </a:pPr>
            <a:r>
              <a:rPr sz="5600" i="0" b="0">
                <a:solidFill>
                  <a:srgbClr val="1C1C1A"/>
                </a:solidFill>
                <a:latin typeface="Outfit 1 Light"/>
              </a:rPr>
              <a:t>com identidades próprias.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42646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CULTURA E IDENTIDADE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Origem, valores, liderança e comportamentos compartilhados.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8862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4223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3250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48335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conceito e o método que valem para as duas marcas.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33095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22122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Forma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67207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Uma marca orientada à realização.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2636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1967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40994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Cultura de marca My Home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86079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Uma marca orientada à criação.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745236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70839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759866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Síntese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804951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conecta as empresas e o que diferencia cada marca.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CULTURA ORGANIZACIONAL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Origem, valores, liderança e comportamentos compartilhados.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043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CULTURA ORGANIZACIONAL?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34733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94804"/>
            <a:ext cx="1225296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É o conjunto de crenças, valores, comportamentos e práticas compartilhadas que orientam a maneira como as pessoas trabalham, se relacionam e tomam decisões dentro de uma organização.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1356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45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9792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análise considerou a história da fundadora, entrevistas com oito colaboradores, relatos da liderança e depoimentos de clientes e arquitetos.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objetivo: identificar o que é declarado, o que é vivenciado e quais características precisam ser preservadas ou desenvolvidas.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2217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SETE ELEMENTOS INVESTIGADOS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5906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603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0653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História e origem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535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6152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Valores e crenças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97034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651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Liderança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52533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17150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Comportamentos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603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50653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Relações internas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1535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6152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Práticas e rituais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597034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1651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Tensões culturais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origem do ofício: a primeira oficina, uma máquina em operação, ou o lugar onde tudo começou.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642220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RESPOSTA DEFINITIVA.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333128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80600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trajetória de Flávia revela uma mentalidade recorrente: diante das limitações, buscar novas possibilidades.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935767"/>
            <a:ext cx="84582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Essa característica influenciou a criação e o crescimento das empresas e encontra correspondência na iniciativa e na capacidade de resolução relatadas pelos colaboradores.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9425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96595"/>
            <a:ext cx="14081760" cy="3211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Uma dificuldade não precisa</a:t>
            </a:r>
          </a:p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determinar o resultado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33539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de origem.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LIBERDADE PARA AGIR. RESPONSABILIDADE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620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9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26616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Responsabilidade pelo resultado.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6162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96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812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Liberdade para encontrar soluções.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7041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081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35008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Exigência com a qualidade.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2461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6235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489204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Compromisso com o trabalho coletivo.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788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165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43400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Busca contínua por conhecimento e melhoria.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93261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LIDERANÇA IDENTIFICADA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86950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71558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1697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Próxima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535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1674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Acessível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11512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651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Exigente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81489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316289"/>
            <a:ext cx="1426464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Orientada à realização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191705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319391"/>
            <a:ext cx="14081760" cy="51158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100" i="0" b="0">
                <a:solidFill>
                  <a:srgbClr val="1C1C1A"/>
                </a:solidFill>
                <a:latin typeface="Outfit 1 Light"/>
              </a:rPr>
              <a:t>Competência não se limita</a:t>
            </a:r>
          </a:p>
          <a:p>
            <a:pPr algn="l">
              <a:lnSpc>
                <a:spcPct val="126000"/>
              </a:lnSpc>
            </a:pPr>
            <a:r>
              <a:rPr sz="6100" i="0" b="0">
                <a:solidFill>
                  <a:srgbClr val="1C1C1A"/>
                </a:solidFill>
                <a:latin typeface="Outfit 1 Light"/>
              </a:rPr>
              <a:t>ao conhecimento técnico.</a:t>
            </a:r>
          </a:p>
          <a:p>
            <a:pPr algn="l">
              <a:lnSpc>
                <a:spcPct val="126000"/>
              </a:lnSpc>
            </a:pPr>
            <a:r>
              <a:rPr sz="6100" i="0" b="0">
                <a:solidFill>
                  <a:srgbClr val="1C1C1A"/>
                </a:solidFill>
                <a:latin typeface="Outfit 1 Light"/>
              </a:rPr>
              <a:t>Também exige envolvimento com aquilo</a:t>
            </a:r>
          </a:p>
          <a:p>
            <a:pPr algn="l">
              <a:lnSpc>
                <a:spcPct val="126000"/>
              </a:lnSpc>
            </a:pPr>
            <a:r>
              <a:rPr sz="6100" i="0" b="0">
                <a:solidFill>
                  <a:srgbClr val="1C1C1A"/>
                </a:solidFill>
                <a:latin typeface="Outfit 1 Light"/>
              </a:rPr>
              <a:t>que precisa ser realizado.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7312594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compartilhada.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SE REVELA DIANTE DOS PROBLEMAS.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2686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62795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Tomar iniciativa sem depender de ordens para cada decisão.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562795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Corrigir aquilo que não atende ao padrão e considerar o impacto sobre o cliente.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Colaborar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562795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outras pessoas e áreas para assegurar a entrega.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454689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Esses comportamentos são favorecidos por relações próximas, diálogo e sentimento de pertencimento.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3550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757434"/>
            <a:ext cx="14081760" cy="426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A responsabilidade não termina</a:t>
            </a:r>
          </a:p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no limite de uma função.</a:t>
            </a:r>
          </a:p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Ela se estende ao resultado coletivo.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87455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descoberta cultural.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CRESCIMENTO EXIGE A EVOLUÇÃO DA CULTURA.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2324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FORÇA IDENTIFICADA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232404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DESAFIO DO CRESCIMENTO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7444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9822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PROXIMIDADE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909060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Desenvolver novas lideranças.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60217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39919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766767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Estabelecer critérios compartilhados.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4598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69762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AGILIDADE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624474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Estruturar processos previsíveis.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31759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5533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482182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Reproduzir padrões em escala.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17529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413041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COOPERAÇÃO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339889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Definir responsabilidades entre operações.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0083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03174"/>
            <a:ext cx="14081760" cy="33102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00" i="0" b="0">
                <a:solidFill>
                  <a:srgbClr val="1C1C1A"/>
                </a:solidFill>
                <a:latin typeface="Outfit 1 Light"/>
              </a:rPr>
              <a:t>Transformar uma cultura fortemente</a:t>
            </a:r>
          </a:p>
          <a:p>
            <a:pPr algn="l">
              <a:lnSpc>
                <a:spcPct val="126000"/>
              </a:lnSpc>
            </a:pPr>
            <a:r>
              <a:rPr sz="5100" i="0" b="0">
                <a:solidFill>
                  <a:srgbClr val="1C1C1A"/>
                </a:solidFill>
                <a:latin typeface="Outfit 1 Light"/>
              </a:rPr>
              <a:t>influenciada pela fundadora em princípios</a:t>
            </a:r>
          </a:p>
          <a:p>
            <a:pPr algn="l">
              <a:lnSpc>
                <a:spcPct val="126000"/>
              </a:lnSpc>
            </a:pPr>
            <a:r>
              <a:rPr sz="5100" i="0" b="0">
                <a:solidFill>
                  <a:srgbClr val="1C1C1A"/>
                </a:solidFill>
                <a:latin typeface="Outfit 1 Light"/>
              </a:rPr>
              <a:t>e práticas sustentados por toda a organização.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42881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desafio central.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CULTURA DE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conceito e o método que valem para as duas marcas.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detalhe de acabamento em plano fechado — a junção, a borda, a textura. A identidade vista de perto.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043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É CULTURA DE MARCA?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34733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694804"/>
            <a:ext cx="1225296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É o conjunto de crenças, valores e princípios que orientam a identidade de uma marca, manifestando-se em seus comportamentos, produtos, comunicação e experiência oferecida ao público.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1356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FOI MAPEADA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5045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9792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análise cruzou a história e as intenções da fundadora, os documentos de identidade verbal, as percepções dos colaboradores e os depoimentos de clientes e arquitetos.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653095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objetivo: identificar a identidade cultural de cada marca, distinguindo atributos já reconhecidos no mercado daqueles que ainda precisam ser desenvolvidos.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22173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SETE ELEMENTOS INVESTIGADOS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15906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8603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0653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Origem e significado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41535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6152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597034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61651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Personalidade e expressão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52533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17150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Comportamento da equipe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8603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450653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Experiência entregue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541535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06152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Percepção externa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597034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5616519"/>
            <a:ext cx="6880860" cy="3903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Coerência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FORMA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Cultura de marca · uma marca orientada à realização.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projeto complexo em execução — marcenaria sob medida, encaixe, peça grande em montagem.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conversa técnica sobre o projeto — prancha, amostra de material, desenho na mesa.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170591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LIBERDADE DE CRIAR EXIGE A CAPACIDADE DE REALIZAR.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861499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208971"/>
            <a:ext cx="8458200" cy="16788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6B6B66"/>
                </a:solidFill>
                <a:latin typeface="Outfit 1 Light"/>
              </a:rPr>
              <a:t>A Forma representa a liberdade conquistada para executar projetos sem ficar restrita às limitações dos sistemas padronizados.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9425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96595"/>
            <a:ext cx="14081760" cy="32110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Uma ideia singular merece</a:t>
            </a:r>
          </a:p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1C1C1A"/>
                </a:solidFill>
                <a:latin typeface="Outfit 1 Light"/>
              </a:rPr>
              <a:t>uma execução à sua altura.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33539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 da Forma.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78483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FORMA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72173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015911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Precisão · Personalização · Responsabilidade · Confiança · Evolução técnica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069202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325234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015911"/>
            <a:ext cx="68808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Segura · Criteriosa · Técnica · Próxima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444813"/>
            <a:ext cx="122529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Expressão da marca: sofisticação sustentada pelo conhecimento e pela competência.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94483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VERDADEIRO ALTO PADRÃO É A TRANQUILIDADE DE QUEM CONFIA.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3574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Comportamento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Compreender o projeto, antecipar dificuldades, encontrar soluções e assumir responsabilidade pela execução.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Experiência entregue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Segurança para realizar projetos personalizados e complexos, com precisão, acompanhamento e atenção aos detalhes.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821820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significado da experiência: a confiança não está apenas no resultado final, mas na tranquilidade proporcionada durante todo o processo.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TRANSFORMAR COMPLEXIDADE EM CONFIANÇA.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Percepção reconhecida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Arquitetos e clientes destacam domínio técnico, qualidade de execução, cuidado com os detalhes e parceria.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3206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576693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Desafio da marca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267370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Preservar a personalização e a proximidade mesmo com a expansão industrial.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02751"/>
            <a:ext cx="14081760" cy="1742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FFFFFF"/>
                </a:solidFill>
                <a:latin typeface="Outfit 1 Light"/>
              </a:rPr>
              <a:t>Precisão que realiza.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32689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60121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A essência cultural da Forma.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completo entregue pela Forma. Imagem ampla, que aguente a frase por cima.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Cultura de marca · uma marca orientada à criação.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bancada de criação: protótipo, teste de acabamento, peça em desenvolvimento.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24159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552493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19421"/>
            <a:ext cx="576072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material antes de virar produto — a sobra, o retalho, a chapa separada. O ponto de partida.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73716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ENXERGAR POSSIBILIDADES ONDE OUTROS ENXERGAM LIMITES.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564624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912096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My Home nasceu do inconformismo diante do desperdício e da capacidade de transformar materiais descartados em novas criações.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67263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reaproveitamento foi o ponto de partida. A inventividade constitui sua principal oportunidade de diferenciação.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3550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757434"/>
            <a:ext cx="14081760" cy="426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O valor de um material não se limita</a:t>
            </a:r>
          </a:p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ao uso para o qual</a:t>
            </a:r>
          </a:p>
          <a:p>
            <a:pPr algn="l">
              <a:lnSpc>
                <a:spcPct val="126000"/>
              </a:lnSpc>
            </a:pPr>
            <a:r>
              <a:rPr sz="6700" i="0" b="0">
                <a:solidFill>
                  <a:srgbClr val="1C1C1A"/>
                </a:solidFill>
                <a:latin typeface="Outfit 1 Light"/>
              </a:rPr>
              <a:t>foi originalmente pensado.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87455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crença central da My Home.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67791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VALORES E A PERSONALIDADE DA MY HOME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20468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55215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80818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Valores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498866"/>
            <a:ext cx="68808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Inventividade · Transformação · Originalidade · Qualidade · Acessibilidade · Evolução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55215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80818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Personalidade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498866"/>
            <a:ext cx="688086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Criativa · Curiosa · Expressiva · Próxima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94483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CRIAR NÃO É IMPROVISAR. É TRANSFORMAR COM CONHECIMENTO.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63574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Comportamento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Experimentar possibilidades, compartilhar ideias, dominar técnicas e aperfeiçoar materiais e acabamentos.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3983217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239249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Experiência pretendida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4929926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Oferecer produtos originais que despertem descoberta, surpreendam e acrescentem personalidade aos ambientes.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821820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significado da experiência: a criatividade transforma materiais e objetos em novas possibilidades para a casa.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6295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TRANSFORMAR POSSIBILIDADES EM CRIAÇÃO.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973189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43206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576693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Percepção reconhecida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5267370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Arquitetos valorizam a capacidade técnica da My Home para executar acabamentos, detalhes e soluções especiais.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395460" y="4320661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5460" y="4576693"/>
            <a:ext cx="688086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Desafio da marca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5460" y="5267370"/>
            <a:ext cx="68808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Consolidar sua identidade independente e ser reconhecida pelo consumidor final pela criatividade, originalidade e qualidade dos produtos.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902751"/>
            <a:ext cx="14081760" cy="1742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7400" i="0" b="0">
                <a:solidFill>
                  <a:srgbClr val="FFFFFF"/>
                </a:solidFill>
                <a:latin typeface="Outfit 1 Light"/>
              </a:rPr>
              <a:t>Criatividade que transforma.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32689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60121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A essência cultural da My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produto My Home em destaque no ambiente. Imagem ampla, que aguente a frase por cima.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SÍNTESE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conecta as empresas e o que diferencia cada marca.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operações, ou o ambiente de trabalho cheio de gente. Plano aberto.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COMPARTILHADA. DUAS IDENTIDADES DE MARCA.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620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9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CULTURA ORGANIZACIONAL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26616"/>
            <a:ext cx="9144000" cy="1185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Proximidade, autonomia, cooperação e responsabilidade pelo resultado.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18568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4234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FORMA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5350276"/>
            <a:ext cx="9144000" cy="1185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liberdade de personalizar encontra valor na precisão e na confiança da execução.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0934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8470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MY HOME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6773936"/>
            <a:ext cx="9144000" cy="11859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liberdade de imaginar encontra valor na criatividade e na transformação.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06552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467862"/>
            <a:ext cx="14081760" cy="3250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000" i="0" b="0">
                <a:solidFill>
                  <a:srgbClr val="1C1C1A"/>
                </a:solidFill>
                <a:latin typeface="Outfit 1 Light"/>
              </a:rPr>
              <a:t>As duas marcas compartilham uma mentalidade</a:t>
            </a:r>
          </a:p>
          <a:p>
            <a:pPr algn="l">
              <a:lnSpc>
                <a:spcPct val="126000"/>
              </a:lnSpc>
            </a:pPr>
            <a:r>
              <a:rPr sz="5000" i="0" b="0">
                <a:solidFill>
                  <a:srgbClr val="1C1C1A"/>
                </a:solidFill>
                <a:latin typeface="Outfit 1 Light"/>
              </a:rPr>
              <a:t>de superação dos limites,</a:t>
            </a:r>
          </a:p>
          <a:p>
            <a:pPr algn="l">
              <a:lnSpc>
                <a:spcPct val="126000"/>
              </a:lnSpc>
            </a:pPr>
            <a:r>
              <a:rPr sz="5000" i="0" b="0">
                <a:solidFill>
                  <a:srgbClr val="1C1C1A"/>
                </a:solidFill>
                <a:latin typeface="Outfit 1 Light"/>
              </a:rPr>
              <a:t>mas a expressam de maneiras diferentes.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151327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AS DUAS ESSÊNCIAS CULTURAIS.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4088221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5391607"/>
            <a:ext cx="635508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665927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FORMA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49975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Transformar complexidade em confiança.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921240" y="5391607"/>
            <a:ext cx="635508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21240" y="5665927"/>
            <a:ext cx="6355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MY HOME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6049975"/>
            <a:ext cx="6355080" cy="5644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Transformar possibilidades em criação.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12" y="5391607"/>
            <a:ext cx="12802" cy="1241146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42832" y="58293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A5A49F"/>
                </a:solidFill>
                <a:latin typeface="Outfit 1 Light"/>
              </a:rPr>
              <a:t>×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