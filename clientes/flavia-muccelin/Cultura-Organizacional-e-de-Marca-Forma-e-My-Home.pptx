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  <p:sldId id="282" r:id="rId10"/>
    <p:sldId id="283" r:id="rId9"/>
    <p:sldId id="284" r:id="rId8"/>
    <p:sldId id="285" r:id="rId7"/>
    <p:sldId id="286" r:id="rId6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31.xml"/><Relationship Id="rId7" Type="http://schemas.openxmlformats.org/officeDocument/2006/relationships/slide" Target="slides/slide30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Relationship Id="rId50" Type="http://schemas.openxmlformats.org/officeDocument/2006/relationships/slide" Target="slides/slide32.xml"/><Relationship Id="rId51" Type="http://schemas.openxmlformats.org/officeDocument/2006/relationships/slide" Target="slides/slide33.xml"/><Relationship Id="rId52" Type="http://schemas.openxmlformats.org/officeDocument/2006/relationships/slide" Target="slides/slide34.xml"/><Relationship Id="rId53" Type="http://schemas.openxmlformats.org/officeDocument/2006/relationships/slide" Target="slides/slide35.xml"/><Relationship Id="rId54" Type="http://schemas.openxmlformats.org/officeDocument/2006/relationships/slide" Target="slides/slide36.xml"/><Relationship Id="rId55" Type="http://schemas.openxmlformats.org/officeDocument/2006/relationships/slide" Target="slides/slide37.xml"/><Relationship Id="rId56" Type="http://schemas.openxmlformats.org/officeDocument/2006/relationships/slide" Target="slides/slide38.xml"/><Relationship Id="rId57" Type="http://schemas.openxmlformats.org/officeDocument/2006/relationships/slide" Target="slides/slide39.xml"/><Relationship Id="rId58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617720"/>
            <a:ext cx="3931920" cy="934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06840" y="4206240"/>
            <a:ext cx="12802" cy="16916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434840"/>
            <a:ext cx="4023360" cy="115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848" y="3364992"/>
            <a:ext cx="1490472" cy="1779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3593592"/>
            <a:ext cx="13551408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549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O QUE DEFINE</a:t>
            </a:r>
          </a:p>
          <a:p>
            <a:pPr algn="l">
              <a:lnSpc>
                <a:spcPts val="8549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A FORMA E A MY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179820"/>
            <a:ext cx="1355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i="0" b="0">
                <a:solidFill>
                  <a:srgbClr val="1C1C1A"/>
                </a:solidFill>
                <a:latin typeface="Outfit 1 Bold"/>
              </a:rPr>
              <a:t>Cultura Organizacional e de Marca</a:t>
            </a:r>
            <a:r>
              <a:rPr sz="3000" i="0" b="0">
                <a:solidFill>
                  <a:srgbClr val="1C1C1A"/>
                </a:solidFill>
                <a:latin typeface="Outfit 1"/>
              </a:rPr>
              <a:t>  |  FORMA e My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53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4024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889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133" y="6494587"/>
            <a:ext cx="3459591" cy="3459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7964424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Light"/>
              </a:rPr>
              <a:t>Método </a:t>
            </a:r>
            <a:r>
              <a:rPr sz="2680" i="0" b="0">
                <a:solidFill>
                  <a:srgbClr val="1C1C1A"/>
                </a:solidFill>
                <a:latin typeface="Outfit 2 Semi-Bold"/>
              </a:rPr>
              <a:t>Marca</a:t>
            </a:r>
          </a:p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Semi-Bold"/>
              </a:rPr>
              <a:t>com Essência</a:t>
            </a:r>
            <a:r>
              <a:rPr sz="1470" i="0" b="0">
                <a:solidFill>
                  <a:srgbClr val="1C1C1A"/>
                </a:solidFill>
                <a:latin typeface="Outfit 2"/>
              </a:rPr>
              <a:t>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8156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729"/>
              </a:lnSpc>
            </a:pPr>
            <a:r>
              <a:rPr sz="1950" i="0" b="0">
                <a:solidFill>
                  <a:srgbClr val="1C1C1A"/>
                </a:solidFill>
                <a:latin typeface="Outfit 1"/>
              </a:rPr>
              <a:t>OUTUBRO/2026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56692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969258"/>
            <a:ext cx="14081760" cy="224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cultura organizacional compartilhada.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Duas culturas de marca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com identidades próprias.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804672"/>
            <a:ext cx="1426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7800"/>
              </a:lnSpc>
            </a:pPr>
            <a:r>
              <a:rPr sz="7800" i="0" b="0">
                <a:solidFill>
                  <a:srgbClr val="1C1C1A"/>
                </a:solidFill>
                <a:latin typeface="Outfit 1 Ultra-Bold"/>
              </a:rPr>
              <a:t>CULTURA E IDENTIDADE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9748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53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8437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Cultura organizacional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2946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Origem, valores, liderança e comportamentos compartilhados.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88620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14223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03250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Cultura de marca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48335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 conceito e o método que valem para as duas marcas.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507492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533095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522122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Cultura de marca 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567207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Uma marca orientada à realização.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626364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651967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640994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Cultura de marca My 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686079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Uma marca orientada à criação.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745236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770839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759866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Síntese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804951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 que conecta as empresas e o que diferencia cada marca.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864108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408680"/>
            <a:ext cx="152476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59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84168"/>
            <a:ext cx="15247620" cy="138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9460"/>
              </a:lnSpc>
            </a:pPr>
            <a:r>
              <a:rPr sz="8600" i="0" b="0">
                <a:solidFill>
                  <a:srgbClr val="FFFFFF"/>
                </a:solidFill>
                <a:latin typeface="Outfit 1 Bold"/>
              </a:rPr>
              <a:t>CULTURA ORGANIZACIONAL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341620"/>
            <a:ext cx="15247620" cy="741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4755"/>
              </a:lnSpc>
            </a:pPr>
            <a:r>
              <a:rPr sz="4100" i="0" b="0">
                <a:solidFill>
                  <a:srgbClr val="FFFFFF"/>
                </a:solidFill>
                <a:latin typeface="Outfit 1 Light"/>
              </a:rPr>
              <a:t>Origem, valores, liderança e comportamentos compartilhados.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A oficina com várias pessoas trabalhando ao mesmo tempo. Plano aberto, o coletivo em 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549015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É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CULTURA ORGANIZACIONAL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46265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810125"/>
            <a:ext cx="122529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É o conjunto de crenças, valores, comportamentos e práticas compartilhadas que orientam a maneira como as pessoas trabalham, se relacionam e tomam decisões dentro de uma organização.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6217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COMO FOI MAPEADA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7581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423283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análise considerou a história da fundadora, entrevistas com oito colaboradores, relatos da liderança e depoimentos de clientes e arquitetos.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641467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objetivo: identificar o que é declarado, o que é vivenciado e quais características precisam ser preservadas ou desenvolvidas.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3728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OS SETE ELEMENTOS INVESTIGADOS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5091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8004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3983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História e origem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40372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500164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Valores e crenças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0069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6048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Liderança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61022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20814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Comportamentos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48004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43983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Relações internas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5460" y="540372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5460" y="500164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Práticas e rituais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5460" y="60069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5460" y="56048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Tensões culturais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2920" y="403783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32920" y="434873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2920" y="4915662"/>
            <a:ext cx="576072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origem do ofício: a primeira oficina, uma máquina em operação, ou o lugar onde tudo começou.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89454"/>
            <a:ext cx="8458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NÃO ACEITAR O LIMITE COMO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RESPOSTA DEFINITIVA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133850"/>
            <a:ext cx="8458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481322"/>
            <a:ext cx="8458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trajetória de Flávia revela uma mentalidade recorrente: diante das limitações, buscar novas possibilidades.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699506"/>
            <a:ext cx="8458200" cy="186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Essa característica influenciou a criação e o crescimento das empresas e encontra correspondência na iniciativa e na capacidade de resolução relatadas pelos colaboradores.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643503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045839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dificuldade não precisa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determinar o resultado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604637"/>
            <a:ext cx="11887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crença de origem.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Bold"/>
              </a:rPr>
              <a:t>LIBERDADE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PARA AGIR.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RESPONSABILIDADE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PARA ENTREGAR.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36804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71551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9898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COMPROMETIMENTO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916680"/>
            <a:ext cx="9144000" cy="589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Responsabilidade pelo resultado.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57901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85333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AUTONOMIA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780178"/>
            <a:ext cx="9144000" cy="589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Liberdade para encontrar soluções.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44250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71682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EXCELÊNCIA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643677"/>
            <a:ext cx="9144000" cy="589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Exigência com a qualidade.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6306007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6580327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COOPERAÇÃO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6507175"/>
            <a:ext cx="9144000" cy="589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Compromisso com o trabalho coletivo.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7169506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744382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EVOLUÇÃO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7370674"/>
            <a:ext cx="9144000" cy="589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Busca contínua por conhecimento e melhoria.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9250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LIDERANÇA IDENTIFICADA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90613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72808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253611"/>
            <a:ext cx="1426464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Próxima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40372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929251"/>
            <a:ext cx="1426464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Acessível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07936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604891"/>
            <a:ext cx="1426464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Exigente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75500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280531"/>
            <a:ext cx="14264640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Orientada à realização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2985643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387979"/>
            <a:ext cx="14081760" cy="290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Competência não se limita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ao conhecimento técnico.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Também exige envolvimento com aquilo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que precisa ser realizado.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262497"/>
            <a:ext cx="11887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crença compartilhada.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269617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CULTURA SE REVELA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DIANTE DOS PROBLEMAS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183255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530727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805047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Resolver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42155"/>
            <a:ext cx="441960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Tomar iniciativa sem depender de ordens para cada decisão.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4200" y="3530727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4200" y="3805047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Cuidar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0" y="4542155"/>
            <a:ext cx="441960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Corrigir aquilo que não atende ao padrão e considerar o impacto sobre o cliente.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56720" y="3530727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56720" y="3805047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Colaborar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56720" y="4542155"/>
            <a:ext cx="44196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Ajudar outras pessoas e áreas para assegurar a entrega.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6784" y="6534023"/>
            <a:ext cx="10314432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Esses comportamentos são favorecidos por relações próximas, diálogo e sentimento de pertencimento.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314573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716909"/>
            <a:ext cx="14081760" cy="224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 responsabilidade não termina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no limite de uma função.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Ela se estende ao resultado coletivo.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933567"/>
            <a:ext cx="11887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descoberta cultural.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CRESCIMENTO EXIGE 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EVOLUÇÃO DA CULTURA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37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23240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FORÇA IDENTIFICADA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32324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220">
                <a:solidFill>
                  <a:srgbClr val="CC754E"/>
                </a:solidFill>
                <a:latin typeface="Outfit 1 Semi-Bold"/>
              </a:rPr>
              <a:t>DESAFIO DO CRESCIMENTO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744468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0187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PROXIMIDADE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945636"/>
            <a:ext cx="9144000" cy="5833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Desenvolver novas lideranças.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4602175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876495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AUTONOMIA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803343"/>
            <a:ext cx="9144000" cy="5833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Estabelecer critérios compartilhados.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54598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573420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AGILIDADE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661050"/>
            <a:ext cx="9144000" cy="5833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Estruturar processos previsíveis.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631759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659191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EXCELÊNCIA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6518758"/>
            <a:ext cx="9144000" cy="5833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Reproduzir padrões em escala.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7175297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7449617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COOPERAÇÃO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7376465"/>
            <a:ext cx="9144000" cy="5833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Definir responsabilidades entre operações.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314573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716909"/>
            <a:ext cx="14081760" cy="224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Transformar uma cultura fortemente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influenciada pela fundadora em princípios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e práticas sustentados por toda a organização.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933567"/>
            <a:ext cx="11887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desafio central.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20009"/>
            <a:ext cx="152476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59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595497"/>
            <a:ext cx="15247620" cy="1873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3310"/>
              </a:lnSpc>
            </a:pPr>
            <a:r>
              <a:rPr sz="12100" i="0" b="0">
                <a:solidFill>
                  <a:srgbClr val="FFFFFF"/>
                </a:solidFill>
                <a:latin typeface="Outfit 1 Bold"/>
              </a:rPr>
              <a:t>CULTURA DE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541899"/>
            <a:ext cx="15247620" cy="829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5452"/>
              </a:lnSpc>
            </a:pPr>
            <a:r>
              <a:rPr sz="4700" i="0" b="0">
                <a:solidFill>
                  <a:srgbClr val="FFFFFF"/>
                </a:solidFill>
                <a:latin typeface="Outfit 1 Light"/>
              </a:rPr>
              <a:t>O conceito e o método que valem para as duas marcas.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detalhe de acabamento em plano fechado — a junção, a borda, a textura. A identidade vista de perto.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549015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É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CULTURA DE MARCA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46265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810125"/>
            <a:ext cx="122529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É o conjunto de crenças, valores e princípios que orientam a identidade de uma marca, manifestando-se em seus comportamentos, produtos, comunicação e experiência oferecida ao público.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3992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COMO FOI MAPEADA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5356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201033"/>
            <a:ext cx="122529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análise cruzou a história e as intenções da fundadora, os documentos de identidade verbal, as percepções dos colaboradores e os depoimentos de clientes e arquitetos.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863717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objetivo: identificar a identidade cultural de cada marca, distinguindo atributos já reconhecidos no mercado daqueles que ainda precisam ser desenvolvidos.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3728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OS SETE ELEMENTOS INVESTIGADOS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5091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8004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3983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Origem e significado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40372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500164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Valores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0069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6048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Personalidade e expressão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61022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20814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Comportamento da equipe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48004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43983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Experiência entregue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5460" y="540372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5460" y="500164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Percepção externa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5460" y="60069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5460" y="56048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Coerência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48114"/>
            <a:ext cx="152476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59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423602"/>
            <a:ext cx="15247620" cy="2187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785"/>
              </a:lnSpc>
            </a:pPr>
            <a:r>
              <a:rPr sz="14350" i="0" b="0">
                <a:solidFill>
                  <a:srgbClr val="FFFFFF"/>
                </a:solidFill>
                <a:latin typeface="Outfit 1 Bold"/>
              </a:rPr>
              <a:t>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684330"/>
            <a:ext cx="15247620" cy="8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5684"/>
              </a:lnSpc>
            </a:pPr>
            <a:r>
              <a:rPr sz="4900" i="0" b="0">
                <a:solidFill>
                  <a:srgbClr val="FFFFFF"/>
                </a:solidFill>
                <a:latin typeface="Outfit 1 Light"/>
              </a:rPr>
              <a:t>Cultura de marca · uma marca orientada à realização.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projeto complexo em execução — marcenaria sob medida, encaixe, peça grande em montagem.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2920" y="403783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32920" y="434873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2920" y="4915662"/>
            <a:ext cx="576072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Uma conversa técnica sobre o projeto — prancha, amostra de material, desenho na mesa.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320796"/>
            <a:ext cx="8458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LIBERDADE DE CRIAR EXIGE 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CAPACIDADE DE REALIZAR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965192"/>
            <a:ext cx="8458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312664"/>
            <a:ext cx="845820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Forma representa a liberdade conquistada para executar projetos sem ficar restrita às limitações dos sistemas padronizados.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643503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045839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ideia singular merece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execução à sua altura.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604637"/>
            <a:ext cx="11887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crença central da Forma.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491867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OS VALORES E A PERSONALIDADE DA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FORMA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405505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75297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02729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Valores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764405"/>
            <a:ext cx="68808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Precisão · Personalização · Responsabilidade · Confiança · Evolução técnica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375297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402729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Personalidade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4764405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Segura · Criteriosa · Técnica · Próxima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3942" y="4063873"/>
            <a:ext cx="19202" cy="1534668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6311773"/>
            <a:ext cx="10314432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Expressão da marca: sofisticação sustentada pelo conhecimento e pela competência.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904238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VERDADEIRO ALTO PADRÃO É 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TRANQUILIDADE DE QUEM CONFIA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54863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896106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170426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Comportamento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907534"/>
            <a:ext cx="68808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Compreender o projeto, antecipar dificuldades, encontrar soluções e assumir responsabilidade pela execução.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3896106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4170426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Experiência entregue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4907534"/>
            <a:ext cx="68808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Segurança para realizar projetos personalizados e complexos, com precisão, acompanhamento e atenção aos detalhes.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3942" y="4207002"/>
            <a:ext cx="19202" cy="1979168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6899402"/>
            <a:ext cx="10314432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significado da experiência: a confiança não está apenas no resultado final, mas na tranquilidade proporcionada durante todo o processo.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04330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TRANSFORMAR COMPLEXIDADE EM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CONFIANÇA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95693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304411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578731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Percepção reconhecida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315839"/>
            <a:ext cx="68808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Arquitetos e clientes destacam domínio técnico, qualidade de execução, cuidado com os detalhes e parceria.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4304411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4578731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Desafio da marca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5315839"/>
            <a:ext cx="68808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Preservar a personalização e a proximidade mesmo com a expansão industrial.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3942" y="4615307"/>
            <a:ext cx="19202" cy="1979168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79024" y="1028700"/>
            <a:ext cx="7808976" cy="2077212"/>
          </a:xfrm>
          <a:prstGeom prst="roundRect">
            <a:avLst>
              <a:gd name="adj" fmla="val 7923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45952" y="1595628"/>
            <a:ext cx="6675120" cy="58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Precisão que realiza.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2236724"/>
            <a:ext cx="6675120" cy="393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6B6B66"/>
                </a:solidFill>
                <a:latin typeface="Outfit 1 Light"/>
              </a:rPr>
              <a:t>A essência cultural da Forma.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ambiente completo entregue pela Forma. Imagem ampla, que aguente a frase por cima.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33382"/>
            <a:ext cx="152476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59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408870"/>
            <a:ext cx="15247620" cy="2187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785"/>
              </a:lnSpc>
            </a:pPr>
            <a:r>
              <a:rPr sz="14350" i="0" b="0">
                <a:solidFill>
                  <a:srgbClr val="FFFFFF"/>
                </a:solidFill>
                <a:latin typeface="Outfit 1 Bold"/>
              </a:rPr>
              <a:t>MY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669598"/>
            <a:ext cx="15247620" cy="888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5916"/>
              </a:lnSpc>
            </a:pPr>
            <a:r>
              <a:rPr sz="5100" i="0" b="0">
                <a:solidFill>
                  <a:srgbClr val="FFFFFF"/>
                </a:solidFill>
                <a:latin typeface="Outfit 1 Light"/>
              </a:rPr>
              <a:t>Cultura de marca · uma marca orientada à criação.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A bancada de criação: protótipo, teste de acabamento, peça em desenvolvimento.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403783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4873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5662"/>
            <a:ext cx="576072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material antes de virar produto — a sobra, o retalho, a chapa separada. O ponto de partida.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711704"/>
            <a:ext cx="9601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ENXERGAR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POSSIBILIDADES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ONDE OUTROS ENXERGAM LIMITES.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4356100"/>
            <a:ext cx="9601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703572"/>
            <a:ext cx="960120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My Home nasceu do inconformismo diante do desperdício e da capacidade de transformar materiais descartados em novas criações.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6366256"/>
            <a:ext cx="9601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reaproveitamento foi o ponto de partida. A inventividade constitui sua principal oportunidade de diferenciação.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314573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716909"/>
            <a:ext cx="14081760" cy="224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O valor de um material não se limita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ao uso para o qual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foi originalmente pensado.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933567"/>
            <a:ext cx="11887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crença central da My Home.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26555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OS VALORES E A PERSONALIDADE DA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MY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7918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526661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800981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Valores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538089"/>
            <a:ext cx="68808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Inventividade · Transformação · Originalidade · Qualidade · Acessibilidade · Evolução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4526661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4800981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Personalidade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5538089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Criativa · Curiosa · Expressiva · Próxima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3942" y="4837557"/>
            <a:ext cx="19202" cy="1534668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904238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CRIAR NÃO É IMPROVISAR. É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TRANSFORMAR COM CONHECIMENTO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54863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896106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170426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Comportamento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907534"/>
            <a:ext cx="68808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Experimentar possibilidades, compartilhar ideias, dominar técnicas e aperfeiçoar materiais e acabamentos.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3896106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4170426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Experiência pretendida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4907534"/>
            <a:ext cx="68808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Oferecer produtos originais que despertem descoberta, surpreendam e acrescentem personalidade aos ambientes.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3942" y="4207002"/>
            <a:ext cx="19202" cy="1979168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6899402"/>
            <a:ext cx="10314432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significado da experiência: a criatividade transforma materiais e objetos em novas possibilidades para a casa.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82105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TRANSFORMAR POSSIBILIDADES EM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CRIAÇÃO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73468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082161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356481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Percepção reconhecida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093589"/>
            <a:ext cx="68808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Arquitetos valorizam a capacidade técnica da My Home para executar acabamentos, detalhes e soluções especiais.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4082161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4356481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Desafio da marca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5093589"/>
            <a:ext cx="6880860" cy="186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Consolidar sua identidade independente e ser reconhecida pelo consumidor final pela criatividade, originalidade e qualidade dos produtos.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3942" y="4393057"/>
            <a:ext cx="19202" cy="2423668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79024" y="1028700"/>
            <a:ext cx="7808976" cy="2077212"/>
          </a:xfrm>
          <a:prstGeom prst="roundRect">
            <a:avLst>
              <a:gd name="adj" fmla="val 7923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45952" y="1595628"/>
            <a:ext cx="6675120" cy="58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Criatividade que transforma.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2236724"/>
            <a:ext cx="6675120" cy="393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6B6B66"/>
                </a:solidFill>
                <a:latin typeface="Outfit 1 Light"/>
              </a:rPr>
              <a:t>A essência cultural da My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produto My Home em destaque no ambiente. Imagem ampla, que aguente a frase por cima.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92310"/>
            <a:ext cx="152476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59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467798"/>
            <a:ext cx="15247620" cy="2187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785"/>
              </a:lnSpc>
            </a:pPr>
            <a:r>
              <a:rPr sz="14350" i="0" b="0">
                <a:solidFill>
                  <a:srgbClr val="FFFFFF"/>
                </a:solidFill>
                <a:latin typeface="Outfit 1 Bold"/>
              </a:rPr>
              <a:t>SÍNTESE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728526"/>
            <a:ext cx="15247620" cy="770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4988"/>
              </a:lnSpc>
            </a:pPr>
            <a:r>
              <a:rPr sz="4300" i="0" b="0">
                <a:solidFill>
                  <a:srgbClr val="FFFFFF"/>
                </a:solidFill>
                <a:latin typeface="Outfit 1 Light"/>
              </a:rPr>
              <a:t>O que conecta as empresas e o que diferencia cada marca.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O time completo das duas operações, ou o ambiente de trabalho cheio de gente. Plano aberto.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UMA CULTURA COMPARTILHADA.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DUAS IDENTIDADES DE MARCA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36804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71551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9898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CULTURA ORGANIZACIONAL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916680"/>
            <a:ext cx="9144000" cy="1164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Proximidade, autonomia, cooperação e responsabilidade pelo resultado.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5154676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42899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FORMA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5355844"/>
            <a:ext cx="9144000" cy="1164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 liberdade de personalizar encontra valor na precisão e na confiança da execução.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59384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868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MY 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795008"/>
            <a:ext cx="9144000" cy="1164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 liberdade de imaginar encontra valor na criatividade e na transformação.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56692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969258"/>
            <a:ext cx="14081760" cy="224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As duas marcas compartilham uma mentalidade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de superação dos limites,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mas a expressam de maneiras diferentes.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9062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AS DUAS ESSÊNCIAS CULTURAIS.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0425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5430901"/>
            <a:ext cx="635508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705221"/>
            <a:ext cx="6355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220">
                <a:solidFill>
                  <a:srgbClr val="CC754E"/>
                </a:solidFill>
                <a:latin typeface="Outfit 1 Semi-Bold"/>
              </a:rPr>
              <a:t>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6089269"/>
            <a:ext cx="6355080" cy="485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Transformar complexidade em confiança.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921240" y="5430901"/>
            <a:ext cx="635508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21240" y="5705221"/>
            <a:ext cx="6355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MY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6089269"/>
            <a:ext cx="6355080" cy="485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Transformar possibilidades em criação.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25712" y="5430901"/>
            <a:ext cx="12802" cy="1162558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58293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19"/>
              </a:lnSpc>
            </a:pPr>
            <a:r>
              <a:rPr sz="2800" i="0" b="0">
                <a:solidFill>
                  <a:srgbClr val="A5A49F"/>
                </a:solidFill>
                <a:latin typeface="Outfit 1 Light"/>
              </a:rPr>
              <a:t>×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2651760"/>
            <a:ext cx="13716000" cy="162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0640"/>
              </a:lnSpc>
            </a:pPr>
            <a:r>
              <a:rPr sz="9500" i="0" b="0">
                <a:solidFill>
                  <a:srgbClr val="1C1C1A"/>
                </a:solidFill>
                <a:latin typeface="Outfit 1 Light"/>
              </a:rPr>
              <a:t>OBRIGADA!</a:t>
            </a:r>
          </a:p>
        </p:txBody>
      </p:sp>
      <p:pic>
        <p:nvPicPr>
          <p:cNvPr id="4" name="Picture 3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5257800"/>
            <a:ext cx="4421124" cy="10507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5257800"/>
            <a:ext cx="12802" cy="114300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445" y="5312664"/>
            <a:ext cx="3291840" cy="942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