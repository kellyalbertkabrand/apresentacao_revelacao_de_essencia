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DEFINE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A FORMA E A MY 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 e de Marca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692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258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cultura organizacional compartilhada.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Duas culturas de marca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com identidades próprias.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CULTURA E IDENTIDADE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Origem, valores, liderança e comportamentos compartilhados.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88620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4223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3250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48335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conceito e o método que valem para as duas marcas.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33095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22122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67207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Uma marca orientada à realização.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2636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1967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40994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My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86079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Uma marca orientada à criação.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745236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70839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759866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Síntese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804951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conecta as empresas e o que diferencia cada marca.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26142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01630"/>
            <a:ext cx="15247620" cy="1349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9185"/>
              </a:lnSpc>
            </a:pPr>
            <a:r>
              <a:rPr sz="8350" i="0" b="0">
                <a:solidFill>
                  <a:srgbClr val="FFFFFF"/>
                </a:solidFill>
                <a:latin typeface="Outfit 1 Bold"/>
              </a:rPr>
              <a:t>CULTURA ORGANIZACIONAL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24158"/>
            <a:ext cx="15247620" cy="741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755"/>
              </a:lnSpc>
            </a:pPr>
            <a:r>
              <a:rPr sz="4100" i="0" b="0">
                <a:solidFill>
                  <a:srgbClr val="FFFFFF"/>
                </a:solidFill>
                <a:latin typeface="Outfit 1 Light"/>
              </a:rPr>
              <a:t>Origem, valores, liderança e comportamentos compartilhados.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54901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CULTURA ORGANIZACIONAL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4626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81012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o conjunto de crenças, valores, comportamentos e práticas compartilhadas que orientam a maneira como as pessoas trabalham, se relacionam e tomam decisões dentro de uma organização.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análise considerou a história da fundadora, entrevistas com oito colaboradores, relatos da liderança e depoimentos de clientes e arquitetos.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objetivo: identificar o que é declarado, o que é vivenciado e quais características precisam ser preservadas ou desenvolvidas.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372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SETE ELEMENTOS INVESTIGADOS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9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História e origem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 e crenças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102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2081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Relações internas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Práticas e rituais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Tensões culturais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origem do ofício: a primeira oficina, uma máquina em operação, ou o lugar onde tudo começou.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89454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RESPOSTA DEFINITIVA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33850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81322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trajetória de Flávia revela uma mentalidade recorrente: diante das limitações, buscar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699506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Essa característica influenciou a criação e o crescimento das empresas e encontra correspondência na iniciativa e na capacidade de resolução relatadas pelos colaboradores.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64350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4583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dificuldade não precisa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determinar o resultado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0463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crença de origem.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LIBERDADE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PARA AGIR.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RESPONSABILIDADE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680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155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8983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16680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Responsabilidade pelo resultado.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7901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33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AUTONOMIA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178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Liberdade para encontrar soluções.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4250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16829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43677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Exigência com a qualidade.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0600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80327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507175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Compromisso com o trabalho coletivo.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6950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43826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70674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Busca contínua por conhecimento e melhoria.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25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LIDERANÇA IDENTIFICADA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061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280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3611"/>
            <a:ext cx="1426464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Próxima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0372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29251"/>
            <a:ext cx="1426464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Acessível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07936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04891"/>
            <a:ext cx="1426464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Exigente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75500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280531"/>
            <a:ext cx="1426464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Orientada à realização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98564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387979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Competência não se limita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ao conhecimento técnico.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Também exige envolvimento com aquilo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que precisa ser realizado.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26249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crença compartilhada.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SE REVELA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DIANTE DOS PROBLEMAS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Tomar iniciativa sem depender de ordens para cada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542155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Corrigir aquilo que não atende ao padrão e considerar o impacto sobre o cliente.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Colaborar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Ajudar outras pessoas e áreas para assegurar a entrega.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Esses comportamentos são favorecidos por relações próximas, diálogo e sentimento de pertencimento.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1457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16909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responsabilidade não termina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no limite de uma função.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Ela se estende ao resultado coletivo.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3356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descoberta cultural.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CRESCIMENTO EXIGE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EVOLUÇÃO DA CULTURA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2324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FORÇA IDENTIFICADA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232404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DESAFIO DO CRESCIMENTO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74446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01878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PROXIMIDADE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945636"/>
            <a:ext cx="9144000" cy="583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Desenvolver novas lideranças.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60217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76495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AUTONOMIA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803343"/>
            <a:ext cx="9144000" cy="583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Estabelecer critérios compartilhados.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4598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73420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AGILIDADE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661050"/>
            <a:ext cx="9144000" cy="583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Estruturar processos previsíveis.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31759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9191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EXCELÊNCIA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518758"/>
            <a:ext cx="9144000" cy="583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Reproduzir padrões em escala.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17529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449617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COOPERAÇÃO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376465"/>
            <a:ext cx="9144000" cy="583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Definir responsabilidades entre operações.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1457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16909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Transformar uma cultura fortemente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influenciada pela fundadora em princípios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e práticas sustentados por toda a organização.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3356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desafio central.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5493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630422"/>
            <a:ext cx="15247620" cy="180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760"/>
              </a:lnSpc>
            </a:pPr>
            <a:r>
              <a:rPr sz="11600" i="0" b="0">
                <a:solidFill>
                  <a:srgbClr val="FFFFFF"/>
                </a:solidFill>
                <a:latin typeface="Outfit 1 Bold"/>
              </a:rPr>
              <a:t>CULTURA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506974"/>
            <a:ext cx="15247620" cy="829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452"/>
              </a:lnSpc>
            </a:pPr>
            <a:r>
              <a:rPr sz="4700" i="0" b="0">
                <a:solidFill>
                  <a:srgbClr val="FFFFFF"/>
                </a:solidFill>
                <a:latin typeface="Outfit 1 Light"/>
              </a:rPr>
              <a:t>O conceito e o método que valem para as duas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detalhe de acabamento em plano fechado — a junção, a borda, a textura. A identidade vista de perto.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54901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CULTURA DE MARCA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4626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81012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o conjunto de crenças, valores e princípios que orientam a identidade de uma marca, manifestando-se em seus comportamentos, produtos, comunicação e experiência oferecida ao público.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99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535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01033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análise cruzou a história e as intenções da fundadora, os documentos de identidade verbal, as percepções dos colaboradores e os depoimentos de clientes e arquitetos.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6371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objetivo: identificar a identidade cultural de cada marca, distinguindo atributos já reconhecidos no mercado daqueles que ainda precisam ser desenvolvidos.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372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SETE ELEMENTOS INVESTIGADOS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9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Origem e significado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102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2081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 da equipe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Experiência entregue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externa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Coerência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4811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2360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84330"/>
            <a:ext cx="15247620" cy="859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684"/>
              </a:lnSpc>
            </a:pPr>
            <a:r>
              <a:rPr sz="4900" i="0" b="0">
                <a:solidFill>
                  <a:srgbClr val="FFFFFF"/>
                </a:solidFill>
                <a:latin typeface="Outfit 1 Light"/>
              </a:rPr>
              <a:t>Cultura de marca · uma marca orientada à realização.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projeto complexo em execução — marcenaria sob medida, encaixe, peça grande em montagem.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Uma conversa técnica sobre o projeto — prancha, amostra de material, desenho na mesa.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320796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LIBERDADE DE CRIAR EXIGE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CAPACIDADE DE REALIZAR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965192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312664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representa a liberdade conquistada para executar projetos sem ficar restrita às limitações dos sistemas padronizados.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64350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4583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ideia singular merece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execução à sua altura.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0463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crença central da Forma.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186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FORMA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0550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6440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Precisão · Personalização · Responsabilidade · Confiança · Evolução técnica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75297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2729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64405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Segura · Criteriosa · Técnica · Próxima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063873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31177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Expressão da marca: sofisticação sustentada pelo conhecimento e pela competência.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90423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VERDADEIRO ALTO PADRÃO É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TRANQUILIDADE DE QUEM CONFIA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4863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96106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70426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07534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Compreender o projeto, antecipar dificuldades, encontrar soluções e assumir responsabilidade pela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96106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170426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Experiência 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907534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Segurança para realizar projetos personalizados e complexos, com precisão, acompanhamento e atenção aos detalhes.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207002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899402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significado da experiência: a confiança não está apenas no resultado final, mas na tranquilidade proporcionada durante todo o processo.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33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TRANSFORMAR COMPLEXIDADE 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CONFIANÇA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569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0441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873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reconhecida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315839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Arquitetos e clientes destacam domínio técnico, qualidade de execução, cuidado com os detalhes e parceria.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30441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57873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Desafio da marca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315839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Preservar a personalização e a proximidade mesmo com a expansão industrial.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615307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077212"/>
          </a:xfrm>
          <a:prstGeom prst="roundRect">
            <a:avLst>
              <a:gd name="adj" fmla="val 7923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58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Precisão que realiza.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236724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 essência cultural da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completo entregue pela Forma. Imagem ampla, que aguente a frase por cima.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3382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08870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MY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69598"/>
            <a:ext cx="15247620" cy="888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916"/>
              </a:lnSpc>
            </a:pPr>
            <a:r>
              <a:rPr sz="5100" i="0" b="0">
                <a:solidFill>
                  <a:srgbClr val="FFFFFF"/>
                </a:solidFill>
                <a:latin typeface="Outfit 1 Light"/>
              </a:rPr>
              <a:t>Cultura de marca · uma marca orientada à criação.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bancada de criação: protótipo, teste de acabamento, peça em desenvolvimento.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material antes de virar produto — a sobra, o retalho, a chapa separada. O ponto de partida.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11704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ENXERGAR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POSSIBILIDADES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ONDE OUTROS ENXERGAM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356100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703572"/>
            <a:ext cx="9601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My Home nasceu do inconformismo diante do desperdício e da capacidade de transformar materiais descartados em novas criações.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366256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reaproveitamento foi o ponto de partida. A inventividade constitui sua principal oportunidade de diferenciação.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1457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16909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valor de um material não se limita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ao uso para o qual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foi originalmente pensado.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3356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crença central da My Home.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5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MY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79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2666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098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8089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Inventividade · Transformação · Originalidade · Qualidade · Acessibilidade · Evolução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52666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80098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538089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Criativa · Curiosa · Expressiva · Próxima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837557"/>
            <a:ext cx="19202" cy="1534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90423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CRIAR NÃO É IMPROVISAR.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TRANSFORMAR COM CONHECIMENTO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4863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96106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70426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07534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Experimentar possibilidades, compartilhar ideias, dominar técnicas e aperfeiçoar materiais e acabamentos.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96106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170426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Experiência pretendida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907534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Oferecer produtos originais que despertem descoberta, surpreendam e acrescentem personalidade aos ambientes.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207002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899402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significado da experiência: a criatividade transforma materiais e objetos em novas possibilidades para a casa.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210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TRANSFORMAR POSSIBILIDADES EM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CRIAÇÃO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46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8216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5648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reconhecida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93589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Arquitetos valorizam a capacidade técnica da My Home para executar acabamentos, detalhes e soluções especiais.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82161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56481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Desafio da marca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93589"/>
            <a:ext cx="688086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Consolidar sua identidade independente e ser reconhecida pelo consumidor final pela criatividade, originalidade e qualidade dos produtos.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4393057"/>
            <a:ext cx="19202" cy="2423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077212"/>
          </a:xfrm>
          <a:prstGeom prst="roundRect">
            <a:avLst>
              <a:gd name="adj" fmla="val 7923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58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Criatividade que transforma.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236724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 essência cultural da My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produto My Home em destaque no ambiente. Imagem ampla, que aguente a frase por cima.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2310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67798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728526"/>
            <a:ext cx="15247620" cy="770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988"/>
              </a:lnSpc>
            </a:pPr>
            <a:r>
              <a:rPr sz="4300" i="0" b="0">
                <a:solidFill>
                  <a:srgbClr val="FFFFFF"/>
                </a:solidFill>
                <a:latin typeface="Outfit 1 Light"/>
              </a:rPr>
              <a:t>O que conecta as empresas e o que diferencia cada 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operações, ou o ambiente de trabalho cheio de gente. Plano aberto.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COMPARTILHADA.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DUAS IDENTIDADES DE MARCA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680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155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8983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16680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Proximidade, autonomia, cooperação e responsabilidade pelo resultado.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15467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428996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5355844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liberdade de personalizar encontra valor na precisão e na confiança da execução.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5938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86816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MY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795008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liberdade de imaginar encontra valor na criatividade e na transformação.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692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258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As duas marcas compartilham uma mentalidade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de superação dos limites,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mas a expressam de maneiras diferentes.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9062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AS DUAS ESSÊNCIAS CULTURAIS.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0425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5430901"/>
            <a:ext cx="635508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705221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9269"/>
            <a:ext cx="6355080" cy="4859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Transformar complexidade em confiança.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921240" y="5430901"/>
            <a:ext cx="635508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21240" y="5705221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6089269"/>
            <a:ext cx="6355080" cy="4859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Transformar possibilidades em criação.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12" y="5430901"/>
            <a:ext cx="12802" cy="1162558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42832" y="58293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A5A49F"/>
                </a:solidFill>
                <a:latin typeface="Outfit 1 Light"/>
              </a:rPr>
              <a:t>×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