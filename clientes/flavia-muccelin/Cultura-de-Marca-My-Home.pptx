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18"/>
    <p:sldId id="275" r:id="rId17"/>
    <p:sldId id="276" r:id="rId16"/>
  </p:sldIdLst>
  <p:sldSz cx="18288000" cy="10287000"/>
  <p:notesSz cx="6858000" cy="9144000"/>
  <p:embeddedFontLst>
    <p:embeddedFont>
      <p:font typeface="Koho" charset="1" panose="00000500000000000000"/>
      <p:regular r:id="rId37"/>
    </p:embeddedFont>
    <p:embeddedFont>
      <p:font typeface="Koho Medium" charset="1" panose="00000600000000000000"/>
      <p:regular r:id="rId38"/>
    </p:embeddedFont>
    <p:embeddedFont>
      <p:font typeface="Outfit 1 Medium" charset="1" panose="00000000000000000000"/>
      <p:regular r:id="rId39"/>
    </p:embeddedFont>
    <p:embeddedFont>
      <p:font typeface="IBM Plex Sans Thai" charset="1" panose="020B0503050203000203"/>
      <p:regular r:id="rId40"/>
    </p:embeddedFont>
    <p:embeddedFont>
      <p:font typeface="Outfit 2 Light" charset="1" panose="00000000000000000000"/>
      <p:regular r:id="rId41"/>
    </p:embeddedFont>
    <p:embeddedFont>
      <p:font typeface="Outfit 2 Medium" charset="1" panose="00000000000000000000"/>
      <p:regular r:id="rId42"/>
    </p:embeddedFont>
    <p:embeddedFont>
      <p:font typeface="Outfit 2 Semi-Bold" charset="1" panose="00000000000000000000"/>
      <p:regular r:id="rId43"/>
    </p:embeddedFont>
    <p:embeddedFont>
      <p:font typeface="Playfair Display" charset="1" panose="02000503000000020003"/>
      <p:regular r:id="rId44"/>
    </p:embeddedFont>
    <p:embeddedFont>
      <p:font typeface="Outfit 1 Bold" charset="1" panose="00000000000000000000"/>
      <p:regular r:id="rId45"/>
    </p:embeddedFont>
    <p:embeddedFont>
      <p:font typeface="Outfit 1" charset="1" panose="00000000000000000000"/>
      <p:regular r:id="rId46"/>
    </p:embeddedFont>
    <p:embeddedFont>
      <p:font typeface="Outfit 1 Semi-Bold" charset="1" panose="00000000000000000000"/>
      <p:regular r:id="rId47"/>
    </p:embeddedFont>
    <p:embeddedFont>
      <p:font typeface="Outfit 1 Light" charset="1" panose="00000000000000000000"/>
      <p:regular r:id="rId48"/>
    </p:embeddedFont>
    <p:embeddedFont>
      <p:font typeface="Outfit 1 Ultra-Bold" charset="1" panose="00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617720"/>
            <a:ext cx="3931920" cy="9344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06840" y="4206240"/>
            <a:ext cx="12802" cy="169164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434840"/>
            <a:ext cx="4023360" cy="1152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848" y="3364992"/>
            <a:ext cx="1490472" cy="1779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3593592"/>
            <a:ext cx="13551408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MY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4941570"/>
            <a:ext cx="1355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i="0" b="0">
                <a:solidFill>
                  <a:srgbClr val="1C1C1A"/>
                </a:solidFill>
                <a:latin typeface="Outfit 1 Bold"/>
              </a:rPr>
              <a:t>Cultura de Marca</a:t>
            </a:r>
            <a:r>
              <a:rPr sz="3000" i="0" b="0">
                <a:solidFill>
                  <a:srgbClr val="1C1C1A"/>
                </a:solidFill>
                <a:latin typeface="Outfit 1"/>
              </a:rPr>
              <a:t>  |  Criatividade que transforma.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53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64024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889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0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-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133" y="6494587"/>
            <a:ext cx="3459591" cy="3459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83480" y="7964424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Light"/>
              </a:rPr>
              <a:t>Método </a:t>
            </a:r>
            <a:r>
              <a:rPr sz="2680" i="0" b="0">
                <a:solidFill>
                  <a:srgbClr val="1C1C1A"/>
                </a:solidFill>
                <a:latin typeface="Outfit 2 Semi-Bold"/>
              </a:rPr>
              <a:t>Marca</a:t>
            </a:r>
          </a:p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Semi-Bold"/>
              </a:rPr>
              <a:t>com Essência</a:t>
            </a:r>
            <a:r>
              <a:rPr sz="1470" i="0" b="0">
                <a:solidFill>
                  <a:srgbClr val="1C1C1A"/>
                </a:solidFill>
                <a:latin typeface="Outfit 2"/>
              </a:rPr>
              <a:t>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81564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950" i="0" b="0">
                <a:solidFill>
                  <a:srgbClr val="1C1C1A"/>
                </a:solidFill>
                <a:latin typeface="Outfit 1"/>
              </a:rPr>
              <a:t>OUTUBRO/2026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284213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244467"/>
            <a:ext cx="14081760" cy="36974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750" i="0" b="0">
                <a:solidFill>
                  <a:srgbClr val="1C1C1A"/>
                </a:solidFill>
                <a:latin typeface="Outfit 1 Light"/>
              </a:rPr>
              <a:t>Uma origem compartilhada,</a:t>
            </a:r>
          </a:p>
          <a:p>
            <a:pPr algn="l">
              <a:lnSpc>
                <a:spcPct val="126000"/>
              </a:lnSpc>
            </a:pPr>
            <a:r>
              <a:rPr sz="5750" i="0" b="0">
                <a:solidFill>
                  <a:srgbClr val="1C1C1A"/>
                </a:solidFill>
                <a:latin typeface="Outfit 1 Light"/>
              </a:rPr>
              <a:t>duas identidades</a:t>
            </a:r>
          </a:p>
          <a:p>
            <a:pPr algn="l">
              <a:lnSpc>
                <a:spcPct val="126000"/>
              </a:lnSpc>
            </a:pPr>
            <a:r>
              <a:rPr sz="5750" i="0" b="0">
                <a:solidFill>
                  <a:srgbClr val="1C1C1A"/>
                </a:solidFill>
                <a:latin typeface="Outfit 1 Light"/>
              </a:rPr>
              <a:t>com significados próprios.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804672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i="0" b="0">
                <a:solidFill>
                  <a:srgbClr val="1C1C1A"/>
                </a:solidFill>
                <a:latin typeface="Outfit 1 Ultra-Bold"/>
              </a:rPr>
              <a:t>CULTURA DE MARCA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974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9535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8437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Origem e crenças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2946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A história, os significados e os valores que orientam a marca.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1833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4394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3296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Personalidade e expressão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7805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O jeito de ser, de se comunicar e de se apresentar.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56692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59253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58155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Cultura em 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62664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Comportamentos da equipe e experiência entregue ao cliente.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71551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74112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73014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Percepção e coerência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77523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O que o mercado reconhece e o que precisamos construir.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8641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41182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960469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FFFFFF"/>
                </a:solidFill>
                <a:latin typeface="Outfit 1 Light"/>
              </a:rPr>
              <a:t>ORIGEM E CRENÇAS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751677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025997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FFFFFF"/>
                </a:solidFill>
                <a:latin typeface="Outfit 1 Light"/>
              </a:rPr>
              <a:t>A história, os significados e os valores que orientam a marca.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845755"/>
            <a:ext cx="11521440" cy="8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A origem da My Home: o material guardado, as sobras empilhadas à espera de um destino. O começo da história.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530698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933034"/>
            <a:ext cx="14081760" cy="2320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155" i="0" b="0">
                <a:solidFill>
                  <a:srgbClr val="1C1C1A"/>
                </a:solidFill>
                <a:latin typeface="Outfit 1 Light"/>
              </a:rPr>
              <a:t>Enxergar possibilidades</a:t>
            </a:r>
          </a:p>
          <a:p>
            <a:pPr algn="l">
              <a:lnSpc>
                <a:spcPct val="126000"/>
              </a:lnSpc>
            </a:pPr>
            <a:r>
              <a:rPr sz="5155" i="0" b="0">
                <a:solidFill>
                  <a:srgbClr val="1C1C1A"/>
                </a:solidFill>
                <a:latin typeface="Outfit 1 Light"/>
              </a:rPr>
              <a:t>onde outros enxergam limites.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2920" y="4241597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32920" y="4552493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IMAGEM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2920" y="5119421"/>
            <a:ext cx="576072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 material antes de virar produto — a sobra, o retalho, a chapa separada. O ponto de partida.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42220"/>
            <a:ext cx="8458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ORIGEM, SIGNIFICADO E VALORES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333128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680600"/>
            <a:ext cx="845820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My Home nasceu do inconformismo diante do desperdício. Flávia viu nos materiais descartados uma oportunidade de transformar recursos em novas criações.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6398758"/>
            <a:ext cx="8458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 reaproveitamento foi o ponto de partida. A capacidade de transformar possibilidades é o verdadeiro significado da marca.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282498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OS VALORES DA MARCA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2193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5065466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566864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Inventividade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765236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5266634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Transformação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6465006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966404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Originalidade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5460" y="5065466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5460" y="4566864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Qualidade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5460" y="5765236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5460" y="5266634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Acessibilidade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5460" y="6465006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5460" y="5966404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Evolução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064609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466945"/>
            <a:ext cx="14081760" cy="27466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4153" i="0" b="0">
                <a:solidFill>
                  <a:srgbClr val="1C1C1A"/>
                </a:solidFill>
                <a:latin typeface="Outfit 1 Light"/>
              </a:rPr>
              <a:t>O valor de um material não se limita</a:t>
            </a:r>
          </a:p>
          <a:p>
            <a:pPr algn="l">
              <a:lnSpc>
                <a:spcPct val="126000"/>
              </a:lnSpc>
            </a:pPr>
            <a:r>
              <a:rPr sz="4153" i="0" b="0">
                <a:solidFill>
                  <a:srgbClr val="1C1C1A"/>
                </a:solidFill>
                <a:latin typeface="Outfit 1 Light"/>
              </a:rPr>
              <a:t>ao uso para o qual</a:t>
            </a:r>
          </a:p>
          <a:p>
            <a:pPr algn="l">
              <a:lnSpc>
                <a:spcPct val="126000"/>
              </a:lnSpc>
            </a:pPr>
            <a:r>
              <a:rPr sz="4153" i="0" b="0">
                <a:solidFill>
                  <a:srgbClr val="1C1C1A"/>
                </a:solidFill>
                <a:latin typeface="Outfit 1 Light"/>
              </a:rPr>
              <a:t>foi originalmente pensado.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165040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crença central da My Home.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081121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629761"/>
            <a:ext cx="12801600" cy="2245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i="0" b="0">
                <a:solidFill>
                  <a:srgbClr val="FFFFFF"/>
                </a:solidFill>
                <a:latin typeface="Outfit 1 Light"/>
              </a:rPr>
              <a:t>PERSONALIDADE E EXPRESSÃO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082385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356705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FFFFFF"/>
                </a:solidFill>
                <a:latin typeface="Outfit 1 Light"/>
              </a:rPr>
              <a:t>O jeito de ser, de se comunicar e de se apresentar.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8220558"/>
            <a:ext cx="11521440" cy="4845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Um produto My Home em plano fechado — textura, forma, encaixe. A criatividade vista de perto.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32613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COMO A MY HOME É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869507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715581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216979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Criativa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415351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916749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Curiosa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6115121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616519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Expressiva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814891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316289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Próxima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4241597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552493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IMAGEM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119421"/>
            <a:ext cx="576072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Vários produtos My Home juntos — a variedade e a originalidade da linha, bem arranjadas.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246132"/>
            <a:ext cx="9601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CRIATIVIDADE QUE SURPREENDE TEM CONHECIMENTO POR TRÁS.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3937040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284512"/>
            <a:ext cx="9601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My Home enxerga o potencial de transformação nas formas, nos materiais e nos objetos.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5539679"/>
            <a:ext cx="9601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Sua personalidade combina imaginação e habilidade técnica para criar produtos que despertem curiosidade e surpreendam pelo resultado.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6794845"/>
            <a:ext cx="9601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Deve se expressar com leveza, originalidade, experimentação e valorização das possibilidades de transformação.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41182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960469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FFFFFF"/>
                </a:solidFill>
                <a:latin typeface="Outfit 1 Light"/>
              </a:rPr>
              <a:t>CULTURA EM 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751677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025997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FFFFFF"/>
                </a:solidFill>
                <a:latin typeface="Outfit 1 Light"/>
              </a:rPr>
              <a:t>Comportamentos da equipe e experiência entregue ao cliente.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845755"/>
            <a:ext cx="11521440" cy="8593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A bancada de criação: protótipo, teste de acabamento, peça em desenvolvimento. A experimentação acontecendo.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427793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CRIAR NÃO É IMPROVISAR. É TRANSFORMAR COM INTENÇÃO.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18701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46617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722205"/>
            <a:ext cx="688086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O que a equipe precisa viver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412882"/>
            <a:ext cx="6880860" cy="194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Experimentar novas possibilidades. Compartilhar ideias. Dominar técnicas. Aperfeiçoar materiais e acabamentos. Transformar criatividade em produtos viáveis.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446617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4722205"/>
            <a:ext cx="688086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O que o cliente deve experimentar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5412882"/>
            <a:ext cx="688086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 prazer de descobrir produtos originais, capazes de acrescentar personalidade e novas possibilidades à sua casa.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229898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632234"/>
            <a:ext cx="14081760" cy="2393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559" i="0" b="0">
                <a:solidFill>
                  <a:srgbClr val="1C1C1A"/>
                </a:solidFill>
                <a:latin typeface="Outfit 1 Light"/>
              </a:rPr>
              <a:t>Não é apenas comprar um objeto decorativo.</a:t>
            </a:r>
          </a:p>
          <a:p>
            <a:pPr algn="l">
              <a:lnSpc>
                <a:spcPct val="126000"/>
              </a:lnSpc>
            </a:pPr>
            <a:r>
              <a:rPr sz="3559" i="0" b="0">
                <a:solidFill>
                  <a:srgbClr val="1C1C1A"/>
                </a:solidFill>
                <a:latin typeface="Outfit 1 Light"/>
              </a:rPr>
              <a:t>É encontrar algo inesperado</a:t>
            </a:r>
          </a:p>
          <a:p>
            <a:pPr algn="l">
              <a:lnSpc>
                <a:spcPct val="126000"/>
              </a:lnSpc>
            </a:pPr>
            <a:r>
              <a:rPr sz="3559" i="0" b="0">
                <a:solidFill>
                  <a:srgbClr val="1C1C1A"/>
                </a:solidFill>
                <a:latin typeface="Outfit 1 Light"/>
              </a:rPr>
              <a:t>que faça sentido no próprio ambiente.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999751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experiência pretendida pela My Home.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616553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165193"/>
            <a:ext cx="12801600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i="0" b="0">
                <a:solidFill>
                  <a:srgbClr val="FFFFFF"/>
                </a:solidFill>
                <a:latin typeface="Outfit 1 Light"/>
              </a:rPr>
              <a:t>PERCEPÇÃO E COERÊNCIA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54695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821273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FFFFFF"/>
                </a:solidFill>
                <a:latin typeface="Outfit 1 Light"/>
              </a:rPr>
              <a:t>O que o mercado reconhece e o que precisamos construir.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8220558"/>
            <a:ext cx="11521440" cy="4845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Produtos My Home em uso numa casa real — a marca vivendo no ambiente do cliente.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944837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DE UMA CAPACIDADE CRIATIVA A UMA MARCA COM IDENTIDADE PRÓPRIA.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635745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983217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239249"/>
            <a:ext cx="688086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O que já é reconhecido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929926"/>
            <a:ext cx="688086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Arquitetos valorizam a capacidade da My Home de executar soluções técnicas, detalhes e acabamentos especiais.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3983217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4239249"/>
            <a:ext cx="688086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O que precisamos construir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4929926"/>
            <a:ext cx="688086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Uma identidade independente, reconhecida pelo consumidor pela originalidade dos produtos, pela criatividade e pela confiança na experiência de compra.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6821820"/>
            <a:ext cx="1225296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My Home pode continuar sendo parceira produtiva da Forma, mas não deve ser percebida apenas como seu braço operacional.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464447"/>
            <a:ext cx="14081760" cy="25564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750" i="0" b="0">
                <a:solidFill>
                  <a:srgbClr val="FFFFFF"/>
                </a:solidFill>
                <a:latin typeface="Outfit 1 Light"/>
              </a:rPr>
              <a:t>Transformar possibilidades</a:t>
            </a:r>
          </a:p>
          <a:p>
            <a:pPr algn="l">
              <a:lnSpc>
                <a:spcPct val="126000"/>
              </a:lnSpc>
            </a:pPr>
            <a:r>
              <a:rPr sz="5750" i="0" b="0">
                <a:solidFill>
                  <a:srgbClr val="FFFFFF"/>
                </a:solidFill>
                <a:latin typeface="Outfit 1 Light"/>
              </a:rPr>
              <a:t>em criação.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5765202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6039522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FFFFFF"/>
                </a:solidFill>
                <a:latin typeface="Outfit 1 Light"/>
              </a:rPr>
              <a:t>A essência cultural da My Home. Criatividade que transforma.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20558"/>
            <a:ext cx="11521440" cy="4845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Um produto My Home em destaque no ambiente. Imagem ampla, que aguente a frase por cima.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8216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UMA ORIGEM. DUAS EXPRESSÕES DE MARCA.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6511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043733"/>
            <a:ext cx="635508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318053"/>
            <a:ext cx="6355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MY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702101"/>
            <a:ext cx="6355080" cy="1055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Crença: sempre existe uma nova possibilidade de criação.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959096"/>
            <a:ext cx="6355080" cy="1055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Comportamento: experimentação, transformação e aperfeiçoamento.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6216091"/>
            <a:ext cx="6355080" cy="1055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Experiência pretendida: prazer em descobrir e transformar.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7473086"/>
            <a:ext cx="6355080" cy="564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Valor central: criatividade.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21240" y="3043733"/>
            <a:ext cx="635508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21240" y="3318053"/>
            <a:ext cx="6355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FORMA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3702101"/>
            <a:ext cx="6355080" cy="1055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Crença: o conhecimento amplia os limites de um projeto.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4959096"/>
            <a:ext cx="6355080" cy="1055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Comportamento: precisão, cuidado e responsabilidade.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6216091"/>
            <a:ext cx="6355080" cy="564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Experiência: segurança para realizar.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6981749"/>
            <a:ext cx="6355080" cy="564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Valor central: confiança.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25712" y="3043733"/>
            <a:ext cx="12802" cy="5012131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2832" y="536691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A5A49F"/>
                </a:solidFill>
                <a:latin typeface="Outfit 1 Light"/>
              </a:rPr>
              <a:t>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564799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967135"/>
            <a:ext cx="14081760" cy="22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322" i="0" b="0">
                <a:solidFill>
                  <a:srgbClr val="1C1C1A"/>
                </a:solidFill>
                <a:latin typeface="Outfit 1 Light"/>
              </a:rPr>
              <a:t>A mesma mentalidade impulsiona as duas marcas</a:t>
            </a:r>
          </a:p>
          <a:p>
            <a:pPr algn="l">
              <a:lnSpc>
                <a:spcPct val="126000"/>
              </a:lnSpc>
            </a:pPr>
            <a:r>
              <a:rPr sz="3322" i="0" b="0">
                <a:solidFill>
                  <a:srgbClr val="1C1C1A"/>
                </a:solidFill>
                <a:latin typeface="Outfit 1 Light"/>
              </a:rPr>
              <a:t>e se manifesta de maneiras distintas</a:t>
            </a:r>
          </a:p>
          <a:p>
            <a:pPr algn="l">
              <a:lnSpc>
                <a:spcPct val="126000"/>
              </a:lnSpc>
            </a:pPr>
            <a:r>
              <a:rPr sz="3322" i="0" b="0">
                <a:solidFill>
                  <a:srgbClr val="1C1C1A"/>
                </a:solidFill>
                <a:latin typeface="Outfit 1 Light"/>
              </a:rPr>
              <a:t>no valor que cada uma entrega ao mercado.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703320"/>
            <a:ext cx="13716000" cy="923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50" i="0" b="0">
                <a:solidFill>
                  <a:srgbClr val="1C1C1A"/>
                </a:solidFill>
                <a:latin typeface="Outfit 1 Light"/>
              </a:rPr>
              <a:t>OBRIGADA!</a:t>
            </a:r>
          </a:p>
        </p:txBody>
      </p:sp>
      <p:pic>
        <p:nvPicPr>
          <p:cNvPr id="4" name="Picture 3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440680"/>
            <a:ext cx="3246120" cy="7714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0" y="5257800"/>
            <a:ext cx="12802" cy="114300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394960"/>
            <a:ext cx="3291840" cy="942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DAHVOuCspjk</dc:identifier>
  <dcterms:modified xsi:type="dcterms:W3CDTF">2011-08-01T06:04:30Z</dcterms:modified>
  <cp:revision>1</cp:revision>
  <dc:title>Revelacao-de-Essencia-Flavia-Pereira-Muccelin.pptx</dc:title>
</cp:coreProperties>
</file>