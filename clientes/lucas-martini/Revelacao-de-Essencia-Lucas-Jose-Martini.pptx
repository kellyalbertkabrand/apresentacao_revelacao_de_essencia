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9"/>
    <p:sldId id="257" r:id="rId20"/>
    <p:sldId id="258" r:id="rId21"/>
    <p:sldId id="259" r:id="rId22"/>
    <p:sldId id="260" r:id="rId23"/>
    <p:sldId id="261" r:id="rId24"/>
    <p:sldId id="262" r:id="rId25"/>
    <p:sldId id="263" r:id="rId26"/>
    <p:sldId id="264" r:id="rId27"/>
    <p:sldId id="265" r:id="rId28"/>
    <p:sldId id="266" r:id="rId29"/>
    <p:sldId id="267" r:id="rId30"/>
    <p:sldId id="268" r:id="rId31"/>
    <p:sldId id="269" r:id="rId32"/>
    <p:sldId id="270" r:id="rId33"/>
    <p:sldId id="271" r:id="rId34"/>
    <p:sldId id="272" r:id="rId35"/>
    <p:sldId id="273" r:id="rId36"/>
    <p:sldId id="274" r:id="rId18"/>
    <p:sldId id="275" r:id="rId17"/>
    <p:sldId id="276" r:id="rId16"/>
    <p:sldId id="277" r:id="rId15"/>
    <p:sldId id="278" r:id="rId14"/>
    <p:sldId id="279" r:id="rId13"/>
    <p:sldId id="280" r:id="rId12"/>
    <p:sldId id="281" r:id="rId11"/>
    <p:sldId id="282" r:id="rId10"/>
    <p:sldId id="283" r:id="rId9"/>
    <p:sldId id="284" r:id="rId8"/>
    <p:sldId id="285" r:id="rId7"/>
  </p:sldIdLst>
  <p:sldSz cx="18288000" cy="10287000"/>
  <p:notesSz cx="6858000" cy="9144000"/>
  <p:embeddedFontLst>
    <p:embeddedFont>
      <p:font typeface="Koho" charset="1" panose="00000500000000000000"/>
      <p:regular r:id="rId37"/>
    </p:embeddedFont>
    <p:embeddedFont>
      <p:font typeface="Koho Medium" charset="1" panose="00000600000000000000"/>
      <p:regular r:id="rId38"/>
    </p:embeddedFont>
    <p:embeddedFont>
      <p:font typeface="Outfit 1 Medium" charset="1" panose="00000000000000000000"/>
      <p:regular r:id="rId39"/>
    </p:embeddedFont>
    <p:embeddedFont>
      <p:font typeface="IBM Plex Sans Thai" charset="1" panose="020B0503050203000203"/>
      <p:regular r:id="rId40"/>
    </p:embeddedFont>
    <p:embeddedFont>
      <p:font typeface="Outfit 2 Light" charset="1" panose="00000000000000000000"/>
      <p:regular r:id="rId41"/>
    </p:embeddedFont>
    <p:embeddedFont>
      <p:font typeface="Outfit 2 Medium" charset="1" panose="00000000000000000000"/>
      <p:regular r:id="rId42"/>
    </p:embeddedFont>
    <p:embeddedFont>
      <p:font typeface="Outfit 2 Semi-Bold" charset="1" panose="00000000000000000000"/>
      <p:regular r:id="rId43"/>
    </p:embeddedFont>
    <p:embeddedFont>
      <p:font typeface="Playfair Display" charset="1" panose="02000503000000020003"/>
      <p:regular r:id="rId44"/>
    </p:embeddedFont>
    <p:embeddedFont>
      <p:font typeface="Outfit 1 Bold" charset="1" panose="00000000000000000000"/>
      <p:regular r:id="rId45"/>
    </p:embeddedFont>
    <p:embeddedFont>
      <p:font typeface="Outfit 1" charset="1" panose="00000000000000000000"/>
      <p:regular r:id="rId46"/>
    </p:embeddedFont>
    <p:embeddedFont>
      <p:font typeface="Outfit 1 Semi-Bold" charset="1" panose="00000000000000000000"/>
      <p:regular r:id="rId47"/>
    </p:embeddedFont>
    <p:embeddedFont>
      <p:font typeface="Outfit 1 Light" charset="1" panose="00000000000000000000"/>
      <p:regular r:id="rId48"/>
    </p:embeddedFont>
    <p:embeddedFont>
      <p:font typeface="Outfit 1 Ultra-Bold" charset="1" panose="00000000000000000000"/>
      <p:regular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7" Type="http://schemas.openxmlformats.org/officeDocument/2006/relationships/slide" Target="slides/slide30.xml"/><Relationship Id="rId8" Type="http://schemas.openxmlformats.org/officeDocument/2006/relationships/slide" Target="slides/slide29.xml"/><Relationship Id="rId9" Type="http://schemas.openxmlformats.org/officeDocument/2006/relationships/slide" Target="slides/slide28.xml"/><Relationship Id="rId10" Type="http://schemas.openxmlformats.org/officeDocument/2006/relationships/slide" Target="slides/slide27.xml"/><Relationship Id="rId11" Type="http://schemas.openxmlformats.org/officeDocument/2006/relationships/slide" Target="slides/slide26.xml"/><Relationship Id="rId12" Type="http://schemas.openxmlformats.org/officeDocument/2006/relationships/slide" Target="slides/slide25.xml"/><Relationship Id="rId13" Type="http://schemas.openxmlformats.org/officeDocument/2006/relationships/slide" Target="slides/slide24.xml"/><Relationship Id="rId14" Type="http://schemas.openxmlformats.org/officeDocument/2006/relationships/slide" Target="slides/slide23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9.xml"/><Relationship Id="rId19" Type="http://schemas.openxmlformats.org/officeDocument/2006/relationships/slide" Target="slides/slide1.xml"/><Relationship Id="rId20" Type="http://schemas.openxmlformats.org/officeDocument/2006/relationships/slide" Target="slides/slide2.xml"/><Relationship Id="rId21" Type="http://schemas.openxmlformats.org/officeDocument/2006/relationships/slide" Target="slides/slide3.xml"/><Relationship Id="rId22" Type="http://schemas.openxmlformats.org/officeDocument/2006/relationships/slide" Target="slides/slide4.xml"/><Relationship Id="rId23" Type="http://schemas.openxmlformats.org/officeDocument/2006/relationships/slide" Target="slides/slide5.xml"/><Relationship Id="rId24" Type="http://schemas.openxmlformats.org/officeDocument/2006/relationships/slide" Target="slides/slide6.xml"/><Relationship Id="rId25" Type="http://schemas.openxmlformats.org/officeDocument/2006/relationships/slide" Target="slides/slide7.xml"/><Relationship Id="rId26" Type="http://schemas.openxmlformats.org/officeDocument/2006/relationships/slide" Target="slides/slide8.xml"/><Relationship Id="rId27" Type="http://schemas.openxmlformats.org/officeDocument/2006/relationships/slide" Target="slides/slide9.xml"/><Relationship Id="rId28" Type="http://schemas.openxmlformats.org/officeDocument/2006/relationships/slide" Target="slides/slide10.xml"/><Relationship Id="rId29" Type="http://schemas.openxmlformats.org/officeDocument/2006/relationships/slide" Target="slides/slide11.xml"/><Relationship Id="rId30" Type="http://schemas.openxmlformats.org/officeDocument/2006/relationships/slide" Target="slides/slide12.xml"/><Relationship Id="rId31" Type="http://schemas.openxmlformats.org/officeDocument/2006/relationships/slide" Target="slides/slide13.xml"/><Relationship Id="rId32" Type="http://schemas.openxmlformats.org/officeDocument/2006/relationships/slide" Target="slides/slide14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35" Type="http://schemas.openxmlformats.org/officeDocument/2006/relationships/slide" Target="slides/slide17.xml"/><Relationship Id="rId36" Type="http://schemas.openxmlformats.org/officeDocument/2006/relationships/slide" Target="slides/slide18.xml"/><Relationship Id="rId37" Type="http://schemas.openxmlformats.org/officeDocument/2006/relationships/font" Target="fonts/font37.fntdata"/><Relationship Id="rId38" Type="http://schemas.openxmlformats.org/officeDocument/2006/relationships/font" Target="fonts/font38.fntdata"/><Relationship Id="rId39" Type="http://schemas.openxmlformats.org/officeDocument/2006/relationships/font" Target="fonts/font39.fntdata"/><Relationship Id="rId40" Type="http://schemas.openxmlformats.org/officeDocument/2006/relationships/font" Target="fonts/font40.fntdata"/><Relationship Id="rId41" Type="http://schemas.openxmlformats.org/officeDocument/2006/relationships/font" Target="fonts/font41.fntdata"/><Relationship Id="rId42" Type="http://schemas.openxmlformats.org/officeDocument/2006/relationships/font" Target="fonts/font42.fntdata"/><Relationship Id="rId43" Type="http://schemas.openxmlformats.org/officeDocument/2006/relationships/font" Target="fonts/font43.fntdata"/><Relationship Id="rId44" Type="http://schemas.openxmlformats.org/officeDocument/2006/relationships/font" Target="fonts/font44.fntdata"/><Relationship Id="rId45" Type="http://schemas.openxmlformats.org/officeDocument/2006/relationships/font" Target="fonts/font45.fntdata"/><Relationship Id="rId46" Type="http://schemas.openxmlformats.org/officeDocument/2006/relationships/font" Target="fonts/font46.fntdata"/><Relationship Id="rId47" Type="http://schemas.openxmlformats.org/officeDocument/2006/relationships/font" Target="fonts/font47.fntdata"/><Relationship Id="rId48" Type="http://schemas.openxmlformats.org/officeDocument/2006/relationships/font" Target="fonts/font48.fntdata"/><Relationship Id="rId49" Type="http://schemas.openxmlformats.org/officeDocument/2006/relationships/font" Target="fonts/font4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4617720"/>
            <a:ext cx="3931920" cy="93445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006840" y="4206240"/>
            <a:ext cx="12802" cy="169164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4434840"/>
            <a:ext cx="4023360" cy="11524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tra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85848" y="3364992"/>
            <a:ext cx="1490472" cy="177957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36192" y="3593592"/>
            <a:ext cx="13551408" cy="2476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REVELAÇÃO</a:t>
            </a:r>
          </a:p>
          <a:p>
            <a:pPr algn="l">
              <a:lnSpc>
                <a:spcPct val="114000"/>
              </a:lnSpc>
            </a:pPr>
            <a:r>
              <a:rPr sz="7500" i="0" b="0" spc="300">
                <a:solidFill>
                  <a:srgbClr val="1C1C1A"/>
                </a:solidFill>
                <a:latin typeface="Outfit 1 Bold"/>
              </a:rPr>
              <a:t>DE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6192" y="6179820"/>
            <a:ext cx="1355140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1 Bold"/>
              </a:rPr>
              <a:t>Lucas José Martini</a:t>
            </a:r>
            <a:r>
              <a:rPr sz="3000" i="0" b="0">
                <a:solidFill>
                  <a:srgbClr val="1C1C1A"/>
                </a:solidFill>
                <a:latin typeface="Outfit 1"/>
              </a:rPr>
              <a:t>  |  Origem Identitária do Fundador</a:t>
            </a:r>
          </a:p>
        </p:txBody>
      </p:sp>
      <p:sp>
        <p:nvSpPr>
          <p:cNvPr id="6" name="Rectangle 5"/>
          <p:cNvSpPr/>
          <p:nvPr/>
        </p:nvSpPr>
        <p:spPr>
          <a:xfrm>
            <a:off x="15453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64024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88936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92640" y="7790688"/>
            <a:ext cx="10973" cy="896112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ogo-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7133" y="6494587"/>
            <a:ext cx="3459591" cy="34595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83480" y="7964424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Light"/>
              </a:rPr>
              <a:t>Método </a:t>
            </a:r>
            <a:r>
              <a:rPr sz="2680" i="0" b="0">
                <a:solidFill>
                  <a:srgbClr val="1C1C1A"/>
                </a:solidFill>
                <a:latin typeface="Outfit 2 Semi-Bold"/>
              </a:rPr>
              <a:t>Marca</a:t>
            </a:r>
          </a:p>
          <a:p>
            <a:pPr algn="l">
              <a:lnSpc>
                <a:spcPct val="95000"/>
              </a:lnSpc>
            </a:pPr>
            <a:r>
              <a:rPr sz="2680" i="0" b="0">
                <a:solidFill>
                  <a:srgbClr val="1C1C1A"/>
                </a:solidFill>
                <a:latin typeface="Outfit 2 Semi-Bold"/>
              </a:rPr>
              <a:t>com Essência</a:t>
            </a:r>
            <a:r>
              <a:rPr sz="1470" i="0" b="0">
                <a:solidFill>
                  <a:srgbClr val="1C1C1A"/>
                </a:solidFill>
                <a:latin typeface="Outfit 2"/>
              </a:rPr>
              <a:t>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815644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950" i="0" b="0">
                <a:solidFill>
                  <a:srgbClr val="1C1C1A"/>
                </a:solidFill>
                <a:latin typeface="Outfit 1"/>
              </a:rPr>
              <a:t>OUTUBRO/2026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64208" y="804672"/>
            <a:ext cx="109728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800" i="0" b="0">
                <a:solidFill>
                  <a:srgbClr val="1C1C1A"/>
                </a:solidFill>
                <a:latin typeface="Outfit 1 Ultra-Bold"/>
              </a:rPr>
              <a:t>SUMÁRIO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2697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953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1880" y="2843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80" y="3294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688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39441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8343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42852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46786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49347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8249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52758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56692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59253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58155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62664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6598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69159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68061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72570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76504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11680" y="7906512"/>
            <a:ext cx="1005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i="0" b="0" spc="24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7796784"/>
            <a:ext cx="12664440" cy="4508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8247634"/>
            <a:ext cx="1266444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864108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_lucas_janela_entardecer.png"/>
          <p:cNvPicPr>
            <a:picLocks noChangeAspect="1"/>
          </p:cNvPicPr>
          <p:nvPr/>
        </p:nvPicPr>
        <p:blipFill>
          <a:blip r:embed="rId3"/>
          <a:srcRect l="18819" r="4316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797686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CONCEITO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273174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POR QUE COMEÇAMOS PELA ESSÊNCIA?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964082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311554"/>
            <a:ext cx="8458200" cy="16336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4" i="0" b="0">
                <a:solidFill>
                  <a:srgbClr val="1C1C1A"/>
                </a:solidFill>
                <a:latin typeface="Outfit 1 Light"/>
              </a:rPr>
              <a:t>Uma marca pessoal não começa no que o profissional vende. Começa na maneira como ele enxerga o mundo e atribui significado ao próprio trabalho.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120750"/>
            <a:ext cx="8458200" cy="9803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16" i="0" b="0">
                <a:solidFill>
                  <a:srgbClr val="6B6B66"/>
                </a:solidFill>
                <a:latin typeface="Outfit 1 Light"/>
              </a:rPr>
              <a:t>Proteção e sucessão são a parte visível. Esta etapa investiga os padrões, as crenças e as tensões que explicam a origem da sua atuação.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387157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698053"/>
            <a:ext cx="8458200" cy="5626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O que existe por trás da forma como ele protege?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0" y="353069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933034"/>
            <a:ext cx="14081760" cy="2320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não é a revelação.</a:t>
            </a:r>
          </a:p>
          <a:p>
            <a:pPr algn="l">
              <a:lnSpc>
                <a:spcPct val="126000"/>
              </a:lnSpc>
            </a:pPr>
            <a:r>
              <a:rPr sz="5155" i="0" b="0">
                <a:solidFill>
                  <a:srgbClr val="1C1C1A"/>
                </a:solidFill>
                <a:latin typeface="Outfit 1 Light"/>
              </a:rPr>
              <a:t>A história é a evidência.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70535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18084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COMO CHEGAMOS À REVELAÇÃO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11773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465210"/>
            <a:ext cx="12801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essência não é um adjetivo, nem uma frase bonita criada para comunicação. Ela aparece quando momentos aparentemente diferentes revelam uma mesma lógica.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História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que ajudou a formar sua visão de mundo.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0357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357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Tensões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0357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Os contrastes que mostram aquilo que realmente importa.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5460" y="5849965"/>
            <a:ext cx="318897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A forma recorrente como Lucas responde.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087350" y="4903257"/>
            <a:ext cx="318897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87350" y="5159289"/>
            <a:ext cx="318897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Ikigai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87350" y="5849965"/>
            <a:ext cx="318897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Onde competência, realização, contribuição e profissão se encontram.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757580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6B6B66"/>
                </a:solidFill>
                <a:latin typeface="Outfit 1 Light"/>
              </a:rPr>
              <a:t>história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tensões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padrões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+  </a:t>
            </a:r>
            <a:r>
              <a:rPr sz="2300" i="0" b="0">
                <a:solidFill>
                  <a:srgbClr val="6B6B66"/>
                </a:solidFill>
                <a:latin typeface="Outfit 1 Light"/>
              </a:rPr>
              <a:t>Ikigai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=  </a:t>
            </a:r>
            <a:r>
              <a:rPr sz="2300" i="0" b="0">
                <a:solidFill>
                  <a:srgbClr val="1C1C1A"/>
                </a:solidFill>
                <a:latin typeface="Outfit 1 Semi-Bold"/>
              </a:rPr>
              <a:t>essência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ORIGEM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As experiências que formaram sua relação com construção, segurança e futuro.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132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56816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UMA HISTÓRIA SOBRE CONSTRUÇÃO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371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3241182"/>
            <a:ext cx="122529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Lucas não viveu a dificuldade dos pais, mas cresceu conhecendo a história de uma família que saiu do campo, enfrentou escassez, trabalhou, adquiriu um terreno e construiu uma casa. Nada do que aparece abaixo chega até ele como algo dado: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Casa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Renda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Patrimônio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95460" y="558595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95460" y="508735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Carreira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5460" y="628572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95460" y="578712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Empresa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95460" y="6985498"/>
            <a:ext cx="688086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5460" y="6486896"/>
            <a:ext cx="6880860" cy="535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i="0" b="0">
                <a:solidFill>
                  <a:srgbClr val="1C1C1A"/>
                </a:solidFill>
                <a:latin typeface="Outfit 1 Light"/>
              </a:rPr>
              <a:t>Estabilidade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7488936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7817602"/>
            <a:ext cx="1426464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 pode levar anos para ser construída. O valor está em tudo o que foi preciso para chegar até ali.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4_jovem_colete_vermelho_caixa_eletronico.png"/>
          <p:cNvPicPr>
            <a:picLocks noChangeAspect="1"/>
          </p:cNvPicPr>
          <p:nvPr/>
        </p:nvPicPr>
        <p:blipFill>
          <a:blip r:embed="rId3"/>
          <a:srcRect l="30990" r="3099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789297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264785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SEGUNDO APRENDIZADO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01679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549151"/>
            <a:ext cx="9601200" cy="20569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Anos depois, na recuperação de ativos do Bradesco, Lucas passa a ver o outro lado dessa lógica: famílias e empresas que levaram anos construindo patrimônio entravam rapidamente em dificuldade diante de morte, doença ou sucessão mal planejada.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774338"/>
            <a:ext cx="9601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Talvez o primeiro grande aprendizado do Lucas não tenha sido sobre seguro. Tenha sido sobre fragilidade.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997122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308018"/>
            <a:ext cx="9601200" cy="961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que leva anos para ser construído pode ser comprometido muito rapidamente.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6_lucas_corredor_prudential.png"/>
          <p:cNvPicPr>
            <a:picLocks noChangeAspect="1"/>
          </p:cNvPicPr>
          <p:nvPr/>
        </p:nvPicPr>
        <p:blipFill>
          <a:blip r:embed="rId3"/>
          <a:srcRect l="20165" r="41815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72463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ORIGEM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47951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ESSA FRAGILIDADE SIGNIFICA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38859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86331"/>
            <a:ext cx="8458200" cy="554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Não é acreditar que tudo pode dar errado. É compreender que: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232253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124811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renda pode parar;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565656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54912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empresa pode perder uma pessoa essencial;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08087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597343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 patrimônio pode precisar ser desmontado;</a:t>
            </a:r>
          </a:p>
        </p:txBody>
      </p:sp>
      <p:sp>
        <p:nvSpPr>
          <p:cNvPr id="15" name="Oval 14"/>
          <p:cNvSpPr/>
          <p:nvPr/>
        </p:nvSpPr>
        <p:spPr>
          <a:xfrm>
            <a:off x="2018538" y="650518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50592" y="639774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uma família pode perder, junto com alguém, a estrutura que sustentava sua vida.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0415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35241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O imprevisto não destrói apenas dinheiro. Ele retira possibilidades.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AS TENSÕES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Os contrastes que revelam o que realmente o coloca em movimento.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l="42413" r="19566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8820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PRIMEIRA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357532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SEGURANÇA × RISCO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294426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3641898"/>
            <a:ext cx="9601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constrói segurança para outras pessoas. Mas, num momento decisivo da própria carreira, abriu mão de uma trajetória sólida no banco para empreender.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5521905"/>
            <a:ext cx="9601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Ele aceita risco quando existe decisão, consciência, preparo e responsabilidade. O que o incomoda não é a incerteza.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683193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7142831"/>
            <a:ext cx="9601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Segurança, para o Lucas, não é viver sem risco. É não ficar sem escolha quando algo acontece.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9_lucas_analisando_documentos.png"/>
          <p:cNvPicPr>
            <a:picLocks noChangeAspect="1"/>
          </p:cNvPicPr>
          <p:nvPr/>
        </p:nvPicPr>
        <p:blipFill>
          <a:blip r:embed="rId3"/>
          <a:srcRect l="30810" r="31169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24096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SEGUNDA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71645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DINHEIRO × PROPÓSITO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65334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000819"/>
            <a:ext cx="8458200" cy="15701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8" i="0" b="0">
                <a:solidFill>
                  <a:srgbClr val="1C1C1A"/>
                </a:solidFill>
                <a:latin typeface="Outfit 1 Light"/>
              </a:rPr>
              <a:t>Lucas não romantiza a própria decisão: a possibilidade financeira pesou. Mas resume a trajetória com uma frase reveladora — “fui pelo dinheiro e acabei ficando pelo propósito”.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39203"/>
            <a:ext cx="8458200" cy="9433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32" i="0" b="0">
                <a:solidFill>
                  <a:srgbClr val="6B6B66"/>
                </a:solidFill>
                <a:latin typeface="Outfit 1 Light"/>
              </a:rPr>
              <a:t>O significado aparece quando ele acompanha pagamentos de benefícios e percebe o que uma decisão tomada antes representava na vida de alguém.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696198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272884"/>
            <a:ext cx="8458200" cy="5445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15" i="0" b="0">
                <a:solidFill>
                  <a:srgbClr val="1C1C1A"/>
                </a:solidFill>
                <a:latin typeface="Outfit 1 Light"/>
              </a:rPr>
              <a:t>O dinheiro explica a entrada. O impacto explica a permanência.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4_retrato_lucas_corredor.png"/>
          <p:cNvPicPr>
            <a:picLocks noChangeAspect="1"/>
          </p:cNvPicPr>
          <p:nvPr/>
        </p:nvPicPr>
        <p:blipFill>
          <a:blip r:embed="rId3"/>
          <a:srcRect l="26814" r="30163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0"/>
            <a:ext cx="104241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32520" y="1915115"/>
            <a:ext cx="8686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TERCEIRA TENSÃO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2390603"/>
            <a:ext cx="86868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RECONHECIMENTO × EXPOSIÇÃO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8732520" y="3327497"/>
            <a:ext cx="86868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32520" y="3674969"/>
            <a:ext cx="8686800" cy="11679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Lucas acumula reconhecimentos e valoriza estar entre os melhores. Mas tem dificuldade declarada em comunicá-los.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5025843"/>
            <a:ext cx="86868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O incômodo não é com o reconhecimento: é com a autoproclamação. Há conforto quando um cliente ou um ranking reconhece; há desconforto quando ele próprio precisa anunciar.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2520" y="6798864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32520" y="7109760"/>
            <a:ext cx="86868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Para o Lucas, legitimidade precisa ser conquistada. Não declarada.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8_lucas_aperto_de_maos_cliente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814943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O QUE ISSO REVELA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81871"/>
            <a:ext cx="14081760" cy="28540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Alta performance.</a:t>
            </a:r>
          </a:p>
          <a:p>
            <a:pPr algn="l">
              <a:lnSpc>
                <a:spcPct val="126000"/>
              </a:lnSpc>
            </a:pPr>
            <a:r>
              <a:rPr sz="6500" i="0" b="0">
                <a:solidFill>
                  <a:srgbClr val="FFFFFF"/>
                </a:solidFill>
                <a:latin typeface="Outfit 1 Light"/>
              </a:rPr>
              <a:t>Baixa performatividade.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95171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226035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performa muito, mas performatiza pouco. Construiu autoridade e poucos signos públicos dela. Isso não precisa ser corrigido: pode virar assinatura — autoridade discreta.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OS PADRÕES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A lógica que se repete por trás de escolhas diferentes.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SE REPETE EM TODA ESCOLHA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PREPARAR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Diante de algo importante, Lucas entende, estuda, organiza e estrutura. Cria estrutura antes que ela seja necessária.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900270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5138014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REPETIR BEM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064862"/>
            <a:ext cx="9144000" cy="17026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Começa cedo, avança no banco, recomeça, constrói carteira e mantém ritmo. Chega a 100 semanas consecutivas protegendo três famílias por semana.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84062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7078370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PERMANECER DEPOIS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7005218"/>
            <a:ext cx="9144000" cy="11923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Não encerra o trabalho na venda. Relacionamento, confiança e pós-venda são centrais na sua forma de atuar.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421636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OS PADRÕES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897124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MOVIMENTO QUE SE REPETE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83401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Entender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65192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65192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Antecipar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18704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18704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Estruturar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872216" y="4954524"/>
            <a:ext cx="2450592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72216" y="5265420"/>
            <a:ext cx="2450592" cy="582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Acompanhar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7672" y="5192268"/>
            <a:ext cx="411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A9724A"/>
                </a:solidFill>
                <a:latin typeface="Outfit 1 Light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825728" y="4954524"/>
            <a:ext cx="2450592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25728" y="5265420"/>
            <a:ext cx="2450592" cy="105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Preservar possibilidades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6859524"/>
            <a:ext cx="1426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Entender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Preparar antes</a:t>
            </a:r>
            <a:r>
              <a:rPr sz="2300" i="0" b="0">
                <a:solidFill>
                  <a:srgbClr val="A9724A"/>
                </a:solidFill>
                <a:latin typeface="Outfit 1 Light"/>
              </a:rPr>
              <a:t>   ·   </a:t>
            </a:r>
            <a:r>
              <a:rPr sz="2300" i="0" b="0">
                <a:solidFill>
                  <a:srgbClr val="1C1C1A"/>
                </a:solidFill>
                <a:latin typeface="Outfit 1 Light"/>
              </a:rPr>
              <a:t>Permanecer depois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O IKIGAI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Onde capacidade, realização, contribuição e profissão se encontram.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228051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756002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OS QUATRO ENCONTROS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692896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081760" y="1481328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670634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81760" y="2659076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3492886" y="2070202"/>
            <a:ext cx="2103120" cy="2103120"/>
          </a:xfrm>
          <a:prstGeom prst="ellipse">
            <a:avLst/>
          </a:prstGeom>
          <a:noFill/>
          <a:ln w="13970">
            <a:solidFill>
              <a:srgbClr val="DFDD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73884" y="3062326"/>
            <a:ext cx="118872" cy="118872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11680" y="3533242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3734410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PAIXÃO · O QUE AMA + NO QUE É BOM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4027018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Conversar, compreender e construir soluções que façam sentido para cada realidade.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4671238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4872406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PROFISSÃO · NO QUE É BOM + PELO QUE PODE SER PAGO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165014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Estruturar proteção e sucessão com visão consultiva, personalização e relacionamento.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5809234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6010402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MISSÃO · O QUE O MUNDO PRECISA + O QUE GOSTA DE FAZER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6303010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Ampliar a consciência de que preparação financeira também é uma forma de cuidado e responsabilidade.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6947231"/>
            <a:ext cx="124358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7148399"/>
            <a:ext cx="12435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VOCAÇÃO · O QUE O MUNDO PRECISA + PELO QUE PODE SER PAGO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7441007"/>
            <a:ext cx="12435840" cy="5893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6B6B66"/>
                </a:solidFill>
                <a:latin typeface="Outfit 1 Light"/>
              </a:rPr>
              <a:t>Ajudar pessoas, famílias e empresas a chegarem mais preparadas aos momentos que não podem controlar.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8158379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8396123"/>
            <a:ext cx="12435840" cy="4711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 spc="140">
                <a:solidFill>
                  <a:srgbClr val="A5A49F"/>
                </a:solidFill>
                <a:latin typeface="Outfit 1 Semi-Bold"/>
              </a:rPr>
              <a:t>Sua competência não é conhecer produtos — é transformar complexidade em decisão estruturada.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_lucas_casal_mais_velho.png"/>
          <p:cNvPicPr>
            <a:picLocks noChangeAspect="1"/>
          </p:cNvPicPr>
          <p:nvPr/>
        </p:nvPicPr>
        <p:blipFill>
          <a:blip r:embed="rId3"/>
          <a:srcRect l="30452" r="31528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1653124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O IKIGAI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128612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LUCAS ENCONTRA REALIZAÇÃO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819520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166992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Quando o planejamento cumpre aquilo para o qual foi criado: um benefício é pago, uma empresa pode continuar.</a:t>
            </a:r>
          </a:p>
        </p:txBody>
      </p:sp>
      <p:sp>
        <p:nvSpPr>
          <p:cNvPr id="9" name="Oval 8"/>
          <p:cNvSpPr/>
          <p:nvPr/>
        </p:nvSpPr>
        <p:spPr>
          <a:xfrm>
            <a:off x="2018538" y="5675905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5568463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Manter possibilidades quando a vida muda.</a:t>
            </a:r>
          </a:p>
        </p:txBody>
      </p:sp>
      <p:sp>
        <p:nvSpPr>
          <p:cNvPr id="11" name="Oval 10"/>
          <p:cNvSpPr/>
          <p:nvPr/>
        </p:nvSpPr>
        <p:spPr>
          <a:xfrm>
            <a:off x="2018538" y="6100217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50592" y="5992775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precisar desmontar tudo nem aceitar qualquer saída.</a:t>
            </a:r>
          </a:p>
        </p:txBody>
      </p:sp>
      <p:sp>
        <p:nvSpPr>
          <p:cNvPr id="13" name="Oval 12"/>
          <p:cNvSpPr/>
          <p:nvPr/>
        </p:nvSpPr>
        <p:spPr>
          <a:xfrm>
            <a:off x="2018538" y="6524529"/>
            <a:ext cx="77724" cy="77724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50592" y="6417087"/>
            <a:ext cx="8019288" cy="424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i="0" b="0">
                <a:solidFill>
                  <a:srgbClr val="1C1C1A"/>
                </a:solidFill>
                <a:latin typeface="Outfit 1 Light"/>
              </a:rPr>
              <a:t>Não transformar uma perda humana em colapso financeiro.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060855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7371751"/>
            <a:ext cx="8458200" cy="1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Dignidade financeira não é dinheiro disponível. É o que preserva possibilidades.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3_lucas_janela_entardecer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754364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RAZÃO DE 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3321292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a capacidade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 quando a vida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tira a previsibilidade.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ESSÊNCIA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princípio mais profundo que conecta sua trajetória.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85900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61388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ONDE TUDO SE ENCONTRA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2898282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47014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0789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ORIGEM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63474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Ensinou que segurança é construída.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443026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466801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BANCO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59486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como aquilo que levou anos para existir se fragiliza depressa.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9038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562813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O EMPREENDEDORISMO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5498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ele aceita risco quando pode escolher conscientemente.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635050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11680" y="658825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A PROFISSÃO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651510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Mostrou que preparação preserva possibilidades.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310628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7548372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A CRENÇA FUNDADORA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7475220"/>
            <a:ext cx="914400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O que levou anos para ser construído não deveria ficar entregue ao acaso.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827074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12_lucas_caminhando_janela.png"/>
          <p:cNvPicPr>
            <a:picLocks noChangeAspect="1"/>
          </p:cNvPicPr>
          <p:nvPr/>
        </p:nvPicPr>
        <p:blipFill>
          <a:blip r:embed="rId3"/>
          <a:srcRect b="5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C1C1A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2245458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FFFFFF"/>
                </a:solidFill>
                <a:latin typeface="Outfit 2"/>
              </a:rPr>
              <a:t>A ESSÊNCIA DE LUCAS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812386"/>
            <a:ext cx="14081760" cy="3982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Construir segurança para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preservar liberdade</a:t>
            </a:r>
          </a:p>
          <a:p>
            <a:pPr algn="l">
              <a:lnSpc>
                <a:spcPct val="126000"/>
              </a:lnSpc>
            </a:pPr>
            <a:r>
              <a:rPr sz="6229" i="0" b="0">
                <a:solidFill>
                  <a:srgbClr val="FFFFFF"/>
                </a:solidFill>
                <a:latin typeface="Outfit 1 Light"/>
              </a:rPr>
              <a:t>de escolha.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652120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795520"/>
            <a:ext cx="11887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FFFFFF"/>
                </a:solidFill>
                <a:latin typeface="Outfit 1 Light"/>
              </a:rPr>
              <a:t>Lucas não trabalha para controlar o imprevisto. Trabalha para que o imprevisto não decida sozinho o que vem depois.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856232"/>
            <a:ext cx="14264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ESSÊNCIA DE LUCAS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331720"/>
            <a:ext cx="1426464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QUE A FRASE CARREGA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268614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01168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Construir segurança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562795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Transformar vulnerabilidades em planejamento, recursos e alternativas.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3420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420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Preservar liberdade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4200" y="4562795"/>
            <a:ext cx="441960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Manter possibilidades diante de acontecimentos que fogem ao controle.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56720" y="3616086"/>
            <a:ext cx="44196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56720" y="3872118"/>
            <a:ext cx="4419600" cy="5260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Escolha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56720" y="4562795"/>
            <a:ext cx="44196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Evitar que a urgência seja a única responsável pelas decisões.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454689"/>
            <a:ext cx="12252960" cy="14804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Responsável, disciplinado, ambicioso e constante são características do Lucas. Mas são manifestações de uma lógica mais profunda: preparar o que pode ser preparado para proteger o que não pode ser previsto.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05840" y="1005840"/>
            <a:ext cx="16276320" cy="7772400"/>
          </a:xfrm>
          <a:prstGeom prst="roundRect">
            <a:avLst>
              <a:gd name="adj" fmla="val 2117"/>
            </a:avLst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27466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9724A"/>
                </a:solidFill>
                <a:latin typeface="Outfit 1 Semi-Bold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3823309"/>
            <a:ext cx="12801600" cy="1551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1 Light"/>
              </a:rPr>
              <a:t>A MARCA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5614517"/>
            <a:ext cx="1426464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5888837"/>
            <a:ext cx="11887200" cy="6205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A5A49F"/>
                </a:solidFill>
                <a:latin typeface="Outfit 1 Light"/>
              </a:rPr>
              <a:t>O que essa essência revela sobre o papel que Lucas pode ocupar.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02_reuniao_consultiva_casal.png"/>
          <p:cNvPicPr>
            <a:picLocks noChangeAspect="1"/>
          </p:cNvPicPr>
          <p:nvPr/>
        </p:nvPicPr>
        <p:blipFill>
          <a:blip r:embed="rId3"/>
          <a:srcRect l="31020" r="30960"/>
          <a:stretch>
            <a:fillRect/>
          </a:stretch>
        </p:blipFill>
        <p:spPr>
          <a:xfrm>
            <a:off x="0" y="0"/>
            <a:ext cx="6949440" cy="10287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94944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18120" y="162306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2098548"/>
            <a:ext cx="9601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O PRODUTO NÃO É O CENTRO</a:t>
            </a:r>
          </a:p>
        </p:txBody>
      </p:sp>
      <p:sp>
        <p:nvSpPr>
          <p:cNvPr id="7" name="Rectangle 6"/>
          <p:cNvSpPr/>
          <p:nvPr/>
        </p:nvSpPr>
        <p:spPr>
          <a:xfrm>
            <a:off x="7818120" y="3035442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18120" y="360730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384505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SEGURO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377190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instrumento.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456742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480517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PLANEJAMENTO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58600" y="473202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método.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18120" y="552754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576529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PROTEÇÃO E SUCESSÃO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69214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São campos de atuação.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18120" y="648766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18120" y="672541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5A49F"/>
                </a:solidFill>
                <a:latin typeface="Outfit 1 Semi-Bold"/>
              </a:rPr>
              <a:t>CONTINUIDADE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58600" y="665226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território.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7447788"/>
            <a:ext cx="9601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18120" y="7685532"/>
            <a:ext cx="355244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220">
                <a:solidFill>
                  <a:srgbClr val="A9724A"/>
                </a:solidFill>
                <a:latin typeface="Outfit 1 Semi-Bold"/>
              </a:rPr>
              <a:t>LIBERDADE DE ESCOLHA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58600" y="7612380"/>
            <a:ext cx="576072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1 Light"/>
              </a:rPr>
              <a:t>É o significado humano.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84079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1338560" cy="10287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13_lucas_ouvindo_casal.png"/>
          <p:cNvPicPr>
            <a:picLocks noChangeAspect="1"/>
          </p:cNvPicPr>
          <p:nvPr/>
        </p:nvPicPr>
        <p:blipFill>
          <a:blip r:embed="rId3"/>
          <a:srcRect l="43759" r="18221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11680" y="2026125"/>
            <a:ext cx="8458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i="0" b="0" spc="300">
                <a:solidFill>
                  <a:srgbClr val="A5A49F"/>
                </a:solidFill>
                <a:latin typeface="Outfit 2"/>
              </a:rPr>
              <a:t>A MARCA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501613"/>
            <a:ext cx="8458200" cy="8823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i="0" b="0">
                <a:solidFill>
                  <a:srgbClr val="1C1C1A"/>
                </a:solidFill>
                <a:latin typeface="Outfit 1 Light"/>
              </a:rPr>
              <a:t>PROVA, NÃO PROCLAMAÇÃO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3438507"/>
            <a:ext cx="8458200" cy="10973"/>
          </a:xfrm>
          <a:prstGeom prst="rect">
            <a:avLst/>
          </a:prstGeom>
          <a:solidFill>
            <a:srgbClr val="DFD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785979"/>
            <a:ext cx="8458200" cy="1697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i="0" b="0">
                <a:solidFill>
                  <a:srgbClr val="1C1C1A"/>
                </a:solidFill>
                <a:latin typeface="Outfit 1 Light"/>
              </a:rPr>
              <a:t>A dificuldade de comunicação não exige que ele se transforme em alguém que não é. A marca pode ser construída pela lógica que já existe nele.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757426"/>
            <a:ext cx="8458200" cy="10174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6B6B66"/>
                </a:solidFill>
                <a:latin typeface="Outfit 1 Light"/>
              </a:rPr>
              <a:t>Resultados, casos, conhecimento e consistência. Ele não precisa se tornar mais exibido: precisa tornar mais visível aquilo que já construiu.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7140608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7451504"/>
            <a:ext cx="8458200" cy="5807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1 Light"/>
              </a:rPr>
              <a:t>A essência revela a origem. A estratégia define a direção.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-ondas.jpeg"/>
          <p:cNvPicPr>
            <a:picLocks noChangeAspect="1"/>
          </p:cNvPicPr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3703320"/>
            <a:ext cx="13716000" cy="9239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650" i="0" b="0">
                <a:solidFill>
                  <a:srgbClr val="1C1C1A"/>
                </a:solidFill>
                <a:latin typeface="Outfit 1 Light"/>
              </a:rPr>
              <a:t>OBRIGADA!</a:t>
            </a:r>
          </a:p>
        </p:txBody>
      </p:sp>
      <p:pic>
        <p:nvPicPr>
          <p:cNvPr id="4" name="Picture 3" descr="logo-kelly-alb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5440680"/>
            <a:ext cx="3246120" cy="77146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669280" y="5257800"/>
            <a:ext cx="12802" cy="1143000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vm-rock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5394960"/>
            <a:ext cx="3291840" cy="9428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DAHVOuCspjk</dc:identifier>
  <dcterms:modified xsi:type="dcterms:W3CDTF">2011-08-01T06:04:30Z</dcterms:modified>
  <cp:revision>1</cp:revision>
  <dc:title>Revelacao-de-Essencia-Flavia-Pereira-Muccelin.pptx</dc:title>
</cp:coreProperties>
</file>