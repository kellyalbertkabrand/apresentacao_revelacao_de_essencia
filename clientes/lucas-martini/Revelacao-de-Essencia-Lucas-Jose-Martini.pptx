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REVELAÇÃO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José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Origem Identitária do Fundador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688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944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8343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2852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8249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758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68061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72570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7650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7906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7796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8247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97686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273174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POR QUE A ESSÊNCIA VEM PRIMEIRO?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964082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311554"/>
            <a:ext cx="8458200" cy="16336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4" i="0" b="0">
                <a:solidFill>
                  <a:srgbClr val="1C1C1A"/>
                </a:solidFill>
                <a:latin typeface="Outfit 1 Light"/>
              </a:rPr>
              <a:t>Uma marca pessoal não começa no que o profissional vende. Começa na maneira como ele enxerga o mundo e atribui significado ao próprio trabalho.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120750"/>
            <a:ext cx="8458200" cy="9803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16" i="0" b="0">
                <a:solidFill>
                  <a:srgbClr val="6B6B66"/>
                </a:solidFill>
                <a:latin typeface="Outfit 1 Light"/>
              </a:rPr>
              <a:t>Proteção e sucessão são a parte visível. Esta etapa investiga os padrões, as crenças e as tensões que explicam a origem da sua atuação.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38715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698053"/>
            <a:ext cx="8458200" cy="5626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O que existe por trás da forma como ele protege?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306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33034"/>
            <a:ext cx="14081760" cy="2320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A história não é a revelação.</a:t>
            </a:r>
          </a:p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A história é a evidência.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0535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808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SE CHEGA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177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65210"/>
            <a:ext cx="12801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essência não é um adjetivo, nem uma frase bonita criada para comunicação. Ela aparece quando momentos aparentemente diferentes revelam uma mesma lógica.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84996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ajudou a formar sua visão de mundo.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357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357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3570" y="5849965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Os contrastes que mostram aquilo que realmente importa.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5460" y="584996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recorrente como Lucas responde.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8735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8735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7350" y="5849965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competência, realização, contribuição e profissão se encontram.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575804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=  </a:t>
            </a:r>
            <a:r>
              <a:rPr sz="23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132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5681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HISTÓRIA SOBRE CONSTRUÇÃO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371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241182"/>
            <a:ext cx="122529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Lucas não viveu a dificuldade dos pais, mas cresceu conhecendo a história de uma família que saiu do campo, enfrentou escassez, trabalhou, adquiriu um terreno e construiu uma casa. Nada do que aparece abaixo chega até ele como algo dado: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58595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8735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28572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78712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98549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48689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Patrimônio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58595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8735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Carreira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28572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78712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Empresa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98549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48689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Estabilidade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48893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817602"/>
            <a:ext cx="1426464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Segurança pode levar anos para ser construída. O valor está em tudo o que foi preciso para chegar até 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_jovem_colete_vermelho_caixa_eletronico.png"/>
          <p:cNvPicPr>
            <a:picLocks noChangeAspect="1"/>
          </p:cNvPicPr>
          <p:nvPr/>
        </p:nvPicPr>
        <p:blipFill>
          <a:blip r:embed="rId3"/>
          <a:srcRect l="30990" r="3099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789297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264785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SEGUNDO APRENDIZADO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01679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549151"/>
            <a:ext cx="9601200" cy="20569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Anos depois, na recuperação de ativos do Bradesco, Lucas passa a ver o outro lado dessa lógica: famílias e empresas que levaram anos construindo patrimônio entravam rapidamente em dificuldade diante de morte, doença ou sucessão mal planejada.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774338"/>
            <a:ext cx="9601200" cy="94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Talvez o primeiro grande aprendizado do Lucas não tenha sido sobre seguro. Tenha sido sobre fragilidade.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997122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308018"/>
            <a:ext cx="9601200" cy="961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O que leva anos para ser construído pode ser comprometido muito rapidamente.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lucas_corredor_prudential.png"/>
          <p:cNvPicPr>
            <a:picLocks noChangeAspect="1"/>
          </p:cNvPicPr>
          <p:nvPr/>
        </p:nvPicPr>
        <p:blipFill>
          <a:blip r:embed="rId3"/>
          <a:srcRect l="20165" r="41815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72463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47951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ESSA FRAGILIDADE 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38859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8633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Não é acreditar que tudo pode dar errado. É compreender que: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23225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124811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renda pode parar;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65656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549123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empresa pode perder uma pessoa essencial;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08087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597343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 patrimônio pode precisar ser desmontado;</a:t>
            </a:r>
          </a:p>
        </p:txBody>
      </p:sp>
      <p:sp>
        <p:nvSpPr>
          <p:cNvPr id="15" name="Oval 14"/>
          <p:cNvSpPr/>
          <p:nvPr/>
        </p:nvSpPr>
        <p:spPr>
          <a:xfrm>
            <a:off x="2018538" y="65051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6397747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família pode perder, junto com alguém, a estrutura que sustentava sua vida.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0415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35241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imprevisto não destrói apenas dinheiro. Ele retira possibilidades.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8820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PRIMEIRA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357532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SEGURANÇA × 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9442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641898"/>
            <a:ext cx="9601200" cy="1697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constrói segurança para outras pessoas. Mas, num momento decisivo da própria carreira, abriu mão de uma trajetória sólida no banco para empreender.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52190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Ele aceita risco quando existe decisão, consciência, preparo e responsabilidade. O que o incomoda não é a incerteza.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83193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142831"/>
            <a:ext cx="9601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Segurança, para o Lucas, não é viver sem risco. É não ficar sem escolha quando algo acontece.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240965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SEGUNDA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1645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DINHEIRO × PROPÓSITO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65334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00819"/>
            <a:ext cx="8458200" cy="1570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Lucas não romantiza a própria decisão: a possibilidade financeira pesou. Mas resume a trajetória com uma frase reveladora — “fui pelo dinheiro e acabei ficando pelo propósito”.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739203"/>
            <a:ext cx="8458200" cy="94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O significado aparece quando ele acompanha pagamentos de benefícios e percebe o que uma decisão tomada antes representava na vida de alguém.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96198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272884"/>
            <a:ext cx="8458200" cy="5445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O dinheiro explica a entrada. O impacto explica a permanência.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1915115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TERCEIRA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390603"/>
            <a:ext cx="86868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RECONHECIMENTO × EXPOSIÇÃO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327497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3674969"/>
            <a:ext cx="8686800" cy="1167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acumula reconhecimentos e valoriza estar entre os melhores. Mas tem dificuldade declarada em comunicá-los.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5025843"/>
            <a:ext cx="86868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incômodo não é com o reconhecimento: é com a autoproclamação. Há conforto quando um cliente ou um ranking reconhece; há desconforto quando ele próprio precisa anunciar.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679886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7109760"/>
            <a:ext cx="86868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Para o Lucas, legitimidade precisa ser conquistada. Não declarada.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81494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O QUE ISSO REVELA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81871"/>
            <a:ext cx="14081760" cy="2854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Alta performance.</a:t>
            </a:r>
          </a:p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Baixa performatividade.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9517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226035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performa muito, mas performatiza pouco. Construiu autoridade e poucos signos públicos dela. Isso não precisa ser corrigido: pode virar assinatura — autoridade discreta.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SE REPETE EM TODA ESCOLHA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PREPARAR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11923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Diante de algo importante, Lucas entende, estuda, organiza e estrutura. Cria estrutura antes que ela seja necessária.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90027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13801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REPETIR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064862"/>
            <a:ext cx="9144000" cy="17026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Começa cedo, avança no banco, recomeça, constrói carteira e mantém ritmo. Chega a 100 semanas consecutivas protegendo três famílias por semana.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84062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707837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PERMANECER 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7005218"/>
            <a:ext cx="9144000" cy="11923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Não encerra o trabalho na venda. Relacionamento, confiança e pós-venda são centrais na sua forma de atuar.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2163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89712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83401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5192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5192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Antecipar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18704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8704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Estruturar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72216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72216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Acompanhar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7672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25728" y="4954524"/>
            <a:ext cx="2450592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25728" y="5265420"/>
            <a:ext cx="2450592" cy="105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Preservar possibilidades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6859524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Entender antes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 ·   </a:t>
            </a:r>
            <a:r>
              <a:rPr sz="2300" i="0" b="0">
                <a:solidFill>
                  <a:srgbClr val="1C1C1A"/>
                </a:solidFill>
                <a:latin typeface="Outfit 1 Light"/>
              </a:rPr>
              <a:t>Preparar antes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 ·   </a:t>
            </a:r>
            <a:r>
              <a:rPr sz="2300" i="0" b="0">
                <a:solidFill>
                  <a:srgbClr val="1C1C1A"/>
                </a:solidFill>
                <a:latin typeface="Outfit 1 Light"/>
              </a:rPr>
              <a:t>Permanecer depois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8051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5600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QUATRO ENCONTROS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69289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081760" y="1481328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70634" y="2070202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81760" y="2659076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92886" y="2070202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73884" y="3062326"/>
            <a:ext cx="118872" cy="118872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3533242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3734410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PAIXÃO · O QUE AMA + NO QUE É BOM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027018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Conversar, compreender e construir soluções que façam sentido para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4671238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872406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PROFISSÃO · NO QUE É BOM + PELO QUE PODE SER PAGO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165014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Estruturar proteção e sucessão com visão consultiva, personalização e relacionamento.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09234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010402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MISSÃO · O QUE O MUNDO PRECISA + O QUE GOSTA DE FAZER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6303010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Ampliar a consciência de que preparação financeira também é uma forma de cuidado e responsabilidade.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947231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148399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VOCAÇÃO · O QUE O MUNDO PRECISA + PELO QUE PODE SER 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441007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Ajudar pessoas, famílias e empresas a chegarem mais preparadas aos momentos que não podem controlar.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81583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8396123"/>
            <a:ext cx="12435840" cy="4711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140">
                <a:solidFill>
                  <a:srgbClr val="A5A49F"/>
                </a:solidFill>
                <a:latin typeface="Outfit 1 Semi-Bold"/>
              </a:rPr>
              <a:t>Sua competência não é conhecer produtos — é transformar complexidade em decisão estruturada.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lucas_casal_mais_velho.png"/>
          <p:cNvPicPr>
            <a:picLocks noChangeAspect="1"/>
          </p:cNvPicPr>
          <p:nvPr/>
        </p:nvPicPr>
        <p:blipFill>
          <a:blip r:embed="rId3"/>
          <a:srcRect l="30452" r="31528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5312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861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LUCAS ENCONTRA REALIZAÇÃO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1952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6699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Quando o planejamento cumpre aquilo para o qual foi criado: um benefício é pago, uma empresa pode continuar.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67590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568463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Manter possibilidades quando a vida muda.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610021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99277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precisar desmontar tudo nem aceitar qualquer saída.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52452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417087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transformar uma perda humana em colapso financeiro.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06085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37175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Dignidade financeira não é dinheiro disponível. É o que preserva possibilidades.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75436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21292"/>
            <a:ext cx="14081760" cy="398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Preservar a capacidade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de escolha quando a vida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tira a previsibilidade.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TUDO SE ENCONTRA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Ensinou que segurança é construída.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430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66801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59486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como aquilo que levou anos para existir se fragiliza depressa.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9038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62813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EMPREENDEDORISMO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5498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que ele aceita risco quando pode escolher conscientemente.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3505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5882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PROFISSÃO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51510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que preparação preserva possibilidades.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31062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5483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47522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24545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A ESSÊNCIA DE LUCAS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12386"/>
            <a:ext cx="14081760" cy="398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Construir segurança para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preservar liberdade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de escolha.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52120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795520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não trabalha para controlar o imprevisto. Trabalha para que o imprevisto não decida sozinho o que vem depois.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56232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 DE LUCAS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A FRASE CARREGA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686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562795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Transformar vulnerabilidades em planejamento, recursos e alternativas.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20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420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4562795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Manter possibilidades diante de acontecimentos que fogem ao controle.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5672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5672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6720" y="4562795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Evitar que a urgência seja a única responsável pelas decisões.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454689"/>
            <a:ext cx="122529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Responsável, disciplinado, ambicioso e constante são características do Lucas. Mas são manifestações de uma lógica mais profunda: preparar o que pode ser preparado para proteger o que não pode ser previsto.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l="31020" r="3096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62306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9854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PRODUTO NÃO É 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03544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60730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384505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SEGURO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377190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instrumento.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56742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480517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PLANEJAMENTO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0" y="473202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método.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552754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576529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 E SUCESSÃO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69214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São campos de atuação.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648766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672541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CONTINUIDADE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58600" y="665226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o território.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744778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768553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LIBERDADE DE ESCOLHA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0" y="761238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o significado humano.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84079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026125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0161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PROVA, NÃO PROCLAMAÇÃO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43850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85979"/>
            <a:ext cx="8458200" cy="1697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dificuldade de comunicação não exige que ele se transforme em alguém que não é. A marca pode ser construída pela lógica que já existe nele.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757426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Resultados, casos, conhecimento e consistência. Ele não precisa se tornar mais exibido: precisa tornar mais visível aquilo que já construiu.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1406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451504"/>
            <a:ext cx="845820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 essência revela a origem. A estratégia define a direção.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