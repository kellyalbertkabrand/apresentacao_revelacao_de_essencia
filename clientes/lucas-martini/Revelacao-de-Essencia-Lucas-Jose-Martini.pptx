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18"/>
    <p:sldId id="275" r:id="rId17"/>
    <p:sldId id="276" r:id="rId16"/>
    <p:sldId id="277" r:id="rId15"/>
    <p:sldId id="278" r:id="rId14"/>
    <p:sldId id="279" r:id="rId13"/>
    <p:sldId id="280" r:id="rId12"/>
    <p:sldId id="281" r:id="rId11"/>
    <p:sldId id="282" r:id="rId10"/>
    <p:sldId id="283" r:id="rId9"/>
    <p:sldId id="284" r:id="rId8"/>
    <p:sldId id="285" r:id="rId7"/>
  </p:sldIdLst>
  <p:sldSz cx="18288000" cy="10287000"/>
  <p:notesSz cx="6858000" cy="9144000"/>
  <p:embeddedFontLst>
    <p:embeddedFont>
      <p:font typeface="Koho" charset="1" panose="00000500000000000000"/>
      <p:regular r:id="rId37"/>
    </p:embeddedFont>
    <p:embeddedFont>
      <p:font typeface="Koho Medium" charset="1" panose="00000600000000000000"/>
      <p:regular r:id="rId38"/>
    </p:embeddedFont>
    <p:embeddedFont>
      <p:font typeface="Outfit 1 Medium" charset="1" panose="00000000000000000000"/>
      <p:regular r:id="rId39"/>
    </p:embeddedFont>
    <p:embeddedFont>
      <p:font typeface="IBM Plex Sans Thai" charset="1" panose="020B0503050203000203"/>
      <p:regular r:id="rId40"/>
    </p:embeddedFont>
    <p:embeddedFont>
      <p:font typeface="Outfit 2 Light" charset="1" panose="00000000000000000000"/>
      <p:regular r:id="rId41"/>
    </p:embeddedFont>
    <p:embeddedFont>
      <p:font typeface="Outfit 2 Medium" charset="1" panose="00000000000000000000"/>
      <p:regular r:id="rId42"/>
    </p:embeddedFont>
    <p:embeddedFont>
      <p:font typeface="Outfit 2 Semi-Bold" charset="1" panose="00000000000000000000"/>
      <p:regular r:id="rId43"/>
    </p:embeddedFont>
    <p:embeddedFont>
      <p:font typeface="Playfair Display" charset="1" panose="02000503000000020003"/>
      <p:regular r:id="rId44"/>
    </p:embeddedFont>
    <p:embeddedFont>
      <p:font typeface="Outfit 1 Bold" charset="1" panose="00000000000000000000"/>
      <p:regular r:id="rId45"/>
    </p:embeddedFont>
    <p:embeddedFont>
      <p:font typeface="Outfit 1" charset="1" panose="00000000000000000000"/>
      <p:regular r:id="rId46"/>
    </p:embeddedFont>
    <p:embeddedFont>
      <p:font typeface="Outfit 1 Semi-Bold" charset="1" panose="00000000000000000000"/>
      <p:regular r:id="rId47"/>
    </p:embeddedFont>
    <p:embeddedFont>
      <p:font typeface="Outfit 1 Light" charset="1" panose="00000000000000000000"/>
      <p:regular r:id="rId48"/>
    </p:embeddedFont>
    <p:embeddedFont>
      <p:font typeface="Outfit 1 Ultra-Bold" charset="1" panose="00000000000000000000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7" Type="http://schemas.openxmlformats.org/officeDocument/2006/relationships/slide" Target="slides/slide30.xml"/><Relationship Id="rId8" Type="http://schemas.openxmlformats.org/officeDocument/2006/relationships/slide" Target="slides/slide29.xml"/><Relationship Id="rId9" Type="http://schemas.openxmlformats.org/officeDocument/2006/relationships/slide" Target="slides/slide28.xml"/><Relationship Id="rId10" Type="http://schemas.openxmlformats.org/officeDocument/2006/relationships/slide" Target="slides/slide27.xml"/><Relationship Id="rId11" Type="http://schemas.openxmlformats.org/officeDocument/2006/relationships/slide" Target="slides/slide26.xml"/><Relationship Id="rId12" Type="http://schemas.openxmlformats.org/officeDocument/2006/relationships/slide" Target="slides/slide25.xml"/><Relationship Id="rId13" Type="http://schemas.openxmlformats.org/officeDocument/2006/relationships/slide" Target="slides/slide24.xml"/><Relationship Id="rId14" Type="http://schemas.openxmlformats.org/officeDocument/2006/relationships/slide" Target="slides/slide23.xml"/><Relationship Id="rId15" Type="http://schemas.openxmlformats.org/officeDocument/2006/relationships/slide" Target="slides/slide22.xml"/><Relationship Id="rId16" Type="http://schemas.openxmlformats.org/officeDocument/2006/relationships/slide" Target="slides/slide21.xml"/><Relationship Id="rId17" Type="http://schemas.openxmlformats.org/officeDocument/2006/relationships/slide" Target="slides/slide20.xml"/><Relationship Id="rId18" Type="http://schemas.openxmlformats.org/officeDocument/2006/relationships/slide" Target="slides/slide19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37" Type="http://schemas.openxmlformats.org/officeDocument/2006/relationships/font" Target="fonts/font37.fntdata"/><Relationship Id="rId38" Type="http://schemas.openxmlformats.org/officeDocument/2006/relationships/font" Target="fonts/font38.fntdata"/><Relationship Id="rId39" Type="http://schemas.openxmlformats.org/officeDocument/2006/relationships/font" Target="fonts/font39.fntdata"/><Relationship Id="rId40" Type="http://schemas.openxmlformats.org/officeDocument/2006/relationships/font" Target="fonts/font40.fntdata"/><Relationship Id="rId41" Type="http://schemas.openxmlformats.org/officeDocument/2006/relationships/font" Target="fonts/font41.fntdata"/><Relationship Id="rId42" Type="http://schemas.openxmlformats.org/officeDocument/2006/relationships/font" Target="fonts/font42.fntdata"/><Relationship Id="rId43" Type="http://schemas.openxmlformats.org/officeDocument/2006/relationships/font" Target="fonts/font43.fntdata"/><Relationship Id="rId44" Type="http://schemas.openxmlformats.org/officeDocument/2006/relationships/font" Target="fonts/font44.fntdata"/><Relationship Id="rId45" Type="http://schemas.openxmlformats.org/officeDocument/2006/relationships/font" Target="fonts/font45.fntdata"/><Relationship Id="rId46" Type="http://schemas.openxmlformats.org/officeDocument/2006/relationships/font" Target="fonts/font46.fntdata"/><Relationship Id="rId47" Type="http://schemas.openxmlformats.org/officeDocument/2006/relationships/font" Target="fonts/font47.fntdata"/><Relationship Id="rId48" Type="http://schemas.openxmlformats.org/officeDocument/2006/relationships/font" Target="fonts/font48.fntdata"/><Relationship Id="rId49" Type="http://schemas.openxmlformats.org/officeDocument/2006/relationships/font" Target="fonts/font49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-kelly-alb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4617720"/>
            <a:ext cx="3931920" cy="9344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006840" y="4206240"/>
            <a:ext cx="12802" cy="1691640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vm-roc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4434840"/>
            <a:ext cx="4023360" cy="11524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tra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5848" y="3364992"/>
            <a:ext cx="1490472" cy="17795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192" y="3593592"/>
            <a:ext cx="13551408" cy="247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500" i="0" b="0" spc="300">
                <a:solidFill>
                  <a:srgbClr val="1C1C1A"/>
                </a:solidFill>
                <a:latin typeface="Outfit 1 Bold"/>
              </a:rPr>
              <a:t>REVELAÇÃO</a:t>
            </a:r>
          </a:p>
          <a:p>
            <a:pPr algn="l">
              <a:lnSpc>
                <a:spcPct val="114000"/>
              </a:lnSpc>
            </a:pPr>
            <a:r>
              <a:rPr sz="7500" i="0" b="0" spc="300">
                <a:solidFill>
                  <a:srgbClr val="1C1C1A"/>
                </a:solidFill>
                <a:latin typeface="Outfit 1 Bold"/>
              </a:rPr>
              <a:t>DE ESSÊNCIA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6179820"/>
            <a:ext cx="135514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i="0" b="0">
                <a:solidFill>
                  <a:srgbClr val="1C1C1A"/>
                </a:solidFill>
                <a:latin typeface="Outfit 1 Bold"/>
              </a:rPr>
              <a:t>Lucas José Martini</a:t>
            </a:r>
            <a:r>
              <a:rPr sz="3000" i="0" b="0">
                <a:solidFill>
                  <a:srgbClr val="1C1C1A"/>
                </a:solidFill>
                <a:latin typeface="Outfit 1"/>
              </a:rPr>
              <a:t>  |  Origem Identitária do Fundador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545336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64024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88936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92640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-k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133" y="6494587"/>
            <a:ext cx="3459591" cy="34595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83480" y="7964424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680" i="0" b="0">
                <a:solidFill>
                  <a:srgbClr val="1C1C1A"/>
                </a:solidFill>
                <a:latin typeface="Outfit 2 Light"/>
              </a:rPr>
              <a:t>Método </a:t>
            </a:r>
            <a:r>
              <a:rPr sz="2680" i="0" b="0">
                <a:solidFill>
                  <a:srgbClr val="1C1C1A"/>
                </a:solidFill>
                <a:latin typeface="Outfit 2 Semi-Bold"/>
              </a:rPr>
              <a:t>Marca</a:t>
            </a:r>
          </a:p>
          <a:p>
            <a:pPr algn="l">
              <a:lnSpc>
                <a:spcPct val="95000"/>
              </a:lnSpc>
            </a:pPr>
            <a:r>
              <a:rPr sz="2680" i="0" b="0">
                <a:solidFill>
                  <a:srgbClr val="1C1C1A"/>
                </a:solidFill>
                <a:latin typeface="Outfit 2 Semi-Bold"/>
              </a:rPr>
              <a:t>com Essência</a:t>
            </a:r>
            <a:r>
              <a:rPr sz="1470" i="0" b="0">
                <a:solidFill>
                  <a:srgbClr val="1C1C1A"/>
                </a:solidFill>
                <a:latin typeface="Outfit 2"/>
              </a:rPr>
              <a:t>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815644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950" i="0" b="0">
                <a:solidFill>
                  <a:srgbClr val="1C1C1A"/>
                </a:solidFill>
                <a:latin typeface="Outfit 1"/>
              </a:rPr>
              <a:t>OUTUBRO/2026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804672"/>
            <a:ext cx="14264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0" i="0" b="0">
                <a:solidFill>
                  <a:srgbClr val="1C1C1A"/>
                </a:solidFill>
                <a:latin typeface="Outfit 1 Ultra-Bold"/>
              </a:rPr>
              <a:t>SUMÁRIO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6974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95351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843784"/>
            <a:ext cx="126644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A origem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3294634"/>
            <a:ext cx="1266444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i="0" b="0">
                <a:solidFill>
                  <a:srgbClr val="A5A49F"/>
                </a:solidFill>
                <a:latin typeface="Outfit 1 Light"/>
              </a:rPr>
              <a:t>As experiências que formaram sua relação com construção, segurança e futuro.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36880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394411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834384"/>
            <a:ext cx="126644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As tensões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4285234"/>
            <a:ext cx="1266444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i="0" b="0">
                <a:solidFill>
                  <a:srgbClr val="A5A49F"/>
                </a:solidFill>
                <a:latin typeface="Outfit 1 Light"/>
              </a:rPr>
              <a:t>Os contrastes que revelam o que realmente o coloca em movimento.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46786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493471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4824984"/>
            <a:ext cx="126644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Os padrões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5275834"/>
            <a:ext cx="1266444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i="0" b="0">
                <a:solidFill>
                  <a:srgbClr val="A5A49F"/>
                </a:solidFill>
                <a:latin typeface="Outfit 1 Light"/>
              </a:rPr>
              <a:t>A lógica que se repete por trás de escolhas diferentes.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56692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592531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5815584"/>
            <a:ext cx="126644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O Ikigai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6266434"/>
            <a:ext cx="1266444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i="0" b="0">
                <a:solidFill>
                  <a:srgbClr val="A5A49F"/>
                </a:solidFill>
                <a:latin typeface="Outfit 1 Light"/>
              </a:rPr>
              <a:t>Onde capacidade, realização, contribuição e profissão se encontram.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66598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0" y="691591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6806184"/>
            <a:ext cx="126644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A essência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7257034"/>
            <a:ext cx="1266444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i="0" b="0">
                <a:solidFill>
                  <a:srgbClr val="A5A49F"/>
                </a:solidFill>
                <a:latin typeface="Outfit 1 Light"/>
              </a:rPr>
              <a:t>O princípio mais profundo que conecta sua trajetória.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0" y="76504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0" y="790651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7796784"/>
            <a:ext cx="126644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A marca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8247634"/>
            <a:ext cx="1266444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i="0" b="0">
                <a:solidFill>
                  <a:srgbClr val="A5A49F"/>
                </a:solidFill>
                <a:latin typeface="Outfit 1 Light"/>
              </a:rPr>
              <a:t>O que essa essência revela sobre o papel que Lucas pode ocupar.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0" y="86410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_lucas_janela_entardecer.png"/>
          <p:cNvPicPr>
            <a:picLocks noChangeAspect="1"/>
          </p:cNvPicPr>
          <p:nvPr/>
        </p:nvPicPr>
        <p:blipFill>
          <a:blip r:embed="rId3"/>
          <a:srcRect l="18819" r="43161"/>
          <a:stretch>
            <a:fillRect/>
          </a:stretch>
        </p:blipFill>
        <p:spPr>
          <a:xfrm>
            <a:off x="11338560" y="0"/>
            <a:ext cx="6949440" cy="1028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1797686"/>
            <a:ext cx="8458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CONCEITO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273174"/>
            <a:ext cx="845820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POR QUE A ESSÊNCIA VEM PRIMEIRO?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3964082"/>
            <a:ext cx="8458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4311554"/>
            <a:ext cx="8458200" cy="16336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4" i="0" b="0">
                <a:solidFill>
                  <a:srgbClr val="1C1C1A"/>
                </a:solidFill>
                <a:latin typeface="Outfit 1 Light"/>
              </a:rPr>
              <a:t>Uma marca pessoal não começa no que o profissional vende. Começa na maneira como ele enxerga o mundo e atribui significado ao próprio trabalho.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6120750"/>
            <a:ext cx="8458200" cy="9803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16" i="0" b="0">
                <a:solidFill>
                  <a:srgbClr val="6B6B66"/>
                </a:solidFill>
                <a:latin typeface="Outfit 1 Light"/>
              </a:rPr>
              <a:t>Proteção e sucessão são a parte visível. Esta etapa investiga os padrões, as crenças e as tensões que explicam a origem da sua atuação.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7387157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7698053"/>
            <a:ext cx="8458200" cy="5626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8" i="0" b="0">
                <a:solidFill>
                  <a:srgbClr val="1C1C1A"/>
                </a:solidFill>
                <a:latin typeface="Outfit 1 Light"/>
              </a:rPr>
              <a:t>O que existe por trás da forma como ele protege?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085368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487704"/>
            <a:ext cx="14081760" cy="3211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7400" i="0" b="0">
                <a:solidFill>
                  <a:srgbClr val="1C1C1A"/>
                </a:solidFill>
                <a:latin typeface="Outfit 1 Light"/>
              </a:rPr>
              <a:t>A história não é a revelação.</a:t>
            </a:r>
          </a:p>
          <a:p>
            <a:pPr algn="l">
              <a:lnSpc>
                <a:spcPct val="126000"/>
              </a:lnSpc>
            </a:pPr>
            <a:r>
              <a:rPr sz="7400" i="0" b="0">
                <a:solidFill>
                  <a:srgbClr val="1C1C1A"/>
                </a:solidFill>
                <a:latin typeface="Outfit 1 Light"/>
              </a:rPr>
              <a:t>A história é a evidência.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05356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MÉTODO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180844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COMO SE CHEGA À REVELAÇÃO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117738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465210"/>
            <a:ext cx="1280160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A essência não é um adjetivo, nem uma frase bonita criada para comunicação. Ela aparece quando momentos aparentemente diferentes revelam uma mesma lógica.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4903257"/>
            <a:ext cx="318897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5159289"/>
            <a:ext cx="3188970" cy="526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História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5849965"/>
            <a:ext cx="318897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O que ajudou a formar sua visão de mundo.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03570" y="4903257"/>
            <a:ext cx="318897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03570" y="5159289"/>
            <a:ext cx="3188970" cy="526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Tensões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03570" y="5849965"/>
            <a:ext cx="3188970" cy="14804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Os contrastes que mostram aquilo que realmente importa.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95460" y="4903257"/>
            <a:ext cx="318897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95460" y="5159289"/>
            <a:ext cx="3188970" cy="526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Padrões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5460" y="5849965"/>
            <a:ext cx="318897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A forma recorrente como Lucas responde.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087350" y="4903257"/>
            <a:ext cx="318897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087350" y="5159289"/>
            <a:ext cx="3188970" cy="526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Ikigai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87350" y="5849965"/>
            <a:ext cx="3188970" cy="14804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Onde competência, realização, contribuição e profissão se encontram.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7575804"/>
            <a:ext cx="1426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300" i="0" b="0">
                <a:solidFill>
                  <a:srgbClr val="6B6B66"/>
                </a:solidFill>
                <a:latin typeface="Outfit 1 Light"/>
              </a:rPr>
              <a:t>história</a:t>
            </a:r>
            <a:r>
              <a:rPr sz="2300" i="0" b="0">
                <a:solidFill>
                  <a:srgbClr val="A9724A"/>
                </a:solidFill>
                <a:latin typeface="Outfit 1 Light"/>
              </a:rPr>
              <a:t>  +  </a:t>
            </a:r>
            <a:r>
              <a:rPr sz="2300" i="0" b="0">
                <a:solidFill>
                  <a:srgbClr val="6B6B66"/>
                </a:solidFill>
                <a:latin typeface="Outfit 1 Light"/>
              </a:rPr>
              <a:t>tensões</a:t>
            </a:r>
            <a:r>
              <a:rPr sz="2300" i="0" b="0">
                <a:solidFill>
                  <a:srgbClr val="A9724A"/>
                </a:solidFill>
                <a:latin typeface="Outfit 1 Light"/>
              </a:rPr>
              <a:t>  +  </a:t>
            </a:r>
            <a:r>
              <a:rPr sz="2300" i="0" b="0">
                <a:solidFill>
                  <a:srgbClr val="6B6B66"/>
                </a:solidFill>
                <a:latin typeface="Outfit 1 Light"/>
              </a:rPr>
              <a:t>padrões</a:t>
            </a:r>
            <a:r>
              <a:rPr sz="2300" i="0" b="0">
                <a:solidFill>
                  <a:srgbClr val="A9724A"/>
                </a:solidFill>
                <a:latin typeface="Outfit 1 Light"/>
              </a:rPr>
              <a:t>  +  </a:t>
            </a:r>
            <a:r>
              <a:rPr sz="2300" i="0" b="0">
                <a:solidFill>
                  <a:srgbClr val="6B6B66"/>
                </a:solidFill>
                <a:latin typeface="Outfit 1 Light"/>
              </a:rPr>
              <a:t>Ikigai</a:t>
            </a:r>
            <a:r>
              <a:rPr sz="2300" i="0" b="0">
                <a:solidFill>
                  <a:srgbClr val="A9724A"/>
                </a:solidFill>
                <a:latin typeface="Outfit 1 Light"/>
              </a:rPr>
              <a:t>  =  </a:t>
            </a:r>
            <a:r>
              <a:rPr sz="2300" i="0" b="0">
                <a:solidFill>
                  <a:srgbClr val="1C1C1A"/>
                </a:solidFill>
                <a:latin typeface="Outfit 1 Semi-Bold"/>
              </a:rPr>
              <a:t>essência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27466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9724A"/>
                </a:solidFill>
                <a:latin typeface="Outfit 1 Semi-Bol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823309"/>
            <a:ext cx="12801600" cy="1551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0" i="0" b="0">
                <a:solidFill>
                  <a:srgbClr val="1C1C1A"/>
                </a:solidFill>
                <a:latin typeface="Outfit 1 Light"/>
              </a:rPr>
              <a:t>A ORIGEM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5614517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5888837"/>
            <a:ext cx="11887200" cy="6205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A5A49F"/>
                </a:solidFill>
                <a:latin typeface="Outfit 1 Light"/>
              </a:rPr>
              <a:t>As experiências que formaram sua relação com construção, segurança e futuro.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481328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A ORIGEM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56816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UMA HISTÓRIA SOBRE CONSTRUÇÃO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289371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241182"/>
            <a:ext cx="12252960" cy="14804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Lucas não viveu a dificuldade dos pais, mas cresceu conhecendo a história de uma família que saiu do campo, enfrentou escassez, trabalhou, adquiriu um terreno e construiu uma casa. Nada do que aparece abaixo chega até ele como algo dado: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5585958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5087356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Casa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6285728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5787126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Renda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6985498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6486896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Patrimônio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95460" y="5585958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95460" y="5087356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Carreira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5460" y="6285728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5460" y="5787126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Empresa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95460" y="6985498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5460" y="6486896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Estabilidade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7488936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7817602"/>
            <a:ext cx="14264640" cy="5807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Segurança pode levar anos para ser construída. O valor está em tudo o que foi preciso para chegar até ali.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04_jovem_colete_vermelho_caixa_eletronico.png"/>
          <p:cNvPicPr>
            <a:picLocks noChangeAspect="1"/>
          </p:cNvPicPr>
          <p:nvPr/>
        </p:nvPicPr>
        <p:blipFill>
          <a:blip r:embed="rId3"/>
          <a:srcRect l="30990" r="30990"/>
          <a:stretch>
            <a:fillRect/>
          </a:stretch>
        </p:blipFill>
        <p:spPr>
          <a:xfrm>
            <a:off x="0" y="0"/>
            <a:ext cx="6949440" cy="10287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94944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1789297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A ORIGEM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2264785"/>
            <a:ext cx="960120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SEGUNDO APRENDIZADO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7818120" y="3201679"/>
            <a:ext cx="9601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3549151"/>
            <a:ext cx="9601200" cy="20569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8" i="0" b="0">
                <a:solidFill>
                  <a:srgbClr val="1C1C1A"/>
                </a:solidFill>
                <a:latin typeface="Outfit 1 Light"/>
              </a:rPr>
              <a:t>Anos depois, na recuperação de ativos do Bradesco, Lucas passa a ver o outro lado dessa lógica: famílias e empresas que levaram anos construindo patrimônio entravam rapidamente em dificuldade diante de morte, doença ou sucessão mal planejada.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5774338"/>
            <a:ext cx="9601200" cy="943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32" i="0" b="0">
                <a:solidFill>
                  <a:srgbClr val="6B6B66"/>
                </a:solidFill>
                <a:latin typeface="Outfit 1 Light"/>
              </a:rPr>
              <a:t>Talvez o primeiro grande aprendizado do Lucas não tenha sido sobre seguro. Tenha sido sobre fragilidade.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6997122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7308018"/>
            <a:ext cx="9601200" cy="961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15" i="0" b="0">
                <a:solidFill>
                  <a:srgbClr val="1C1C1A"/>
                </a:solidFill>
                <a:latin typeface="Outfit 1 Light"/>
              </a:rPr>
              <a:t>O que leva anos para ser construído pode ser comprometido muito rapidamente.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6_lucas_corredor_prudential.png"/>
          <p:cNvPicPr>
            <a:picLocks noChangeAspect="1"/>
          </p:cNvPicPr>
          <p:nvPr/>
        </p:nvPicPr>
        <p:blipFill>
          <a:blip r:embed="rId3"/>
          <a:srcRect l="20165" r="41815"/>
          <a:stretch>
            <a:fillRect/>
          </a:stretch>
        </p:blipFill>
        <p:spPr>
          <a:xfrm>
            <a:off x="11338560" y="0"/>
            <a:ext cx="6949440" cy="1028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1672463"/>
            <a:ext cx="8458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A ORIGEM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147951"/>
            <a:ext cx="845820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QUE ESSA FRAGILIDADE SIGNIFICA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3838859"/>
            <a:ext cx="8458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4186331"/>
            <a:ext cx="845820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Não é acreditar que tudo pode dar errado. É compreender que:</a:t>
            </a:r>
          </a:p>
        </p:txBody>
      </p:sp>
      <p:sp>
        <p:nvSpPr>
          <p:cNvPr id="9" name="Oval 8"/>
          <p:cNvSpPr/>
          <p:nvPr/>
        </p:nvSpPr>
        <p:spPr>
          <a:xfrm>
            <a:off x="2018538" y="5232253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0592" y="5124811"/>
            <a:ext cx="8019288" cy="424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i="0" b="0">
                <a:solidFill>
                  <a:srgbClr val="1C1C1A"/>
                </a:solidFill>
                <a:latin typeface="Outfit 1 Light"/>
              </a:rPr>
              <a:t>uma renda pode parar;</a:t>
            </a:r>
          </a:p>
        </p:txBody>
      </p:sp>
      <p:sp>
        <p:nvSpPr>
          <p:cNvPr id="11" name="Oval 10"/>
          <p:cNvSpPr/>
          <p:nvPr/>
        </p:nvSpPr>
        <p:spPr>
          <a:xfrm>
            <a:off x="2018538" y="5656565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50592" y="5549123"/>
            <a:ext cx="8019288" cy="424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i="0" b="0">
                <a:solidFill>
                  <a:srgbClr val="1C1C1A"/>
                </a:solidFill>
                <a:latin typeface="Outfit 1 Light"/>
              </a:rPr>
              <a:t>uma empresa pode perder uma pessoa essencial;</a:t>
            </a:r>
          </a:p>
        </p:txBody>
      </p:sp>
      <p:sp>
        <p:nvSpPr>
          <p:cNvPr id="13" name="Oval 12"/>
          <p:cNvSpPr/>
          <p:nvPr/>
        </p:nvSpPr>
        <p:spPr>
          <a:xfrm>
            <a:off x="2018538" y="6080877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50592" y="5973435"/>
            <a:ext cx="8019288" cy="424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i="0" b="0">
                <a:solidFill>
                  <a:srgbClr val="1C1C1A"/>
                </a:solidFill>
                <a:latin typeface="Outfit 1 Light"/>
              </a:rPr>
              <a:t>um patrimônio pode precisar ser desmontado;</a:t>
            </a:r>
          </a:p>
        </p:txBody>
      </p:sp>
      <p:sp>
        <p:nvSpPr>
          <p:cNvPr id="15" name="Oval 14"/>
          <p:cNvSpPr/>
          <p:nvPr/>
        </p:nvSpPr>
        <p:spPr>
          <a:xfrm>
            <a:off x="2018538" y="6505189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50592" y="6397747"/>
            <a:ext cx="8019288" cy="424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i="0" b="0">
                <a:solidFill>
                  <a:srgbClr val="1C1C1A"/>
                </a:solidFill>
                <a:latin typeface="Outfit 1 Light"/>
              </a:rPr>
              <a:t>uma família pode perder, junto com alguém, a estrutura que sustentava sua vida.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7041515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7352411"/>
            <a:ext cx="8458200" cy="10335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O imprevisto não destrói apenas dinheiro. Ele retira possibilidades.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27466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9724A"/>
                </a:solidFill>
                <a:latin typeface="Outfit 1 Semi-Bol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823309"/>
            <a:ext cx="12801600" cy="1551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0" i="0" b="0">
                <a:solidFill>
                  <a:srgbClr val="1C1C1A"/>
                </a:solidFill>
                <a:latin typeface="Outfit 1 Light"/>
              </a:rPr>
              <a:t>AS TENSÕES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5614517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5888837"/>
            <a:ext cx="11887200" cy="6205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A5A49F"/>
                </a:solidFill>
                <a:latin typeface="Outfit 1 Light"/>
              </a:rPr>
              <a:t>Os contrastes que revelam o que realmente o coloca em movimento.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12_lucas_caminhando_janela.png"/>
          <p:cNvPicPr>
            <a:picLocks noChangeAspect="1"/>
          </p:cNvPicPr>
          <p:nvPr/>
        </p:nvPicPr>
        <p:blipFill>
          <a:blip r:embed="rId3"/>
          <a:srcRect l="42413" r="19566"/>
          <a:stretch>
            <a:fillRect/>
          </a:stretch>
        </p:blipFill>
        <p:spPr>
          <a:xfrm>
            <a:off x="0" y="0"/>
            <a:ext cx="6949440" cy="10287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94944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18820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PRIMEIRA TENSÃO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2357532"/>
            <a:ext cx="960120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SEGURANÇA × RISCO</a:t>
            </a:r>
          </a:p>
        </p:txBody>
      </p:sp>
      <p:sp>
        <p:nvSpPr>
          <p:cNvPr id="7" name="Rectangle 6"/>
          <p:cNvSpPr/>
          <p:nvPr/>
        </p:nvSpPr>
        <p:spPr>
          <a:xfrm>
            <a:off x="7818120" y="3294426"/>
            <a:ext cx="9601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3641898"/>
            <a:ext cx="9601200" cy="16971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Lucas constrói segurança para outras pessoas. Mas, num momento decisivo da própria carreira, abriu mão de uma trajetória sólida no banco para empreender.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5521905"/>
            <a:ext cx="960120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Ele aceita risco quando existe decisão, consciência, preparo e responsabilidade. O que o incomoda não é a incerteza.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6831935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7142831"/>
            <a:ext cx="9601200" cy="10335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Segurança, para o Lucas, não é viver sem risco. É não ficar sem escolha quando algo acontece.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9_lucas_analisando_documentos.png"/>
          <p:cNvPicPr>
            <a:picLocks noChangeAspect="1"/>
          </p:cNvPicPr>
          <p:nvPr/>
        </p:nvPicPr>
        <p:blipFill>
          <a:blip r:embed="rId3"/>
          <a:srcRect l="30810" r="31169"/>
          <a:stretch>
            <a:fillRect/>
          </a:stretch>
        </p:blipFill>
        <p:spPr>
          <a:xfrm>
            <a:off x="11338560" y="0"/>
            <a:ext cx="6949440" cy="1028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2240965"/>
            <a:ext cx="8458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SEGUNDA TENSÃO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716453"/>
            <a:ext cx="845820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DINHEIRO × PROPÓSITO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3653347"/>
            <a:ext cx="8458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4000819"/>
            <a:ext cx="8458200" cy="1570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8" i="0" b="0">
                <a:solidFill>
                  <a:srgbClr val="1C1C1A"/>
                </a:solidFill>
                <a:latin typeface="Outfit 1 Light"/>
              </a:rPr>
              <a:t>Lucas não romantiza a própria decisão: a possibilidade financeira pesou. Mas resume a trajetória com uma frase reveladora — “fui pelo dinheiro e acabei ficando pelo propósito”.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739203"/>
            <a:ext cx="8458200" cy="943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32" i="0" b="0">
                <a:solidFill>
                  <a:srgbClr val="6B6B66"/>
                </a:solidFill>
                <a:latin typeface="Outfit 1 Light"/>
              </a:rPr>
              <a:t>O significado aparece quando ele acompanha pagamentos de benefícios e percebe o que uma decisão tomada antes representava na vida de alguém.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6961988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7272884"/>
            <a:ext cx="8458200" cy="544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15" i="0" b="0">
                <a:solidFill>
                  <a:srgbClr val="1C1C1A"/>
                </a:solidFill>
                <a:latin typeface="Outfit 1 Light"/>
              </a:rPr>
              <a:t>O dinheiro explica a entrada. O impacto explica a permanência.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14_retrato_lucas_corredor.png"/>
          <p:cNvPicPr>
            <a:picLocks noChangeAspect="1"/>
          </p:cNvPicPr>
          <p:nvPr/>
        </p:nvPicPr>
        <p:blipFill>
          <a:blip r:embed="rId3"/>
          <a:srcRect l="26814" r="30163"/>
          <a:stretch>
            <a:fillRect/>
          </a:stretch>
        </p:blipFill>
        <p:spPr>
          <a:xfrm>
            <a:off x="0" y="0"/>
            <a:ext cx="7863840" cy="10287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0"/>
            <a:ext cx="104241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20" y="1915115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TERCEIRA TENSÃO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2390603"/>
            <a:ext cx="868680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RECONHECIMENTO × EXPOSIÇÃO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8732520" y="3327497"/>
            <a:ext cx="86868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3674969"/>
            <a:ext cx="8686800" cy="11679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Lucas acumula reconhecimentos e valoriza estar entre os melhores. Mas tem dificuldade declarada em comunicá-los.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5025843"/>
            <a:ext cx="8686800" cy="14804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O incômodo não é com o reconhecimento: é com a autoproclamação. Há conforto quando um cliente ou um ranking reconhece; há desconforto quando ele próprio precisa anunciar.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32520" y="6798864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20" y="7109760"/>
            <a:ext cx="8686800" cy="10335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Para o Lucas, legitimidade precisa ser conquistada. Não declarada.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08_lucas_aperto_de_maos_cliente.png"/>
          <p:cNvPicPr>
            <a:picLocks noChangeAspect="1"/>
          </p:cNvPicPr>
          <p:nvPr/>
        </p:nvPicPr>
        <p:blipFill>
          <a:blip r:embed="rId3"/>
          <a:srcRect b="5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C1C1A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653619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FFFFFF"/>
                </a:solidFill>
                <a:latin typeface="Outfit 2"/>
              </a:rPr>
              <a:t>O QUE ISSO REVELA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220547"/>
            <a:ext cx="14081760" cy="3211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7400" i="0" b="0">
                <a:solidFill>
                  <a:srgbClr val="FFFFFF"/>
                </a:solidFill>
                <a:latin typeface="Outfit 1 Light"/>
              </a:rPr>
              <a:t>Alta performance.</a:t>
            </a:r>
          </a:p>
          <a:p>
            <a:pPr algn="l">
              <a:lnSpc>
                <a:spcPct val="126000"/>
              </a:lnSpc>
            </a:pPr>
            <a:r>
              <a:rPr sz="7400" i="0" b="0">
                <a:solidFill>
                  <a:srgbClr val="FFFFFF"/>
                </a:solidFill>
                <a:latin typeface="Outfit 1 Light"/>
              </a:rPr>
              <a:t>Baixa performatividade.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6113039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6387359"/>
            <a:ext cx="1188720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FFFFFF"/>
                </a:solidFill>
                <a:latin typeface="Outfit 1 Light"/>
              </a:rPr>
              <a:t>Lucas performa muito, mas performatiza pouco. Construiu autoridade e poucos signos públicos dela. Isso não precisa ser corrigido: pode virar assinatura — autoridade discreta.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27466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9724A"/>
                </a:solidFill>
                <a:latin typeface="Outfit 1 Semi-Bol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823309"/>
            <a:ext cx="12801600" cy="1551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0" i="0" b="0">
                <a:solidFill>
                  <a:srgbClr val="1C1C1A"/>
                </a:solidFill>
                <a:latin typeface="Outfit 1 Light"/>
              </a:rPr>
              <a:t>OS PADRÕES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5614517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5888837"/>
            <a:ext cx="11887200" cy="6205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A5A49F"/>
                </a:solidFill>
                <a:latin typeface="Outfit 1 Light"/>
              </a:rPr>
              <a:t>A lógica que se repete por trás de escolhas diferentes.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485900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OS PADRÕES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61388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QUE SE REPETE EM TODA ESCOLHA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2898282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0" y="3470148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3707892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PREPARAR ANTES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3634740"/>
            <a:ext cx="9144000" cy="11923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Diante de algo importante, Lucas entende, estuda, organiza e estrutura. Cria estrutura antes que ela seja necessária.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90027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5138014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REPETIR BEM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5064862"/>
            <a:ext cx="9144000" cy="17026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Começa cedo, avança no banco, recomeça, constrói carteira e mantém ritmo. Chega a 100 semanas consecutivas protegendo três famílias por semana.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6840626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7078370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9724A"/>
                </a:solidFill>
                <a:latin typeface="Outfit 1 Semi-Bold"/>
              </a:rPr>
              <a:t>PERMANECER DEPOIS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7005218"/>
            <a:ext cx="9144000" cy="11923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Não encerra o trabalho na venda. Relacionamento, confiança e pós-venda são centrais na sua forma de atuar.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0" y="8270748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421636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OS PADRÕES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897124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MOVIMENTO QUE SE REPETE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834018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0" y="4954524"/>
            <a:ext cx="2450592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5265420"/>
            <a:ext cx="2450592" cy="582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Entender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136" y="5192268"/>
            <a:ext cx="4114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A9724A"/>
                </a:solidFill>
                <a:latin typeface="Outfit 1 Light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65192" y="4954524"/>
            <a:ext cx="2450592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65192" y="5265420"/>
            <a:ext cx="2450592" cy="582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Antecipar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0648" y="5192268"/>
            <a:ext cx="4114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A9724A"/>
                </a:solidFill>
                <a:latin typeface="Outfit 1 Light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18704" y="4954524"/>
            <a:ext cx="2450592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18704" y="5265420"/>
            <a:ext cx="2450592" cy="582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Estruturar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5192268"/>
            <a:ext cx="4114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A9724A"/>
                </a:solidFill>
                <a:latin typeface="Outfit 1 Light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72216" y="4954524"/>
            <a:ext cx="2450592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72216" y="5265420"/>
            <a:ext cx="2450592" cy="582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Acompanhar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77672" y="5192268"/>
            <a:ext cx="4114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A9724A"/>
                </a:solidFill>
                <a:latin typeface="Outfit 1 Light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825728" y="4954524"/>
            <a:ext cx="2450592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825728" y="5265420"/>
            <a:ext cx="2450592" cy="105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Preservar possibilidades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6859524"/>
            <a:ext cx="1426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Entender antes</a:t>
            </a:r>
            <a:r>
              <a:rPr sz="2300" i="0" b="0">
                <a:solidFill>
                  <a:srgbClr val="A9724A"/>
                </a:solidFill>
                <a:latin typeface="Outfit 1 Light"/>
              </a:rPr>
              <a:t>   ·   </a:t>
            </a:r>
            <a:r>
              <a:rPr sz="2300" i="0" b="0">
                <a:solidFill>
                  <a:srgbClr val="1C1C1A"/>
                </a:solidFill>
                <a:latin typeface="Outfit 1 Light"/>
              </a:rPr>
              <a:t>Preparar antes</a:t>
            </a:r>
            <a:r>
              <a:rPr sz="2300" i="0" b="0">
                <a:solidFill>
                  <a:srgbClr val="A9724A"/>
                </a:solidFill>
                <a:latin typeface="Outfit 1 Light"/>
              </a:rPr>
              <a:t>   ·   </a:t>
            </a:r>
            <a:r>
              <a:rPr sz="2300" i="0" b="0">
                <a:solidFill>
                  <a:srgbClr val="1C1C1A"/>
                </a:solidFill>
                <a:latin typeface="Outfit 1 Light"/>
              </a:rPr>
              <a:t>Permanecer depois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27466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9724A"/>
                </a:solidFill>
                <a:latin typeface="Outfit 1 Semi-Bol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823309"/>
            <a:ext cx="12801600" cy="1551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0" i="0" b="0">
                <a:solidFill>
                  <a:srgbClr val="1C1C1A"/>
                </a:solidFill>
                <a:latin typeface="Outfit 1 Light"/>
              </a:rPr>
              <a:t>O IKIGAI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5614517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5888837"/>
            <a:ext cx="11887200" cy="6205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A5A49F"/>
                </a:solidFill>
                <a:latin typeface="Outfit 1 Light"/>
              </a:rPr>
              <a:t>Onde capacidade, realização, contribuição e profissão se encontram.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280514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O IKIGAI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756002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OS QUATRO ENCONTROS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692896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081760" y="1481328"/>
            <a:ext cx="2103120" cy="2103120"/>
          </a:xfrm>
          <a:prstGeom prst="ellipse">
            <a:avLst/>
          </a:prstGeom>
          <a:noFill/>
          <a:ln w="13970">
            <a:solidFill>
              <a:srgbClr val="DF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670634" y="2070202"/>
            <a:ext cx="2103120" cy="2103120"/>
          </a:xfrm>
          <a:prstGeom prst="ellipse">
            <a:avLst/>
          </a:prstGeom>
          <a:noFill/>
          <a:ln w="13970">
            <a:solidFill>
              <a:srgbClr val="DF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81760" y="2659076"/>
            <a:ext cx="2103120" cy="2103120"/>
          </a:xfrm>
          <a:prstGeom prst="ellipse">
            <a:avLst/>
          </a:prstGeom>
          <a:noFill/>
          <a:ln w="13970">
            <a:solidFill>
              <a:srgbClr val="DF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492886" y="2070202"/>
            <a:ext cx="2103120" cy="2103120"/>
          </a:xfrm>
          <a:prstGeom prst="ellipse">
            <a:avLst/>
          </a:prstGeom>
          <a:noFill/>
          <a:ln w="13970">
            <a:solidFill>
              <a:srgbClr val="DF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73884" y="3062326"/>
            <a:ext cx="118872" cy="118872"/>
          </a:xfrm>
          <a:prstGeom prst="ellipse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11680" y="3533242"/>
            <a:ext cx="124358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3734410"/>
            <a:ext cx="1243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9724A"/>
                </a:solidFill>
                <a:latin typeface="Outfit 1 Semi-Bold"/>
              </a:rPr>
              <a:t>PAIXÃO · O QUE AMA + NO QUE É BOM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027018"/>
            <a:ext cx="12435840" cy="589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i="0" b="0">
                <a:solidFill>
                  <a:srgbClr val="6B6B66"/>
                </a:solidFill>
                <a:latin typeface="Outfit 1 Light"/>
              </a:rPr>
              <a:t>Conversar, compreender e construir soluções que façam sentido para cada realidade.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4671238"/>
            <a:ext cx="124358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4872406"/>
            <a:ext cx="1243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9724A"/>
                </a:solidFill>
                <a:latin typeface="Outfit 1 Semi-Bold"/>
              </a:rPr>
              <a:t>PROFISSÃO · NO QUE É BOM + PELO QUE PODE SER PAGO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165014"/>
            <a:ext cx="12435840" cy="589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i="0" b="0">
                <a:solidFill>
                  <a:srgbClr val="6B6B66"/>
                </a:solidFill>
                <a:latin typeface="Outfit 1 Light"/>
              </a:rPr>
              <a:t>Estruturar proteção e sucessão com visão consultiva, personalização e relacionamento.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5809234"/>
            <a:ext cx="124358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0" y="6010402"/>
            <a:ext cx="1243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9724A"/>
                </a:solidFill>
                <a:latin typeface="Outfit 1 Semi-Bold"/>
              </a:rPr>
              <a:t>MISSÃO · O QUE O MUNDO PRECISA + O QUE GOSTA DE FAZER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6303010"/>
            <a:ext cx="12435840" cy="589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i="0" b="0">
                <a:solidFill>
                  <a:srgbClr val="6B6B66"/>
                </a:solidFill>
                <a:latin typeface="Outfit 1 Light"/>
              </a:rPr>
              <a:t>Ampliar a consciência de que preparação financeira também é uma forma de cuidado e responsabilidade.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6947231"/>
            <a:ext cx="124358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0" y="7148399"/>
            <a:ext cx="1243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9724A"/>
                </a:solidFill>
                <a:latin typeface="Outfit 1 Semi-Bold"/>
              </a:rPr>
              <a:t>VOCAÇÃO · O QUE O MUNDO PRECISA + PELO QUE PODE SER PAGO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7441007"/>
            <a:ext cx="12435840" cy="589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i="0" b="0">
                <a:solidFill>
                  <a:srgbClr val="6B6B66"/>
                </a:solidFill>
                <a:latin typeface="Outfit 1 Light"/>
              </a:rPr>
              <a:t>Ajudar pessoas, famílias e empresas a chegarem mais preparadas aos momentos que não podem controlar.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8158379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0" y="8396123"/>
            <a:ext cx="12435840" cy="4711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i="0" b="0" spc="140">
                <a:solidFill>
                  <a:srgbClr val="A5A49F"/>
                </a:solidFill>
                <a:latin typeface="Outfit 1 Semi-Bold"/>
              </a:rPr>
              <a:t>Sua competência não é conhecer produtos — é transformar complexidade em decisão estruturada.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5_lucas_casal_mais_velho.png"/>
          <p:cNvPicPr>
            <a:picLocks noChangeAspect="1"/>
          </p:cNvPicPr>
          <p:nvPr/>
        </p:nvPicPr>
        <p:blipFill>
          <a:blip r:embed="rId3"/>
          <a:srcRect l="30452" r="31528"/>
          <a:stretch>
            <a:fillRect/>
          </a:stretch>
        </p:blipFill>
        <p:spPr>
          <a:xfrm>
            <a:off x="11338560" y="0"/>
            <a:ext cx="6949440" cy="1028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1653124"/>
            <a:ext cx="8458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O IKIGAI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128612"/>
            <a:ext cx="845820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ONDE LUCAS ENCONTRA REALIZAÇÃO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3819520"/>
            <a:ext cx="8458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4166992"/>
            <a:ext cx="845820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Quando o planejamento cumpre aquilo para o qual foi criado: um benefício é pago, uma empresa pode continuar.</a:t>
            </a:r>
          </a:p>
        </p:txBody>
      </p:sp>
      <p:sp>
        <p:nvSpPr>
          <p:cNvPr id="9" name="Oval 8"/>
          <p:cNvSpPr/>
          <p:nvPr/>
        </p:nvSpPr>
        <p:spPr>
          <a:xfrm>
            <a:off x="2018538" y="5675905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0592" y="5568463"/>
            <a:ext cx="8019288" cy="424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i="0" b="0">
                <a:solidFill>
                  <a:srgbClr val="1C1C1A"/>
                </a:solidFill>
                <a:latin typeface="Outfit 1 Light"/>
              </a:rPr>
              <a:t>Manter possibilidades quando a vida muda.</a:t>
            </a:r>
          </a:p>
        </p:txBody>
      </p:sp>
      <p:sp>
        <p:nvSpPr>
          <p:cNvPr id="11" name="Oval 10"/>
          <p:cNvSpPr/>
          <p:nvPr/>
        </p:nvSpPr>
        <p:spPr>
          <a:xfrm>
            <a:off x="2018538" y="6100217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50592" y="5992775"/>
            <a:ext cx="8019288" cy="424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i="0" b="0">
                <a:solidFill>
                  <a:srgbClr val="1C1C1A"/>
                </a:solidFill>
                <a:latin typeface="Outfit 1 Light"/>
              </a:rPr>
              <a:t>Não precisar desmontar tudo nem aceitar qualquer saída.</a:t>
            </a:r>
          </a:p>
        </p:txBody>
      </p:sp>
      <p:sp>
        <p:nvSpPr>
          <p:cNvPr id="13" name="Oval 12"/>
          <p:cNvSpPr/>
          <p:nvPr/>
        </p:nvSpPr>
        <p:spPr>
          <a:xfrm>
            <a:off x="2018538" y="6524529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50592" y="6417087"/>
            <a:ext cx="8019288" cy="424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i="0" b="0">
                <a:solidFill>
                  <a:srgbClr val="1C1C1A"/>
                </a:solidFill>
                <a:latin typeface="Outfit 1 Light"/>
              </a:rPr>
              <a:t>Não transformar uma perda humana em colapso financeiro.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7060855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7371751"/>
            <a:ext cx="8458200" cy="10335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Dignidade financeira não é dinheiro disponível. É o que preserva possibilidades.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03_lucas_janela_entardecer.png"/>
          <p:cNvPicPr>
            <a:picLocks noChangeAspect="1"/>
          </p:cNvPicPr>
          <p:nvPr/>
        </p:nvPicPr>
        <p:blipFill>
          <a:blip r:embed="rId3"/>
          <a:srcRect b="5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C1C1A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406061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FFFFFF"/>
                </a:solidFill>
                <a:latin typeface="Outfit 2"/>
              </a:rPr>
              <a:t>RAZÃO DE 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972989"/>
            <a:ext cx="14081760" cy="4679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7400" i="0" b="0">
                <a:solidFill>
                  <a:srgbClr val="FFFFFF"/>
                </a:solidFill>
                <a:latin typeface="Outfit 1 Light"/>
              </a:rPr>
              <a:t>Preservar a capacidade</a:t>
            </a:r>
          </a:p>
          <a:p>
            <a:pPr algn="l">
              <a:lnSpc>
                <a:spcPct val="126000"/>
              </a:lnSpc>
            </a:pPr>
            <a:r>
              <a:rPr sz="7400" i="0" b="0">
                <a:solidFill>
                  <a:srgbClr val="FFFFFF"/>
                </a:solidFill>
                <a:latin typeface="Outfit 1 Light"/>
              </a:rPr>
              <a:t>de escolha quando a vida</a:t>
            </a:r>
          </a:p>
          <a:p>
            <a:pPr algn="l">
              <a:lnSpc>
                <a:spcPct val="126000"/>
              </a:lnSpc>
            </a:pPr>
            <a:r>
              <a:rPr sz="7400" i="0" b="0">
                <a:solidFill>
                  <a:srgbClr val="FFFFFF"/>
                </a:solidFill>
                <a:latin typeface="Outfit 1 Light"/>
              </a:rPr>
              <a:t>tira a previsibilidade.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27466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9724A"/>
                </a:solidFill>
                <a:latin typeface="Outfit 1 Semi-Bold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823309"/>
            <a:ext cx="12801600" cy="1551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0" i="0" b="0">
                <a:solidFill>
                  <a:srgbClr val="1C1C1A"/>
                </a:solidFill>
                <a:latin typeface="Outfit 1 Light"/>
              </a:rPr>
              <a:t>A ESSÊNCIA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5614517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5888837"/>
            <a:ext cx="11887200" cy="6205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A5A49F"/>
                </a:solidFill>
                <a:latin typeface="Outfit 1 Light"/>
              </a:rPr>
              <a:t>O princípio mais profundo que conecta sua trajetória.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485900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A ESSÊNCIA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61388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ONDE TUDO SE ENCONTRA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2898282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0" y="3470148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3707892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A ORIGEM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3634740"/>
            <a:ext cx="914400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Ensinou que segurança é construída.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430268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4668012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O BANCO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4594860"/>
            <a:ext cx="914400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Mostrou como aquilo que levou anos para existir se fragiliza depressa.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5390388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5628132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O EMPREENDEDORISMO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5554980"/>
            <a:ext cx="914400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Mostrou que ele aceita risco quando pode escolher conscientemente.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0" y="6350508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6588252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A PROFISSÃO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6515100"/>
            <a:ext cx="914400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Mostrou que preparação preserva possibilidades.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7310628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0" y="7548372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9724A"/>
                </a:solidFill>
                <a:latin typeface="Outfit 1 Semi-Bold"/>
              </a:rPr>
              <a:t>A CRENÇA FUNDADORA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7475220"/>
            <a:ext cx="914400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O que levou anos para ser construído não deveria ficar entregue ao acaso.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0" y="8270748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12_lucas_caminhando_janela.png"/>
          <p:cNvPicPr>
            <a:picLocks noChangeAspect="1"/>
          </p:cNvPicPr>
          <p:nvPr/>
        </p:nvPicPr>
        <p:blipFill>
          <a:blip r:embed="rId3"/>
          <a:srcRect b="5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C1C1A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1919448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FFFFFF"/>
                </a:solidFill>
                <a:latin typeface="Outfit 2"/>
              </a:rPr>
              <a:t>A ESSÊNCIA DE LUCAS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86376"/>
            <a:ext cx="14081760" cy="4679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7400" i="0" b="0">
                <a:solidFill>
                  <a:srgbClr val="FFFFFF"/>
                </a:solidFill>
                <a:latin typeface="Outfit 1 Light"/>
              </a:rPr>
              <a:t>Construir segurança para</a:t>
            </a:r>
          </a:p>
          <a:p>
            <a:pPr algn="l">
              <a:lnSpc>
                <a:spcPct val="126000"/>
              </a:lnSpc>
            </a:pPr>
            <a:r>
              <a:rPr sz="7400" i="0" b="0">
                <a:solidFill>
                  <a:srgbClr val="FFFFFF"/>
                </a:solidFill>
                <a:latin typeface="Outfit 1 Light"/>
              </a:rPr>
              <a:t>preservar liberdade</a:t>
            </a:r>
          </a:p>
          <a:p>
            <a:pPr algn="l">
              <a:lnSpc>
                <a:spcPct val="126000"/>
              </a:lnSpc>
            </a:pPr>
            <a:r>
              <a:rPr sz="7400" i="0" b="0">
                <a:solidFill>
                  <a:srgbClr val="FFFFFF"/>
                </a:solidFill>
                <a:latin typeface="Outfit 1 Light"/>
              </a:rPr>
              <a:t>de escolha.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6847210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7121530"/>
            <a:ext cx="1188720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FFFFFF"/>
                </a:solidFill>
                <a:latin typeface="Outfit 1 Light"/>
              </a:rPr>
              <a:t>Lucas não trabalha para controlar o imprevisto. Trabalha para que o imprevisto não decida sozinho o que vem depois.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856232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A ESSÊNCIA DE LUCAS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331720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QUE A FRASE CARREGA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268614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0" y="3616086"/>
            <a:ext cx="44196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3872118"/>
            <a:ext cx="4419600" cy="526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Construir segurança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4562795"/>
            <a:ext cx="4419600" cy="14804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Transformar vulnerabilidades em planejamento, recursos e alternativas.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34200" y="3616086"/>
            <a:ext cx="44196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34200" y="3872118"/>
            <a:ext cx="4419600" cy="526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Preservar liberdade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4200" y="4562795"/>
            <a:ext cx="4419600" cy="14804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Manter possibilidades diante de acontecimentos que fogem ao controle.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56720" y="3616086"/>
            <a:ext cx="44196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56720" y="3872118"/>
            <a:ext cx="4419600" cy="526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Escolha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56720" y="4562795"/>
            <a:ext cx="441960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Evitar que a urgência seja a única responsável pelas decisões.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6454689"/>
            <a:ext cx="12252960" cy="14804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Responsável, disciplinado, ambicioso e constante são características do Lucas. Mas são manifestações de uma lógica mais profunda: preparar o que pode ser preparado para proteger o que não pode ser previsto.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27466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9724A"/>
                </a:solidFill>
                <a:latin typeface="Outfit 1 Semi-Bold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823309"/>
            <a:ext cx="12801600" cy="1551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0" i="0" b="0">
                <a:solidFill>
                  <a:srgbClr val="1C1C1A"/>
                </a:solidFill>
                <a:latin typeface="Outfit 1 Light"/>
              </a:rPr>
              <a:t>A MARCA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5614517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5888837"/>
            <a:ext cx="11887200" cy="6205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A5A49F"/>
                </a:solidFill>
                <a:latin typeface="Outfit 1 Light"/>
              </a:rPr>
              <a:t>O que essa essência revela sobre o papel que Lucas pode ocupar.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02_reuniao_consultiva_casal.png"/>
          <p:cNvPicPr>
            <a:picLocks noChangeAspect="1"/>
          </p:cNvPicPr>
          <p:nvPr/>
        </p:nvPicPr>
        <p:blipFill>
          <a:blip r:embed="rId3"/>
          <a:srcRect l="31020" r="30960"/>
          <a:stretch>
            <a:fillRect/>
          </a:stretch>
        </p:blipFill>
        <p:spPr>
          <a:xfrm>
            <a:off x="0" y="0"/>
            <a:ext cx="6949440" cy="10287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94944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1623060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A MARCA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2098548"/>
            <a:ext cx="960120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PRODUTO NÃO É O CENTRO</a:t>
            </a:r>
          </a:p>
        </p:txBody>
      </p:sp>
      <p:sp>
        <p:nvSpPr>
          <p:cNvPr id="7" name="Rectangle 6"/>
          <p:cNvSpPr/>
          <p:nvPr/>
        </p:nvSpPr>
        <p:spPr>
          <a:xfrm>
            <a:off x="7818120" y="3035442"/>
            <a:ext cx="9601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18120" y="3607308"/>
            <a:ext cx="9601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3845052"/>
            <a:ext cx="35524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SEGURO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58600" y="3771900"/>
            <a:ext cx="576072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É instrumento.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4567428"/>
            <a:ext cx="9601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4805172"/>
            <a:ext cx="35524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PLANEJAMENTO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58600" y="4732020"/>
            <a:ext cx="576072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É método.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5527548"/>
            <a:ext cx="9601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5765292"/>
            <a:ext cx="35524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PROTEÇÃO E SUCESSÃO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58600" y="5692140"/>
            <a:ext cx="576072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São campos de atuação.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8120" y="6487668"/>
            <a:ext cx="9601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6725412"/>
            <a:ext cx="35524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CONTINUIDADE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58600" y="6652260"/>
            <a:ext cx="576072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É o território.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18120" y="7447788"/>
            <a:ext cx="9601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7685532"/>
            <a:ext cx="35524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9724A"/>
                </a:solidFill>
                <a:latin typeface="Outfit 1 Semi-Bold"/>
              </a:rPr>
              <a:t>LIBERDADE DE ESCOLHA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58600" y="7612380"/>
            <a:ext cx="576072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É o significado humano.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18120" y="8407908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3_lucas_ouvindo_casal.png"/>
          <p:cNvPicPr>
            <a:picLocks noChangeAspect="1"/>
          </p:cNvPicPr>
          <p:nvPr/>
        </p:nvPicPr>
        <p:blipFill>
          <a:blip r:embed="rId3"/>
          <a:srcRect l="43759" r="18221"/>
          <a:stretch>
            <a:fillRect/>
          </a:stretch>
        </p:blipFill>
        <p:spPr>
          <a:xfrm>
            <a:off x="11338560" y="0"/>
            <a:ext cx="6949440" cy="1028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2026125"/>
            <a:ext cx="8458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A MARCA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501613"/>
            <a:ext cx="845820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PROVA, NÃO PROCLAMAÇÃO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3438507"/>
            <a:ext cx="8458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3785979"/>
            <a:ext cx="8458200" cy="16971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A dificuldade de comunicação não exige que ele se transforme em alguém que não é. A marca pode ser construída pela lógica que já existe nele.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757426"/>
            <a:ext cx="845820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Resultados, casos, conhecimento e consistência. Ele não precisa se tornar mais exibido: precisa tornar mais visível aquilo que já construiu.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7140608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7451504"/>
            <a:ext cx="8458200" cy="5807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A essência revela a origem. A estratégia define a direção.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3703320"/>
            <a:ext cx="13716000" cy="923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650" i="0" b="0">
                <a:solidFill>
                  <a:srgbClr val="1C1C1A"/>
                </a:solidFill>
                <a:latin typeface="Outfit 1 Light"/>
              </a:rPr>
              <a:t>OBRIGADA!</a:t>
            </a:r>
          </a:p>
        </p:txBody>
      </p:sp>
      <p:pic>
        <p:nvPicPr>
          <p:cNvPr id="4" name="Picture 3" descr="logo-kelly-alb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5440680"/>
            <a:ext cx="3246120" cy="77146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0" y="5257800"/>
            <a:ext cx="12802" cy="1143000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vm-roc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394960"/>
            <a:ext cx="3291840" cy="9428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DAHVOuCspjk</dc:identifier>
  <dcterms:modified xsi:type="dcterms:W3CDTF">2011-08-01T06:04:30Z</dcterms:modified>
  <cp:revision>1</cp:revision>
  <dc:title>Revelacao-de-Essencia-Flavia-Pereira-Muccelin.pptx</dc:title>
</cp:coreProperties>
</file>