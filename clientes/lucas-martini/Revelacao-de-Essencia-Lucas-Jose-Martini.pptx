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19"/>
    <p:sldId id="257" r:id="rId20"/>
    <p:sldId id="258" r:id="rId21"/>
    <p:sldId id="259" r:id="rId22"/>
    <p:sldId id="260" r:id="rId23"/>
    <p:sldId id="261" r:id="rId24"/>
    <p:sldId id="262" r:id="rId25"/>
    <p:sldId id="263" r:id="rId26"/>
    <p:sldId id="264" r:id="rId27"/>
    <p:sldId id="265" r:id="rId28"/>
    <p:sldId id="266" r:id="rId29"/>
    <p:sldId id="267" r:id="rId30"/>
    <p:sldId id="268" r:id="rId31"/>
    <p:sldId id="269" r:id="rId32"/>
    <p:sldId id="270" r:id="rId33"/>
    <p:sldId id="271" r:id="rId34"/>
    <p:sldId id="272" r:id="rId35"/>
    <p:sldId id="273" r:id="rId36"/>
    <p:sldId id="274" r:id="rId18"/>
    <p:sldId id="275" r:id="rId17"/>
    <p:sldId id="276" r:id="rId16"/>
    <p:sldId id="277" r:id="rId15"/>
    <p:sldId id="278" r:id="rId14"/>
    <p:sldId id="279" r:id="rId13"/>
    <p:sldId id="280" r:id="rId12"/>
    <p:sldId id="281" r:id="rId11"/>
    <p:sldId id="282" r:id="rId10"/>
    <p:sldId id="283" r:id="rId9"/>
    <p:sldId id="284" r:id="rId8"/>
    <p:sldId id="285" r:id="rId7"/>
  </p:sldIdLst>
  <p:sldSz cx="18288000" cy="10287000"/>
  <p:notesSz cx="6858000" cy="9144000"/>
  <p:embeddedFontLst>
    <p:embeddedFont>
      <p:font typeface="Koho" charset="1" panose="00000500000000000000"/>
      <p:regular r:id="rId37"/>
    </p:embeddedFont>
    <p:embeddedFont>
      <p:font typeface="Koho Medium" charset="1" panose="00000600000000000000"/>
      <p:regular r:id="rId38"/>
    </p:embeddedFont>
    <p:embeddedFont>
      <p:font typeface="Outfit 1 Medium" charset="1" panose="00000000000000000000"/>
      <p:regular r:id="rId39"/>
    </p:embeddedFont>
    <p:embeddedFont>
      <p:font typeface="IBM Plex Sans Thai" charset="1" panose="020B0503050203000203"/>
      <p:regular r:id="rId40"/>
    </p:embeddedFont>
    <p:embeddedFont>
      <p:font typeface="Outfit 2 Light" charset="1" panose="00000000000000000000"/>
      <p:regular r:id="rId41"/>
    </p:embeddedFont>
    <p:embeddedFont>
      <p:font typeface="Outfit 2 Medium" charset="1" panose="00000000000000000000"/>
      <p:regular r:id="rId42"/>
    </p:embeddedFont>
    <p:embeddedFont>
      <p:font typeface="Outfit 2 Semi-Bold" charset="1" panose="00000000000000000000"/>
      <p:regular r:id="rId43"/>
    </p:embeddedFont>
    <p:embeddedFont>
      <p:font typeface="Playfair Display" charset="1" panose="02000503000000020003"/>
      <p:regular r:id="rId44"/>
    </p:embeddedFont>
    <p:embeddedFont>
      <p:font typeface="Outfit 1 Bold" charset="1" panose="00000000000000000000"/>
      <p:regular r:id="rId45"/>
    </p:embeddedFont>
    <p:embeddedFont>
      <p:font typeface="Outfit 1" charset="1" panose="00000000000000000000"/>
      <p:regular r:id="rId46"/>
    </p:embeddedFont>
    <p:embeddedFont>
      <p:font typeface="Outfit 1 Semi-Bold" charset="1" panose="00000000000000000000"/>
      <p:regular r:id="rId47"/>
    </p:embeddedFont>
    <p:embeddedFont>
      <p:font typeface="Outfit 1 Light" charset="1" panose="00000000000000000000"/>
      <p:regular r:id="rId48"/>
    </p:embeddedFont>
    <p:embeddedFont>
      <p:font typeface="Outfit 1 Ultra-Bold" charset="1" panose="00000000000000000000"/>
      <p:regular r:id="rId4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7" Type="http://schemas.openxmlformats.org/officeDocument/2006/relationships/slide" Target="slides/slide30.xml"/><Relationship Id="rId8" Type="http://schemas.openxmlformats.org/officeDocument/2006/relationships/slide" Target="slides/slide29.xml"/><Relationship Id="rId9" Type="http://schemas.openxmlformats.org/officeDocument/2006/relationships/slide" Target="slides/slide28.xml"/><Relationship Id="rId10" Type="http://schemas.openxmlformats.org/officeDocument/2006/relationships/slide" Target="slides/slide27.xml"/><Relationship Id="rId11" Type="http://schemas.openxmlformats.org/officeDocument/2006/relationships/slide" Target="slides/slide26.xml"/><Relationship Id="rId12" Type="http://schemas.openxmlformats.org/officeDocument/2006/relationships/slide" Target="slides/slide25.xml"/><Relationship Id="rId13" Type="http://schemas.openxmlformats.org/officeDocument/2006/relationships/slide" Target="slides/slide24.xml"/><Relationship Id="rId14" Type="http://schemas.openxmlformats.org/officeDocument/2006/relationships/slide" Target="slides/slide23.xml"/><Relationship Id="rId15" Type="http://schemas.openxmlformats.org/officeDocument/2006/relationships/slide" Target="slides/slide22.xml"/><Relationship Id="rId16" Type="http://schemas.openxmlformats.org/officeDocument/2006/relationships/slide" Target="slides/slide21.xml"/><Relationship Id="rId17" Type="http://schemas.openxmlformats.org/officeDocument/2006/relationships/slide" Target="slides/slide20.xml"/><Relationship Id="rId18" Type="http://schemas.openxmlformats.org/officeDocument/2006/relationships/slide" Target="slides/slide19.xml"/><Relationship Id="rId19" Type="http://schemas.openxmlformats.org/officeDocument/2006/relationships/slide" Target="slides/slide1.xml"/><Relationship Id="rId20" Type="http://schemas.openxmlformats.org/officeDocument/2006/relationships/slide" Target="slides/slide2.xml"/><Relationship Id="rId21" Type="http://schemas.openxmlformats.org/officeDocument/2006/relationships/slide" Target="slides/slide3.xml"/><Relationship Id="rId22" Type="http://schemas.openxmlformats.org/officeDocument/2006/relationships/slide" Target="slides/slide4.xml"/><Relationship Id="rId23" Type="http://schemas.openxmlformats.org/officeDocument/2006/relationships/slide" Target="slides/slide5.xml"/><Relationship Id="rId24" Type="http://schemas.openxmlformats.org/officeDocument/2006/relationships/slide" Target="slides/slide6.xml"/><Relationship Id="rId25" Type="http://schemas.openxmlformats.org/officeDocument/2006/relationships/slide" Target="slides/slide7.xml"/><Relationship Id="rId26" Type="http://schemas.openxmlformats.org/officeDocument/2006/relationships/slide" Target="slides/slide8.xml"/><Relationship Id="rId27" Type="http://schemas.openxmlformats.org/officeDocument/2006/relationships/slide" Target="slides/slide9.xml"/><Relationship Id="rId28" Type="http://schemas.openxmlformats.org/officeDocument/2006/relationships/slide" Target="slides/slide10.xml"/><Relationship Id="rId29" Type="http://schemas.openxmlformats.org/officeDocument/2006/relationships/slide" Target="slides/slide11.xml"/><Relationship Id="rId30" Type="http://schemas.openxmlformats.org/officeDocument/2006/relationships/slide" Target="slides/slide12.xml"/><Relationship Id="rId31" Type="http://schemas.openxmlformats.org/officeDocument/2006/relationships/slide" Target="slides/slide13.xml"/><Relationship Id="rId32" Type="http://schemas.openxmlformats.org/officeDocument/2006/relationships/slide" Target="slides/slide14.xml"/><Relationship Id="rId33" Type="http://schemas.openxmlformats.org/officeDocument/2006/relationships/slide" Target="slides/slide15.xml"/><Relationship Id="rId34" Type="http://schemas.openxmlformats.org/officeDocument/2006/relationships/slide" Target="slides/slide16.xml"/><Relationship Id="rId35" Type="http://schemas.openxmlformats.org/officeDocument/2006/relationships/slide" Target="slides/slide17.xml"/><Relationship Id="rId36" Type="http://schemas.openxmlformats.org/officeDocument/2006/relationships/slide" Target="slides/slide18.xml"/><Relationship Id="rId37" Type="http://schemas.openxmlformats.org/officeDocument/2006/relationships/font" Target="fonts/font37.fntdata"/><Relationship Id="rId38" Type="http://schemas.openxmlformats.org/officeDocument/2006/relationships/font" Target="fonts/font38.fntdata"/><Relationship Id="rId39" Type="http://schemas.openxmlformats.org/officeDocument/2006/relationships/font" Target="fonts/font39.fntdata"/><Relationship Id="rId40" Type="http://schemas.openxmlformats.org/officeDocument/2006/relationships/font" Target="fonts/font40.fntdata"/><Relationship Id="rId41" Type="http://schemas.openxmlformats.org/officeDocument/2006/relationships/font" Target="fonts/font41.fntdata"/><Relationship Id="rId42" Type="http://schemas.openxmlformats.org/officeDocument/2006/relationships/font" Target="fonts/font42.fntdata"/><Relationship Id="rId43" Type="http://schemas.openxmlformats.org/officeDocument/2006/relationships/font" Target="fonts/font43.fntdata"/><Relationship Id="rId44" Type="http://schemas.openxmlformats.org/officeDocument/2006/relationships/font" Target="fonts/font44.fntdata"/><Relationship Id="rId45" Type="http://schemas.openxmlformats.org/officeDocument/2006/relationships/font" Target="fonts/font45.fntdata"/><Relationship Id="rId46" Type="http://schemas.openxmlformats.org/officeDocument/2006/relationships/font" Target="fonts/font46.fntdata"/><Relationship Id="rId47" Type="http://schemas.openxmlformats.org/officeDocument/2006/relationships/font" Target="fonts/font47.fntdata"/><Relationship Id="rId48" Type="http://schemas.openxmlformats.org/officeDocument/2006/relationships/font" Target="fonts/font48.fntdata"/><Relationship Id="rId49" Type="http://schemas.openxmlformats.org/officeDocument/2006/relationships/font" Target="fonts/font49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logo-kelly-alb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120" y="4617720"/>
            <a:ext cx="3931920" cy="93445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006840" y="4206240"/>
            <a:ext cx="12802" cy="1691640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-vm-rock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6960" y="4434840"/>
            <a:ext cx="4023360" cy="11524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tra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85848" y="3364992"/>
            <a:ext cx="1490472" cy="17795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36192" y="3593592"/>
            <a:ext cx="13551408" cy="247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8549"/>
              </a:lnSpc>
            </a:pPr>
            <a:r>
              <a:rPr sz="7500" i="0" b="0" spc="300">
                <a:solidFill>
                  <a:srgbClr val="1C1C1A"/>
                </a:solidFill>
                <a:latin typeface="Outfit 1 Bold"/>
              </a:rPr>
              <a:t>REVELAÇÃO</a:t>
            </a:r>
          </a:p>
          <a:p>
            <a:pPr algn="l">
              <a:lnSpc>
                <a:spcPts val="8549"/>
              </a:lnSpc>
            </a:pPr>
            <a:r>
              <a:rPr sz="7500" i="0" b="0" spc="300">
                <a:solidFill>
                  <a:srgbClr val="1C1C1A"/>
                </a:solidFill>
                <a:latin typeface="Outfit 1 Bold"/>
              </a:rPr>
              <a:t>DE ESSÊNCIA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36192" y="6179820"/>
            <a:ext cx="1355140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i="0" b="0">
                <a:solidFill>
                  <a:srgbClr val="1C1C1A"/>
                </a:solidFill>
                <a:latin typeface="Outfit 1 Bold"/>
              </a:rPr>
              <a:t>Lucas José Martini</a:t>
            </a:r>
            <a:r>
              <a:rPr sz="3000" i="0" b="0">
                <a:solidFill>
                  <a:srgbClr val="1C1C1A"/>
                </a:solidFill>
                <a:latin typeface="Outfit 1"/>
              </a:rPr>
              <a:t>  |  Origem Identitária do Fundador</a:t>
            </a:r>
          </a:p>
        </p:txBody>
      </p:sp>
      <p:sp>
        <p:nvSpPr>
          <p:cNvPr id="6" name="Rectangle 5"/>
          <p:cNvSpPr/>
          <p:nvPr/>
        </p:nvSpPr>
        <p:spPr>
          <a:xfrm>
            <a:off x="1545336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64024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88936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692640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ogo-k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7133" y="6494587"/>
            <a:ext cx="3459591" cy="345959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983480" y="7964424"/>
            <a:ext cx="2377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680" i="0" b="0">
                <a:solidFill>
                  <a:srgbClr val="1C1C1A"/>
                </a:solidFill>
                <a:latin typeface="Outfit 2 Light"/>
              </a:rPr>
              <a:t>Método </a:t>
            </a:r>
            <a:r>
              <a:rPr sz="2680" i="0" b="0">
                <a:solidFill>
                  <a:srgbClr val="1C1C1A"/>
                </a:solidFill>
                <a:latin typeface="Outfit 2 Semi-Bold"/>
              </a:rPr>
              <a:t>Marca</a:t>
            </a:r>
          </a:p>
          <a:p>
            <a:pPr algn="l">
              <a:lnSpc>
                <a:spcPct val="95000"/>
              </a:lnSpc>
            </a:pPr>
            <a:r>
              <a:rPr sz="2680" i="0" b="0">
                <a:solidFill>
                  <a:srgbClr val="1C1C1A"/>
                </a:solidFill>
                <a:latin typeface="Outfit 2 Semi-Bold"/>
              </a:rPr>
              <a:t>com Essência</a:t>
            </a:r>
            <a:r>
              <a:rPr sz="1470" i="0" b="0">
                <a:solidFill>
                  <a:srgbClr val="1C1C1A"/>
                </a:solidFill>
                <a:latin typeface="Outfit 2"/>
              </a:rPr>
              <a:t>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0" y="815644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2729"/>
              </a:lnSpc>
            </a:pPr>
            <a:r>
              <a:rPr sz="1950" i="0" b="0">
                <a:solidFill>
                  <a:srgbClr val="1C1C1A"/>
                </a:solidFill>
                <a:latin typeface="Outfit 1"/>
              </a:rPr>
              <a:t>OUTUBRO/2026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64208" y="804672"/>
            <a:ext cx="142646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7800"/>
              </a:lnSpc>
            </a:pPr>
            <a:r>
              <a:rPr sz="7800" i="0" b="0">
                <a:solidFill>
                  <a:srgbClr val="1C1C1A"/>
                </a:solidFill>
                <a:latin typeface="Outfit 1 Ultra-Bold"/>
              </a:rPr>
              <a:t>SUMÁRIO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2697480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2953512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70"/>
              </a:lnSpc>
            </a:pPr>
            <a:r>
              <a:rPr sz="1550" i="0" b="0" spc="240">
                <a:solidFill>
                  <a:srgbClr val="CC754E"/>
                </a:solidFill>
                <a:latin typeface="Outfit 1 Semi-Bol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11880" y="2843784"/>
            <a:ext cx="126644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A origem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11880" y="3294634"/>
            <a:ext cx="1266444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>
                <a:solidFill>
                  <a:srgbClr val="A5A49F"/>
                </a:solidFill>
                <a:latin typeface="Outfit 1 Light"/>
              </a:rPr>
              <a:t>As experiências que formaram sua relação com construção, segurança e futuro.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3688080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3944112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70"/>
              </a:lnSpc>
            </a:pPr>
            <a:r>
              <a:rPr sz="1550" i="0" b="0" spc="240">
                <a:solidFill>
                  <a:srgbClr val="CC754E"/>
                </a:solidFill>
                <a:latin typeface="Outfit 1 Semi-Bol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3834384"/>
            <a:ext cx="126644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As tensões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4285234"/>
            <a:ext cx="1266444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>
                <a:solidFill>
                  <a:srgbClr val="A5A49F"/>
                </a:solidFill>
                <a:latin typeface="Outfit 1 Light"/>
              </a:rPr>
              <a:t>Os contrastes que revelam o que realmente o coloca em movimento.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11680" y="4678680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11680" y="4934712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70"/>
              </a:lnSpc>
            </a:pPr>
            <a:r>
              <a:rPr sz="1550" i="0" b="0" spc="240">
                <a:solidFill>
                  <a:srgbClr val="CC754E"/>
                </a:solidFill>
                <a:latin typeface="Outfit 1 Semi-Bol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4824984"/>
            <a:ext cx="126644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Os padrões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5275834"/>
            <a:ext cx="1266444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>
                <a:solidFill>
                  <a:srgbClr val="A5A49F"/>
                </a:solidFill>
                <a:latin typeface="Outfit 1 Light"/>
              </a:rPr>
              <a:t>A lógica que se repete por trás de escolhas diferentes.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11680" y="5669280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11680" y="5925312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70"/>
              </a:lnSpc>
            </a:pPr>
            <a:r>
              <a:rPr sz="1550" i="0" b="0" spc="240">
                <a:solidFill>
                  <a:srgbClr val="CC754E"/>
                </a:solidFill>
                <a:latin typeface="Outfit 1 Semi-Bol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80" y="5815584"/>
            <a:ext cx="126644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O Ikigai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6266434"/>
            <a:ext cx="1266444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>
                <a:solidFill>
                  <a:srgbClr val="A5A49F"/>
                </a:solidFill>
                <a:latin typeface="Outfit 1 Light"/>
              </a:rPr>
              <a:t>Onde capacidade, realização, contribuição e profissão se encontram.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11680" y="6659880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11680" y="6915912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70"/>
              </a:lnSpc>
            </a:pPr>
            <a:r>
              <a:rPr sz="1550" i="0" b="0" spc="240">
                <a:solidFill>
                  <a:srgbClr val="CC754E"/>
                </a:solidFill>
                <a:latin typeface="Outfit 1 Semi-Bold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11880" y="6806184"/>
            <a:ext cx="126644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A essência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7257034"/>
            <a:ext cx="1266444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>
                <a:solidFill>
                  <a:srgbClr val="A5A49F"/>
                </a:solidFill>
                <a:latin typeface="Outfit 1 Light"/>
              </a:rPr>
              <a:t>O princípio mais profundo que conecta sua trajetória.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011680" y="7650480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011680" y="7906512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70"/>
              </a:lnSpc>
            </a:pPr>
            <a:r>
              <a:rPr sz="1550" i="0" b="0" spc="240">
                <a:solidFill>
                  <a:srgbClr val="CC754E"/>
                </a:solidFill>
                <a:latin typeface="Outfit 1 Semi-Bold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11880" y="7796784"/>
            <a:ext cx="126644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A marca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11880" y="8247634"/>
            <a:ext cx="1266444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>
                <a:solidFill>
                  <a:srgbClr val="A5A49F"/>
                </a:solidFill>
                <a:latin typeface="Outfit 1 Light"/>
              </a:rPr>
              <a:t>O que essa essência revela sobre o papel que Lucas pode ocupar.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011680" y="8641080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3_lucas_janela_entardecer.png"/>
          <p:cNvPicPr>
            <a:picLocks noChangeAspect="1"/>
          </p:cNvPicPr>
          <p:nvPr/>
        </p:nvPicPr>
        <p:blipFill>
          <a:blip r:embed="rId3"/>
          <a:srcRect l="18819" r="43161"/>
          <a:stretch>
            <a:fillRect/>
          </a:stretch>
        </p:blipFill>
        <p:spPr>
          <a:xfrm>
            <a:off x="11338560" y="0"/>
            <a:ext cx="6949440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1680" y="1856232"/>
            <a:ext cx="8458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59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CONCEITO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331720"/>
            <a:ext cx="845820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POR QUE A ESSÊNCIA VEM PRIMEIRO?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3976116"/>
            <a:ext cx="845820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4323588"/>
            <a:ext cx="8458200" cy="13365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19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Uma marca pessoal não começa no que o profissional vende. Começa na maneira como ele enxerga o mundo e atribui significado ao próprio trabalho.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5828386"/>
            <a:ext cx="8458200" cy="1318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19"/>
              </a:lnSpc>
            </a:pPr>
            <a:r>
              <a:rPr sz="2300" i="0" b="0">
                <a:solidFill>
                  <a:srgbClr val="6B6B66"/>
                </a:solidFill>
                <a:latin typeface="Outfit 1 Light"/>
              </a:rPr>
              <a:t>Proteção e sucessão são a parte visível. Esta etapa investiga os padrões, as crenças e as tensões que explicam a origem da sua atuação.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0" y="7426086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7736982"/>
            <a:ext cx="8458200" cy="49314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875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O que existe por trás da forma como ele protege?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0" y="3895852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4298188"/>
            <a:ext cx="14081760" cy="159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180"/>
              </a:lnSpc>
            </a:pPr>
            <a:r>
              <a:rPr sz="3700" i="0" b="0">
                <a:solidFill>
                  <a:srgbClr val="323330"/>
                </a:solidFill>
                <a:latin typeface="Outfit 1 Light"/>
              </a:rPr>
              <a:t>A história não é a revelação.</a:t>
            </a:r>
          </a:p>
          <a:p>
            <a:pPr algn="l">
              <a:lnSpc>
                <a:spcPts val="5180"/>
              </a:lnSpc>
            </a:pPr>
            <a:r>
              <a:rPr sz="3700" i="0" b="0">
                <a:solidFill>
                  <a:srgbClr val="323330"/>
                </a:solidFill>
                <a:latin typeface="Outfit 1 Light"/>
              </a:rPr>
              <a:t>A história é a evidência.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660525"/>
            <a:ext cx="14264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59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136013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COMO SE CHEGA À REVELAÇÃO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3049651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3397123"/>
            <a:ext cx="1280160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A essência não é um adjetivo, nem uma frase bonita criada para comunicação. Ela aparece quando momentos aparentemente diferentes revelam uma mesma lógica.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0" y="4798187"/>
            <a:ext cx="318897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5072507"/>
            <a:ext cx="318897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História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5809615"/>
            <a:ext cx="3188970" cy="142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O que ajudou a formar sua visão de mundo.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03570" y="4798187"/>
            <a:ext cx="318897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03570" y="5072507"/>
            <a:ext cx="318897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Tensões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03570" y="5809615"/>
            <a:ext cx="3188970" cy="142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Os contrastes que mostram aquilo que realmente importa.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95460" y="4798187"/>
            <a:ext cx="318897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95460" y="5072507"/>
            <a:ext cx="318897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Padrões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95460" y="5809615"/>
            <a:ext cx="3188970" cy="142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A forma recorrente como Lucas responde.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3087350" y="4798187"/>
            <a:ext cx="318897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087350" y="5072507"/>
            <a:ext cx="318897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Ikigai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087350" y="5809615"/>
            <a:ext cx="3188970" cy="2313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Onde competência, realização, contribuição e profissão se encontram.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1680" y="7530973"/>
            <a:ext cx="14264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história</a:t>
            </a:r>
            <a:r>
              <a:rPr sz="2500" i="0" b="0">
                <a:solidFill>
                  <a:srgbClr val="CC754E"/>
                </a:solidFill>
                <a:latin typeface="Outfit 1 Light"/>
              </a:rPr>
              <a:t>  +  </a:t>
            </a:r>
            <a:r>
              <a:rPr sz="2500" i="0" b="0">
                <a:solidFill>
                  <a:srgbClr val="6B6B66"/>
                </a:solidFill>
                <a:latin typeface="Outfit 1 Light"/>
              </a:rPr>
              <a:t>tensões</a:t>
            </a:r>
            <a:r>
              <a:rPr sz="2500" i="0" b="0">
                <a:solidFill>
                  <a:srgbClr val="CC754E"/>
                </a:solidFill>
                <a:latin typeface="Outfit 1 Light"/>
              </a:rPr>
              <a:t>  +  </a:t>
            </a:r>
            <a:r>
              <a:rPr sz="2500" i="0" b="0">
                <a:solidFill>
                  <a:srgbClr val="6B6B66"/>
                </a:solidFill>
                <a:latin typeface="Outfit 1 Light"/>
              </a:rPr>
              <a:t>padrões</a:t>
            </a:r>
            <a:r>
              <a:rPr sz="2500" i="0" b="0">
                <a:solidFill>
                  <a:srgbClr val="CC754E"/>
                </a:solidFill>
                <a:latin typeface="Outfit 1 Light"/>
              </a:rPr>
              <a:t>  +  </a:t>
            </a:r>
            <a:r>
              <a:rPr sz="2500" i="0" b="0">
                <a:solidFill>
                  <a:srgbClr val="6B6B66"/>
                </a:solidFill>
                <a:latin typeface="Outfit 1 Light"/>
              </a:rPr>
              <a:t>Ikigai</a:t>
            </a:r>
            <a:r>
              <a:rPr sz="2500" i="0" b="0">
                <a:solidFill>
                  <a:srgbClr val="CC754E"/>
                </a:solidFill>
                <a:latin typeface="Outfit 1 Light"/>
              </a:rPr>
              <a:t>  =  </a:t>
            </a:r>
            <a:r>
              <a:rPr sz="2500" i="0" b="0">
                <a:solidFill>
                  <a:srgbClr val="1C1C1A"/>
                </a:solidFill>
                <a:latin typeface="Outfit 1 Semi-Bold"/>
              </a:rPr>
              <a:t>essência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11680" y="3065970"/>
            <a:ext cx="152476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959"/>
              </a:lnSpc>
            </a:pPr>
            <a:r>
              <a:rPr sz="1400" i="0" b="0" spc="300">
                <a:solidFill>
                  <a:srgbClr val="CC754E"/>
                </a:solidFill>
                <a:latin typeface="Outfit 1 Semi-Bold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3541458"/>
            <a:ext cx="15247620" cy="21875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5785"/>
              </a:lnSpc>
            </a:pPr>
            <a:r>
              <a:rPr sz="14350" i="0" b="0">
                <a:solidFill>
                  <a:srgbClr val="1C1C1A"/>
                </a:solidFill>
                <a:latin typeface="Outfit 1 Bold"/>
              </a:rPr>
              <a:t>A ORIGEM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5802186"/>
            <a:ext cx="15247620" cy="6233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3827"/>
              </a:lnSpc>
            </a:pPr>
            <a:r>
              <a:rPr sz="3300" i="0" b="0">
                <a:solidFill>
                  <a:srgbClr val="1C1C1A"/>
                </a:solidFill>
                <a:latin typeface="Outfit 1 Light"/>
              </a:rPr>
              <a:t>As experiências que formaram sua relação com construção, segurança e futuro.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481328"/>
            <a:ext cx="14264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59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A ORIGEM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56816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UMA HISTÓRIA SOBRE CONSTRUÇÃO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2870454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3217926"/>
            <a:ext cx="12252960" cy="142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Lucas não viveu a dificuldade dos pais, mas cresceu conhecendo a história de uma família que saiu do campo, enfrentou escassez, trabalhou, adquiriu um terreno e construiu uma casa. Nada do que aparece abaixo chega até ele como algo dado: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0" y="5483098"/>
            <a:ext cx="688086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5008626"/>
            <a:ext cx="6880860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919"/>
              </a:lnSpc>
            </a:pPr>
            <a:r>
              <a:rPr sz="2800" i="0" b="0">
                <a:solidFill>
                  <a:srgbClr val="1C1C1A"/>
                </a:solidFill>
                <a:latin typeface="Outfit 1 Light"/>
              </a:rPr>
              <a:t>Casa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0" y="6158738"/>
            <a:ext cx="688086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5684266"/>
            <a:ext cx="6880860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919"/>
              </a:lnSpc>
            </a:pPr>
            <a:r>
              <a:rPr sz="2800" i="0" b="0">
                <a:solidFill>
                  <a:srgbClr val="1C1C1A"/>
                </a:solidFill>
                <a:latin typeface="Outfit 1 Light"/>
              </a:rPr>
              <a:t>Renda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0" y="6834378"/>
            <a:ext cx="688086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80" y="6359906"/>
            <a:ext cx="6880860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919"/>
              </a:lnSpc>
            </a:pPr>
            <a:r>
              <a:rPr sz="2800" i="0" b="0">
                <a:solidFill>
                  <a:srgbClr val="1C1C1A"/>
                </a:solidFill>
                <a:latin typeface="Outfit 1 Light"/>
              </a:rPr>
              <a:t>Patrimônio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95460" y="5483098"/>
            <a:ext cx="688086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95460" y="5008626"/>
            <a:ext cx="6880860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919"/>
              </a:lnSpc>
            </a:pPr>
            <a:r>
              <a:rPr sz="2800" i="0" b="0">
                <a:solidFill>
                  <a:srgbClr val="1C1C1A"/>
                </a:solidFill>
                <a:latin typeface="Outfit 1 Light"/>
              </a:rPr>
              <a:t>Carreira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5460" y="6158738"/>
            <a:ext cx="688086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95460" y="5684266"/>
            <a:ext cx="6880860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919"/>
              </a:lnSpc>
            </a:pPr>
            <a:r>
              <a:rPr sz="2800" i="0" b="0">
                <a:solidFill>
                  <a:srgbClr val="1C1C1A"/>
                </a:solidFill>
                <a:latin typeface="Outfit 1 Light"/>
              </a:rPr>
              <a:t>Empresa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95460" y="6834378"/>
            <a:ext cx="688086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95460" y="6359906"/>
            <a:ext cx="6880860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919"/>
              </a:lnSpc>
            </a:pPr>
            <a:r>
              <a:rPr sz="2800" i="0" b="0">
                <a:solidFill>
                  <a:srgbClr val="1C1C1A"/>
                </a:solidFill>
                <a:latin typeface="Outfit 1 Light"/>
              </a:rPr>
              <a:t>Estabilidade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11680" y="7355586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11680" y="7666482"/>
            <a:ext cx="14264640" cy="9217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125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Segurança pode levar anos para ser construída. O valor está em tudo o que foi preciso para chegar até ali.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04_jovem_colete_vermelho_caixa_eletronico.png"/>
          <p:cNvPicPr>
            <a:picLocks noChangeAspect="1"/>
          </p:cNvPicPr>
          <p:nvPr/>
        </p:nvPicPr>
        <p:blipFill>
          <a:blip r:embed="rId3"/>
          <a:srcRect l="30990" r="30990"/>
          <a:stretch>
            <a:fillRect/>
          </a:stretch>
        </p:blipFill>
        <p:spPr>
          <a:xfrm>
            <a:off x="0" y="0"/>
            <a:ext cx="694944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94944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818120" y="1856232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59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A ORIGEM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18120" y="2331720"/>
            <a:ext cx="960120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 SEGUNDO APRENDIZADO</a:t>
            </a:r>
          </a:p>
        </p:txBody>
      </p:sp>
      <p:sp>
        <p:nvSpPr>
          <p:cNvPr id="7" name="Rectangle 6"/>
          <p:cNvSpPr/>
          <p:nvPr/>
        </p:nvSpPr>
        <p:spPr>
          <a:xfrm>
            <a:off x="7818120" y="3245358"/>
            <a:ext cx="960120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18120" y="3592830"/>
            <a:ext cx="9601200" cy="1887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Anos depois, na recuperação de ativos do Bradesco, Lucas passa a ver o outro lado dessa lógica: famílias e empresas que levaram anos construindo patrimônio entravam rapidamente em dificuldade diante de morte, doença ou sucessão mal planejada.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5663438"/>
            <a:ext cx="960120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Talvez o primeiro grande aprendizado do Lucas não tenha sido sobre seguro. Tenha sido sobre fragilidade.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18120" y="6936486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18120" y="7247382"/>
            <a:ext cx="9601200" cy="9217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125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O que leva anos para ser construído pode ser comprometido muito rapidamente.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6_lucas_corredor_prudential.png"/>
          <p:cNvPicPr>
            <a:picLocks noChangeAspect="1"/>
          </p:cNvPicPr>
          <p:nvPr/>
        </p:nvPicPr>
        <p:blipFill>
          <a:blip r:embed="rId3"/>
          <a:srcRect l="20165" r="41815"/>
          <a:stretch>
            <a:fillRect/>
          </a:stretch>
        </p:blipFill>
        <p:spPr>
          <a:xfrm>
            <a:off x="11338560" y="0"/>
            <a:ext cx="6949440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1680" y="1645920"/>
            <a:ext cx="8458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59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A ORIGEM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121408"/>
            <a:ext cx="845820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 QUE ESSA FRAGILIDADE SIGNIFICA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3765804"/>
            <a:ext cx="845820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4113276"/>
            <a:ext cx="845820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Não é acreditar que tudo pode dar errado. É compreender que: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5338" y="5651500"/>
            <a:ext cx="102413" cy="10241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38374" y="5477764"/>
            <a:ext cx="7931506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379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uma renda pode parar;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15338" y="6072124"/>
            <a:ext cx="102413" cy="10241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38374" y="5898388"/>
            <a:ext cx="7931506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379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uma empresa pode perder uma pessoa essencial;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15338" y="6492748"/>
            <a:ext cx="102413" cy="10241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38374" y="6319012"/>
            <a:ext cx="7931506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379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um patrimônio pode precisar ser desmontado;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15338" y="6913372"/>
            <a:ext cx="102413" cy="10241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38374" y="6739636"/>
            <a:ext cx="7931506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379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uma família pode perder, junto com alguém, a estrutura que sustentava sua vida.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11680" y="7179818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11680" y="7490714"/>
            <a:ext cx="8458200" cy="9217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125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O imprevisto não destrói apenas dinheiro. Ele retira possibilidades.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11680" y="3036506"/>
            <a:ext cx="152476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959"/>
              </a:lnSpc>
            </a:pPr>
            <a:r>
              <a:rPr sz="1400" i="0" b="0" spc="300">
                <a:solidFill>
                  <a:srgbClr val="CC754E"/>
                </a:solidFill>
                <a:latin typeface="Outfit 1 Semi-Bold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3511994"/>
            <a:ext cx="15247620" cy="21875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5785"/>
              </a:lnSpc>
            </a:pPr>
            <a:r>
              <a:rPr sz="14350" i="0" b="0">
                <a:solidFill>
                  <a:srgbClr val="1C1C1A"/>
                </a:solidFill>
                <a:latin typeface="Outfit 1 Bold"/>
              </a:rPr>
              <a:t>AS TENSÕES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5772722"/>
            <a:ext cx="15247620" cy="6822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4291"/>
              </a:lnSpc>
            </a:pPr>
            <a:r>
              <a:rPr sz="3700" i="0" b="0">
                <a:solidFill>
                  <a:srgbClr val="1C1C1A"/>
                </a:solidFill>
                <a:latin typeface="Outfit 1 Light"/>
              </a:rPr>
              <a:t>Os contrastes que revelam o que realmente o coloca em movimento.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12_lucas_caminhando_janela.png"/>
          <p:cNvPicPr>
            <a:picLocks noChangeAspect="1"/>
          </p:cNvPicPr>
          <p:nvPr/>
        </p:nvPicPr>
        <p:blipFill>
          <a:blip r:embed="rId3"/>
          <a:srcRect l="42413" r="19566"/>
          <a:stretch>
            <a:fillRect/>
          </a:stretch>
        </p:blipFill>
        <p:spPr>
          <a:xfrm>
            <a:off x="0" y="0"/>
            <a:ext cx="694944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94944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818120" y="2012696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59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PRIMEIRA TENSÃO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18120" y="2488184"/>
            <a:ext cx="960120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SEGURANÇA × RISCO</a:t>
            </a:r>
          </a:p>
        </p:txBody>
      </p:sp>
      <p:sp>
        <p:nvSpPr>
          <p:cNvPr id="7" name="Rectangle 6"/>
          <p:cNvSpPr/>
          <p:nvPr/>
        </p:nvSpPr>
        <p:spPr>
          <a:xfrm>
            <a:off x="7818120" y="3401822"/>
            <a:ext cx="960120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18120" y="3749294"/>
            <a:ext cx="9601200" cy="14432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Lucas constrói segurança para outras pessoas. Mas, num momento decisivo da própria carreira, abriu mão de uma trajetória sólida no banco para empreender.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5466842"/>
            <a:ext cx="960120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Ele aceita risco quando existe decisão, consciência, preparo e responsabilidade. O que o incomoda não é a incerteza.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18120" y="6813042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18120" y="7123938"/>
            <a:ext cx="9601200" cy="9217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125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Segurança, para o Lucas, não é viver sem risco. É não ficar sem escolha quando algo acontece.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9_lucas_analisando_documentos.png"/>
          <p:cNvPicPr>
            <a:picLocks noChangeAspect="1"/>
          </p:cNvPicPr>
          <p:nvPr/>
        </p:nvPicPr>
        <p:blipFill>
          <a:blip r:embed="rId3"/>
          <a:srcRect l="30810" r="31169"/>
          <a:stretch>
            <a:fillRect/>
          </a:stretch>
        </p:blipFill>
        <p:spPr>
          <a:xfrm>
            <a:off x="11338560" y="0"/>
            <a:ext cx="6949440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1680" y="1820601"/>
            <a:ext cx="8458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59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SEGUNDA TENSÃO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296089"/>
            <a:ext cx="845820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DINHEIRO × PROPÓSITO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3209727"/>
            <a:ext cx="845820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3557199"/>
            <a:ext cx="8458200" cy="174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19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Lucas não romantiza a própria decisão: a possibilidade financeira pesou. Mas resume a trajetória com uma frase reveladora — “fui pelo dinheiro e acabei ficando pelo propósito”.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5470937"/>
            <a:ext cx="8458200" cy="1318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19"/>
              </a:lnSpc>
            </a:pPr>
            <a:r>
              <a:rPr sz="2300" i="0" b="0">
                <a:solidFill>
                  <a:srgbClr val="6B6B66"/>
                </a:solidFill>
                <a:latin typeface="Outfit 1 Light"/>
              </a:rPr>
              <a:t>O significado aparece quando ele acompanha pagamentos de benefícios e percebe o que uma decisão tomada antes representava na vida de alguém.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0" y="7068637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7379533"/>
            <a:ext cx="8458200" cy="8582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875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O dinheiro explica a entrada. O impacto explica a permanência.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14_retrato_lucas_corredor.png"/>
          <p:cNvPicPr>
            <a:picLocks noChangeAspect="1"/>
          </p:cNvPicPr>
          <p:nvPr/>
        </p:nvPicPr>
        <p:blipFill>
          <a:blip r:embed="rId3"/>
          <a:srcRect l="26814" r="30163"/>
          <a:stretch>
            <a:fillRect/>
          </a:stretch>
        </p:blipFill>
        <p:spPr>
          <a:xfrm>
            <a:off x="0" y="0"/>
            <a:ext cx="786384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863840" y="0"/>
            <a:ext cx="104241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32520" y="1856232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59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TERCEIRA TENSÃO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32520" y="2331720"/>
            <a:ext cx="868680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RECONHECIMENTO × EXPOSIÇÃO</a:t>
            </a:r>
          </a:p>
        </p:txBody>
      </p:sp>
      <p:sp>
        <p:nvSpPr>
          <p:cNvPr id="7" name="Rectangle 6"/>
          <p:cNvSpPr/>
          <p:nvPr/>
        </p:nvSpPr>
        <p:spPr>
          <a:xfrm>
            <a:off x="8732520" y="3245358"/>
            <a:ext cx="868680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32520" y="3592830"/>
            <a:ext cx="8686800" cy="998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Lucas acumula reconhecimentos e valoriza estar entre os melhores. Mas tem dificuldade declarada em comunicá-los.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4774438"/>
            <a:ext cx="8686800" cy="1869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O incômodo não é com o reconhecimento: é com a autoproclamação. Há conforto quando um cliente ou um ranking reconhece; há desconforto quando ele próprio precisa anunciar.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732520" y="6936486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32520" y="7247382"/>
            <a:ext cx="8686800" cy="9217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125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Para o Lucas, legitimidade precisa ser conquistada. Não declarada.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08_lucas_aperto_de_maos_cliente.png"/>
          <p:cNvPicPr>
            <a:picLocks noChangeAspect="1"/>
          </p:cNvPicPr>
          <p:nvPr/>
        </p:nvPicPr>
        <p:blipFill>
          <a:blip r:embed="rId3"/>
          <a:srcRect b="53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479024" y="1028700"/>
            <a:ext cx="7808976" cy="3158236"/>
          </a:xfrm>
          <a:prstGeom prst="roundRect">
            <a:avLst>
              <a:gd name="adj" fmla="val 5211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45952" y="1595628"/>
            <a:ext cx="6675120" cy="1062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752"/>
              </a:lnSpc>
            </a:pPr>
            <a:r>
              <a:rPr sz="2800" i="0" b="0">
                <a:solidFill>
                  <a:srgbClr val="1C1C1A"/>
                </a:solidFill>
                <a:latin typeface="Outfit 1 Light"/>
              </a:rPr>
              <a:t>Alta performance.</a:t>
            </a:r>
          </a:p>
          <a:p>
            <a:pPr algn="l">
              <a:lnSpc>
                <a:spcPts val="3752"/>
              </a:lnSpc>
            </a:pPr>
            <a:r>
              <a:rPr sz="2800" i="0" b="0">
                <a:solidFill>
                  <a:srgbClr val="1C1C1A"/>
                </a:solidFill>
                <a:latin typeface="Outfit 1 Light"/>
              </a:rPr>
              <a:t>Baixa performatividade.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45952" y="2713228"/>
            <a:ext cx="6675120" cy="998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379"/>
              </a:lnSpc>
            </a:pPr>
            <a:r>
              <a:rPr sz="1700" i="0" b="0">
                <a:solidFill>
                  <a:srgbClr val="6B6B66"/>
                </a:solidFill>
                <a:latin typeface="Outfit 1 Light"/>
              </a:rPr>
              <a:t>Lucas performa muito, mas performatiza pouco. Construiu autoridade e poucos signos públicos dela. Isso não precisa ser corrigido: pode virar assinatura — autoridade discreta.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11680" y="2948114"/>
            <a:ext cx="152476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959"/>
              </a:lnSpc>
            </a:pPr>
            <a:r>
              <a:rPr sz="1400" i="0" b="0" spc="300">
                <a:solidFill>
                  <a:srgbClr val="CC754E"/>
                </a:solidFill>
                <a:latin typeface="Outfit 1 Semi-Bold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3423602"/>
            <a:ext cx="15247620" cy="21875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5785"/>
              </a:lnSpc>
            </a:pPr>
            <a:r>
              <a:rPr sz="14350" i="0" b="0">
                <a:solidFill>
                  <a:srgbClr val="1C1C1A"/>
                </a:solidFill>
                <a:latin typeface="Outfit 1 Bold"/>
              </a:rPr>
              <a:t>OS PADRÕES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5684330"/>
            <a:ext cx="15247620" cy="8590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5684"/>
              </a:lnSpc>
            </a:pPr>
            <a:r>
              <a:rPr sz="4900" i="0" b="0">
                <a:solidFill>
                  <a:srgbClr val="1C1C1A"/>
                </a:solidFill>
                <a:latin typeface="Outfit 1 Light"/>
              </a:rPr>
              <a:t>A lógica que se repete por trás de escolhas diferentes.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485900"/>
            <a:ext cx="14264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59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OS PADRÕES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61388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 QUE SE REPETE EM TODA ESCOLHA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2875026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11680" y="3470148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3744468"/>
            <a:ext cx="4754880" cy="3886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1C1C1A"/>
                </a:solidFill>
                <a:latin typeface="Outfit 1 Semi-Bold"/>
              </a:rPr>
              <a:t>PREPARAR ANTES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3671316"/>
            <a:ext cx="9144000" cy="11777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Diante de algo importante, Lucas entende, estuda, organiza e estrutura. Cria estrutura antes que ela seja necessária.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0" y="4922181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5196501"/>
            <a:ext cx="4754880" cy="3886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1C1C1A"/>
                </a:solidFill>
                <a:latin typeface="Outfit 1 Semi-Bold"/>
              </a:rPr>
              <a:t>REPETIR BEM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5123349"/>
            <a:ext cx="9144000" cy="16222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Começa cedo, avança no banco, recomeça, constrói carteira e mantém ritmo. Chega a 100 semanas consecutivas protegendo três famílias por semana.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11680" y="6818715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11680" y="7093035"/>
            <a:ext cx="4754880" cy="3886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CC754E"/>
                </a:solidFill>
                <a:latin typeface="Outfit 1 Semi-Bold"/>
              </a:rPr>
              <a:t>PERMANECER DEPOIS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7019883"/>
            <a:ext cx="9144000" cy="11777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Não encerra o trabalho na venda. Relacionamento, confiança e pós-venda são centrais na sua forma de atuar.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11680" y="8270748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497201"/>
            <a:ext cx="14264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59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OS PADRÕES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972689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 MOVIMENTO QUE SE REPETE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3886327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11680" y="5030089"/>
            <a:ext cx="2450592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5340985"/>
            <a:ext cx="2450592" cy="5066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Entender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17136" y="5267833"/>
            <a:ext cx="411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CC754E"/>
                </a:solidFill>
                <a:latin typeface="Outfit 1 Light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65192" y="5030089"/>
            <a:ext cx="2450592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65192" y="5340985"/>
            <a:ext cx="2450592" cy="5066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Antecipar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70648" y="5267833"/>
            <a:ext cx="411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CC754E"/>
                </a:solidFill>
                <a:latin typeface="Outfit 1 Light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18704" y="5030089"/>
            <a:ext cx="2450592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18704" y="5340985"/>
            <a:ext cx="2450592" cy="5066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Estruturar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5267833"/>
            <a:ext cx="411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CC754E"/>
                </a:solidFill>
                <a:latin typeface="Outfit 1 Light"/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872216" y="5030089"/>
            <a:ext cx="2450592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72216" y="5340985"/>
            <a:ext cx="2450592" cy="5066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Acompanhar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377672" y="5267833"/>
            <a:ext cx="411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CC754E"/>
                </a:solidFill>
                <a:latin typeface="Outfit 1 Light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825728" y="5030089"/>
            <a:ext cx="2450592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825728" y="5340985"/>
            <a:ext cx="2450592" cy="9034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Preservar possibilidades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0" y="6783959"/>
            <a:ext cx="14264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Entender antes</a:t>
            </a:r>
            <a:r>
              <a:rPr sz="2500" i="0" b="0">
                <a:solidFill>
                  <a:srgbClr val="CC754E"/>
                </a:solidFill>
                <a:latin typeface="Outfit 1 Light"/>
              </a:rPr>
              <a:t>   ·   </a:t>
            </a:r>
            <a:r>
              <a:rPr sz="2500" i="0" b="0">
                <a:solidFill>
                  <a:srgbClr val="1C1C1A"/>
                </a:solidFill>
                <a:latin typeface="Outfit 1 Light"/>
              </a:rPr>
              <a:t>Preparar antes</a:t>
            </a:r>
            <a:r>
              <a:rPr sz="2500" i="0" b="0">
                <a:solidFill>
                  <a:srgbClr val="CC754E"/>
                </a:solidFill>
                <a:latin typeface="Outfit 1 Light"/>
              </a:rPr>
              <a:t>   ·   </a:t>
            </a:r>
            <a:r>
              <a:rPr sz="2500" i="0" b="0">
                <a:solidFill>
                  <a:srgbClr val="1C1C1A"/>
                </a:solidFill>
                <a:latin typeface="Outfit 1 Light"/>
              </a:rPr>
              <a:t>Permanecer depois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11680" y="3036506"/>
            <a:ext cx="152476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959"/>
              </a:lnSpc>
            </a:pPr>
            <a:r>
              <a:rPr sz="1400" i="0" b="0" spc="300">
                <a:solidFill>
                  <a:srgbClr val="CC754E"/>
                </a:solidFill>
                <a:latin typeface="Outfit 1 Semi-Bold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3511994"/>
            <a:ext cx="15247620" cy="21875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5785"/>
              </a:lnSpc>
            </a:pPr>
            <a:r>
              <a:rPr sz="14350" i="0" b="0">
                <a:solidFill>
                  <a:srgbClr val="1C1C1A"/>
                </a:solidFill>
                <a:latin typeface="Outfit 1 Bold"/>
              </a:rPr>
              <a:t>O IKIGAI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5772722"/>
            <a:ext cx="15247620" cy="6822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4291"/>
              </a:lnSpc>
            </a:pPr>
            <a:r>
              <a:rPr sz="3700" i="0" b="0">
                <a:solidFill>
                  <a:srgbClr val="1C1C1A"/>
                </a:solidFill>
                <a:latin typeface="Outfit 1 Light"/>
              </a:rPr>
              <a:t>Onde capacidade, realização, contribuição e profissão se encontram.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280514"/>
            <a:ext cx="14264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59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O IKIGAI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756002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OS QUATRO ENCONTROS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3669640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081760" y="1481328"/>
            <a:ext cx="2103120" cy="2103120"/>
          </a:xfrm>
          <a:prstGeom prst="ellipse">
            <a:avLst/>
          </a:prstGeom>
          <a:noFill/>
          <a:ln w="13970">
            <a:solidFill>
              <a:srgbClr val="A5A4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4670634" y="2070202"/>
            <a:ext cx="2103120" cy="2103120"/>
          </a:xfrm>
          <a:prstGeom prst="ellipse">
            <a:avLst/>
          </a:prstGeom>
          <a:noFill/>
          <a:ln w="13970">
            <a:solidFill>
              <a:srgbClr val="A5A4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081760" y="2659076"/>
            <a:ext cx="2103120" cy="2103120"/>
          </a:xfrm>
          <a:prstGeom prst="ellipse">
            <a:avLst/>
          </a:prstGeom>
          <a:noFill/>
          <a:ln w="13970">
            <a:solidFill>
              <a:srgbClr val="A5A4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3492886" y="2070202"/>
            <a:ext cx="2103120" cy="2103120"/>
          </a:xfrm>
          <a:prstGeom prst="ellipse">
            <a:avLst/>
          </a:prstGeom>
          <a:noFill/>
          <a:ln w="13970">
            <a:solidFill>
              <a:srgbClr val="A5A4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5073884" y="3062326"/>
            <a:ext cx="118872" cy="118872"/>
          </a:xfrm>
          <a:prstGeom prst="ellipse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011680" y="3533242"/>
            <a:ext cx="124358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80" y="3734410"/>
            <a:ext cx="12435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59"/>
              </a:lnSpc>
            </a:pPr>
            <a:r>
              <a:rPr sz="1400" i="0" b="0" spc="220">
                <a:solidFill>
                  <a:srgbClr val="CC754E"/>
                </a:solidFill>
                <a:latin typeface="Outfit 1 Semi-Bold"/>
              </a:rPr>
              <a:t>PAIXÃO · O QUE AMA + NO QUE É BOM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4027018"/>
            <a:ext cx="12435840" cy="5142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379"/>
              </a:lnSpc>
            </a:pPr>
            <a:r>
              <a:rPr sz="1700" i="0" b="0">
                <a:solidFill>
                  <a:srgbClr val="6B6B66"/>
                </a:solidFill>
                <a:latin typeface="Outfit 1 Light"/>
              </a:rPr>
              <a:t>Conversar, compreender e construir soluções que façam sentido para cada realidade.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11680" y="4596105"/>
            <a:ext cx="124358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11680" y="4797273"/>
            <a:ext cx="12435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59"/>
              </a:lnSpc>
            </a:pPr>
            <a:r>
              <a:rPr sz="1400" i="0" b="0" spc="220">
                <a:solidFill>
                  <a:srgbClr val="CC754E"/>
                </a:solidFill>
                <a:latin typeface="Outfit 1 Semi-Bold"/>
              </a:rPr>
              <a:t>PROFISSÃO · NO QUE É BOM + PELO QUE PODE SER PAGO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5089881"/>
            <a:ext cx="12435840" cy="5142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379"/>
              </a:lnSpc>
            </a:pPr>
            <a:r>
              <a:rPr sz="1700" i="0" b="0">
                <a:solidFill>
                  <a:srgbClr val="6B6B66"/>
                </a:solidFill>
                <a:latin typeface="Outfit 1 Light"/>
              </a:rPr>
              <a:t>Estruturar proteção e sucessão com visão consultiva, personalização e relacionamento.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1680" y="5658968"/>
            <a:ext cx="124358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11680" y="5860136"/>
            <a:ext cx="12435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59"/>
              </a:lnSpc>
            </a:pPr>
            <a:r>
              <a:rPr sz="1400" i="0" b="0" spc="220">
                <a:solidFill>
                  <a:srgbClr val="CC754E"/>
                </a:solidFill>
                <a:latin typeface="Outfit 1 Semi-Bold"/>
              </a:rPr>
              <a:t>MISSÃO · O QUE O MUNDO PRECISA + O QUE GOSTA DE FAZER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1680" y="6152744"/>
            <a:ext cx="12435840" cy="5142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379"/>
              </a:lnSpc>
            </a:pPr>
            <a:r>
              <a:rPr sz="1700" i="0" b="0">
                <a:solidFill>
                  <a:srgbClr val="6B6B66"/>
                </a:solidFill>
                <a:latin typeface="Outfit 1 Light"/>
              </a:rPr>
              <a:t>Ampliar a consciência de que preparação financeira também é uma forma de cuidado e responsabilidade.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11680" y="6721831"/>
            <a:ext cx="124358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11680" y="6922999"/>
            <a:ext cx="12435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59"/>
              </a:lnSpc>
            </a:pPr>
            <a:r>
              <a:rPr sz="1400" i="0" b="0" spc="220">
                <a:solidFill>
                  <a:srgbClr val="CC754E"/>
                </a:solidFill>
                <a:latin typeface="Outfit 1 Semi-Bold"/>
              </a:rPr>
              <a:t>VOCAÇÃO · O QUE O MUNDO PRECISA + PELO QUE PODE SER PAGO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7215607"/>
            <a:ext cx="12435840" cy="5142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379"/>
              </a:lnSpc>
            </a:pPr>
            <a:r>
              <a:rPr sz="1700" i="0" b="0">
                <a:solidFill>
                  <a:srgbClr val="6B6B66"/>
                </a:solidFill>
                <a:latin typeface="Outfit 1 Light"/>
              </a:rPr>
              <a:t>Ajudar pessoas, famílias e empresas a chegarem mais preparadas aos momentos que não podem controlar.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11680" y="7857846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11680" y="8095590"/>
            <a:ext cx="12435840" cy="4011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379"/>
              </a:lnSpc>
            </a:pPr>
            <a:r>
              <a:rPr sz="1700" i="0" b="0" spc="140">
                <a:solidFill>
                  <a:srgbClr val="A5A49F"/>
                </a:solidFill>
                <a:latin typeface="Outfit 1 Semi-Bold"/>
              </a:rPr>
              <a:t>Sua competência não é conhecer produtos — é transformar complexidade em decisão estruturada.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5_lucas_casal_mais_velho.png"/>
          <p:cNvPicPr>
            <a:picLocks noChangeAspect="1"/>
          </p:cNvPicPr>
          <p:nvPr/>
        </p:nvPicPr>
        <p:blipFill>
          <a:blip r:embed="rId3"/>
          <a:srcRect l="30452" r="31528"/>
          <a:stretch>
            <a:fillRect/>
          </a:stretch>
        </p:blipFill>
        <p:spPr>
          <a:xfrm>
            <a:off x="11338560" y="0"/>
            <a:ext cx="6949440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1680" y="1645920"/>
            <a:ext cx="8458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59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O IKIGAI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121408"/>
            <a:ext cx="845820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ONDE LUCAS ENCONTRA REALIZAÇÃO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3765804"/>
            <a:ext cx="845820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4113276"/>
            <a:ext cx="8458200" cy="142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Quando o planejamento cumpre aquilo para o qual foi criado: um benefício é pago, uma empresa pode continuar.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5338" y="6096000"/>
            <a:ext cx="102413" cy="10241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38374" y="5922264"/>
            <a:ext cx="7931506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379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Manter possibilidades quando a vida muda.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15338" y="6516624"/>
            <a:ext cx="102413" cy="10241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38374" y="6342888"/>
            <a:ext cx="7931506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379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Não precisar desmontar tudo nem aceitar qualquer saída.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15338" y="6937248"/>
            <a:ext cx="102413" cy="10241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38374" y="6763512"/>
            <a:ext cx="7931506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379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Não transformar uma perda humana em colapso financeiro.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11680" y="7179818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11680" y="7490714"/>
            <a:ext cx="8458200" cy="9217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125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Dignidade financeira não é dinheiro disponível. É o que preserva possibilidades.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03_lucas_janela_entardecer.png"/>
          <p:cNvPicPr>
            <a:picLocks noChangeAspect="1"/>
          </p:cNvPicPr>
          <p:nvPr/>
        </p:nvPicPr>
        <p:blipFill>
          <a:blip r:embed="rId3"/>
          <a:srcRect b="53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479024" y="1028700"/>
            <a:ext cx="7808976" cy="2563368"/>
          </a:xfrm>
          <a:prstGeom prst="roundRect">
            <a:avLst>
              <a:gd name="adj" fmla="val 6420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45952" y="1595628"/>
            <a:ext cx="6675120" cy="1539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752"/>
              </a:lnSpc>
            </a:pPr>
            <a:r>
              <a:rPr sz="2800" i="0" b="0">
                <a:solidFill>
                  <a:srgbClr val="1C1C1A"/>
                </a:solidFill>
                <a:latin typeface="Outfit 1 Light"/>
              </a:rPr>
              <a:t>Preservar a capacidade</a:t>
            </a:r>
          </a:p>
          <a:p>
            <a:pPr algn="l">
              <a:lnSpc>
                <a:spcPts val="3752"/>
              </a:lnSpc>
            </a:pPr>
            <a:r>
              <a:rPr sz="2800" i="0" b="0">
                <a:solidFill>
                  <a:srgbClr val="1C1C1A"/>
                </a:solidFill>
                <a:latin typeface="Outfit 1 Light"/>
              </a:rPr>
              <a:t>de escolha quando a vida</a:t>
            </a:r>
          </a:p>
          <a:p>
            <a:pPr algn="l">
              <a:lnSpc>
                <a:spcPts val="3752"/>
              </a:lnSpc>
            </a:pPr>
            <a:r>
              <a:rPr sz="2800" i="0" b="0">
                <a:solidFill>
                  <a:srgbClr val="1C1C1A"/>
                </a:solidFill>
                <a:latin typeface="Outfit 1 Light"/>
              </a:rPr>
              <a:t>tira a previsibilidade.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11680" y="2948114"/>
            <a:ext cx="152476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959"/>
              </a:lnSpc>
            </a:pPr>
            <a:r>
              <a:rPr sz="1400" i="0" b="0" spc="300">
                <a:solidFill>
                  <a:srgbClr val="CC754E"/>
                </a:solidFill>
                <a:latin typeface="Outfit 1 Semi-Bold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3423602"/>
            <a:ext cx="15247620" cy="21875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5785"/>
              </a:lnSpc>
            </a:pPr>
            <a:r>
              <a:rPr sz="14350" i="0" b="0">
                <a:solidFill>
                  <a:srgbClr val="1C1C1A"/>
                </a:solidFill>
                <a:latin typeface="Outfit 1 Bold"/>
              </a:rPr>
              <a:t>A ESSÊNCIA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5684330"/>
            <a:ext cx="15247620" cy="8590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5684"/>
              </a:lnSpc>
            </a:pPr>
            <a:r>
              <a:rPr sz="4900" i="0" b="0">
                <a:solidFill>
                  <a:srgbClr val="1C1C1A"/>
                </a:solidFill>
                <a:latin typeface="Outfit 1 Light"/>
              </a:rPr>
              <a:t>O princípio mais profundo que conecta sua trajetória.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485900"/>
            <a:ext cx="14264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59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A ESSÊNCIA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61388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ONDE TUDO SE ENCONTRA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2875026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11680" y="3470148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3744468"/>
            <a:ext cx="4754880" cy="3886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1C1C1A"/>
                </a:solidFill>
                <a:latin typeface="Outfit 1 Semi-Bold"/>
              </a:rPr>
              <a:t>A ORIGEM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3671316"/>
            <a:ext cx="9144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379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Ensinou que segurança é construída.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0" y="4430268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4704588"/>
            <a:ext cx="4754880" cy="3886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1C1C1A"/>
                </a:solidFill>
                <a:latin typeface="Outfit 1 Semi-Bold"/>
              </a:rPr>
              <a:t>O BANCO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4631436"/>
            <a:ext cx="9144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379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Mostrou como aquilo que levou anos para existir se fragiliza depressa.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11680" y="5390388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11680" y="5664708"/>
            <a:ext cx="4754880" cy="3886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1C1C1A"/>
                </a:solidFill>
                <a:latin typeface="Outfit 1 Semi-Bold"/>
              </a:rPr>
              <a:t>O EMPREENDEDORISMO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5591556"/>
            <a:ext cx="9144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379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Mostrou que ele aceita risco quando pode escolher conscientemente.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11680" y="6350508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11680" y="6624828"/>
            <a:ext cx="4754880" cy="3886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1C1C1A"/>
                </a:solidFill>
                <a:latin typeface="Outfit 1 Semi-Bold"/>
              </a:rPr>
              <a:t>A PROFISSÃO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6551676"/>
            <a:ext cx="9144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379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Mostrou que preparação preserva possibilidades.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11680" y="7310628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011680" y="7584948"/>
            <a:ext cx="4754880" cy="3886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CC754E"/>
                </a:solidFill>
                <a:latin typeface="Outfit 1 Semi-Bold"/>
              </a:rPr>
              <a:t>A CRENÇA FUNDADORA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0" y="7511796"/>
            <a:ext cx="9144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379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O que levou anos para ser construído não deveria ficar entregue ao acaso.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11680" y="8270748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12_lucas_caminhando_janela.png"/>
          <p:cNvPicPr>
            <a:picLocks noChangeAspect="1"/>
          </p:cNvPicPr>
          <p:nvPr/>
        </p:nvPicPr>
        <p:blipFill>
          <a:blip r:embed="rId3"/>
          <a:srcRect b="53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479024" y="1028700"/>
            <a:ext cx="7808976" cy="3332480"/>
          </a:xfrm>
          <a:prstGeom prst="roundRect">
            <a:avLst>
              <a:gd name="adj" fmla="val 4939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45952" y="1595628"/>
            <a:ext cx="6675120" cy="1539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752"/>
              </a:lnSpc>
            </a:pPr>
            <a:r>
              <a:rPr sz="2800" i="0" b="0">
                <a:solidFill>
                  <a:srgbClr val="1C1C1A"/>
                </a:solidFill>
                <a:latin typeface="Outfit 1 Light"/>
              </a:rPr>
              <a:t>Construir segurança para</a:t>
            </a:r>
          </a:p>
          <a:p>
            <a:pPr algn="l">
              <a:lnSpc>
                <a:spcPts val="3752"/>
              </a:lnSpc>
            </a:pPr>
            <a:r>
              <a:rPr sz="2800" i="0" b="0">
                <a:solidFill>
                  <a:srgbClr val="1C1C1A"/>
                </a:solidFill>
                <a:latin typeface="Outfit 1 Light"/>
              </a:rPr>
              <a:t>preservar liberdade</a:t>
            </a:r>
          </a:p>
          <a:p>
            <a:pPr algn="l">
              <a:lnSpc>
                <a:spcPts val="3752"/>
              </a:lnSpc>
            </a:pPr>
            <a:r>
              <a:rPr sz="2800" i="0" b="0">
                <a:solidFill>
                  <a:srgbClr val="1C1C1A"/>
                </a:solidFill>
                <a:latin typeface="Outfit 1 Light"/>
              </a:rPr>
              <a:t>de escolha.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45952" y="3189732"/>
            <a:ext cx="6675120" cy="695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379"/>
              </a:lnSpc>
            </a:pPr>
            <a:r>
              <a:rPr sz="1700" i="0" b="0">
                <a:solidFill>
                  <a:srgbClr val="6B6B66"/>
                </a:solidFill>
                <a:latin typeface="Outfit 1 Light"/>
              </a:rPr>
              <a:t>Lucas não trabalha para controlar o imprevisto. Trabalha para que o imprevisto não decida sozinho o que vem depois.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809623"/>
            <a:ext cx="14264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59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A ESSÊNCIA DE LUCAS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285111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 QUE A FRASE CARREGA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3198749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11680" y="3546221"/>
            <a:ext cx="441960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3820541"/>
            <a:ext cx="441960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Construir segurança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4557649"/>
            <a:ext cx="4419600" cy="142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Transformar vulnerabilidades em planejamento, recursos e alternativas.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34200" y="3546221"/>
            <a:ext cx="441960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34200" y="3820541"/>
            <a:ext cx="441960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Preservar liberdade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34200" y="4557649"/>
            <a:ext cx="4419600" cy="142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Manter possibilidades diante de acontecimentos que fogem ao controle.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856720" y="3546221"/>
            <a:ext cx="441960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56720" y="3820541"/>
            <a:ext cx="441960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Escolha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56720" y="4557649"/>
            <a:ext cx="4419600" cy="142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Evitar que a urgência seja a única responsável pelas decisões.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86784" y="6549517"/>
            <a:ext cx="10314432" cy="142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Responsável, disciplinado, ambicioso e constante são características do Lucas. Mas são manifestações de uma lógica mais profunda: preparar o que pode ser preparado para proteger o que não pode ser previsto.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11680" y="3021774"/>
            <a:ext cx="152476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959"/>
              </a:lnSpc>
            </a:pPr>
            <a:r>
              <a:rPr sz="1400" i="0" b="0" spc="300">
                <a:solidFill>
                  <a:srgbClr val="CC754E"/>
                </a:solidFill>
                <a:latin typeface="Outfit 1 Semi-Bold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3497262"/>
            <a:ext cx="15247620" cy="21875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5785"/>
              </a:lnSpc>
            </a:pPr>
            <a:r>
              <a:rPr sz="14350" i="0" b="0">
                <a:solidFill>
                  <a:srgbClr val="1C1C1A"/>
                </a:solidFill>
                <a:latin typeface="Outfit 1 Bold"/>
              </a:rPr>
              <a:t>A MARCA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5757990"/>
            <a:ext cx="15247620" cy="711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4523"/>
              </a:lnSpc>
            </a:pPr>
            <a:r>
              <a:rPr sz="3900" i="0" b="0">
                <a:solidFill>
                  <a:srgbClr val="1C1C1A"/>
                </a:solidFill>
                <a:latin typeface="Outfit 1 Light"/>
              </a:rPr>
              <a:t>O que essa essência revela sobre o papel que Lucas pode ocupar.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02_reuniao_consultiva_casal.png"/>
          <p:cNvPicPr>
            <a:picLocks noChangeAspect="1"/>
          </p:cNvPicPr>
          <p:nvPr/>
        </p:nvPicPr>
        <p:blipFill>
          <a:blip r:embed="rId3"/>
          <a:srcRect l="31020" r="30960"/>
          <a:stretch>
            <a:fillRect/>
          </a:stretch>
        </p:blipFill>
        <p:spPr>
          <a:xfrm>
            <a:off x="0" y="0"/>
            <a:ext cx="694944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94944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818120" y="1623060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59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A MARCA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18120" y="2098548"/>
            <a:ext cx="960120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 PRODUTO NÃO É O CENTRO</a:t>
            </a:r>
          </a:p>
        </p:txBody>
      </p:sp>
      <p:sp>
        <p:nvSpPr>
          <p:cNvPr id="7" name="Rectangle 6"/>
          <p:cNvSpPr/>
          <p:nvPr/>
        </p:nvSpPr>
        <p:spPr>
          <a:xfrm>
            <a:off x="7818120" y="3012186"/>
            <a:ext cx="960120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818120" y="3607308"/>
            <a:ext cx="960120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18120" y="3881628"/>
            <a:ext cx="3552444" cy="3886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1C1C1A"/>
                </a:solidFill>
                <a:latin typeface="Outfit 1 Semi-Bold"/>
              </a:rPr>
              <a:t>SEGURO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3808476"/>
            <a:ext cx="57607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É instrumento.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18120" y="4567428"/>
            <a:ext cx="960120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8120" y="4841748"/>
            <a:ext cx="3552444" cy="3886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1C1C1A"/>
                </a:solidFill>
                <a:latin typeface="Outfit 1 Semi-Bold"/>
              </a:rPr>
              <a:t>PLANEJAMENTO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658600" y="4768596"/>
            <a:ext cx="57607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É método.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18120" y="5527548"/>
            <a:ext cx="960120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18120" y="5801868"/>
            <a:ext cx="3552444" cy="3886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1C1C1A"/>
                </a:solidFill>
                <a:latin typeface="Outfit 1 Semi-Bold"/>
              </a:rPr>
              <a:t>PROTEÇÃO E SUCESSÃO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58600" y="5728716"/>
            <a:ext cx="57607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São campos de atuação.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18120" y="6487668"/>
            <a:ext cx="960120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18120" y="6761988"/>
            <a:ext cx="3552444" cy="3886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1C1C1A"/>
                </a:solidFill>
                <a:latin typeface="Outfit 1 Semi-Bold"/>
              </a:rPr>
              <a:t>CONTINUIDADE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658600" y="6688836"/>
            <a:ext cx="57607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É o território.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18120" y="7447788"/>
            <a:ext cx="960120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18120" y="7722108"/>
            <a:ext cx="3552444" cy="3886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CC754E"/>
                </a:solidFill>
                <a:latin typeface="Outfit 1 Semi-Bold"/>
              </a:rPr>
              <a:t>LIBERDADE DE ESCOLHA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658600" y="7648956"/>
            <a:ext cx="57607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É o significado humano.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818120" y="8407908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3_lucas_ouvindo_casal.png"/>
          <p:cNvPicPr>
            <a:picLocks noChangeAspect="1"/>
          </p:cNvPicPr>
          <p:nvPr/>
        </p:nvPicPr>
        <p:blipFill>
          <a:blip r:embed="rId3"/>
          <a:srcRect l="43759" r="18221"/>
          <a:stretch>
            <a:fillRect/>
          </a:stretch>
        </p:blipFill>
        <p:spPr>
          <a:xfrm>
            <a:off x="11338560" y="0"/>
            <a:ext cx="6949440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1680" y="1988884"/>
            <a:ext cx="8458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59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A MARCA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4372"/>
            <a:ext cx="845820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PROVA, NÃO PROCLAMAÇÃO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3378010"/>
            <a:ext cx="845820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3725482"/>
            <a:ext cx="8458200" cy="14432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A dificuldade de comunicação não exige que ele se transforme em alguém que não é. A marca pode ser construída pela lógica que já existe nele.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5443030"/>
            <a:ext cx="8458200" cy="142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Resultados, casos, conhecimento e consistência. Ele não precisa se tornar mais exibido: precisa tornar mais visível aquilo que já construiu.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0" y="7233730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7544626"/>
            <a:ext cx="8458200" cy="524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125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A essência revela a origem. A estratégia define a direção.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11680" y="2651760"/>
            <a:ext cx="13716000" cy="162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0640"/>
              </a:lnSpc>
            </a:pPr>
            <a:r>
              <a:rPr sz="9500" i="0" b="0">
                <a:solidFill>
                  <a:srgbClr val="1C1C1A"/>
                </a:solidFill>
                <a:latin typeface="Outfit 1 Light"/>
              </a:rPr>
              <a:t>OBRIGADA!</a:t>
            </a:r>
          </a:p>
        </p:txBody>
      </p:sp>
      <p:pic>
        <p:nvPicPr>
          <p:cNvPr id="4" name="Picture 3" descr="logo-kelly-alb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5257800"/>
            <a:ext cx="4421124" cy="105071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669280" y="5257800"/>
            <a:ext cx="12802" cy="1143000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vm-rock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73445" y="5312664"/>
            <a:ext cx="3291840" cy="94288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DAHVOuCspjk</dc:identifier>
  <dcterms:modified xsi:type="dcterms:W3CDTF">2011-08-01T06:04:30Z</dcterms:modified>
  <cp:revision>1</cp:revision>
  <dc:title>Revelacao-de-Essencia-Flavia-Pereira-Muccelin.pptx</dc:title>
</cp:coreProperties>
</file>