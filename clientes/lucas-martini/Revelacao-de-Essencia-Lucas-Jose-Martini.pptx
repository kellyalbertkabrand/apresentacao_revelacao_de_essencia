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sldIdLst>
    <p:sldId id="256" r:id="rId19"/>
    <p:sldId id="257" r:id="rId20"/>
    <p:sldId id="258" r:id="rId21"/>
    <p:sldId id="259" r:id="rId22"/>
    <p:sldId id="260" r:id="rId23"/>
    <p:sldId id="261" r:id="rId24"/>
    <p:sldId id="262" r:id="rId25"/>
    <p:sldId id="263" r:id="rId26"/>
    <p:sldId id="264" r:id="rId27"/>
    <p:sldId id="265" r:id="rId28"/>
    <p:sldId id="266" r:id="rId29"/>
    <p:sldId id="267" r:id="rId30"/>
    <p:sldId id="268" r:id="rId31"/>
    <p:sldId id="269" r:id="rId32"/>
    <p:sldId id="270" r:id="rId33"/>
    <p:sldId id="271" r:id="rId34"/>
    <p:sldId id="272" r:id="rId35"/>
    <p:sldId id="273" r:id="rId36"/>
    <p:sldId id="274" r:id="rId18"/>
    <p:sldId id="275" r:id="rId17"/>
    <p:sldId id="276" r:id="rId16"/>
    <p:sldId id="277" r:id="rId15"/>
    <p:sldId id="278" r:id="rId14"/>
    <p:sldId id="279" r:id="rId13"/>
    <p:sldId id="280" r:id="rId12"/>
    <p:sldId id="281" r:id="rId11"/>
    <p:sldId id="282" r:id="rId10"/>
    <p:sldId id="283" r:id="rId9"/>
    <p:sldId id="284" r:id="rId8"/>
    <p:sldId id="285" r:id="rId7"/>
  </p:sldIdLst>
  <p:sldSz cx="18288000" cy="10287000"/>
  <p:notesSz cx="6858000" cy="9144000"/>
  <p:embeddedFontLst>
    <p:embeddedFont>
      <p:font typeface="Koho" charset="1" panose="00000500000000000000"/>
      <p:regular r:id="rId37"/>
    </p:embeddedFont>
    <p:embeddedFont>
      <p:font typeface="Koho Medium" charset="1" panose="00000600000000000000"/>
      <p:regular r:id="rId38"/>
    </p:embeddedFont>
    <p:embeddedFont>
      <p:font typeface="Outfit 1 Medium" charset="1" panose="00000000000000000000"/>
      <p:regular r:id="rId39"/>
    </p:embeddedFont>
    <p:embeddedFont>
      <p:font typeface="IBM Plex Sans Thai" charset="1" panose="020B0503050203000203"/>
      <p:regular r:id="rId40"/>
    </p:embeddedFont>
    <p:embeddedFont>
      <p:font typeface="Outfit 2 Light" charset="1" panose="00000000000000000000"/>
      <p:regular r:id="rId41"/>
    </p:embeddedFont>
    <p:embeddedFont>
      <p:font typeface="Outfit 2 Medium" charset="1" panose="00000000000000000000"/>
      <p:regular r:id="rId42"/>
    </p:embeddedFont>
    <p:embeddedFont>
      <p:font typeface="Outfit 2 Semi-Bold" charset="1" panose="00000000000000000000"/>
      <p:regular r:id="rId43"/>
    </p:embeddedFont>
    <p:embeddedFont>
      <p:font typeface="Playfair Display" charset="1" panose="02000503000000020003"/>
      <p:regular r:id="rId44"/>
    </p:embeddedFont>
    <p:embeddedFont>
      <p:font typeface="Outfit 1 Bold" charset="1" panose="00000000000000000000"/>
      <p:regular r:id="rId45"/>
    </p:embeddedFont>
    <p:embeddedFont>
      <p:font typeface="Outfit 1" charset="1" panose="00000000000000000000"/>
      <p:regular r:id="rId46"/>
    </p:embeddedFont>
    <p:embeddedFont>
      <p:font typeface="Outfit 1 Semi-Bold" charset="1" panose="00000000000000000000"/>
      <p:regular r:id="rId47"/>
    </p:embeddedFont>
    <p:embeddedFont>
      <p:font typeface="Outfit 1 Light" charset="1" panose="00000000000000000000"/>
      <p:regular r:id="rId48"/>
    </p:embeddedFont>
    <p:embeddedFont>
      <p:font typeface="Outfit 1 Ultra-Bold" charset="1" panose="00000000000000000000"/>
      <p:regular r:id="rId49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esProps" Target="presProps.xml"/><Relationship Id="rId3" Type="http://schemas.openxmlformats.org/officeDocument/2006/relationships/viewProps" Target="viewProps.xml"/><Relationship Id="rId4" Type="http://schemas.openxmlformats.org/officeDocument/2006/relationships/theme" Target="theme/theme1.xml"/><Relationship Id="rId5" Type="http://schemas.openxmlformats.org/officeDocument/2006/relationships/tableStyles" Target="tableStyles.xml"/><Relationship Id="rId7" Type="http://schemas.openxmlformats.org/officeDocument/2006/relationships/slide" Target="slides/slide30.xml"/><Relationship Id="rId8" Type="http://schemas.openxmlformats.org/officeDocument/2006/relationships/slide" Target="slides/slide29.xml"/><Relationship Id="rId9" Type="http://schemas.openxmlformats.org/officeDocument/2006/relationships/slide" Target="slides/slide28.xml"/><Relationship Id="rId10" Type="http://schemas.openxmlformats.org/officeDocument/2006/relationships/slide" Target="slides/slide27.xml"/><Relationship Id="rId11" Type="http://schemas.openxmlformats.org/officeDocument/2006/relationships/slide" Target="slides/slide26.xml"/><Relationship Id="rId12" Type="http://schemas.openxmlformats.org/officeDocument/2006/relationships/slide" Target="slides/slide25.xml"/><Relationship Id="rId13" Type="http://schemas.openxmlformats.org/officeDocument/2006/relationships/slide" Target="slides/slide24.xml"/><Relationship Id="rId14" Type="http://schemas.openxmlformats.org/officeDocument/2006/relationships/slide" Target="slides/slide23.xml"/><Relationship Id="rId15" Type="http://schemas.openxmlformats.org/officeDocument/2006/relationships/slide" Target="slides/slide22.xml"/><Relationship Id="rId16" Type="http://schemas.openxmlformats.org/officeDocument/2006/relationships/slide" Target="slides/slide21.xml"/><Relationship Id="rId17" Type="http://schemas.openxmlformats.org/officeDocument/2006/relationships/slide" Target="slides/slide20.xml"/><Relationship Id="rId18" Type="http://schemas.openxmlformats.org/officeDocument/2006/relationships/slide" Target="slides/slide19.xml"/><Relationship Id="rId19" Type="http://schemas.openxmlformats.org/officeDocument/2006/relationships/slide" Target="slides/slide1.xml"/><Relationship Id="rId20" Type="http://schemas.openxmlformats.org/officeDocument/2006/relationships/slide" Target="slides/slide2.xml"/><Relationship Id="rId21" Type="http://schemas.openxmlformats.org/officeDocument/2006/relationships/slide" Target="slides/slide3.xml"/><Relationship Id="rId22" Type="http://schemas.openxmlformats.org/officeDocument/2006/relationships/slide" Target="slides/slide4.xml"/><Relationship Id="rId23" Type="http://schemas.openxmlformats.org/officeDocument/2006/relationships/slide" Target="slides/slide5.xml"/><Relationship Id="rId24" Type="http://schemas.openxmlformats.org/officeDocument/2006/relationships/slide" Target="slides/slide6.xml"/><Relationship Id="rId25" Type="http://schemas.openxmlformats.org/officeDocument/2006/relationships/slide" Target="slides/slide7.xml"/><Relationship Id="rId26" Type="http://schemas.openxmlformats.org/officeDocument/2006/relationships/slide" Target="slides/slide8.xml"/><Relationship Id="rId27" Type="http://schemas.openxmlformats.org/officeDocument/2006/relationships/slide" Target="slides/slide9.xml"/><Relationship Id="rId28" Type="http://schemas.openxmlformats.org/officeDocument/2006/relationships/slide" Target="slides/slide10.xml"/><Relationship Id="rId29" Type="http://schemas.openxmlformats.org/officeDocument/2006/relationships/slide" Target="slides/slide11.xml"/><Relationship Id="rId30" Type="http://schemas.openxmlformats.org/officeDocument/2006/relationships/slide" Target="slides/slide12.xml"/><Relationship Id="rId31" Type="http://schemas.openxmlformats.org/officeDocument/2006/relationships/slide" Target="slides/slide13.xml"/><Relationship Id="rId32" Type="http://schemas.openxmlformats.org/officeDocument/2006/relationships/slide" Target="slides/slide14.xml"/><Relationship Id="rId33" Type="http://schemas.openxmlformats.org/officeDocument/2006/relationships/slide" Target="slides/slide15.xml"/><Relationship Id="rId34" Type="http://schemas.openxmlformats.org/officeDocument/2006/relationships/slide" Target="slides/slide16.xml"/><Relationship Id="rId35" Type="http://schemas.openxmlformats.org/officeDocument/2006/relationships/slide" Target="slides/slide17.xml"/><Relationship Id="rId36" Type="http://schemas.openxmlformats.org/officeDocument/2006/relationships/slide" Target="slides/slide18.xml"/><Relationship Id="rId37" Type="http://schemas.openxmlformats.org/officeDocument/2006/relationships/font" Target="fonts/font37.fntdata"/><Relationship Id="rId38" Type="http://schemas.openxmlformats.org/officeDocument/2006/relationships/font" Target="fonts/font38.fntdata"/><Relationship Id="rId39" Type="http://schemas.openxmlformats.org/officeDocument/2006/relationships/font" Target="fonts/font39.fntdata"/><Relationship Id="rId40" Type="http://schemas.openxmlformats.org/officeDocument/2006/relationships/font" Target="fonts/font40.fntdata"/><Relationship Id="rId41" Type="http://schemas.openxmlformats.org/officeDocument/2006/relationships/font" Target="fonts/font41.fntdata"/><Relationship Id="rId42" Type="http://schemas.openxmlformats.org/officeDocument/2006/relationships/font" Target="fonts/font42.fntdata"/><Relationship Id="rId43" Type="http://schemas.openxmlformats.org/officeDocument/2006/relationships/font" Target="fonts/font43.fntdata"/><Relationship Id="rId44" Type="http://schemas.openxmlformats.org/officeDocument/2006/relationships/font" Target="fonts/font44.fntdata"/><Relationship Id="rId45" Type="http://schemas.openxmlformats.org/officeDocument/2006/relationships/font" Target="fonts/font45.fntdata"/><Relationship Id="rId46" Type="http://schemas.openxmlformats.org/officeDocument/2006/relationships/font" Target="fonts/font46.fntdata"/><Relationship Id="rId47" Type="http://schemas.openxmlformats.org/officeDocument/2006/relationships/font" Target="fonts/font47.fntdata"/><Relationship Id="rId48" Type="http://schemas.openxmlformats.org/officeDocument/2006/relationships/font" Target="fonts/font48.fntdata"/><Relationship Id="rId49" Type="http://schemas.openxmlformats.org/officeDocument/2006/relationships/font" Target="fonts/font49.fntdata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6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7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8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9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0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3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6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9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4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5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pic>
        <p:nvPicPr>
          <p:cNvPr id="3" name="Picture 2" descr="logo-kelly-alber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46120" y="4617720"/>
            <a:ext cx="3931920" cy="934452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9006840" y="4206240"/>
            <a:ext cx="12802" cy="1691640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-vm-rock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66960" y="4434840"/>
            <a:ext cx="4023360" cy="115242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pic>
        <p:nvPicPr>
          <p:cNvPr id="3" name="Picture 2" descr="trac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785848" y="3364992"/>
            <a:ext cx="1490472" cy="177957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536192" y="3593592"/>
            <a:ext cx="13551408" cy="2476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8549"/>
              </a:lnSpc>
            </a:pPr>
            <a:r>
              <a:rPr sz="7500" i="0" b="0" spc="300">
                <a:solidFill>
                  <a:srgbClr val="1C1C1A"/>
                </a:solidFill>
                <a:latin typeface="Outfit 1 Bold"/>
              </a:rPr>
              <a:t>REVELAÇÃO</a:t>
            </a:r>
          </a:p>
          <a:p>
            <a:pPr algn="l">
              <a:lnSpc>
                <a:spcPts val="8549"/>
              </a:lnSpc>
            </a:pPr>
            <a:r>
              <a:rPr sz="7500" i="0" b="0" spc="300">
                <a:solidFill>
                  <a:srgbClr val="1C1C1A"/>
                </a:solidFill>
                <a:latin typeface="Outfit 1 Bold"/>
              </a:rPr>
              <a:t>DE ESSÊNCIA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536192" y="6179820"/>
            <a:ext cx="13551408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3000" i="0" b="0">
                <a:solidFill>
                  <a:srgbClr val="1C1C1A"/>
                </a:solidFill>
                <a:latin typeface="Outfit 1 Bold"/>
              </a:rPr>
              <a:t>Lucas José Martini</a:t>
            </a:r>
            <a:r>
              <a:rPr sz="3000" i="0" b="0">
                <a:solidFill>
                  <a:srgbClr val="1C1C1A"/>
                </a:solidFill>
                <a:latin typeface="Outfit 1"/>
              </a:rPr>
              <a:t>  |  Origem Identitária do Fundador</a:t>
            </a:r>
          </a:p>
        </p:txBody>
      </p:sp>
      <p:sp>
        <p:nvSpPr>
          <p:cNvPr id="6" name="Rectangle 5"/>
          <p:cNvSpPr/>
          <p:nvPr/>
        </p:nvSpPr>
        <p:spPr>
          <a:xfrm>
            <a:off x="1545336" y="7790688"/>
            <a:ext cx="10973" cy="896112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764024" y="7790688"/>
            <a:ext cx="10973" cy="896112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488936" y="7790688"/>
            <a:ext cx="10973" cy="896112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9692640" y="7790688"/>
            <a:ext cx="10973" cy="896112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logo-k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57133" y="6494587"/>
            <a:ext cx="3459591" cy="3459591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983480" y="7964424"/>
            <a:ext cx="23774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2680" i="0" b="0">
                <a:solidFill>
                  <a:srgbClr val="1C1C1A"/>
                </a:solidFill>
                <a:latin typeface="Outfit 2 Light"/>
              </a:rPr>
              <a:t>Método </a:t>
            </a:r>
            <a:r>
              <a:rPr sz="2680" i="0" b="0">
                <a:solidFill>
                  <a:srgbClr val="1C1C1A"/>
                </a:solidFill>
                <a:latin typeface="Outfit 2 Semi-Bold"/>
              </a:rPr>
              <a:t>Marca</a:t>
            </a:r>
          </a:p>
          <a:p>
            <a:pPr algn="l">
              <a:lnSpc>
                <a:spcPct val="95000"/>
              </a:lnSpc>
            </a:pPr>
            <a:r>
              <a:rPr sz="2680" i="0" b="0">
                <a:solidFill>
                  <a:srgbClr val="1C1C1A"/>
                </a:solidFill>
                <a:latin typeface="Outfit 2 Semi-Bold"/>
              </a:rPr>
              <a:t>com Essência</a:t>
            </a:r>
            <a:r>
              <a:rPr sz="1470" i="0" b="0">
                <a:solidFill>
                  <a:srgbClr val="1C1C1A"/>
                </a:solidFill>
                <a:latin typeface="Outfit 2"/>
              </a:rPr>
              <a:t>©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543800" y="8156448"/>
            <a:ext cx="2103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ts val="2729"/>
              </a:lnSpc>
            </a:pPr>
            <a:r>
              <a:rPr sz="1950" i="0" b="0">
                <a:solidFill>
                  <a:srgbClr val="1C1C1A"/>
                </a:solidFill>
                <a:latin typeface="Outfit 1"/>
              </a:rPr>
              <a:t>OUTUBRO/2026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1005840" y="1005840"/>
            <a:ext cx="16276320" cy="7772400"/>
          </a:xfrm>
          <a:prstGeom prst="roundRect">
            <a:avLst>
              <a:gd name="adj" fmla="val 2117"/>
            </a:avLst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664208" y="804672"/>
            <a:ext cx="1426464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7800"/>
              </a:lnSpc>
            </a:pPr>
            <a:r>
              <a:rPr sz="7800" i="0" b="0">
                <a:solidFill>
                  <a:srgbClr val="1C1C1A"/>
                </a:solidFill>
                <a:latin typeface="Outfit 1 Ultra-Bold"/>
              </a:rPr>
              <a:t>SUMÁRIO</a:t>
            </a:r>
          </a:p>
        </p:txBody>
      </p:sp>
      <p:sp>
        <p:nvSpPr>
          <p:cNvPr id="5" name="Rectangle 4"/>
          <p:cNvSpPr/>
          <p:nvPr/>
        </p:nvSpPr>
        <p:spPr>
          <a:xfrm>
            <a:off x="2011680" y="2697480"/>
            <a:ext cx="14264640" cy="10973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011680" y="2953512"/>
            <a:ext cx="10058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170"/>
              </a:lnSpc>
            </a:pPr>
            <a:r>
              <a:rPr sz="1550" i="0" b="0" spc="240">
                <a:solidFill>
                  <a:srgbClr val="CC754E"/>
                </a:solidFill>
                <a:latin typeface="Outfit 1 Semi-Bold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11880" y="2843784"/>
            <a:ext cx="12664440" cy="4508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1C1C1A"/>
                </a:solidFill>
                <a:latin typeface="Outfit 1 Light"/>
              </a:rPr>
              <a:t>A origem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11880" y="3294634"/>
            <a:ext cx="12664440" cy="342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520"/>
              </a:lnSpc>
            </a:pPr>
            <a:r>
              <a:rPr sz="1800" i="0" b="0">
                <a:solidFill>
                  <a:srgbClr val="A5A49F"/>
                </a:solidFill>
                <a:latin typeface="Outfit 1 Light"/>
              </a:rPr>
              <a:t>As experiências que formaram sua relação com construção, segurança e futuro.</a:t>
            </a:r>
          </a:p>
        </p:txBody>
      </p:sp>
      <p:sp>
        <p:nvSpPr>
          <p:cNvPr id="9" name="Rectangle 8"/>
          <p:cNvSpPr/>
          <p:nvPr/>
        </p:nvSpPr>
        <p:spPr>
          <a:xfrm>
            <a:off x="2011680" y="3688080"/>
            <a:ext cx="14264640" cy="10973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011680" y="3944112"/>
            <a:ext cx="10058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170"/>
              </a:lnSpc>
            </a:pPr>
            <a:r>
              <a:rPr sz="1550" i="0" b="0" spc="240">
                <a:solidFill>
                  <a:srgbClr val="CC754E"/>
                </a:solidFill>
                <a:latin typeface="Outfit 1 Semi-Bold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11880" y="3834384"/>
            <a:ext cx="12664440" cy="4508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1C1C1A"/>
                </a:solidFill>
                <a:latin typeface="Outfit 1 Light"/>
              </a:rPr>
              <a:t>As tensões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11880" y="4285234"/>
            <a:ext cx="12664440" cy="342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520"/>
              </a:lnSpc>
            </a:pPr>
            <a:r>
              <a:rPr sz="1800" i="0" b="0">
                <a:solidFill>
                  <a:srgbClr val="A5A49F"/>
                </a:solidFill>
                <a:latin typeface="Outfit 1 Light"/>
              </a:rPr>
              <a:t>Os contrastes que revelam o que realmente o coloca em movimento.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011680" y="4678680"/>
            <a:ext cx="14264640" cy="10973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011680" y="4934712"/>
            <a:ext cx="10058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170"/>
              </a:lnSpc>
            </a:pPr>
            <a:r>
              <a:rPr sz="1550" i="0" b="0" spc="240">
                <a:solidFill>
                  <a:srgbClr val="CC754E"/>
                </a:solidFill>
                <a:latin typeface="Outfit 1 Semi-Bold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11880" y="4824984"/>
            <a:ext cx="12664440" cy="4508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1C1C1A"/>
                </a:solidFill>
                <a:latin typeface="Outfit 1 Light"/>
              </a:rPr>
              <a:t>Os padrões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11880" y="5275834"/>
            <a:ext cx="12664440" cy="342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520"/>
              </a:lnSpc>
            </a:pPr>
            <a:r>
              <a:rPr sz="1800" i="0" b="0">
                <a:solidFill>
                  <a:srgbClr val="A5A49F"/>
                </a:solidFill>
                <a:latin typeface="Outfit 1 Light"/>
              </a:rPr>
              <a:t>A lógica que se repete por trás de escolhas diferentes.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011680" y="5669280"/>
            <a:ext cx="14264640" cy="10973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011680" y="5925312"/>
            <a:ext cx="10058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170"/>
              </a:lnSpc>
            </a:pPr>
            <a:r>
              <a:rPr sz="1550" i="0" b="0" spc="240">
                <a:solidFill>
                  <a:srgbClr val="CC754E"/>
                </a:solidFill>
                <a:latin typeface="Outfit 1 Semi-Bold"/>
              </a:rP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11880" y="5815584"/>
            <a:ext cx="12664440" cy="4508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1C1C1A"/>
                </a:solidFill>
                <a:latin typeface="Outfit 1 Light"/>
              </a:rPr>
              <a:t>O Ikigai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11880" y="6266434"/>
            <a:ext cx="12664440" cy="342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520"/>
              </a:lnSpc>
            </a:pPr>
            <a:r>
              <a:rPr sz="1800" i="0" b="0">
                <a:solidFill>
                  <a:srgbClr val="A5A49F"/>
                </a:solidFill>
                <a:latin typeface="Outfit 1 Light"/>
              </a:rPr>
              <a:t>Onde capacidade, realização, contribuição e profissão se encontram.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011680" y="6659880"/>
            <a:ext cx="14264640" cy="10973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011680" y="6915912"/>
            <a:ext cx="10058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170"/>
              </a:lnSpc>
            </a:pPr>
            <a:r>
              <a:rPr sz="1550" i="0" b="0" spc="240">
                <a:solidFill>
                  <a:srgbClr val="CC754E"/>
                </a:solidFill>
                <a:latin typeface="Outfit 1 Semi-Bold"/>
              </a:rPr>
              <a:t>05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11880" y="6806184"/>
            <a:ext cx="12664440" cy="4508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1C1C1A"/>
                </a:solidFill>
                <a:latin typeface="Outfit 1 Light"/>
              </a:rPr>
              <a:t>A essência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11880" y="7257034"/>
            <a:ext cx="12664440" cy="342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520"/>
              </a:lnSpc>
            </a:pPr>
            <a:r>
              <a:rPr sz="1800" i="0" b="0">
                <a:solidFill>
                  <a:srgbClr val="A5A49F"/>
                </a:solidFill>
                <a:latin typeface="Outfit 1 Light"/>
              </a:rPr>
              <a:t>O princípio mais profundo que conecta sua trajetória.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011680" y="7650480"/>
            <a:ext cx="14264640" cy="10973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011680" y="7906512"/>
            <a:ext cx="10058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170"/>
              </a:lnSpc>
            </a:pPr>
            <a:r>
              <a:rPr sz="1550" i="0" b="0" spc="240">
                <a:solidFill>
                  <a:srgbClr val="CC754E"/>
                </a:solidFill>
                <a:latin typeface="Outfit 1 Semi-Bold"/>
              </a:rPr>
              <a:t>06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11880" y="7796784"/>
            <a:ext cx="12664440" cy="4508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1C1C1A"/>
                </a:solidFill>
                <a:latin typeface="Outfit 1 Light"/>
              </a:rPr>
              <a:t>A marca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11880" y="8247634"/>
            <a:ext cx="12664440" cy="342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520"/>
              </a:lnSpc>
            </a:pPr>
            <a:r>
              <a:rPr sz="1800" i="0" b="0">
                <a:solidFill>
                  <a:srgbClr val="A5A49F"/>
                </a:solidFill>
                <a:latin typeface="Outfit 1 Light"/>
              </a:rPr>
              <a:t>O que essa essência revela sobre o papel que Lucas pode ocupar.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011680" y="8641080"/>
            <a:ext cx="14264640" cy="10973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1338560" cy="10287000"/>
          </a:xfrm>
          <a:prstGeom prst="rect">
            <a:avLst/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03_lucas_janela_entardecer.png"/>
          <p:cNvPicPr>
            <a:picLocks noChangeAspect="1"/>
          </p:cNvPicPr>
          <p:nvPr/>
        </p:nvPicPr>
        <p:blipFill>
          <a:blip r:embed="rId3"/>
          <a:srcRect l="18819" r="43161"/>
          <a:stretch>
            <a:fillRect/>
          </a:stretch>
        </p:blipFill>
        <p:spPr>
          <a:xfrm>
            <a:off x="11338560" y="0"/>
            <a:ext cx="6949440" cy="10287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011680" y="1856232"/>
            <a:ext cx="8458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959"/>
              </a:lnSpc>
            </a:pPr>
            <a:r>
              <a:rPr sz="1400" i="0" b="0" spc="300">
                <a:solidFill>
                  <a:srgbClr val="A5A49F"/>
                </a:solidFill>
                <a:latin typeface="Outfit 2"/>
              </a:rPr>
              <a:t>CONCEITO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011680" y="2331720"/>
            <a:ext cx="8458200" cy="100507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5754"/>
              </a:lnSpc>
            </a:pPr>
            <a:r>
              <a:rPr sz="4200" i="0" b="0">
                <a:solidFill>
                  <a:srgbClr val="1C1C1A"/>
                </a:solidFill>
                <a:latin typeface="Outfit 1 Light"/>
              </a:rPr>
              <a:t>POR QUE A ESSÊNCIA VEM PRIMEIRO?</a:t>
            </a:r>
          </a:p>
        </p:txBody>
      </p:sp>
      <p:sp>
        <p:nvSpPr>
          <p:cNvPr id="7" name="Rectangle 6"/>
          <p:cNvSpPr/>
          <p:nvPr/>
        </p:nvSpPr>
        <p:spPr>
          <a:xfrm>
            <a:off x="2011680" y="3976116"/>
            <a:ext cx="8458200" cy="10973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011680" y="4323588"/>
            <a:ext cx="8458200" cy="13365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219"/>
              </a:lnSpc>
            </a:pPr>
            <a:r>
              <a:rPr sz="2300" i="0" b="0">
                <a:solidFill>
                  <a:srgbClr val="1C1C1A"/>
                </a:solidFill>
                <a:latin typeface="Outfit 1 Light"/>
              </a:rPr>
              <a:t>Uma marca pessoal não começa no que o profissional vende. Começa na maneira como ele enxerga o mundo e atribui significado ao próprio trabalho.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011680" y="5828386"/>
            <a:ext cx="8458200" cy="13182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219"/>
              </a:lnSpc>
            </a:pPr>
            <a:r>
              <a:rPr sz="2300" i="0" b="0">
                <a:solidFill>
                  <a:srgbClr val="6B6B66"/>
                </a:solidFill>
                <a:latin typeface="Outfit 1 Light"/>
              </a:rPr>
              <a:t>Proteção e sucessão são a parte visível. Esta etapa investiga os padrões, as crenças e as tensões que explicam a origem da sua atuação.</a:t>
            </a:r>
          </a:p>
        </p:txBody>
      </p:sp>
      <p:sp>
        <p:nvSpPr>
          <p:cNvPr id="10" name="Rectangle 9"/>
          <p:cNvSpPr/>
          <p:nvPr/>
        </p:nvSpPr>
        <p:spPr>
          <a:xfrm>
            <a:off x="2011680" y="7426086"/>
            <a:ext cx="1188720" cy="27432"/>
          </a:xfrm>
          <a:prstGeom prst="rect">
            <a:avLst/>
          </a:prstGeom>
          <a:solidFill>
            <a:srgbClr val="CC7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011680" y="7736982"/>
            <a:ext cx="8458200" cy="49314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875"/>
              </a:lnSpc>
            </a:pPr>
            <a:r>
              <a:rPr sz="2300" i="0" b="0">
                <a:solidFill>
                  <a:srgbClr val="1C1C1A"/>
                </a:solidFill>
                <a:latin typeface="Outfit 1 Light"/>
              </a:rPr>
              <a:t>O que existe por trás da forma como ele protege?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1005840" y="1005840"/>
            <a:ext cx="16276320" cy="7772400"/>
          </a:xfrm>
          <a:prstGeom prst="roundRect">
            <a:avLst>
              <a:gd name="adj" fmla="val 2117"/>
            </a:avLst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011680" y="3895852"/>
            <a:ext cx="1188720" cy="27432"/>
          </a:xfrm>
          <a:prstGeom prst="rect">
            <a:avLst/>
          </a:prstGeom>
          <a:solidFill>
            <a:srgbClr val="CC7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011680" y="4298188"/>
            <a:ext cx="14081760" cy="159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5180"/>
              </a:lnSpc>
            </a:pPr>
            <a:r>
              <a:rPr sz="3700" i="0" b="0">
                <a:solidFill>
                  <a:srgbClr val="323330"/>
                </a:solidFill>
                <a:latin typeface="Outfit 1 Light"/>
              </a:rPr>
              <a:t>A história não é a revelação.</a:t>
            </a:r>
          </a:p>
          <a:p>
            <a:pPr algn="l">
              <a:lnSpc>
                <a:spcPts val="5180"/>
              </a:lnSpc>
            </a:pPr>
            <a:r>
              <a:rPr sz="3700" i="0" b="0">
                <a:solidFill>
                  <a:srgbClr val="323330"/>
                </a:solidFill>
                <a:latin typeface="Outfit 1 Light"/>
              </a:rPr>
              <a:t>A história é a evidência.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1005840" y="1005840"/>
            <a:ext cx="16276320" cy="7772400"/>
          </a:xfrm>
          <a:prstGeom prst="roundRect">
            <a:avLst>
              <a:gd name="adj" fmla="val 2117"/>
            </a:avLst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011680" y="1660525"/>
            <a:ext cx="142646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959"/>
              </a:lnSpc>
            </a:pPr>
            <a:r>
              <a:rPr sz="1400" i="0" b="0" spc="300">
                <a:solidFill>
                  <a:srgbClr val="A5A49F"/>
                </a:solidFill>
                <a:latin typeface="Outfit 2"/>
              </a:rPr>
              <a:t>MÉTODO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11680" y="2136013"/>
            <a:ext cx="14264640" cy="100507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5754"/>
              </a:lnSpc>
            </a:pPr>
            <a:r>
              <a:rPr sz="4200" i="0" b="0">
                <a:solidFill>
                  <a:srgbClr val="1C1C1A"/>
                </a:solidFill>
                <a:latin typeface="Outfit 1 Light"/>
              </a:rPr>
              <a:t>COMO SE CHEGA À REVELAÇÃO</a:t>
            </a:r>
          </a:p>
        </p:txBody>
      </p:sp>
      <p:sp>
        <p:nvSpPr>
          <p:cNvPr id="6" name="Rectangle 5"/>
          <p:cNvSpPr/>
          <p:nvPr/>
        </p:nvSpPr>
        <p:spPr>
          <a:xfrm>
            <a:off x="2011680" y="3049651"/>
            <a:ext cx="14264640" cy="10973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011680" y="3397123"/>
            <a:ext cx="12801600" cy="980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6B6B66"/>
                </a:solidFill>
                <a:latin typeface="Outfit 1 Light"/>
              </a:rPr>
              <a:t>A essência não é um adjetivo, nem uma frase bonita criada para comunicação. Ela aparece quando momentos aparentemente diferentes revelam uma mesma lógica.</a:t>
            </a:r>
          </a:p>
        </p:txBody>
      </p:sp>
      <p:sp>
        <p:nvSpPr>
          <p:cNvPr id="8" name="Rectangle 7"/>
          <p:cNvSpPr/>
          <p:nvPr/>
        </p:nvSpPr>
        <p:spPr>
          <a:xfrm>
            <a:off x="2011680" y="4798187"/>
            <a:ext cx="3188970" cy="56693"/>
          </a:xfrm>
          <a:prstGeom prst="rect">
            <a:avLst/>
          </a:prstGeom>
          <a:solidFill>
            <a:srgbClr val="CC7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011680" y="5072507"/>
            <a:ext cx="3188970" cy="5359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1C1C1A"/>
                </a:solidFill>
                <a:latin typeface="Outfit 1 Light"/>
              </a:rPr>
              <a:t>História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011680" y="5809615"/>
            <a:ext cx="3188970" cy="14249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6B6B66"/>
                </a:solidFill>
                <a:latin typeface="Outfit 1 Light"/>
              </a:rPr>
              <a:t>O que ajudou a formar sua visão de mundo.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703570" y="4798187"/>
            <a:ext cx="3188970" cy="56693"/>
          </a:xfrm>
          <a:prstGeom prst="rect">
            <a:avLst/>
          </a:prstGeom>
          <a:solidFill>
            <a:srgbClr val="CC7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703570" y="5072507"/>
            <a:ext cx="3188970" cy="5359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1C1C1A"/>
                </a:solidFill>
                <a:latin typeface="Outfit 1 Light"/>
              </a:rPr>
              <a:t>Tensões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703570" y="5809615"/>
            <a:ext cx="3188970" cy="14249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6B6B66"/>
                </a:solidFill>
                <a:latin typeface="Outfit 1 Light"/>
              </a:rPr>
              <a:t>Os contrastes que mostram aquilo que realmente importa.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395460" y="4798187"/>
            <a:ext cx="3188970" cy="56693"/>
          </a:xfrm>
          <a:prstGeom prst="rect">
            <a:avLst/>
          </a:prstGeom>
          <a:solidFill>
            <a:srgbClr val="CC7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395460" y="5072507"/>
            <a:ext cx="3188970" cy="5359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1C1C1A"/>
                </a:solidFill>
                <a:latin typeface="Outfit 1 Light"/>
              </a:rPr>
              <a:t>Padrões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395460" y="5809615"/>
            <a:ext cx="3188970" cy="14249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6B6B66"/>
                </a:solidFill>
                <a:latin typeface="Outfit 1 Light"/>
              </a:rPr>
              <a:t>A forma recorrente como Lucas responde.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3087350" y="4798187"/>
            <a:ext cx="3188970" cy="56693"/>
          </a:xfrm>
          <a:prstGeom prst="rect">
            <a:avLst/>
          </a:prstGeom>
          <a:solidFill>
            <a:srgbClr val="CC7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087350" y="5072507"/>
            <a:ext cx="3188970" cy="5359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1C1C1A"/>
                </a:solidFill>
                <a:latin typeface="Outfit 1 Light"/>
              </a:rPr>
              <a:t>Ikigai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087350" y="5809615"/>
            <a:ext cx="3188970" cy="23139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6B6B66"/>
                </a:solidFill>
                <a:latin typeface="Outfit 1 Light"/>
              </a:rPr>
              <a:t>Onde competência, realização, contribuição e profissão se encontram.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011680" y="7530973"/>
            <a:ext cx="142646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2500" i="0" b="0">
                <a:solidFill>
                  <a:srgbClr val="6B6B66"/>
                </a:solidFill>
                <a:latin typeface="Outfit 1 Light"/>
              </a:rPr>
              <a:t>história</a:t>
            </a:r>
            <a:r>
              <a:rPr sz="2500" i="0" b="0">
                <a:solidFill>
                  <a:srgbClr val="CC754E"/>
                </a:solidFill>
                <a:latin typeface="Outfit 1 Light"/>
              </a:rPr>
              <a:t>  +  </a:t>
            </a:r>
            <a:r>
              <a:rPr sz="2500" i="0" b="0">
                <a:solidFill>
                  <a:srgbClr val="6B6B66"/>
                </a:solidFill>
                <a:latin typeface="Outfit 1 Light"/>
              </a:rPr>
              <a:t>tensões</a:t>
            </a:r>
            <a:r>
              <a:rPr sz="2500" i="0" b="0">
                <a:solidFill>
                  <a:srgbClr val="CC754E"/>
                </a:solidFill>
                <a:latin typeface="Outfit 1 Light"/>
              </a:rPr>
              <a:t>  +  </a:t>
            </a:r>
            <a:r>
              <a:rPr sz="2500" i="0" b="0">
                <a:solidFill>
                  <a:srgbClr val="6B6B66"/>
                </a:solidFill>
                <a:latin typeface="Outfit 1 Light"/>
              </a:rPr>
              <a:t>padrões</a:t>
            </a:r>
            <a:r>
              <a:rPr sz="2500" i="0" b="0">
                <a:solidFill>
                  <a:srgbClr val="CC754E"/>
                </a:solidFill>
                <a:latin typeface="Outfit 1 Light"/>
              </a:rPr>
              <a:t>  +  </a:t>
            </a:r>
            <a:r>
              <a:rPr sz="2500" i="0" b="0">
                <a:solidFill>
                  <a:srgbClr val="6B6B66"/>
                </a:solidFill>
                <a:latin typeface="Outfit 1 Light"/>
              </a:rPr>
              <a:t>Ikigai</a:t>
            </a:r>
            <a:r>
              <a:rPr sz="2500" i="0" b="0">
                <a:solidFill>
                  <a:srgbClr val="CC754E"/>
                </a:solidFill>
                <a:latin typeface="Outfit 1 Light"/>
              </a:rPr>
              <a:t>  =  </a:t>
            </a:r>
            <a:r>
              <a:rPr sz="2500" i="0" b="0">
                <a:solidFill>
                  <a:srgbClr val="1C1C1A"/>
                </a:solidFill>
                <a:latin typeface="Outfit 1 Semi-Bold"/>
              </a:rPr>
              <a:t>essência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011680" y="3065970"/>
            <a:ext cx="152476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959"/>
              </a:lnSpc>
            </a:pPr>
            <a:r>
              <a:rPr sz="1400" i="0" b="0" spc="300">
                <a:solidFill>
                  <a:srgbClr val="CC754E"/>
                </a:solidFill>
                <a:latin typeface="Outfit 1 Semi-Bold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011680" y="3541458"/>
            <a:ext cx="15247620" cy="21875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5785"/>
              </a:lnSpc>
            </a:pPr>
            <a:r>
              <a:rPr sz="14350" i="0" b="0">
                <a:solidFill>
                  <a:srgbClr val="1C1C1A"/>
                </a:solidFill>
                <a:latin typeface="Outfit 1 Bold"/>
              </a:rPr>
              <a:t>A ORIGEM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11680" y="5802186"/>
            <a:ext cx="15247620" cy="6233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3827"/>
              </a:lnSpc>
            </a:pPr>
            <a:r>
              <a:rPr sz="3300" i="0" b="0">
                <a:solidFill>
                  <a:srgbClr val="1C1C1A"/>
                </a:solidFill>
                <a:latin typeface="Outfit 1 Light"/>
              </a:rPr>
              <a:t>As experiências que formaram sua relação com construção, segurança e futuro.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1005840" y="1005840"/>
            <a:ext cx="16276320" cy="7772400"/>
          </a:xfrm>
          <a:prstGeom prst="roundRect">
            <a:avLst>
              <a:gd name="adj" fmla="val 2117"/>
            </a:avLst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011680" y="1481328"/>
            <a:ext cx="142646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959"/>
              </a:lnSpc>
            </a:pPr>
            <a:r>
              <a:rPr sz="1400" i="0" b="0" spc="300">
                <a:solidFill>
                  <a:srgbClr val="A5A49F"/>
                </a:solidFill>
                <a:latin typeface="Outfit 2"/>
              </a:rPr>
              <a:t>A ORIGEM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11680" y="1956816"/>
            <a:ext cx="14264640" cy="100507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5754"/>
              </a:lnSpc>
            </a:pPr>
            <a:r>
              <a:rPr sz="4200" i="0" b="0">
                <a:solidFill>
                  <a:srgbClr val="1C1C1A"/>
                </a:solidFill>
                <a:latin typeface="Outfit 1 Light"/>
              </a:rPr>
              <a:t>UMA HISTÓRIA SOBRE CONSTRUÇÃO</a:t>
            </a:r>
          </a:p>
        </p:txBody>
      </p:sp>
      <p:sp>
        <p:nvSpPr>
          <p:cNvPr id="6" name="Rectangle 5"/>
          <p:cNvSpPr/>
          <p:nvPr/>
        </p:nvSpPr>
        <p:spPr>
          <a:xfrm>
            <a:off x="2011680" y="2870454"/>
            <a:ext cx="14264640" cy="10973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011680" y="3217926"/>
            <a:ext cx="12252960" cy="14249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6B6B66"/>
                </a:solidFill>
                <a:latin typeface="Outfit 1 Light"/>
              </a:rPr>
              <a:t>Lucas não viveu a dificuldade dos pais, mas cresceu conhecendo a história de uma família que saiu do campo, enfrentou escassez, trabalhou, adquiriu um terreno e construiu uma casa. Nada do que aparece abaixo chega até ele como algo dado:</a:t>
            </a:r>
          </a:p>
        </p:txBody>
      </p:sp>
      <p:sp>
        <p:nvSpPr>
          <p:cNvPr id="8" name="Rectangle 7"/>
          <p:cNvSpPr/>
          <p:nvPr/>
        </p:nvSpPr>
        <p:spPr>
          <a:xfrm>
            <a:off x="2011680" y="5483098"/>
            <a:ext cx="6880860" cy="10973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011680" y="5008626"/>
            <a:ext cx="6880860" cy="511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919"/>
              </a:lnSpc>
            </a:pPr>
            <a:r>
              <a:rPr sz="2800" i="0" b="0">
                <a:solidFill>
                  <a:srgbClr val="1C1C1A"/>
                </a:solidFill>
                <a:latin typeface="Outfit 1 Light"/>
              </a:rPr>
              <a:t>Casa</a:t>
            </a:r>
          </a:p>
        </p:txBody>
      </p:sp>
      <p:sp>
        <p:nvSpPr>
          <p:cNvPr id="10" name="Rectangle 9"/>
          <p:cNvSpPr/>
          <p:nvPr/>
        </p:nvSpPr>
        <p:spPr>
          <a:xfrm>
            <a:off x="2011680" y="6158738"/>
            <a:ext cx="6880860" cy="10973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011680" y="5684266"/>
            <a:ext cx="6880860" cy="511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919"/>
              </a:lnSpc>
            </a:pPr>
            <a:r>
              <a:rPr sz="2800" i="0" b="0">
                <a:solidFill>
                  <a:srgbClr val="1C1C1A"/>
                </a:solidFill>
                <a:latin typeface="Outfit 1 Light"/>
              </a:rPr>
              <a:t>Renda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011680" y="6834378"/>
            <a:ext cx="6880860" cy="10973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011680" y="6359906"/>
            <a:ext cx="6880860" cy="511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919"/>
              </a:lnSpc>
            </a:pPr>
            <a:r>
              <a:rPr sz="2800" i="0" b="0">
                <a:solidFill>
                  <a:srgbClr val="1C1C1A"/>
                </a:solidFill>
                <a:latin typeface="Outfit 1 Light"/>
              </a:rPr>
              <a:t>Patrimônio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395460" y="5483098"/>
            <a:ext cx="6880860" cy="10973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395460" y="5008626"/>
            <a:ext cx="6880860" cy="511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919"/>
              </a:lnSpc>
            </a:pPr>
            <a:r>
              <a:rPr sz="2800" i="0" b="0">
                <a:solidFill>
                  <a:srgbClr val="1C1C1A"/>
                </a:solidFill>
                <a:latin typeface="Outfit 1 Light"/>
              </a:rPr>
              <a:t>Carreira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95460" y="6158738"/>
            <a:ext cx="6880860" cy="10973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395460" y="5684266"/>
            <a:ext cx="6880860" cy="511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919"/>
              </a:lnSpc>
            </a:pPr>
            <a:r>
              <a:rPr sz="2800" i="0" b="0">
                <a:solidFill>
                  <a:srgbClr val="1C1C1A"/>
                </a:solidFill>
                <a:latin typeface="Outfit 1 Light"/>
              </a:rPr>
              <a:t>Empresa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95460" y="6834378"/>
            <a:ext cx="6880860" cy="10973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395460" y="6359906"/>
            <a:ext cx="6880860" cy="511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919"/>
              </a:lnSpc>
            </a:pPr>
            <a:r>
              <a:rPr sz="2800" i="0" b="0">
                <a:solidFill>
                  <a:srgbClr val="1C1C1A"/>
                </a:solidFill>
                <a:latin typeface="Outfit 1 Light"/>
              </a:rPr>
              <a:t>Estabilidade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011680" y="7355586"/>
            <a:ext cx="1188720" cy="27432"/>
          </a:xfrm>
          <a:prstGeom prst="rect">
            <a:avLst/>
          </a:prstGeom>
          <a:solidFill>
            <a:srgbClr val="CC7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011680" y="7666482"/>
            <a:ext cx="14264640" cy="9217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125"/>
              </a:lnSpc>
            </a:pPr>
            <a:r>
              <a:rPr sz="2500" i="0" b="0">
                <a:solidFill>
                  <a:srgbClr val="1C1C1A"/>
                </a:solidFill>
                <a:latin typeface="Outfit 1 Light"/>
              </a:rPr>
              <a:t>Segurança pode levar anos para ser construída. O valor está em tudo o que foi preciso para chegar até ali.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pic>
        <p:nvPicPr>
          <p:cNvPr id="3" name="Picture 2" descr="04_jovem_colete_vermelho_caixa_eletronico.png"/>
          <p:cNvPicPr>
            <a:picLocks noChangeAspect="1"/>
          </p:cNvPicPr>
          <p:nvPr/>
        </p:nvPicPr>
        <p:blipFill>
          <a:blip r:embed="rId3"/>
          <a:srcRect l="30990" r="30990"/>
          <a:stretch>
            <a:fillRect/>
          </a:stretch>
        </p:blipFill>
        <p:spPr>
          <a:xfrm>
            <a:off x="0" y="0"/>
            <a:ext cx="6949440" cy="102870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6949440" y="0"/>
            <a:ext cx="11338560" cy="10287000"/>
          </a:xfrm>
          <a:prstGeom prst="rect">
            <a:avLst/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818120" y="1856232"/>
            <a:ext cx="9601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959"/>
              </a:lnSpc>
            </a:pPr>
            <a:r>
              <a:rPr sz="1400" i="0" b="0" spc="300">
                <a:solidFill>
                  <a:srgbClr val="A5A49F"/>
                </a:solidFill>
                <a:latin typeface="Outfit 2"/>
              </a:rPr>
              <a:t>A ORIGEM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818120" y="2331720"/>
            <a:ext cx="9601200" cy="100507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5754"/>
              </a:lnSpc>
            </a:pPr>
            <a:r>
              <a:rPr sz="4200" i="0" b="0">
                <a:solidFill>
                  <a:srgbClr val="1C1C1A"/>
                </a:solidFill>
                <a:latin typeface="Outfit 1 Light"/>
              </a:rPr>
              <a:t>O SEGUNDO APRENDIZADO</a:t>
            </a:r>
          </a:p>
        </p:txBody>
      </p:sp>
      <p:sp>
        <p:nvSpPr>
          <p:cNvPr id="7" name="Rectangle 6"/>
          <p:cNvSpPr/>
          <p:nvPr/>
        </p:nvSpPr>
        <p:spPr>
          <a:xfrm>
            <a:off x="7818120" y="3245358"/>
            <a:ext cx="9601200" cy="10973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818120" y="3592830"/>
            <a:ext cx="9601200" cy="1887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1C1C1A"/>
                </a:solidFill>
                <a:latin typeface="Outfit 1 Light"/>
              </a:rPr>
              <a:t>Anos depois, na recuperação de ativos do Bradesco, Lucas passa a ver o outro lado dessa lógica: famílias e empresas que levaram anos construindo patrimônio entravam rapidamente em dificuldade diante de morte, doença ou sucessão mal planejada.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8120" y="5663438"/>
            <a:ext cx="9601200" cy="980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6B6B66"/>
                </a:solidFill>
                <a:latin typeface="Outfit 1 Light"/>
              </a:rPr>
              <a:t>Talvez o primeiro grande aprendizado do Lucas não tenha sido sobre seguro. Tenha sido sobre fragilidade.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818120" y="6936486"/>
            <a:ext cx="1188720" cy="27432"/>
          </a:xfrm>
          <a:prstGeom prst="rect">
            <a:avLst/>
          </a:prstGeom>
          <a:solidFill>
            <a:srgbClr val="CC7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818120" y="7247382"/>
            <a:ext cx="9601200" cy="9217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125"/>
              </a:lnSpc>
            </a:pPr>
            <a:r>
              <a:rPr sz="2500" i="0" b="0">
                <a:solidFill>
                  <a:srgbClr val="1C1C1A"/>
                </a:solidFill>
                <a:latin typeface="Outfit 1 Light"/>
              </a:rPr>
              <a:t>O que leva anos para ser construído pode ser comprometido muito rapidamente.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1338560" cy="10287000"/>
          </a:xfrm>
          <a:prstGeom prst="rect">
            <a:avLst/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06_lucas_corredor_prudential.png"/>
          <p:cNvPicPr>
            <a:picLocks noChangeAspect="1"/>
          </p:cNvPicPr>
          <p:nvPr/>
        </p:nvPicPr>
        <p:blipFill>
          <a:blip r:embed="rId3"/>
          <a:srcRect l="20165" r="41815"/>
          <a:stretch>
            <a:fillRect/>
          </a:stretch>
        </p:blipFill>
        <p:spPr>
          <a:xfrm>
            <a:off x="11338560" y="0"/>
            <a:ext cx="6949440" cy="10287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011680" y="1645920"/>
            <a:ext cx="8458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959"/>
              </a:lnSpc>
            </a:pPr>
            <a:r>
              <a:rPr sz="1400" i="0" b="0" spc="300">
                <a:solidFill>
                  <a:srgbClr val="A5A49F"/>
                </a:solidFill>
                <a:latin typeface="Outfit 2"/>
              </a:rPr>
              <a:t>A ORIGEM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011680" y="2121408"/>
            <a:ext cx="8458200" cy="100507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5754"/>
              </a:lnSpc>
            </a:pPr>
            <a:r>
              <a:rPr sz="4200" i="0" b="0">
                <a:solidFill>
                  <a:srgbClr val="1C1C1A"/>
                </a:solidFill>
                <a:latin typeface="Outfit 1 Light"/>
              </a:rPr>
              <a:t>O QUE ESSA FRAGILIDADE SIGNIFICA</a:t>
            </a:r>
          </a:p>
        </p:txBody>
      </p:sp>
      <p:sp>
        <p:nvSpPr>
          <p:cNvPr id="7" name="Rectangle 6"/>
          <p:cNvSpPr/>
          <p:nvPr/>
        </p:nvSpPr>
        <p:spPr>
          <a:xfrm>
            <a:off x="2011680" y="3765804"/>
            <a:ext cx="8458200" cy="10973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011680" y="4113276"/>
            <a:ext cx="8458200" cy="980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6B6B66"/>
                </a:solidFill>
                <a:latin typeface="Outfit 1 Light"/>
              </a:rPr>
              <a:t>Não é acreditar que tudo pode dar errado. É compreender que:</a:t>
            </a:r>
          </a:p>
        </p:txBody>
      </p:sp>
      <p:sp>
        <p:nvSpPr>
          <p:cNvPr id="9" name="Rectangle 8"/>
          <p:cNvSpPr/>
          <p:nvPr/>
        </p:nvSpPr>
        <p:spPr>
          <a:xfrm>
            <a:off x="2015338" y="5651500"/>
            <a:ext cx="102413" cy="102413"/>
          </a:xfrm>
          <a:prstGeom prst="rect">
            <a:avLst/>
          </a:prstGeom>
          <a:solidFill>
            <a:srgbClr val="CC7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538374" y="5477764"/>
            <a:ext cx="7931506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379"/>
              </a:lnSpc>
            </a:pPr>
            <a:r>
              <a:rPr sz="1700" i="0" b="0">
                <a:solidFill>
                  <a:srgbClr val="1C1C1A"/>
                </a:solidFill>
                <a:latin typeface="Outfit 1 Light"/>
              </a:rPr>
              <a:t>uma renda pode parar;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015338" y="6072124"/>
            <a:ext cx="102413" cy="102413"/>
          </a:xfrm>
          <a:prstGeom prst="rect">
            <a:avLst/>
          </a:prstGeom>
          <a:solidFill>
            <a:srgbClr val="CC7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538374" y="5898388"/>
            <a:ext cx="7931506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379"/>
              </a:lnSpc>
            </a:pPr>
            <a:r>
              <a:rPr sz="1700" i="0" b="0">
                <a:solidFill>
                  <a:srgbClr val="1C1C1A"/>
                </a:solidFill>
                <a:latin typeface="Outfit 1 Light"/>
              </a:rPr>
              <a:t>uma empresa pode perder uma pessoa essencial;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015338" y="6492748"/>
            <a:ext cx="102413" cy="102413"/>
          </a:xfrm>
          <a:prstGeom prst="rect">
            <a:avLst/>
          </a:prstGeom>
          <a:solidFill>
            <a:srgbClr val="CC7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538374" y="6319012"/>
            <a:ext cx="7931506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379"/>
              </a:lnSpc>
            </a:pPr>
            <a:r>
              <a:rPr sz="1700" i="0" b="0">
                <a:solidFill>
                  <a:srgbClr val="1C1C1A"/>
                </a:solidFill>
                <a:latin typeface="Outfit 1 Light"/>
              </a:rPr>
              <a:t>um patrimônio pode precisar ser desmontado;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015338" y="6913372"/>
            <a:ext cx="102413" cy="102413"/>
          </a:xfrm>
          <a:prstGeom prst="rect">
            <a:avLst/>
          </a:prstGeom>
          <a:solidFill>
            <a:srgbClr val="CC7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538374" y="6739636"/>
            <a:ext cx="7931506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379"/>
              </a:lnSpc>
            </a:pPr>
            <a:r>
              <a:rPr sz="1700" i="0" b="0">
                <a:solidFill>
                  <a:srgbClr val="1C1C1A"/>
                </a:solidFill>
                <a:latin typeface="Outfit 1 Light"/>
              </a:rPr>
              <a:t>uma família pode perder, junto com alguém, a estrutura que sustentava sua vida.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011680" y="7179818"/>
            <a:ext cx="1188720" cy="27432"/>
          </a:xfrm>
          <a:prstGeom prst="rect">
            <a:avLst/>
          </a:prstGeom>
          <a:solidFill>
            <a:srgbClr val="CC7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011680" y="7490714"/>
            <a:ext cx="8458200" cy="9217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125"/>
              </a:lnSpc>
            </a:pPr>
            <a:r>
              <a:rPr sz="2500" i="0" b="0">
                <a:solidFill>
                  <a:srgbClr val="1C1C1A"/>
                </a:solidFill>
                <a:latin typeface="Outfit 1 Light"/>
              </a:rPr>
              <a:t>O imprevisto não destrói apenas dinheiro. Ele retira possibilidades.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011680" y="3036506"/>
            <a:ext cx="152476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959"/>
              </a:lnSpc>
            </a:pPr>
            <a:r>
              <a:rPr sz="1400" i="0" b="0" spc="300">
                <a:solidFill>
                  <a:srgbClr val="CC754E"/>
                </a:solidFill>
                <a:latin typeface="Outfit 1 Semi-Bold"/>
              </a:rPr>
              <a:t>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011680" y="3511994"/>
            <a:ext cx="15247620" cy="21875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5785"/>
              </a:lnSpc>
            </a:pPr>
            <a:r>
              <a:rPr sz="14350" i="0" b="0">
                <a:solidFill>
                  <a:srgbClr val="1C1C1A"/>
                </a:solidFill>
                <a:latin typeface="Outfit 1 Bold"/>
              </a:rPr>
              <a:t>AS TENSÕES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11680" y="5772722"/>
            <a:ext cx="15247620" cy="6822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4291"/>
              </a:lnSpc>
            </a:pPr>
            <a:r>
              <a:rPr sz="3700" i="0" b="0">
                <a:solidFill>
                  <a:srgbClr val="1C1C1A"/>
                </a:solidFill>
                <a:latin typeface="Outfit 1 Light"/>
              </a:rPr>
              <a:t>Os contrastes que revelam o que realmente o coloca em movimento.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pic>
        <p:nvPicPr>
          <p:cNvPr id="3" name="Picture 2" descr="12_lucas_caminhando_janela.png"/>
          <p:cNvPicPr>
            <a:picLocks noChangeAspect="1"/>
          </p:cNvPicPr>
          <p:nvPr/>
        </p:nvPicPr>
        <p:blipFill>
          <a:blip r:embed="rId3"/>
          <a:srcRect l="42413" r="19566"/>
          <a:stretch>
            <a:fillRect/>
          </a:stretch>
        </p:blipFill>
        <p:spPr>
          <a:xfrm>
            <a:off x="0" y="0"/>
            <a:ext cx="6949440" cy="102870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6949440" y="0"/>
            <a:ext cx="11338560" cy="10287000"/>
          </a:xfrm>
          <a:prstGeom prst="rect">
            <a:avLst/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818120" y="2012696"/>
            <a:ext cx="9601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959"/>
              </a:lnSpc>
            </a:pPr>
            <a:r>
              <a:rPr sz="1400" i="0" b="0" spc="300">
                <a:solidFill>
                  <a:srgbClr val="A5A49F"/>
                </a:solidFill>
                <a:latin typeface="Outfit 2"/>
              </a:rPr>
              <a:t>PRIMEIRA TENSÃO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818120" y="2488184"/>
            <a:ext cx="9601200" cy="100507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5754"/>
              </a:lnSpc>
            </a:pPr>
            <a:r>
              <a:rPr sz="4200" i="0" b="0">
                <a:solidFill>
                  <a:srgbClr val="1C1C1A"/>
                </a:solidFill>
                <a:latin typeface="Outfit 1 Light"/>
              </a:rPr>
              <a:t>SEGURANÇA × RISCO</a:t>
            </a:r>
          </a:p>
        </p:txBody>
      </p:sp>
      <p:sp>
        <p:nvSpPr>
          <p:cNvPr id="7" name="Rectangle 6"/>
          <p:cNvSpPr/>
          <p:nvPr/>
        </p:nvSpPr>
        <p:spPr>
          <a:xfrm>
            <a:off x="7818120" y="3401822"/>
            <a:ext cx="9601200" cy="10973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818120" y="3749294"/>
            <a:ext cx="9601200" cy="14432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1C1C1A"/>
                </a:solidFill>
                <a:latin typeface="Outfit 1 Light"/>
              </a:rPr>
              <a:t>Lucas constrói segurança para outras pessoas. Mas, num momento decisivo da própria carreira, abriu mão de uma trajetória sólida no banco para empreender.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8120" y="5466842"/>
            <a:ext cx="9601200" cy="980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6B6B66"/>
                </a:solidFill>
                <a:latin typeface="Outfit 1 Light"/>
              </a:rPr>
              <a:t>Ele aceita risco quando existe decisão, consciência, preparo e responsabilidade. O que o incomoda não é a incerteza.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818120" y="6813042"/>
            <a:ext cx="1188720" cy="27432"/>
          </a:xfrm>
          <a:prstGeom prst="rect">
            <a:avLst/>
          </a:prstGeom>
          <a:solidFill>
            <a:srgbClr val="CC7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818120" y="7123938"/>
            <a:ext cx="9601200" cy="9217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125"/>
              </a:lnSpc>
            </a:pPr>
            <a:r>
              <a:rPr sz="2500" i="0" b="0">
                <a:solidFill>
                  <a:srgbClr val="1C1C1A"/>
                </a:solidFill>
                <a:latin typeface="Outfit 1 Light"/>
              </a:rPr>
              <a:t>Segurança, para o Lucas, não é viver sem risco. É não ficar sem escolha quando algo acontece.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1338560" cy="10287000"/>
          </a:xfrm>
          <a:prstGeom prst="rect">
            <a:avLst/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09_lucas_analisando_documentos.png"/>
          <p:cNvPicPr>
            <a:picLocks noChangeAspect="1"/>
          </p:cNvPicPr>
          <p:nvPr/>
        </p:nvPicPr>
        <p:blipFill>
          <a:blip r:embed="rId3"/>
          <a:srcRect l="30810" r="31169"/>
          <a:stretch>
            <a:fillRect/>
          </a:stretch>
        </p:blipFill>
        <p:spPr>
          <a:xfrm>
            <a:off x="11338560" y="0"/>
            <a:ext cx="6949440" cy="10287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011680" y="1820601"/>
            <a:ext cx="8458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959"/>
              </a:lnSpc>
            </a:pPr>
            <a:r>
              <a:rPr sz="1400" i="0" b="0" spc="300">
                <a:solidFill>
                  <a:srgbClr val="A5A49F"/>
                </a:solidFill>
                <a:latin typeface="Outfit 2"/>
              </a:rPr>
              <a:t>SEGUNDA TENSÃO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011680" y="2296089"/>
            <a:ext cx="8458200" cy="100507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5754"/>
              </a:lnSpc>
            </a:pPr>
            <a:r>
              <a:rPr sz="4200" i="0" b="0">
                <a:solidFill>
                  <a:srgbClr val="1C1C1A"/>
                </a:solidFill>
                <a:latin typeface="Outfit 1 Light"/>
              </a:rPr>
              <a:t>DINHEIRO × PROPÓSITO</a:t>
            </a:r>
          </a:p>
        </p:txBody>
      </p:sp>
      <p:sp>
        <p:nvSpPr>
          <p:cNvPr id="7" name="Rectangle 6"/>
          <p:cNvSpPr/>
          <p:nvPr/>
        </p:nvSpPr>
        <p:spPr>
          <a:xfrm>
            <a:off x="2011680" y="3209727"/>
            <a:ext cx="8458200" cy="10973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011680" y="3557199"/>
            <a:ext cx="8458200" cy="174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219"/>
              </a:lnSpc>
            </a:pPr>
            <a:r>
              <a:rPr sz="2300" i="0" b="0">
                <a:solidFill>
                  <a:srgbClr val="1C1C1A"/>
                </a:solidFill>
                <a:latin typeface="Outfit 1 Light"/>
              </a:rPr>
              <a:t>Lucas não romantiza a própria decisão: a possibilidade financeira pesou. Mas resume a trajetória com uma frase reveladora — “fui pelo dinheiro e acabei ficando pelo propósito”.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011680" y="5470937"/>
            <a:ext cx="8458200" cy="13182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219"/>
              </a:lnSpc>
            </a:pPr>
            <a:r>
              <a:rPr sz="2300" i="0" b="0">
                <a:solidFill>
                  <a:srgbClr val="6B6B66"/>
                </a:solidFill>
                <a:latin typeface="Outfit 1 Light"/>
              </a:rPr>
              <a:t>O significado aparece quando ele acompanha pagamentos de benefícios e percebe o que uma decisão tomada antes representava na vida de alguém.</a:t>
            </a:r>
          </a:p>
        </p:txBody>
      </p:sp>
      <p:sp>
        <p:nvSpPr>
          <p:cNvPr id="10" name="Rectangle 9"/>
          <p:cNvSpPr/>
          <p:nvPr/>
        </p:nvSpPr>
        <p:spPr>
          <a:xfrm>
            <a:off x="2011680" y="7068637"/>
            <a:ext cx="1188720" cy="27432"/>
          </a:xfrm>
          <a:prstGeom prst="rect">
            <a:avLst/>
          </a:prstGeom>
          <a:solidFill>
            <a:srgbClr val="CC7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011680" y="7379533"/>
            <a:ext cx="8458200" cy="8582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875"/>
              </a:lnSpc>
            </a:pPr>
            <a:r>
              <a:rPr sz="2300" i="0" b="0">
                <a:solidFill>
                  <a:srgbClr val="1C1C1A"/>
                </a:solidFill>
                <a:latin typeface="Outfit 1 Light"/>
              </a:rPr>
              <a:t>O dinheiro explica a entrada. O impacto explica a permanência.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pic>
        <p:nvPicPr>
          <p:cNvPr id="3" name="Picture 2" descr="14_retrato_lucas_corredor.png"/>
          <p:cNvPicPr>
            <a:picLocks noChangeAspect="1"/>
          </p:cNvPicPr>
          <p:nvPr/>
        </p:nvPicPr>
        <p:blipFill>
          <a:blip r:embed="rId3"/>
          <a:srcRect l="26814" r="30163"/>
          <a:stretch>
            <a:fillRect/>
          </a:stretch>
        </p:blipFill>
        <p:spPr>
          <a:xfrm>
            <a:off x="0" y="0"/>
            <a:ext cx="7863840" cy="102870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7863840" y="0"/>
            <a:ext cx="10424160" cy="10287000"/>
          </a:xfrm>
          <a:prstGeom prst="rect">
            <a:avLst/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32520" y="1856232"/>
            <a:ext cx="8686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959"/>
              </a:lnSpc>
            </a:pPr>
            <a:r>
              <a:rPr sz="1400" i="0" b="0" spc="300">
                <a:solidFill>
                  <a:srgbClr val="A5A49F"/>
                </a:solidFill>
                <a:latin typeface="Outfit 2"/>
              </a:rPr>
              <a:t>TERCEIRA TENSÃO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32520" y="2331720"/>
            <a:ext cx="8686800" cy="100507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5754"/>
              </a:lnSpc>
            </a:pPr>
            <a:r>
              <a:rPr sz="4200" i="0" b="0">
                <a:solidFill>
                  <a:srgbClr val="1C1C1A"/>
                </a:solidFill>
                <a:latin typeface="Outfit 1 Light"/>
              </a:rPr>
              <a:t>RECONHECIMENTO × EXPOSIÇÃO</a:t>
            </a:r>
          </a:p>
        </p:txBody>
      </p:sp>
      <p:sp>
        <p:nvSpPr>
          <p:cNvPr id="7" name="Rectangle 6"/>
          <p:cNvSpPr/>
          <p:nvPr/>
        </p:nvSpPr>
        <p:spPr>
          <a:xfrm>
            <a:off x="8732520" y="3245358"/>
            <a:ext cx="8686800" cy="10973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732520" y="3592830"/>
            <a:ext cx="8686800" cy="998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1C1C1A"/>
                </a:solidFill>
                <a:latin typeface="Outfit 1 Light"/>
              </a:rPr>
              <a:t>Lucas acumula reconhecimentos e valoriza estar entre os melhores. Mas tem dificuldade declarada em comunicá-los.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732520" y="4774438"/>
            <a:ext cx="8686800" cy="1869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6B6B66"/>
                </a:solidFill>
                <a:latin typeface="Outfit 1 Light"/>
              </a:rPr>
              <a:t>O incômodo não é com o reconhecimento: é com a autoproclamação. Há conforto quando um cliente ou um ranking reconhece; há desconforto quando ele próprio precisa anunciar.</a:t>
            </a:r>
          </a:p>
        </p:txBody>
      </p:sp>
      <p:sp>
        <p:nvSpPr>
          <p:cNvPr id="10" name="Rectangle 9"/>
          <p:cNvSpPr/>
          <p:nvPr/>
        </p:nvSpPr>
        <p:spPr>
          <a:xfrm>
            <a:off x="8732520" y="6936486"/>
            <a:ext cx="1188720" cy="27432"/>
          </a:xfrm>
          <a:prstGeom prst="rect">
            <a:avLst/>
          </a:prstGeom>
          <a:solidFill>
            <a:srgbClr val="CC7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732520" y="7247382"/>
            <a:ext cx="8686800" cy="9217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125"/>
              </a:lnSpc>
            </a:pPr>
            <a:r>
              <a:rPr sz="2500" i="0" b="0">
                <a:solidFill>
                  <a:srgbClr val="1C1C1A"/>
                </a:solidFill>
                <a:latin typeface="Outfit 1 Light"/>
              </a:rPr>
              <a:t>Para o Lucas, legitimidade precisa ser conquistada. Não declarada.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pic>
        <p:nvPicPr>
          <p:cNvPr id="3" name="Picture 2" descr="08_lucas_aperto_de_maos_cliente.png"/>
          <p:cNvPicPr>
            <a:picLocks noChangeAspect="1"/>
          </p:cNvPicPr>
          <p:nvPr/>
        </p:nvPicPr>
        <p:blipFill>
          <a:blip r:embed="rId3"/>
          <a:srcRect b="53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10479024" y="1028700"/>
            <a:ext cx="7808976" cy="3158236"/>
          </a:xfrm>
          <a:prstGeom prst="roundRect">
            <a:avLst>
              <a:gd name="adj" fmla="val 5211"/>
            </a:avLst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045952" y="1595628"/>
            <a:ext cx="6675120" cy="10627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752"/>
              </a:lnSpc>
            </a:pPr>
            <a:r>
              <a:rPr sz="2800" i="0" b="0">
                <a:solidFill>
                  <a:srgbClr val="1C1C1A"/>
                </a:solidFill>
                <a:latin typeface="Outfit 1 Light"/>
              </a:rPr>
              <a:t>Alta performance.</a:t>
            </a:r>
          </a:p>
          <a:p>
            <a:pPr algn="l">
              <a:lnSpc>
                <a:spcPts val="3752"/>
              </a:lnSpc>
            </a:pPr>
            <a:r>
              <a:rPr sz="2800" i="0" b="0">
                <a:solidFill>
                  <a:srgbClr val="1C1C1A"/>
                </a:solidFill>
                <a:latin typeface="Outfit 1 Light"/>
              </a:rPr>
              <a:t>Baixa performatividade.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45952" y="2713228"/>
            <a:ext cx="6675120" cy="9982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379"/>
              </a:lnSpc>
            </a:pPr>
            <a:r>
              <a:rPr sz="1700" i="0" b="0">
                <a:solidFill>
                  <a:srgbClr val="6B6B66"/>
                </a:solidFill>
                <a:latin typeface="Outfit 1 Light"/>
              </a:rPr>
              <a:t>Lucas performa muito, mas performatiza pouco. Construiu autoridade e poucos signos públicos dela. Isso não precisa ser corrigido: pode virar assinatura — autoridade discreta.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011680" y="2948114"/>
            <a:ext cx="152476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959"/>
              </a:lnSpc>
            </a:pPr>
            <a:r>
              <a:rPr sz="1400" i="0" b="0" spc="300">
                <a:solidFill>
                  <a:srgbClr val="CC754E"/>
                </a:solidFill>
                <a:latin typeface="Outfit 1 Semi-Bold"/>
              </a:rPr>
              <a:t>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011680" y="3423602"/>
            <a:ext cx="15247620" cy="21875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5785"/>
              </a:lnSpc>
            </a:pPr>
            <a:r>
              <a:rPr sz="14350" i="0" b="0">
                <a:solidFill>
                  <a:srgbClr val="1C1C1A"/>
                </a:solidFill>
                <a:latin typeface="Outfit 1 Bold"/>
              </a:rPr>
              <a:t>OS PADRÕES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11680" y="5684330"/>
            <a:ext cx="15247620" cy="8590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5684"/>
              </a:lnSpc>
            </a:pPr>
            <a:r>
              <a:rPr sz="4900" i="0" b="0">
                <a:solidFill>
                  <a:srgbClr val="1C1C1A"/>
                </a:solidFill>
                <a:latin typeface="Outfit 1 Light"/>
              </a:rPr>
              <a:t>A lógica que se repete por trás de escolhas diferentes.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1005840" y="1005840"/>
            <a:ext cx="16276320" cy="7772400"/>
          </a:xfrm>
          <a:prstGeom prst="roundRect">
            <a:avLst>
              <a:gd name="adj" fmla="val 2117"/>
            </a:avLst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011680" y="1485900"/>
            <a:ext cx="142646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959"/>
              </a:lnSpc>
            </a:pPr>
            <a:r>
              <a:rPr sz="1400" i="0" b="0" spc="300">
                <a:solidFill>
                  <a:srgbClr val="A5A49F"/>
                </a:solidFill>
                <a:latin typeface="Outfit 2"/>
              </a:rPr>
              <a:t>OS PADRÕES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11680" y="1961388"/>
            <a:ext cx="14264640" cy="100507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5754"/>
              </a:lnSpc>
            </a:pPr>
            <a:r>
              <a:rPr sz="4200" i="0" b="0">
                <a:solidFill>
                  <a:srgbClr val="1C1C1A"/>
                </a:solidFill>
                <a:latin typeface="Outfit 1 Light"/>
              </a:rPr>
              <a:t>O QUE SE REPETE EM TODA ESCOLHA</a:t>
            </a:r>
          </a:p>
        </p:txBody>
      </p:sp>
      <p:sp>
        <p:nvSpPr>
          <p:cNvPr id="6" name="Rectangle 5"/>
          <p:cNvSpPr/>
          <p:nvPr/>
        </p:nvSpPr>
        <p:spPr>
          <a:xfrm>
            <a:off x="2011680" y="2875026"/>
            <a:ext cx="14264640" cy="10973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011680" y="3470148"/>
            <a:ext cx="14264640" cy="10973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011680" y="3744468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520"/>
              </a:lnSpc>
            </a:pPr>
            <a:r>
              <a:rPr sz="1800" i="0" b="0" spc="282">
                <a:solidFill>
                  <a:srgbClr val="1C1C1A"/>
                </a:solidFill>
                <a:latin typeface="Outfit 1 Semi-Bold"/>
              </a:rPr>
              <a:t>PREPARAR ANTES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0" y="3671316"/>
            <a:ext cx="9144000" cy="117771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1C1C1A"/>
                </a:solidFill>
                <a:latin typeface="Outfit 1 Light"/>
              </a:rPr>
              <a:t>Diante de algo importante, Lucas entende, estuda, organiza e estrutura. Cria estrutura antes que ela seja necessária.</a:t>
            </a:r>
          </a:p>
        </p:txBody>
      </p:sp>
      <p:sp>
        <p:nvSpPr>
          <p:cNvPr id="10" name="Rectangle 9"/>
          <p:cNvSpPr/>
          <p:nvPr/>
        </p:nvSpPr>
        <p:spPr>
          <a:xfrm>
            <a:off x="2011680" y="4922181"/>
            <a:ext cx="14264640" cy="10973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011680" y="5196501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520"/>
              </a:lnSpc>
            </a:pPr>
            <a:r>
              <a:rPr sz="1800" i="0" b="0" spc="282">
                <a:solidFill>
                  <a:srgbClr val="1C1C1A"/>
                </a:solidFill>
                <a:latin typeface="Outfit 1 Semi-Bold"/>
              </a:rPr>
              <a:t>REPETIR BEM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32320" y="5123349"/>
            <a:ext cx="9144000" cy="162221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1C1C1A"/>
                </a:solidFill>
                <a:latin typeface="Outfit 1 Light"/>
              </a:rPr>
              <a:t>Começa cedo, avança no banco, recomeça, constrói carteira e mantém ritmo. Chega a 100 semanas consecutivas protegendo três famílias por semana.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011680" y="6818715"/>
            <a:ext cx="14264640" cy="10973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011680" y="7093035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520"/>
              </a:lnSpc>
            </a:pPr>
            <a:r>
              <a:rPr sz="1800" i="0" b="0" spc="282">
                <a:solidFill>
                  <a:srgbClr val="CC754E"/>
                </a:solidFill>
                <a:latin typeface="Outfit 1 Semi-Bold"/>
              </a:rPr>
              <a:t>PERMANECER DEPOIS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32320" y="7019883"/>
            <a:ext cx="9144000" cy="117771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1C1C1A"/>
                </a:solidFill>
                <a:latin typeface="Outfit 1 Light"/>
              </a:rPr>
              <a:t>Não encerra o trabalho na venda. Relacionamento, confiança e pós-venda são centrais na sua forma de atuar.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011680" y="8270748"/>
            <a:ext cx="1188720" cy="27432"/>
          </a:xfrm>
          <a:prstGeom prst="rect">
            <a:avLst/>
          </a:prstGeom>
          <a:solidFill>
            <a:srgbClr val="CC7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1005840" y="1005840"/>
            <a:ext cx="16276320" cy="7772400"/>
          </a:xfrm>
          <a:prstGeom prst="roundRect">
            <a:avLst>
              <a:gd name="adj" fmla="val 2117"/>
            </a:avLst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011680" y="2497201"/>
            <a:ext cx="142646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959"/>
              </a:lnSpc>
            </a:pPr>
            <a:r>
              <a:rPr sz="1400" i="0" b="0" spc="300">
                <a:solidFill>
                  <a:srgbClr val="A5A49F"/>
                </a:solidFill>
                <a:latin typeface="Outfit 2"/>
              </a:rPr>
              <a:t>OS PADRÕES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11680" y="2972689"/>
            <a:ext cx="14264640" cy="100507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5754"/>
              </a:lnSpc>
            </a:pPr>
            <a:r>
              <a:rPr sz="4200" i="0" b="0">
                <a:solidFill>
                  <a:srgbClr val="1C1C1A"/>
                </a:solidFill>
                <a:latin typeface="Outfit 1 Light"/>
              </a:rPr>
              <a:t>O MOVIMENTO QUE SE REPETE</a:t>
            </a:r>
          </a:p>
        </p:txBody>
      </p:sp>
      <p:sp>
        <p:nvSpPr>
          <p:cNvPr id="6" name="Rectangle 5"/>
          <p:cNvSpPr/>
          <p:nvPr/>
        </p:nvSpPr>
        <p:spPr>
          <a:xfrm>
            <a:off x="2011680" y="3886327"/>
            <a:ext cx="14264640" cy="10973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011680" y="5030089"/>
            <a:ext cx="2450592" cy="10973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011680" y="5340985"/>
            <a:ext cx="2450592" cy="50660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1C1C1A"/>
                </a:solidFill>
                <a:latin typeface="Outfit 1 Light"/>
              </a:rPr>
              <a:t>Entender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17136" y="5267833"/>
            <a:ext cx="41148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CC754E"/>
                </a:solidFill>
                <a:latin typeface="Outfit 1 Light"/>
              </a:rPr>
              <a:t>→</a:t>
            </a:r>
          </a:p>
        </p:txBody>
      </p:sp>
      <p:sp>
        <p:nvSpPr>
          <p:cNvPr id="10" name="Rectangle 9"/>
          <p:cNvSpPr/>
          <p:nvPr/>
        </p:nvSpPr>
        <p:spPr>
          <a:xfrm>
            <a:off x="4965192" y="5030089"/>
            <a:ext cx="2450592" cy="10973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65192" y="5340985"/>
            <a:ext cx="2450592" cy="50660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1C1C1A"/>
                </a:solidFill>
                <a:latin typeface="Outfit 1 Light"/>
              </a:rPr>
              <a:t>Antecipar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70648" y="5267833"/>
            <a:ext cx="41148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CC754E"/>
                </a:solidFill>
                <a:latin typeface="Outfit 1 Light"/>
              </a:rPr>
              <a:t>→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918704" y="5030089"/>
            <a:ext cx="2450592" cy="10973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918704" y="5340985"/>
            <a:ext cx="2450592" cy="50660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1C1C1A"/>
                </a:solidFill>
                <a:latin typeface="Outfit 1 Light"/>
              </a:rPr>
              <a:t>Estruturar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24160" y="5267833"/>
            <a:ext cx="41148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CC754E"/>
                </a:solidFill>
                <a:latin typeface="Outfit 1 Light"/>
              </a:rPr>
              <a:t>→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872216" y="5030089"/>
            <a:ext cx="2450592" cy="10973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72216" y="5340985"/>
            <a:ext cx="2450592" cy="50660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1C1C1A"/>
                </a:solidFill>
                <a:latin typeface="Outfit 1 Light"/>
              </a:rPr>
              <a:t>Acompanhar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377672" y="5267833"/>
            <a:ext cx="41148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CC754E"/>
                </a:solidFill>
                <a:latin typeface="Outfit 1 Light"/>
              </a:rPr>
              <a:t>→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3825728" y="5030089"/>
            <a:ext cx="2450592" cy="27432"/>
          </a:xfrm>
          <a:prstGeom prst="rect">
            <a:avLst/>
          </a:prstGeom>
          <a:solidFill>
            <a:srgbClr val="CC7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3825728" y="5340985"/>
            <a:ext cx="2450592" cy="90347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1C1C1A"/>
                </a:solidFill>
                <a:latin typeface="Outfit 1 Light"/>
              </a:rPr>
              <a:t>Preservar possibilidades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011680" y="6783959"/>
            <a:ext cx="142646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2500" i="0" b="0">
                <a:solidFill>
                  <a:srgbClr val="1C1C1A"/>
                </a:solidFill>
                <a:latin typeface="Outfit 1 Light"/>
              </a:rPr>
              <a:t>Entender antes</a:t>
            </a:r>
            <a:r>
              <a:rPr sz="2500" i="0" b="0">
                <a:solidFill>
                  <a:srgbClr val="CC754E"/>
                </a:solidFill>
                <a:latin typeface="Outfit 1 Light"/>
              </a:rPr>
              <a:t>   ·   </a:t>
            </a:r>
            <a:r>
              <a:rPr sz="2500" i="0" b="0">
                <a:solidFill>
                  <a:srgbClr val="1C1C1A"/>
                </a:solidFill>
                <a:latin typeface="Outfit 1 Light"/>
              </a:rPr>
              <a:t>Preparar antes</a:t>
            </a:r>
            <a:r>
              <a:rPr sz="2500" i="0" b="0">
                <a:solidFill>
                  <a:srgbClr val="CC754E"/>
                </a:solidFill>
                <a:latin typeface="Outfit 1 Light"/>
              </a:rPr>
              <a:t>   ·   </a:t>
            </a:r>
            <a:r>
              <a:rPr sz="2500" i="0" b="0">
                <a:solidFill>
                  <a:srgbClr val="1C1C1A"/>
                </a:solidFill>
                <a:latin typeface="Outfit 1 Light"/>
              </a:rPr>
              <a:t>Permanecer depois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011680" y="3036506"/>
            <a:ext cx="152476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959"/>
              </a:lnSpc>
            </a:pPr>
            <a:r>
              <a:rPr sz="1400" i="0" b="0" spc="300">
                <a:solidFill>
                  <a:srgbClr val="CC754E"/>
                </a:solidFill>
                <a:latin typeface="Outfit 1 Semi-Bold"/>
              </a:rPr>
              <a:t>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011680" y="3511994"/>
            <a:ext cx="15247620" cy="21875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5785"/>
              </a:lnSpc>
            </a:pPr>
            <a:r>
              <a:rPr sz="14350" i="0" b="0">
                <a:solidFill>
                  <a:srgbClr val="1C1C1A"/>
                </a:solidFill>
                <a:latin typeface="Outfit 1 Bold"/>
              </a:rPr>
              <a:t>O IKIGAI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11680" y="5772722"/>
            <a:ext cx="15247620" cy="6822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4291"/>
              </a:lnSpc>
            </a:pPr>
            <a:r>
              <a:rPr sz="3700" i="0" b="0">
                <a:solidFill>
                  <a:srgbClr val="1C1C1A"/>
                </a:solidFill>
                <a:latin typeface="Outfit 1 Light"/>
              </a:rPr>
              <a:t>Onde capacidade, realização, contribuição e profissão se encontram.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1005840" y="1005840"/>
            <a:ext cx="16276320" cy="7772400"/>
          </a:xfrm>
          <a:prstGeom prst="roundRect">
            <a:avLst>
              <a:gd name="adj" fmla="val 2117"/>
            </a:avLst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011680" y="2280514"/>
            <a:ext cx="142646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959"/>
              </a:lnSpc>
            </a:pPr>
            <a:r>
              <a:rPr sz="1400" i="0" b="0" spc="300">
                <a:solidFill>
                  <a:srgbClr val="A5A49F"/>
                </a:solidFill>
                <a:latin typeface="Outfit 2"/>
              </a:rPr>
              <a:t>O IKIGAI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11680" y="2756002"/>
            <a:ext cx="14264640" cy="100507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5754"/>
              </a:lnSpc>
            </a:pPr>
            <a:r>
              <a:rPr sz="4200" i="0" b="0">
                <a:solidFill>
                  <a:srgbClr val="1C1C1A"/>
                </a:solidFill>
                <a:latin typeface="Outfit 1 Light"/>
              </a:rPr>
              <a:t>OS QUATRO ENCONTROS</a:t>
            </a:r>
          </a:p>
        </p:txBody>
      </p:sp>
      <p:sp>
        <p:nvSpPr>
          <p:cNvPr id="6" name="Rectangle 5"/>
          <p:cNvSpPr/>
          <p:nvPr/>
        </p:nvSpPr>
        <p:spPr>
          <a:xfrm>
            <a:off x="2011680" y="3669640"/>
            <a:ext cx="14264640" cy="10973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4081760" y="1481328"/>
            <a:ext cx="2103120" cy="2103120"/>
          </a:xfrm>
          <a:prstGeom prst="ellipse">
            <a:avLst/>
          </a:prstGeom>
          <a:noFill/>
          <a:ln w="13970">
            <a:solidFill>
              <a:srgbClr val="A5A49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4670634" y="2070202"/>
            <a:ext cx="2103120" cy="2103120"/>
          </a:xfrm>
          <a:prstGeom prst="ellipse">
            <a:avLst/>
          </a:prstGeom>
          <a:noFill/>
          <a:ln w="13970">
            <a:solidFill>
              <a:srgbClr val="A5A49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4081760" y="2659076"/>
            <a:ext cx="2103120" cy="2103120"/>
          </a:xfrm>
          <a:prstGeom prst="ellipse">
            <a:avLst/>
          </a:prstGeom>
          <a:noFill/>
          <a:ln w="13970">
            <a:solidFill>
              <a:srgbClr val="A5A49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3492886" y="2070202"/>
            <a:ext cx="2103120" cy="2103120"/>
          </a:xfrm>
          <a:prstGeom prst="ellipse">
            <a:avLst/>
          </a:prstGeom>
          <a:noFill/>
          <a:ln w="13970">
            <a:solidFill>
              <a:srgbClr val="A5A49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5073884" y="3062326"/>
            <a:ext cx="118872" cy="118872"/>
          </a:xfrm>
          <a:prstGeom prst="ellipse">
            <a:avLst/>
          </a:prstGeom>
          <a:solidFill>
            <a:srgbClr val="CC7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011680" y="3533242"/>
            <a:ext cx="12435840" cy="10973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011680" y="3734410"/>
            <a:ext cx="124358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959"/>
              </a:lnSpc>
            </a:pPr>
            <a:r>
              <a:rPr sz="1400" i="0" b="0" spc="220">
                <a:solidFill>
                  <a:srgbClr val="CC754E"/>
                </a:solidFill>
                <a:latin typeface="Outfit 1 Semi-Bold"/>
              </a:rPr>
              <a:t>PAIXÃO · O QUE AMA + NO QUE É BOM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011680" y="4027018"/>
            <a:ext cx="12435840" cy="51422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379"/>
              </a:lnSpc>
            </a:pPr>
            <a:r>
              <a:rPr sz="1700" i="0" b="0">
                <a:solidFill>
                  <a:srgbClr val="6B6B66"/>
                </a:solidFill>
                <a:latin typeface="Outfit 1 Light"/>
              </a:rPr>
              <a:t>Conversar, compreender e construir soluções que façam sentido para cada realidade.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011680" y="4596105"/>
            <a:ext cx="12435840" cy="10973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011680" y="4797273"/>
            <a:ext cx="124358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959"/>
              </a:lnSpc>
            </a:pPr>
            <a:r>
              <a:rPr sz="1400" i="0" b="0" spc="220">
                <a:solidFill>
                  <a:srgbClr val="CC754E"/>
                </a:solidFill>
                <a:latin typeface="Outfit 1 Semi-Bold"/>
              </a:rPr>
              <a:t>PROFISSÃO · NO QUE É BOM + PELO QUE PODE SER PAGO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11680" y="5089881"/>
            <a:ext cx="12435840" cy="51422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379"/>
              </a:lnSpc>
            </a:pPr>
            <a:r>
              <a:rPr sz="1700" i="0" b="0">
                <a:solidFill>
                  <a:srgbClr val="6B6B66"/>
                </a:solidFill>
                <a:latin typeface="Outfit 1 Light"/>
              </a:rPr>
              <a:t>Estruturar proteção e sucessão com visão consultiva, personalização e relacionamento.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011680" y="5658968"/>
            <a:ext cx="12435840" cy="10973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011680" y="5860136"/>
            <a:ext cx="124358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959"/>
              </a:lnSpc>
            </a:pPr>
            <a:r>
              <a:rPr sz="1400" i="0" b="0" spc="220">
                <a:solidFill>
                  <a:srgbClr val="CC754E"/>
                </a:solidFill>
                <a:latin typeface="Outfit 1 Semi-Bold"/>
              </a:rPr>
              <a:t>MISSÃO · O QUE O MUNDO PRECISA + O QUE GOSTA DE FAZER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011680" y="6152744"/>
            <a:ext cx="12435840" cy="51422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379"/>
              </a:lnSpc>
            </a:pPr>
            <a:r>
              <a:rPr sz="1700" i="0" b="0">
                <a:solidFill>
                  <a:srgbClr val="6B6B66"/>
                </a:solidFill>
                <a:latin typeface="Outfit 1 Light"/>
              </a:rPr>
              <a:t>Ampliar a consciência de que preparação financeira também é uma forma de cuidado e responsabilidade.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011680" y="6721831"/>
            <a:ext cx="12435840" cy="10973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011680" y="6922999"/>
            <a:ext cx="124358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959"/>
              </a:lnSpc>
            </a:pPr>
            <a:r>
              <a:rPr sz="1400" i="0" b="0" spc="220">
                <a:solidFill>
                  <a:srgbClr val="CC754E"/>
                </a:solidFill>
                <a:latin typeface="Outfit 1 Semi-Bold"/>
              </a:rPr>
              <a:t>VOCAÇÃO · O QUE O MUNDO PRECISA + PELO QUE PODE SER PAGO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011680" y="7215607"/>
            <a:ext cx="12435840" cy="51422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379"/>
              </a:lnSpc>
            </a:pPr>
            <a:r>
              <a:rPr sz="1700" i="0" b="0">
                <a:solidFill>
                  <a:srgbClr val="6B6B66"/>
                </a:solidFill>
                <a:latin typeface="Outfit 1 Light"/>
              </a:rPr>
              <a:t>Ajudar pessoas, famílias e empresas a chegarem mais preparadas aos momentos que não podem controlar.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011680" y="7857846"/>
            <a:ext cx="1188720" cy="27432"/>
          </a:xfrm>
          <a:prstGeom prst="rect">
            <a:avLst/>
          </a:prstGeom>
          <a:solidFill>
            <a:srgbClr val="CC7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011680" y="8095590"/>
            <a:ext cx="12435840" cy="4011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379"/>
              </a:lnSpc>
            </a:pPr>
            <a:r>
              <a:rPr sz="1700" i="0" b="0" spc="140">
                <a:solidFill>
                  <a:srgbClr val="A5A49F"/>
                </a:solidFill>
                <a:latin typeface="Outfit 1 Semi-Bold"/>
              </a:rPr>
              <a:t>Sua competência não é conhecer produtos — é transformar complexidade em decisão estruturada.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1338560" cy="10287000"/>
          </a:xfrm>
          <a:prstGeom prst="rect">
            <a:avLst/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05_lucas_casal_mais_velho.png"/>
          <p:cNvPicPr>
            <a:picLocks noChangeAspect="1"/>
          </p:cNvPicPr>
          <p:nvPr/>
        </p:nvPicPr>
        <p:blipFill>
          <a:blip r:embed="rId3"/>
          <a:srcRect l="30452" r="31528"/>
          <a:stretch>
            <a:fillRect/>
          </a:stretch>
        </p:blipFill>
        <p:spPr>
          <a:xfrm>
            <a:off x="11338560" y="0"/>
            <a:ext cx="6949440" cy="10287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011680" y="1645920"/>
            <a:ext cx="8458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959"/>
              </a:lnSpc>
            </a:pPr>
            <a:r>
              <a:rPr sz="1400" i="0" b="0" spc="300">
                <a:solidFill>
                  <a:srgbClr val="A5A49F"/>
                </a:solidFill>
                <a:latin typeface="Outfit 2"/>
              </a:rPr>
              <a:t>O IKIGAI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011680" y="2121408"/>
            <a:ext cx="8458200" cy="100507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5754"/>
              </a:lnSpc>
            </a:pPr>
            <a:r>
              <a:rPr sz="4200" i="0" b="0">
                <a:solidFill>
                  <a:srgbClr val="1C1C1A"/>
                </a:solidFill>
                <a:latin typeface="Outfit 1 Light"/>
              </a:rPr>
              <a:t>ONDE LUCAS ENCONTRA REALIZAÇÃO</a:t>
            </a:r>
          </a:p>
        </p:txBody>
      </p:sp>
      <p:sp>
        <p:nvSpPr>
          <p:cNvPr id="7" name="Rectangle 6"/>
          <p:cNvSpPr/>
          <p:nvPr/>
        </p:nvSpPr>
        <p:spPr>
          <a:xfrm>
            <a:off x="2011680" y="3765804"/>
            <a:ext cx="8458200" cy="10973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011680" y="4113276"/>
            <a:ext cx="8458200" cy="14249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6B6B66"/>
                </a:solidFill>
                <a:latin typeface="Outfit 1 Light"/>
              </a:rPr>
              <a:t>Quando o planejamento cumpre aquilo para o qual foi criado: um benefício é pago, uma empresa pode continuar.</a:t>
            </a:r>
          </a:p>
        </p:txBody>
      </p:sp>
      <p:sp>
        <p:nvSpPr>
          <p:cNvPr id="9" name="Rectangle 8"/>
          <p:cNvSpPr/>
          <p:nvPr/>
        </p:nvSpPr>
        <p:spPr>
          <a:xfrm>
            <a:off x="2015338" y="6096000"/>
            <a:ext cx="102413" cy="102413"/>
          </a:xfrm>
          <a:prstGeom prst="rect">
            <a:avLst/>
          </a:prstGeom>
          <a:solidFill>
            <a:srgbClr val="CC7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538374" y="5922264"/>
            <a:ext cx="7931506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379"/>
              </a:lnSpc>
            </a:pPr>
            <a:r>
              <a:rPr sz="1700" i="0" b="0">
                <a:solidFill>
                  <a:srgbClr val="1C1C1A"/>
                </a:solidFill>
                <a:latin typeface="Outfit 1 Light"/>
              </a:rPr>
              <a:t>Manter possibilidades quando a vida muda.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015338" y="6516624"/>
            <a:ext cx="102413" cy="102413"/>
          </a:xfrm>
          <a:prstGeom prst="rect">
            <a:avLst/>
          </a:prstGeom>
          <a:solidFill>
            <a:srgbClr val="CC7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538374" y="6342888"/>
            <a:ext cx="7931506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379"/>
              </a:lnSpc>
            </a:pPr>
            <a:r>
              <a:rPr sz="1700" i="0" b="0">
                <a:solidFill>
                  <a:srgbClr val="1C1C1A"/>
                </a:solidFill>
                <a:latin typeface="Outfit 1 Light"/>
              </a:rPr>
              <a:t>Não precisar desmontar tudo nem aceitar qualquer saída.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015338" y="6937248"/>
            <a:ext cx="102413" cy="102413"/>
          </a:xfrm>
          <a:prstGeom prst="rect">
            <a:avLst/>
          </a:prstGeom>
          <a:solidFill>
            <a:srgbClr val="CC7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538374" y="6763512"/>
            <a:ext cx="7931506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379"/>
              </a:lnSpc>
            </a:pPr>
            <a:r>
              <a:rPr sz="1700" i="0" b="0">
                <a:solidFill>
                  <a:srgbClr val="1C1C1A"/>
                </a:solidFill>
                <a:latin typeface="Outfit 1 Light"/>
              </a:rPr>
              <a:t>Não transformar uma perda humana em colapso financeiro.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011680" y="7179818"/>
            <a:ext cx="1188720" cy="27432"/>
          </a:xfrm>
          <a:prstGeom prst="rect">
            <a:avLst/>
          </a:prstGeom>
          <a:solidFill>
            <a:srgbClr val="CC7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011680" y="7490714"/>
            <a:ext cx="8458200" cy="9217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125"/>
              </a:lnSpc>
            </a:pPr>
            <a:r>
              <a:rPr sz="2500" i="0" b="0">
                <a:solidFill>
                  <a:srgbClr val="1C1C1A"/>
                </a:solidFill>
                <a:latin typeface="Outfit 1 Light"/>
              </a:rPr>
              <a:t>Dignidade financeira não é dinheiro disponível. É o que preserva possibilidades.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pic>
        <p:nvPicPr>
          <p:cNvPr id="3" name="Picture 2" descr="03_lucas_janela_entardecer.png"/>
          <p:cNvPicPr>
            <a:picLocks noChangeAspect="1"/>
          </p:cNvPicPr>
          <p:nvPr/>
        </p:nvPicPr>
        <p:blipFill>
          <a:blip r:embed="rId3"/>
          <a:srcRect b="53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10479024" y="1028700"/>
            <a:ext cx="7808976" cy="2563368"/>
          </a:xfrm>
          <a:prstGeom prst="roundRect">
            <a:avLst>
              <a:gd name="adj" fmla="val 6420"/>
            </a:avLst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045952" y="1595628"/>
            <a:ext cx="6675120" cy="1539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752"/>
              </a:lnSpc>
            </a:pPr>
            <a:r>
              <a:rPr sz="2800" i="0" b="0">
                <a:solidFill>
                  <a:srgbClr val="1C1C1A"/>
                </a:solidFill>
                <a:latin typeface="Outfit 1 Light"/>
              </a:rPr>
              <a:t>Preservar a capacidade</a:t>
            </a:r>
          </a:p>
          <a:p>
            <a:pPr algn="l">
              <a:lnSpc>
                <a:spcPts val="3752"/>
              </a:lnSpc>
            </a:pPr>
            <a:r>
              <a:rPr sz="2800" i="0" b="0">
                <a:solidFill>
                  <a:srgbClr val="1C1C1A"/>
                </a:solidFill>
                <a:latin typeface="Outfit 1 Light"/>
              </a:rPr>
              <a:t>de escolha quando a vida</a:t>
            </a:r>
          </a:p>
          <a:p>
            <a:pPr algn="l">
              <a:lnSpc>
                <a:spcPts val="3752"/>
              </a:lnSpc>
            </a:pPr>
            <a:r>
              <a:rPr sz="2800" i="0" b="0">
                <a:solidFill>
                  <a:srgbClr val="1C1C1A"/>
                </a:solidFill>
                <a:latin typeface="Outfit 1 Light"/>
              </a:rPr>
              <a:t>tira a previsibilidade.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011680" y="2948114"/>
            <a:ext cx="152476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959"/>
              </a:lnSpc>
            </a:pPr>
            <a:r>
              <a:rPr sz="1400" i="0" b="0" spc="300">
                <a:solidFill>
                  <a:srgbClr val="CC754E"/>
                </a:solidFill>
                <a:latin typeface="Outfit 1 Semi-Bold"/>
              </a:rPr>
              <a:t>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011680" y="3423602"/>
            <a:ext cx="15247620" cy="21875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5785"/>
              </a:lnSpc>
            </a:pPr>
            <a:r>
              <a:rPr sz="14350" i="0" b="0">
                <a:solidFill>
                  <a:srgbClr val="1C1C1A"/>
                </a:solidFill>
                <a:latin typeface="Outfit 1 Bold"/>
              </a:rPr>
              <a:t>A ESSÊNCIA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11680" y="5684330"/>
            <a:ext cx="15247620" cy="8590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5684"/>
              </a:lnSpc>
            </a:pPr>
            <a:r>
              <a:rPr sz="4900" i="0" b="0">
                <a:solidFill>
                  <a:srgbClr val="1C1C1A"/>
                </a:solidFill>
                <a:latin typeface="Outfit 1 Light"/>
              </a:rPr>
              <a:t>O princípio mais profundo que conecta sua trajetória.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1005840" y="1005840"/>
            <a:ext cx="16276320" cy="7772400"/>
          </a:xfrm>
          <a:prstGeom prst="roundRect">
            <a:avLst>
              <a:gd name="adj" fmla="val 2117"/>
            </a:avLst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011680" y="1485900"/>
            <a:ext cx="142646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959"/>
              </a:lnSpc>
            </a:pPr>
            <a:r>
              <a:rPr sz="1400" i="0" b="0" spc="300">
                <a:solidFill>
                  <a:srgbClr val="A5A49F"/>
                </a:solidFill>
                <a:latin typeface="Outfit 2"/>
              </a:rPr>
              <a:t>A ESSÊNCIA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11680" y="1961388"/>
            <a:ext cx="14264640" cy="100507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5754"/>
              </a:lnSpc>
            </a:pPr>
            <a:r>
              <a:rPr sz="4200" i="0" b="0">
                <a:solidFill>
                  <a:srgbClr val="1C1C1A"/>
                </a:solidFill>
                <a:latin typeface="Outfit 1 Light"/>
              </a:rPr>
              <a:t>ONDE TUDO SE ENCONTRA</a:t>
            </a:r>
          </a:p>
        </p:txBody>
      </p:sp>
      <p:sp>
        <p:nvSpPr>
          <p:cNvPr id="6" name="Rectangle 5"/>
          <p:cNvSpPr/>
          <p:nvPr/>
        </p:nvSpPr>
        <p:spPr>
          <a:xfrm>
            <a:off x="2011680" y="2875026"/>
            <a:ext cx="14264640" cy="10973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011680" y="3470148"/>
            <a:ext cx="14264640" cy="10973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011680" y="3744468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520"/>
              </a:lnSpc>
            </a:pPr>
            <a:r>
              <a:rPr sz="1800" i="0" b="0" spc="282">
                <a:solidFill>
                  <a:srgbClr val="1C1C1A"/>
                </a:solidFill>
                <a:latin typeface="Outfit 1 Semi-Bold"/>
              </a:rPr>
              <a:t>A ORIGEM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0" y="3671316"/>
            <a:ext cx="91440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379"/>
              </a:lnSpc>
            </a:pPr>
            <a:r>
              <a:rPr sz="1700" i="0" b="0">
                <a:solidFill>
                  <a:srgbClr val="1C1C1A"/>
                </a:solidFill>
                <a:latin typeface="Outfit 1 Light"/>
              </a:rPr>
              <a:t>Ensinou que segurança é construída.</a:t>
            </a:r>
          </a:p>
        </p:txBody>
      </p:sp>
      <p:sp>
        <p:nvSpPr>
          <p:cNvPr id="10" name="Rectangle 9"/>
          <p:cNvSpPr/>
          <p:nvPr/>
        </p:nvSpPr>
        <p:spPr>
          <a:xfrm>
            <a:off x="2011680" y="4430268"/>
            <a:ext cx="14264640" cy="10973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011680" y="4704588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520"/>
              </a:lnSpc>
            </a:pPr>
            <a:r>
              <a:rPr sz="1800" i="0" b="0" spc="282">
                <a:solidFill>
                  <a:srgbClr val="1C1C1A"/>
                </a:solidFill>
                <a:latin typeface="Outfit 1 Semi-Bold"/>
              </a:rPr>
              <a:t>O BANCO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32320" y="4631436"/>
            <a:ext cx="91440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379"/>
              </a:lnSpc>
            </a:pPr>
            <a:r>
              <a:rPr sz="1700" i="0" b="0">
                <a:solidFill>
                  <a:srgbClr val="1C1C1A"/>
                </a:solidFill>
                <a:latin typeface="Outfit 1 Light"/>
              </a:rPr>
              <a:t>Mostrou como aquilo que levou anos para existir se fragiliza depressa.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011680" y="5390388"/>
            <a:ext cx="14264640" cy="10973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011680" y="5664708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520"/>
              </a:lnSpc>
            </a:pPr>
            <a:r>
              <a:rPr sz="1800" i="0" b="0" spc="282">
                <a:solidFill>
                  <a:srgbClr val="1C1C1A"/>
                </a:solidFill>
                <a:latin typeface="Outfit 1 Semi-Bold"/>
              </a:rPr>
              <a:t>O EMPREENDEDORISMO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32320" y="5591556"/>
            <a:ext cx="91440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379"/>
              </a:lnSpc>
            </a:pPr>
            <a:r>
              <a:rPr sz="1700" i="0" b="0">
                <a:solidFill>
                  <a:srgbClr val="1C1C1A"/>
                </a:solidFill>
                <a:latin typeface="Outfit 1 Light"/>
              </a:rPr>
              <a:t>Mostrou que ele aceita risco quando pode escolher conscientemente.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011680" y="6350508"/>
            <a:ext cx="14264640" cy="10973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011680" y="6624828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520"/>
              </a:lnSpc>
            </a:pPr>
            <a:r>
              <a:rPr sz="1800" i="0" b="0" spc="282">
                <a:solidFill>
                  <a:srgbClr val="1C1C1A"/>
                </a:solidFill>
                <a:latin typeface="Outfit 1 Semi-Bold"/>
              </a:rPr>
              <a:t>A PROFISSÃO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132320" y="6551676"/>
            <a:ext cx="91440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379"/>
              </a:lnSpc>
            </a:pPr>
            <a:r>
              <a:rPr sz="1700" i="0" b="0">
                <a:solidFill>
                  <a:srgbClr val="1C1C1A"/>
                </a:solidFill>
                <a:latin typeface="Outfit 1 Light"/>
              </a:rPr>
              <a:t>Mostrou que preparação preserva possibilidades.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011680" y="7310628"/>
            <a:ext cx="14264640" cy="10973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011680" y="7584948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520"/>
              </a:lnSpc>
            </a:pPr>
            <a:r>
              <a:rPr sz="1800" i="0" b="0" spc="282">
                <a:solidFill>
                  <a:srgbClr val="CC754E"/>
                </a:solidFill>
                <a:latin typeface="Outfit 1 Semi-Bold"/>
              </a:rPr>
              <a:t>A CRENÇA FUNDADORA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132320" y="7511796"/>
            <a:ext cx="91440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379"/>
              </a:lnSpc>
            </a:pPr>
            <a:r>
              <a:rPr sz="1700" i="0" b="0">
                <a:solidFill>
                  <a:srgbClr val="1C1C1A"/>
                </a:solidFill>
                <a:latin typeface="Outfit 1 Light"/>
              </a:rPr>
              <a:t>O que levou anos para ser construído não deveria ficar entregue ao acaso.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011680" y="8270748"/>
            <a:ext cx="1188720" cy="27432"/>
          </a:xfrm>
          <a:prstGeom prst="rect">
            <a:avLst/>
          </a:prstGeom>
          <a:solidFill>
            <a:srgbClr val="CC7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pic>
        <p:nvPicPr>
          <p:cNvPr id="3" name="Picture 2" descr="12_lucas_caminhando_janela.png"/>
          <p:cNvPicPr>
            <a:picLocks noChangeAspect="1"/>
          </p:cNvPicPr>
          <p:nvPr/>
        </p:nvPicPr>
        <p:blipFill>
          <a:blip r:embed="rId3"/>
          <a:srcRect b="53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10479024" y="1028700"/>
            <a:ext cx="7808976" cy="3332480"/>
          </a:xfrm>
          <a:prstGeom prst="roundRect">
            <a:avLst>
              <a:gd name="adj" fmla="val 4939"/>
            </a:avLst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045952" y="1595628"/>
            <a:ext cx="6675120" cy="1539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752"/>
              </a:lnSpc>
            </a:pPr>
            <a:r>
              <a:rPr sz="2800" i="0" b="0">
                <a:solidFill>
                  <a:srgbClr val="1C1C1A"/>
                </a:solidFill>
                <a:latin typeface="Outfit 1 Light"/>
              </a:rPr>
              <a:t>Construir segurança para</a:t>
            </a:r>
          </a:p>
          <a:p>
            <a:pPr algn="l">
              <a:lnSpc>
                <a:spcPts val="3752"/>
              </a:lnSpc>
            </a:pPr>
            <a:r>
              <a:rPr sz="2800" i="0" b="0">
                <a:solidFill>
                  <a:srgbClr val="1C1C1A"/>
                </a:solidFill>
                <a:latin typeface="Outfit 1 Light"/>
              </a:rPr>
              <a:t>preservar liberdade</a:t>
            </a:r>
          </a:p>
          <a:p>
            <a:pPr algn="l">
              <a:lnSpc>
                <a:spcPts val="3752"/>
              </a:lnSpc>
            </a:pPr>
            <a:r>
              <a:rPr sz="2800" i="0" b="0">
                <a:solidFill>
                  <a:srgbClr val="1C1C1A"/>
                </a:solidFill>
                <a:latin typeface="Outfit 1 Light"/>
              </a:rPr>
              <a:t>de escolha.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45952" y="3189732"/>
            <a:ext cx="6675120" cy="695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379"/>
              </a:lnSpc>
            </a:pPr>
            <a:r>
              <a:rPr sz="1700" i="0" b="0">
                <a:solidFill>
                  <a:srgbClr val="6B6B66"/>
                </a:solidFill>
                <a:latin typeface="Outfit 1 Light"/>
              </a:rPr>
              <a:t>Lucas não trabalha para controlar o imprevisto. Trabalha para que o imprevisto não decida sozinho o que vem depois.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1005840" y="1005840"/>
            <a:ext cx="16276320" cy="7772400"/>
          </a:xfrm>
          <a:prstGeom prst="roundRect">
            <a:avLst>
              <a:gd name="adj" fmla="val 2117"/>
            </a:avLst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011680" y="1809623"/>
            <a:ext cx="142646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959"/>
              </a:lnSpc>
            </a:pPr>
            <a:r>
              <a:rPr sz="1400" i="0" b="0" spc="300">
                <a:solidFill>
                  <a:srgbClr val="A5A49F"/>
                </a:solidFill>
                <a:latin typeface="Outfit 2"/>
              </a:rPr>
              <a:t>A ESSÊNCIA DE LUCAS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11680" y="2285111"/>
            <a:ext cx="14264640" cy="100507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5754"/>
              </a:lnSpc>
            </a:pPr>
            <a:r>
              <a:rPr sz="4200" i="0" b="0">
                <a:solidFill>
                  <a:srgbClr val="1C1C1A"/>
                </a:solidFill>
                <a:latin typeface="Outfit 1 Light"/>
              </a:rPr>
              <a:t>O QUE A FRASE CARREGA</a:t>
            </a:r>
          </a:p>
        </p:txBody>
      </p:sp>
      <p:sp>
        <p:nvSpPr>
          <p:cNvPr id="6" name="Rectangle 5"/>
          <p:cNvSpPr/>
          <p:nvPr/>
        </p:nvSpPr>
        <p:spPr>
          <a:xfrm>
            <a:off x="2011680" y="3198749"/>
            <a:ext cx="14264640" cy="10973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011680" y="3546221"/>
            <a:ext cx="4419600" cy="56693"/>
          </a:xfrm>
          <a:prstGeom prst="rect">
            <a:avLst/>
          </a:prstGeom>
          <a:solidFill>
            <a:srgbClr val="CC7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011680" y="3820541"/>
            <a:ext cx="4419600" cy="5359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1C1C1A"/>
                </a:solidFill>
                <a:latin typeface="Outfit 1 Light"/>
              </a:rPr>
              <a:t>Construir segurança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011680" y="4557649"/>
            <a:ext cx="4419600" cy="14249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6B6B66"/>
                </a:solidFill>
                <a:latin typeface="Outfit 1 Light"/>
              </a:rPr>
              <a:t>Transformar vulnerabilidades em planejamento, recursos e alternativas.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934200" y="3546221"/>
            <a:ext cx="4419600" cy="56693"/>
          </a:xfrm>
          <a:prstGeom prst="rect">
            <a:avLst/>
          </a:prstGeom>
          <a:solidFill>
            <a:srgbClr val="CC7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934200" y="3820541"/>
            <a:ext cx="4419600" cy="5359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1C1C1A"/>
                </a:solidFill>
                <a:latin typeface="Outfit 1 Light"/>
              </a:rPr>
              <a:t>Preservar liberdade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934200" y="4557649"/>
            <a:ext cx="4419600" cy="14249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6B6B66"/>
                </a:solidFill>
                <a:latin typeface="Outfit 1 Light"/>
              </a:rPr>
              <a:t>Manter possibilidades diante de acontecimentos que fogem ao controle.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1856720" y="3546221"/>
            <a:ext cx="4419600" cy="56693"/>
          </a:xfrm>
          <a:prstGeom prst="rect">
            <a:avLst/>
          </a:prstGeom>
          <a:solidFill>
            <a:srgbClr val="CC7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856720" y="3820541"/>
            <a:ext cx="4419600" cy="5359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1C1C1A"/>
                </a:solidFill>
                <a:latin typeface="Outfit 1 Light"/>
              </a:rPr>
              <a:t>Escolha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856720" y="4557649"/>
            <a:ext cx="4419600" cy="14249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6B6B66"/>
                </a:solidFill>
                <a:latin typeface="Outfit 1 Light"/>
              </a:rPr>
              <a:t>Evitar que a urgência seja a única responsável pelas decisões.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986784" y="6549517"/>
            <a:ext cx="10314432" cy="14249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ts val="3500"/>
              </a:lnSpc>
            </a:pPr>
            <a:r>
              <a:rPr sz="2500" i="0" b="0">
                <a:solidFill>
                  <a:srgbClr val="6B6B66"/>
                </a:solidFill>
                <a:latin typeface="Outfit 1 Light"/>
              </a:rPr>
              <a:t>Responsável, disciplinado, ambicioso e constante são características do Lucas. Mas são manifestações de uma lógica mais profunda: preparar o que pode ser preparado para proteger o que não pode ser previsto.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011680" y="3021774"/>
            <a:ext cx="152476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959"/>
              </a:lnSpc>
            </a:pPr>
            <a:r>
              <a:rPr sz="1400" i="0" b="0" spc="300">
                <a:solidFill>
                  <a:srgbClr val="CC754E"/>
                </a:solidFill>
                <a:latin typeface="Outfit 1 Semi-Bold"/>
              </a:rPr>
              <a:t>06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011680" y="3497262"/>
            <a:ext cx="15247620" cy="21875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5785"/>
              </a:lnSpc>
            </a:pPr>
            <a:r>
              <a:rPr sz="14350" i="0" b="0">
                <a:solidFill>
                  <a:srgbClr val="1C1C1A"/>
                </a:solidFill>
                <a:latin typeface="Outfit 1 Bold"/>
              </a:rPr>
              <a:t>A MARCA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11680" y="5757990"/>
            <a:ext cx="15247620" cy="7117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4523"/>
              </a:lnSpc>
            </a:pPr>
            <a:r>
              <a:rPr sz="3900" i="0" b="0">
                <a:solidFill>
                  <a:srgbClr val="1C1C1A"/>
                </a:solidFill>
                <a:latin typeface="Outfit 1 Light"/>
              </a:rPr>
              <a:t>O que essa essência revela sobre o papel que Lucas pode ocupar.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pic>
        <p:nvPicPr>
          <p:cNvPr id="3" name="Picture 2" descr="02_reuniao_consultiva_casal.png"/>
          <p:cNvPicPr>
            <a:picLocks noChangeAspect="1"/>
          </p:cNvPicPr>
          <p:nvPr/>
        </p:nvPicPr>
        <p:blipFill>
          <a:blip r:embed="rId3"/>
          <a:srcRect l="31020" r="30960"/>
          <a:stretch>
            <a:fillRect/>
          </a:stretch>
        </p:blipFill>
        <p:spPr>
          <a:xfrm>
            <a:off x="0" y="0"/>
            <a:ext cx="6949440" cy="102870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6949440" y="0"/>
            <a:ext cx="11338560" cy="10287000"/>
          </a:xfrm>
          <a:prstGeom prst="rect">
            <a:avLst/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818120" y="1623060"/>
            <a:ext cx="9601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959"/>
              </a:lnSpc>
            </a:pPr>
            <a:r>
              <a:rPr sz="1400" i="0" b="0" spc="300">
                <a:solidFill>
                  <a:srgbClr val="A5A49F"/>
                </a:solidFill>
                <a:latin typeface="Outfit 2"/>
              </a:rPr>
              <a:t>A MARCA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818120" y="2098548"/>
            <a:ext cx="9601200" cy="100507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5754"/>
              </a:lnSpc>
            </a:pPr>
            <a:r>
              <a:rPr sz="4200" i="0" b="0">
                <a:solidFill>
                  <a:srgbClr val="1C1C1A"/>
                </a:solidFill>
                <a:latin typeface="Outfit 1 Light"/>
              </a:rPr>
              <a:t>O PRODUTO NÃO É O CENTRO</a:t>
            </a:r>
          </a:p>
        </p:txBody>
      </p:sp>
      <p:sp>
        <p:nvSpPr>
          <p:cNvPr id="7" name="Rectangle 6"/>
          <p:cNvSpPr/>
          <p:nvPr/>
        </p:nvSpPr>
        <p:spPr>
          <a:xfrm>
            <a:off x="7818120" y="3012186"/>
            <a:ext cx="9601200" cy="10973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818120" y="3607308"/>
            <a:ext cx="9601200" cy="10973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818120" y="3881628"/>
            <a:ext cx="355244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520"/>
              </a:lnSpc>
            </a:pPr>
            <a:r>
              <a:rPr sz="1800" i="0" b="0" spc="282">
                <a:solidFill>
                  <a:srgbClr val="1C1C1A"/>
                </a:solidFill>
                <a:latin typeface="Outfit 1 Semi-Bold"/>
              </a:rPr>
              <a:t>SEGURO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658600" y="3808476"/>
            <a:ext cx="57607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1C1C1A"/>
                </a:solidFill>
                <a:latin typeface="Outfit 1 Light"/>
              </a:rPr>
              <a:t>É instrumento.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818120" y="4567428"/>
            <a:ext cx="9601200" cy="10973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18120" y="4841748"/>
            <a:ext cx="355244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520"/>
              </a:lnSpc>
            </a:pPr>
            <a:r>
              <a:rPr sz="1800" i="0" b="0" spc="282">
                <a:solidFill>
                  <a:srgbClr val="1C1C1A"/>
                </a:solidFill>
                <a:latin typeface="Outfit 1 Semi-Bold"/>
              </a:rPr>
              <a:t>PLANEJAMENTO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658600" y="4768596"/>
            <a:ext cx="57607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1C1C1A"/>
                </a:solidFill>
                <a:latin typeface="Outfit 1 Light"/>
              </a:rPr>
              <a:t>É método.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818120" y="5527548"/>
            <a:ext cx="9601200" cy="10973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818120" y="5801868"/>
            <a:ext cx="355244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520"/>
              </a:lnSpc>
            </a:pPr>
            <a:r>
              <a:rPr sz="1800" i="0" b="0" spc="282">
                <a:solidFill>
                  <a:srgbClr val="1C1C1A"/>
                </a:solidFill>
                <a:latin typeface="Outfit 1 Semi-Bold"/>
              </a:rPr>
              <a:t>PROTEÇÃO E SUCESSÃO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658600" y="5728716"/>
            <a:ext cx="57607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1C1C1A"/>
                </a:solidFill>
                <a:latin typeface="Outfit 1 Light"/>
              </a:rPr>
              <a:t>São campos de atuação.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818120" y="6487668"/>
            <a:ext cx="9601200" cy="10973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818120" y="6761988"/>
            <a:ext cx="355244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520"/>
              </a:lnSpc>
            </a:pPr>
            <a:r>
              <a:rPr sz="1800" i="0" b="0" spc="282">
                <a:solidFill>
                  <a:srgbClr val="1C1C1A"/>
                </a:solidFill>
                <a:latin typeface="Outfit 1 Semi-Bold"/>
              </a:rPr>
              <a:t>CONTINUIDADE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658600" y="6688836"/>
            <a:ext cx="57607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1C1C1A"/>
                </a:solidFill>
                <a:latin typeface="Outfit 1 Light"/>
              </a:rPr>
              <a:t>É o território.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818120" y="7447788"/>
            <a:ext cx="9601200" cy="10973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818120" y="7722108"/>
            <a:ext cx="355244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520"/>
              </a:lnSpc>
            </a:pPr>
            <a:r>
              <a:rPr sz="1800" i="0" b="0" spc="282">
                <a:solidFill>
                  <a:srgbClr val="CC754E"/>
                </a:solidFill>
                <a:latin typeface="Outfit 1 Semi-Bold"/>
              </a:rPr>
              <a:t>LIBERDADE DE ESCOLHA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658600" y="7648956"/>
            <a:ext cx="57607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1C1C1A"/>
                </a:solidFill>
                <a:latin typeface="Outfit 1 Light"/>
              </a:rPr>
              <a:t>É o significado humano.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818120" y="8407908"/>
            <a:ext cx="1188720" cy="27432"/>
          </a:xfrm>
          <a:prstGeom prst="rect">
            <a:avLst/>
          </a:prstGeom>
          <a:solidFill>
            <a:srgbClr val="CC7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1338560" cy="10287000"/>
          </a:xfrm>
          <a:prstGeom prst="rect">
            <a:avLst/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13_lucas_ouvindo_casal.png"/>
          <p:cNvPicPr>
            <a:picLocks noChangeAspect="1"/>
          </p:cNvPicPr>
          <p:nvPr/>
        </p:nvPicPr>
        <p:blipFill>
          <a:blip r:embed="rId3"/>
          <a:srcRect l="43759" r="18221"/>
          <a:stretch>
            <a:fillRect/>
          </a:stretch>
        </p:blipFill>
        <p:spPr>
          <a:xfrm>
            <a:off x="11338560" y="0"/>
            <a:ext cx="6949440" cy="10287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011680" y="1988884"/>
            <a:ext cx="8458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959"/>
              </a:lnSpc>
            </a:pPr>
            <a:r>
              <a:rPr sz="1400" i="0" b="0" spc="300">
                <a:solidFill>
                  <a:srgbClr val="A5A49F"/>
                </a:solidFill>
                <a:latin typeface="Outfit 2"/>
              </a:rPr>
              <a:t>A MARCA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011680" y="2464372"/>
            <a:ext cx="8458200" cy="100507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5754"/>
              </a:lnSpc>
            </a:pPr>
            <a:r>
              <a:rPr sz="4200" i="0" b="0">
                <a:solidFill>
                  <a:srgbClr val="1C1C1A"/>
                </a:solidFill>
                <a:latin typeface="Outfit 1 Light"/>
              </a:rPr>
              <a:t>PROVA, NÃO PROCLAMAÇÃO</a:t>
            </a:r>
          </a:p>
        </p:txBody>
      </p:sp>
      <p:sp>
        <p:nvSpPr>
          <p:cNvPr id="7" name="Rectangle 6"/>
          <p:cNvSpPr/>
          <p:nvPr/>
        </p:nvSpPr>
        <p:spPr>
          <a:xfrm>
            <a:off x="2011680" y="3378010"/>
            <a:ext cx="8458200" cy="10973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011680" y="3725482"/>
            <a:ext cx="8458200" cy="14432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1C1C1A"/>
                </a:solidFill>
                <a:latin typeface="Outfit 1 Light"/>
              </a:rPr>
              <a:t>A dificuldade de comunicação não exige que ele se transforme em alguém que não é. A marca pode ser construída pela lógica que já existe nele.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011680" y="5443030"/>
            <a:ext cx="8458200" cy="14249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6B6B66"/>
                </a:solidFill>
                <a:latin typeface="Outfit 1 Light"/>
              </a:rPr>
              <a:t>Resultados, casos, conhecimento e consistência. Ele não precisa se tornar mais exibido: precisa tornar mais visível aquilo que já construiu.</a:t>
            </a:r>
          </a:p>
        </p:txBody>
      </p:sp>
      <p:sp>
        <p:nvSpPr>
          <p:cNvPr id="10" name="Rectangle 9"/>
          <p:cNvSpPr/>
          <p:nvPr/>
        </p:nvSpPr>
        <p:spPr>
          <a:xfrm>
            <a:off x="2011680" y="7233730"/>
            <a:ext cx="1188720" cy="27432"/>
          </a:xfrm>
          <a:prstGeom prst="rect">
            <a:avLst/>
          </a:prstGeom>
          <a:solidFill>
            <a:srgbClr val="CC7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011680" y="7544626"/>
            <a:ext cx="8458200" cy="52489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125"/>
              </a:lnSpc>
            </a:pPr>
            <a:r>
              <a:rPr sz="2500" i="0" b="0">
                <a:solidFill>
                  <a:srgbClr val="1C1C1A"/>
                </a:solidFill>
                <a:latin typeface="Outfit 1 Light"/>
              </a:rPr>
              <a:t>A essência revela a origem. A estratégia define a direção.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011680" y="2651760"/>
            <a:ext cx="13716000" cy="162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0640"/>
              </a:lnSpc>
            </a:pPr>
            <a:r>
              <a:rPr sz="9500" i="0" b="0">
                <a:solidFill>
                  <a:srgbClr val="1C1C1A"/>
                </a:solidFill>
                <a:latin typeface="Outfit 1 Light"/>
              </a:rPr>
              <a:t>OBRIGADA!</a:t>
            </a:r>
          </a:p>
        </p:txBody>
      </p:sp>
      <p:pic>
        <p:nvPicPr>
          <p:cNvPr id="4" name="Picture 3" descr="logo-kelly-alber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8700" y="5257800"/>
            <a:ext cx="4421124" cy="1050715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669280" y="5257800"/>
            <a:ext cx="12802" cy="1143000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vm-rock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73445" y="5312664"/>
            <a:ext cx="3291840" cy="942889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DAHVOuCspjk</dc:identifier>
  <dcterms:modified xsi:type="dcterms:W3CDTF">2011-08-01T06:04:30Z</dcterms:modified>
  <cp:revision>1</cp:revision>
  <dc:title>Revelacao-de-Essencia-Flavia-Pereira-Muccelin.pptx</dc:title>
</cp:coreProperties>
</file>