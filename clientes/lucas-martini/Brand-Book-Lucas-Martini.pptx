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trama-canto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Picture 3" descr="lm-vertical-dourado-escu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788920"/>
            <a:ext cx="6949440" cy="27763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617220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100" i="0" b="0" spc="700">
                <a:solidFill>
                  <a:srgbClr val="F2F0E9"/>
                </a:solidFill>
                <a:latin typeface="Outfit 1 Light"/>
              </a:rPr>
              <a:t>BRAND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39128"/>
            <a:ext cx="18288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50" i="0" b="0" spc="400">
                <a:solidFill>
                  <a:srgbClr val="E3C88B"/>
                </a:solidFill>
                <a:latin typeface="Outfit 1 Semi-Bold"/>
              </a:rPr>
              <a:t>EDIÇÃO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ANTES DE COMEÇAR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PARA QUE SERVE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ESTE BRAND BOOK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9984" y="3036192"/>
            <a:ext cx="140817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1240" y="1874520"/>
            <a:ext cx="6858000" cy="1356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Este documento reúne, em um só lugar, a </a:t>
            </a:r>
            <a:r>
              <a:rPr sz="1900" i="0" b="0">
                <a:solidFill>
                  <a:srgbClr val="2C322E"/>
                </a:solidFill>
                <a:latin typeface="Outfit 1 Semi-Bold"/>
              </a:rPr>
              <a:t>essência, a voz, o posicionamento e a identidade visual</a:t>
            </a:r>
            <a:r>
              <a:rPr sz="1900" i="0" b="0">
                <a:solidFill>
                  <a:srgbClr val="5F6661"/>
                </a:solidFill>
                <a:latin typeface="Outfit 1 Light"/>
              </a:rPr>
              <a:t> da marca Lucas Martini | Proteção &amp; Sucessão.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3486988"/>
            <a:ext cx="6858000" cy="1356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Ele existe para garantir a </a:t>
            </a:r>
            <a:r>
              <a:rPr sz="1900" i="0" b="0">
                <a:solidFill>
                  <a:srgbClr val="2C322E"/>
                </a:solidFill>
                <a:latin typeface="Outfit 1 Semi-Bold"/>
              </a:rPr>
              <a:t>unidade da marca</a:t>
            </a:r>
            <a:r>
              <a:rPr sz="1900" i="0" b="0">
                <a:solidFill>
                  <a:srgbClr val="5F6661"/>
                </a:solidFill>
                <a:latin typeface="Outfit 1 Light"/>
              </a:rPr>
              <a:t>: todo ponto de contato com a mesma consistência visual e verbal, não importa quem produza.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5099456"/>
            <a:ext cx="6858000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Use como guia antes de criar, aprovar ou contratar qualquer material. </a:t>
            </a:r>
            <a:r>
              <a:rPr sz="1900" i="0" b="0">
                <a:solidFill>
                  <a:srgbClr val="2C322E"/>
                </a:solidFill>
                <a:latin typeface="Outfit 1 Semi-Bold"/>
              </a:rPr>
              <a:t>Marca consistente é marca reconhecida.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CONTEÚDO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7319" y="2214146"/>
            <a:ext cx="3410841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1240" y="337413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50215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 spc="60">
                <a:solidFill>
                  <a:srgbClr val="2C322E"/>
                </a:solidFill>
                <a:latin typeface="Outfit 1 Light"/>
              </a:rPr>
              <a:t>A MARCA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3538728"/>
            <a:ext cx="6858000" cy="488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O que ela é, no que acredita e onde se coloca.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21240" y="456285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69087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 spc="60">
                <a:solidFill>
                  <a:srgbClr val="2C322E"/>
                </a:solidFill>
                <a:latin typeface="Outfit 1 Light"/>
              </a:rPr>
              <a:t>PÚBLICO E TERRITÓRIO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4727448"/>
            <a:ext cx="6858000" cy="488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Para quem ela fala e sobre o que ela fala.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575157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98932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587959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 spc="60">
                <a:solidFill>
                  <a:srgbClr val="2C322E"/>
                </a:solidFill>
                <a:latin typeface="Outfit 1 Light"/>
              </a:rPr>
              <a:t>VOZ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916168"/>
            <a:ext cx="6858000" cy="488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Como ela se comporta e como ela escreve.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94029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17804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706831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 spc="60">
                <a:solidFill>
                  <a:srgbClr val="2C322E"/>
                </a:solidFill>
                <a:latin typeface="Outfit 1 Light"/>
              </a:rPr>
              <a:t>IDENTIDADE VISUAL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104888"/>
            <a:ext cx="6858000" cy="488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O logo, as cores e a tipografia — e o que preserva tudo isso.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21240" y="812901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8366760"/>
            <a:ext cx="1097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AE8C4E"/>
                </a:solidFill>
                <a:latin typeface="Outfit 1 Semi-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8257032"/>
            <a:ext cx="6400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 spc="60">
                <a:solidFill>
                  <a:srgbClr val="2C322E"/>
                </a:solidFill>
                <a:latin typeface="Outfit 1 Light"/>
              </a:rPr>
              <a:t>MANIFESTO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8293608"/>
            <a:ext cx="6858000" cy="488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A MARCA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QUE LEVOU ANOS PARA SER CONSTRUÍDO TEM UM NOME.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DEFINIÇÃO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ESTA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MARCA É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5673" y="3036192"/>
            <a:ext cx="3382487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2931"/>
            <a:ext cx="6400800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Lucas não começa pelo produto. Começa pela realidade de quem está na frente dele.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45862"/>
            <a:ext cx="6400800" cy="747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34" i="0" b="0" spc="160">
                <a:solidFill>
                  <a:srgbClr val="2C322E"/>
                </a:solidFill>
                <a:latin typeface="Outfit 1 Semi-Bold"/>
              </a:rPr>
              <a:t>A PROTEÇÃO É CONSEQUÊNCIA</a:t>
            </a:r>
          </a:p>
          <a:p>
            <a:pPr algn="l">
              <a:lnSpc>
                <a:spcPct val="145000"/>
              </a:lnSpc>
            </a:pPr>
            <a:r>
              <a:rPr sz="1634" i="0" b="0" spc="160">
                <a:solidFill>
                  <a:srgbClr val="2C322E"/>
                </a:solidFill>
                <a:latin typeface="Outfit 1 Semi-Bold"/>
              </a:rPr>
              <a:t>DO DIAGNÓSTICO.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1874520"/>
            <a:ext cx="6858000" cy="1356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2C322E"/>
                </a:solidFill>
                <a:latin typeface="Outfit 1 Semi-Bold"/>
              </a:rPr>
              <a:t>Lucas Martini estrutura proteção e sucessão para preservar possibilidades quando a vida, a família ou a empresa entram em transição.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3486988"/>
            <a:ext cx="6858000" cy="1356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Produto: seguro e soluções de proteção. Serviço: planejamento. Valor estratégico: continuidade. Valor humano: capacidade de escolha.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5099456"/>
            <a:ext cx="6858000" cy="1790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A marca já existia antes da comunicação: experiência, resultado, recomendação, confiança e histórico de atendimento. Primeiro veio a reputação. </a:t>
            </a:r>
            <a:r>
              <a:rPr sz="1900" i="0" b="0">
                <a:solidFill>
                  <a:srgbClr val="2C322E"/>
                </a:solidFill>
                <a:latin typeface="Outfit 1 Semi-Bold"/>
              </a:rPr>
              <a:t>Agora a marca precisa torná-la visível.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06 / 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4630400" cy="1978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F2F0E9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ct val="114000"/>
              </a:lnSpc>
            </a:pPr>
            <a:r>
              <a:rPr sz="5000" i="0" b="0">
                <a:solidFill>
                  <a:srgbClr val="E3C88B"/>
                </a:solidFill>
                <a:latin typeface="Outfit 1 Bold"/>
              </a:rPr>
              <a:t>NÃO DEVERIA FICAR ENTREGUE AO ACASO.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58712"/>
            <a:ext cx="10972800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C8CCC6"/>
                </a:solidFill>
                <a:latin typeface="Outfit 1 Light"/>
              </a:rPr>
              <a:t>Não porque todos os riscos possam ser eliminados, mas porque muitos dos seus impactos podem ser preparados.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7637323"/>
            <a:ext cx="10972800" cy="488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C8CCC6"/>
                </a:solidFill>
                <a:latin typeface="Outfit 1 Light"/>
              </a:rPr>
              <a:t>Nem tudo pode ser previsto. Mas muito pode ser preparado.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NÚCLEO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9653" y="2214146"/>
            <a:ext cx="1012394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ESSÊNCIA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224399"/>
            <a:ext cx="505968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Preservar liberdade de escolha. É o princípio que conecta a história, o método e a entrega.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RAZÃO DE 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PRESERVAR A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224399"/>
            <a:ext cx="505968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Manter a capacidade de decidir quando a vida tira a previsibilidade de alguém.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CAUSA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PREPARAR ANTES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224399"/>
            <a:ext cx="505968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Ampliar a cultura da preparação antes da urgência. De resolver depois para pensar antes.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781649"/>
            <a:ext cx="12179808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O que a marca combate não é a morte nem a incerteza: é o improviso, o adiamento, a falta de liquidez e a decisão tomada sob pressão.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GOLDEN CIRCLE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POR QUÊ, COMO E O QUÊ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7575" y="2214146"/>
            <a:ext cx="886602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POR QUÊ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224399"/>
            <a:ext cx="5059680" cy="125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Porque o que levou anos para ser construído não deveria perder sua continuidade por falta de preparação.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COMO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224399"/>
            <a:ext cx="5059680" cy="16514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Entendendo a realidade do cliente, identificando vulnerabilidades, projetando impactos e estruturando proteção de forma personalizada, com acompanhamento de longo prazo.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O QUÊ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224399"/>
            <a:ext cx="5059680" cy="125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Proteção de renda, familiar e empresarial. Pessoa-chave. Planejamento sucessório. Liquidez para sucessão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579946"/>
            <a:ext cx="12179808" cy="488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Não começar pelo produto. </a:t>
            </a:r>
            <a:r>
              <a:rPr sz="1900" i="0" b="0">
                <a:solidFill>
                  <a:srgbClr val="2C322E"/>
                </a:solidFill>
                <a:latin typeface="Outfit 1 Semi-Bold"/>
              </a:rPr>
              <a:t>Começar pela consequência.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09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POSICIONAMENTO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POSICIONAMENTO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8034" y="2214146"/>
            <a:ext cx="152012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0886"/>
            <a:ext cx="6400800" cy="1790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O produto não diferencia. A diferenciação está na combinação de diagnóstico, personalização, conhecimento técnico, confiança, pós-venda e relação de longo prazo.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91531"/>
            <a:ext cx="6400800" cy="7470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34" i="0" b="0" spc="160">
                <a:solidFill>
                  <a:srgbClr val="2C322E"/>
                </a:solidFill>
                <a:latin typeface="Outfit 1 Semi-Bold"/>
              </a:rPr>
              <a:t>PREPARAR ANTES PARA</a:t>
            </a:r>
          </a:p>
          <a:p>
            <a:pPr algn="l">
              <a:lnSpc>
                <a:spcPct val="145000"/>
              </a:lnSpc>
            </a:pPr>
            <a:r>
              <a:rPr sz="1634" i="0" b="0" spc="160">
                <a:solidFill>
                  <a:srgbClr val="2C322E"/>
                </a:solidFill>
                <a:latin typeface="Outfit 1 Semi-Bold"/>
              </a:rPr>
              <a:t>PRESERVAR ESCOLHAS DEPOIS.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1874520"/>
            <a:ext cx="6858000" cy="1356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2C322E"/>
                </a:solidFill>
                <a:latin typeface="Outfit 1 Semi-Bold"/>
              </a:rPr>
              <a:t>Lucas Martini é especialista em proteção e sucessão para pessoas, famílias e empresas que desejam preservar o que construíram e manter possibilidades diante do imprevisto.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3486988"/>
            <a:ext cx="6858000" cy="17902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A promessa: estruturar proteção e sucessão de forma personalizada para que famílias, profissionais e empresas mantenham recursos, possibilidades e continuidade diante de imprevistos.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5533314"/>
            <a:ext cx="6858000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A melhor proteção não é a maior. </a:t>
            </a:r>
            <a:r>
              <a:rPr sz="1900" i="0" b="0">
                <a:solidFill>
                  <a:srgbClr val="2C322E"/>
                </a:solidFill>
                <a:latin typeface="Outfit 1 Semi-Bold"/>
              </a:rPr>
              <a:t>É a que faz sentido para aquela realidade.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ARQUITETURA DE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NOME NO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248580" y="2214146"/>
            <a:ext cx="1012502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634740" cy="1012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PROTEÇÃO PESSOAL E FAMILIAR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565902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21934"/>
            <a:ext cx="3634740" cy="454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Renda, família e pilares financeiros.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220" y="4206240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9220" y="4572000"/>
            <a:ext cx="3634740" cy="1012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PROTEÇÃO EMPRESARIAL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5565902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9220" y="5821934"/>
            <a:ext cx="363474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Pessoa-chave e continuidade do negócio.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4206240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4572000"/>
            <a:ext cx="363474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SUCESSÃO FAMILIAR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64040" y="5565902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5821934"/>
            <a:ext cx="3634740" cy="454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Transferência, liquidez e inventário.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38860" y="4206240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FRENTE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38860" y="4572000"/>
            <a:ext cx="3634740" cy="1012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SUCESSÃO EMPRESARIAL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38860" y="5565902"/>
            <a:ext cx="363474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38860" y="5821934"/>
            <a:ext cx="363474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Passagem de responsabilidade e sociedade.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7379184"/>
            <a:ext cx="12179808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A confiança está associada à pessoa: a indicação chega pelo nome e o relacionamento acontece com Lucas. </a:t>
            </a:r>
            <a:r>
              <a:rPr sz="1900" i="0" b="0">
                <a:solidFill>
                  <a:srgbClr val="2C322E"/>
                </a:solidFill>
                <a:latin typeface="Outfit 1 Semi-Bold"/>
              </a:rPr>
              <a:t>A seguradora entrega o instrumento. Lucas constrói a estratégia.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11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PÚBLICO</a:t>
            </a:r>
          </a:p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E TERRITÓRIO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PARA QUEM A MARCA FALA, E SOBRE O QUE ELA FALA.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QUEM CARREGA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RESPONSABILIDADE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030694" y="3036192"/>
            <a:ext cx="110746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2931"/>
            <a:ext cx="6400800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Quatro perfis diferentes com uma coisa em comum: existe algo ou alguém que depende das decisões de cada 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1031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 TRIBO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48716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6746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633472"/>
            <a:ext cx="6355080" cy="8732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48" i="0" b="0">
                <a:solidFill>
                  <a:srgbClr val="2C322E"/>
                </a:solidFill>
                <a:latin typeface="Outfit 1 Semi-Bold"/>
              </a:rPr>
              <a:t>Quem produz a própria renda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— profissionais liberais, autônomos, executivos e especialistas;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744437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393188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890741"/>
            <a:ext cx="6355080" cy="8732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48" i="0" b="0">
                <a:solidFill>
                  <a:srgbClr val="2C322E"/>
                </a:solidFill>
                <a:latin typeface="Outfit 1 Semi-Bold"/>
              </a:rPr>
              <a:t>Quem sustenta outras pessoas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— pilares financeiros da família, cuja ausência alteraria a estrutura econômica de casa;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00170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18915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148010"/>
            <a:ext cx="6355080" cy="1264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48" i="0" b="0">
                <a:solidFill>
                  <a:srgbClr val="2C322E"/>
                </a:solidFill>
                <a:latin typeface="Outfit 1 Semi-Bold"/>
              </a:rPr>
              <a:t>Quem responde por uma empresa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— empresários, sócios e pessoas-chave de negócios dependentes de indivíduos específicos;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64986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83731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796170"/>
            <a:ext cx="6355080" cy="8732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48" i="0" b="0">
                <a:solidFill>
                  <a:srgbClr val="2C322E"/>
                </a:solidFill>
                <a:latin typeface="Outfit 1 Semi-Bold"/>
              </a:rPr>
              <a:t>Quem construiu patrimônio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— famílias e sócios que precisam organizar transferência, liquidez e sucessão.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790713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8291183"/>
            <a:ext cx="685800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São pessoas que decidem com responsabilidade sobre outros. </a:t>
            </a:r>
            <a:r>
              <a:rPr sz="1748" i="0" b="0">
                <a:solidFill>
                  <a:srgbClr val="2C322E"/>
                </a:solidFill>
                <a:latin typeface="Outfit 1 Semi-Bold"/>
              </a:rPr>
              <a:t>Falar com elas é falar de consequência, nunca de medo.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TERRITÓRIOS DE 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CONTINUIDADE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É O TERRITÓRIO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1114" y="3036192"/>
            <a:ext cx="2247046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2931"/>
            <a:ext cx="6400800" cy="1356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Todo conteúdo da marca nasce de um destes cinco territórios. Fora deles, a marca está falando de outra coisa.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1031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DO QUE A MARCA FALA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48716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6746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7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633472"/>
            <a:ext cx="6355080" cy="941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i="0" b="0">
                <a:solidFill>
                  <a:srgbClr val="2C322E"/>
                </a:solidFill>
                <a:latin typeface="Outfit 1 Semi-Bold"/>
              </a:rPr>
              <a:t>Continuidade</a:t>
            </a:r>
            <a:r>
              <a:rPr sz="1900" i="0" b="0">
                <a:solidFill>
                  <a:srgbClr val="5F6661"/>
                </a:solidFill>
                <a:latin typeface="Outfit 1 Light"/>
              </a:rPr>
              <a:t> — o que precisa seguir existindo: renda, família, empresa, patrimônio, projetos e legado;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81241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399987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7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958722"/>
            <a:ext cx="6355080" cy="941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i="0" b="0">
                <a:solidFill>
                  <a:srgbClr val="2C322E"/>
                </a:solidFill>
                <a:latin typeface="Outfit 1 Semi-Bold"/>
              </a:rPr>
              <a:t>Proteção</a:t>
            </a:r>
            <a:r>
              <a:rPr sz="1900" i="0" b="0">
                <a:solidFill>
                  <a:srgbClr val="5F6661"/>
                </a:solidFill>
                <a:latin typeface="Outfit 1 Light"/>
              </a:rPr>
              <a:t> — os recursos e estruturas que sustentam essa continuidade;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13766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3251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7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283972"/>
            <a:ext cx="6355080" cy="941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i="0" b="0">
                <a:solidFill>
                  <a:srgbClr val="2C322E"/>
                </a:solidFill>
                <a:latin typeface="Outfit 1 Semi-Bold"/>
              </a:rPr>
              <a:t>Sucessão</a:t>
            </a:r>
            <a:r>
              <a:rPr sz="1900" i="0" b="0">
                <a:solidFill>
                  <a:srgbClr val="5F6661"/>
                </a:solidFill>
                <a:latin typeface="Outfit 1 Light"/>
              </a:rPr>
              <a:t> — a preparação para a passagem de responsabilidade e patrimônio;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646291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65037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7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09222"/>
            <a:ext cx="6355080" cy="941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i="0" b="0">
                <a:solidFill>
                  <a:srgbClr val="2C322E"/>
                </a:solidFill>
                <a:latin typeface="Outfit 1 Semi-Bold"/>
              </a:rPr>
              <a:t>Dignidade financeira</a:t>
            </a:r>
            <a:r>
              <a:rPr sz="1900" i="0" b="0">
                <a:solidFill>
                  <a:srgbClr val="5F6661"/>
                </a:solidFill>
                <a:latin typeface="Outfit 1 Light"/>
              </a:rPr>
              <a:t> — a preservação de alternativas em momentos difíceis;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778816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79756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7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7934472"/>
            <a:ext cx="6355080" cy="941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i="0" b="0">
                <a:solidFill>
                  <a:srgbClr val="2C322E"/>
                </a:solidFill>
                <a:latin typeface="Outfit 1 Semi-Bold"/>
              </a:rPr>
              <a:t>Escolha e responsabilidade</a:t>
            </a:r>
            <a:r>
              <a:rPr sz="1900" i="0" b="0">
                <a:solidFill>
                  <a:srgbClr val="5F6661"/>
                </a:solidFill>
                <a:latin typeface="Outfit 1 Light"/>
              </a:rPr>
              <a:t> — decidir sem ser dominado pela urgência.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911341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COMO A MARCA ATUA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OS CINCO PILARES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4388" y="2214146"/>
            <a:ext cx="10839212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4704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ANTECIPAÇÃO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553964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28284"/>
            <a:ext cx="2838298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Decisões são melhores sem urgência.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626" y="4343400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9626" y="5124704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9626" y="5553964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9626" y="5828284"/>
            <a:ext cx="2838298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Não existe proteção ideal fora de contexto.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4851" y="4343400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4851" y="5124704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CONFIANÇA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4851" y="5553964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4851" y="5828284"/>
            <a:ext cx="2838298" cy="125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Transparência e consistência ao longo dos anos.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30077" y="4343400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30077" y="5124704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CONTINUIDADE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130077" y="5553964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30077" y="5828284"/>
            <a:ext cx="2838298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A proteção não termina na contratação.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35302" y="4343400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AE8C4E"/>
                </a:solidFill>
                <a:latin typeface="Outfit 1 Light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35302" y="5124704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2C322E"/>
                </a:solidFill>
                <a:latin typeface="Outfit 1 Semi-Bold"/>
              </a:rPr>
              <a:t>EXCELÊNCIA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535302" y="5553964"/>
            <a:ext cx="2838298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35302" y="5828284"/>
            <a:ext cx="2838298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Menos discurso, mais padrão de execução.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15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VOZ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AUTORIDADE DISCRETA: PROVAR, NÃO PROCLAMAR.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PERSONALIDADE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AUTORIDADE DISCRETA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4263" y="2214146"/>
            <a:ext cx="936933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POSTURA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SEGURO E PREPARADO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224399"/>
            <a:ext cx="505968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Transmite domínio sem precisar provar o tempo todo. Estuda antes de orientar.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RELAÇÃO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CONSULTIVO E HUMANO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224399"/>
            <a:ext cx="505968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Pergunta antes de oferecer e entende o que existe por trás dos números.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ELEGANTE E ACESSÍVEL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224399"/>
            <a:ext cx="505968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Sofisticação sem ostentação. Torna o complexo compreensível.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781649"/>
            <a:ext cx="12179808" cy="488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2C322E"/>
                </a:solidFill>
                <a:latin typeface="Outfit 1 Semi-Bold"/>
              </a:rPr>
              <a:t>Nunca:</a:t>
            </a:r>
            <a:r>
              <a:rPr sz="1900" i="0" b="0">
                <a:solidFill>
                  <a:srgbClr val="5F6661"/>
                </a:solidFill>
                <a:latin typeface="Outfit 1 Light"/>
              </a:rPr>
              <a:t> alarmista, exibicionista, técnica demais, comercial demais ou genérica.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TOM DE VOZ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PROVAR,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NÃO PROCLAMAR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916" y="3036192"/>
            <a:ext cx="1737244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2931"/>
            <a:ext cx="6400800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A marca não precisa assustar para ser ouvida, nem anunciar para ser reconhecida.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71542"/>
            <a:ext cx="6400800" cy="4887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A autoridade aparece na qualidade da pergunta.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1783080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196596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2276856"/>
            <a:ext cx="6858000" cy="4950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805" i="0" b="0" strike="sngStrike">
                <a:solidFill>
                  <a:srgbClr val="AE8C4E"/>
                </a:solidFill>
                <a:latin typeface="Outfit 1 Light"/>
              </a:rPr>
              <a:t>Você pode morrer amanhã.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2954813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3265709"/>
            <a:ext cx="6858000" cy="4950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805" i="0" b="0">
                <a:solidFill>
                  <a:srgbClr val="2C322E"/>
                </a:solidFill>
                <a:latin typeface="Outfit 1 Light"/>
              </a:rPr>
              <a:t>Quem depende financeiramente de você hoje?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403510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4217986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4528882"/>
            <a:ext cx="6858000" cy="4950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805" i="0" b="0" strike="sngStrike">
                <a:solidFill>
                  <a:srgbClr val="AE8C4E"/>
                </a:solidFill>
                <a:latin typeface="Outfit 1 Light"/>
              </a:rPr>
              <a:t>Você precisa contratar um seguro de vida.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206839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5517735"/>
            <a:ext cx="6858000" cy="898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805" i="0" b="0">
                <a:solidFill>
                  <a:srgbClr val="2C322E"/>
                </a:solidFill>
                <a:latin typeface="Outfit 1 Light"/>
              </a:rPr>
              <a:t>Antes do produto, precisamos entender o impacto financeiro que uma ausência produziria.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6690769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6873649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9AA09A"/>
                </a:solidFill>
                <a:latin typeface="Outfit 1 Semi-Bold"/>
              </a:rPr>
              <a:t>EM VEZ 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184545"/>
            <a:ext cx="6858000" cy="4950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805" i="0" b="0" strike="sngStrike">
                <a:solidFill>
                  <a:srgbClr val="AE8C4E"/>
                </a:solidFill>
                <a:latin typeface="Outfit 1 Light"/>
              </a:rPr>
              <a:t>Olha onde eu cheguei.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7862502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PREFERE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8173398"/>
            <a:ext cx="6858000" cy="8987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805" i="0" b="0">
                <a:solidFill>
                  <a:srgbClr val="2C322E"/>
                </a:solidFill>
                <a:latin typeface="Outfit 1 Light"/>
              </a:rPr>
              <a:t>Esse reconhecimento representa dez anos de consistência e confiança de clientes.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18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VOCABULÁRIO E ESTILO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PALAVRAS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53313" y="2214146"/>
            <a:ext cx="9120287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VERBOS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PREPARAR · ESTRUTURAR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224399"/>
            <a:ext cx="5059680" cy="125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Preservar · antecipar · organizar · traduzir · acompanhar. São verbos de preparação: a marca conduz, não assiste.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416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PALAVRAS PRÓPRIAS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416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>
                <a:solidFill>
                  <a:srgbClr val="2C322E"/>
                </a:solidFill>
                <a:latin typeface="Outfit 1 Light"/>
              </a:rPr>
              <a:t>CONTINUIDADE · ESCOLHA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1416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4160" y="5224399"/>
            <a:ext cx="505968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Proteção · sucessão · dignidade financeira · liquidez · possibilidades · responsabilidade · consequência.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3920" y="4069080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NUNCA USAMOS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13920" y="4434840"/>
            <a:ext cx="5059680" cy="551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i="0" b="0" spc="40" strike="sngStrike">
                <a:solidFill>
                  <a:srgbClr val="2C322E"/>
                </a:solidFill>
                <a:latin typeface="Outfit 1 Light"/>
              </a:rPr>
              <a:t>TRAGÉDIA · URGÊNCIA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4968367"/>
            <a:ext cx="5059680" cy="10973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13920" y="5224399"/>
            <a:ext cx="5059680" cy="1252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 strike="sngStrike">
                <a:solidFill>
                  <a:srgbClr val="5F6661"/>
                </a:solidFill>
                <a:latin typeface="Outfit 1 Light"/>
              </a:rPr>
              <a:t>Fatalidade · desespero · oportunidade imperdível · a melhor proteção do mercado.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Nada que venda pelo susto.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7180797"/>
            <a:ext cx="12179808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Frases curtas. Ponto final. Argumento concreto. A comunicação acompanha o comportamento da marca: </a:t>
            </a:r>
            <a:r>
              <a:rPr sz="1900" i="0" b="0">
                <a:solidFill>
                  <a:srgbClr val="2C322E"/>
                </a:solidFill>
                <a:latin typeface="Outfit 1 Semi-Bold"/>
              </a:rPr>
              <a:t>escuta, entende e vai ao ponto.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19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2314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IDENTIDADE</a:t>
            </a:r>
          </a:p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VISUAL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7965948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20369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O ESCUDO, O VERDE E O DOURADO.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LOGOTIPO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AS VERSÕES DA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961290" y="2214146"/>
            <a:ext cx="9412310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977640"/>
            <a:ext cx="3703320" cy="269748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m-horizontal-dou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031" y="4938601"/>
            <a:ext cx="2296058" cy="7755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6931152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PRINCIPAL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278624"/>
            <a:ext cx="3703320" cy="762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Dourado sobre o verde da marca. É a versão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3977640"/>
            <a:ext cx="3703320" cy="26974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m-horizontal-p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991" y="4929398"/>
            <a:ext cx="2296058" cy="7939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6360" y="6931152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MONOCROMÁTICA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7278624"/>
            <a:ext cx="3703320" cy="762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Preto sobre papel. Documento, contrato, impressão em uma cor.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3977640"/>
            <a:ext cx="3703320" cy="269748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m-vertical-pre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1951" y="4910176"/>
            <a:ext cx="2296058" cy="832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418320" y="6931152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7278624"/>
            <a:ext cx="3703320" cy="762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Para espaços estreitos: avatar, carimbo, assinatura de e-mail.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670280" y="3977640"/>
            <a:ext cx="3703320" cy="269748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m-vertical-cla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73911" y="4903422"/>
            <a:ext cx="2296058" cy="8459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670280" y="6931152"/>
            <a:ext cx="37033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SOBRE FOTOGRAFIA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70280" y="7278624"/>
            <a:ext cx="3703320" cy="762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Versão clara, só quando o fundo for escuro o bastante.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USOS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O QUE PRESERVA A 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6638" y="2214146"/>
            <a:ext cx="-728478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0886"/>
            <a:ext cx="6400800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O escudo é o ativo mais permanente da identidade. Tudo o que o deforma, enfraquece a marca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21031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SEMPRE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48716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6746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633472"/>
            <a:ext cx="6355080" cy="8732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48" i="0" b="0">
                <a:solidFill>
                  <a:srgbClr val="2C322E"/>
                </a:solidFill>
                <a:latin typeface="Outfit 1 Semi-Bold"/>
              </a:rPr>
              <a:t>Respiro.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Deixar em volta do logo, livre, pelo menos a altura do escudo;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744437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393188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890741"/>
            <a:ext cx="6355080" cy="8732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48" i="0" b="0">
                <a:solidFill>
                  <a:srgbClr val="2C322E"/>
                </a:solidFill>
                <a:latin typeface="Outfit 1 Semi-Bold"/>
              </a:rPr>
              <a:t>Contraste.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Dourado sobre verde ou escuro; preto sobre papel ou areia. Dourado sobre claro, nunca;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500170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518915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5148010"/>
            <a:ext cx="6355080" cy="482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48" i="0" b="0">
                <a:solidFill>
                  <a:srgbClr val="2C322E"/>
                </a:solidFill>
                <a:latin typeface="Outfit 1 Semi-Bold"/>
              </a:rPr>
              <a:t>Proporção.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O logo nunca é esticado, inclinado ou recortado;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586808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605553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014389"/>
            <a:ext cx="6355080" cy="482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48" i="0" b="0">
                <a:solidFill>
                  <a:srgbClr val="2C322E"/>
                </a:solidFill>
                <a:latin typeface="Outfit 1 Semi-Bold"/>
              </a:rPr>
              <a:t>Tamanho mínimo.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Abaixo de 2 cm de largura, usar só o escudo;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6734463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692191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3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880767"/>
            <a:ext cx="6355080" cy="8732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48" i="0" b="0">
                <a:solidFill>
                  <a:srgbClr val="2C322E"/>
                </a:solidFill>
                <a:latin typeface="Outfit 1 Semi-Bold"/>
              </a:rPr>
              <a:t>Uma marca por peça.</a:t>
            </a:r>
            <a:r>
              <a:rPr sz="1748" i="0" b="0">
                <a:solidFill>
                  <a:srgbClr val="5F6661"/>
                </a:solidFill>
                <a:latin typeface="Outfit 1 Light"/>
              </a:rPr>
              <a:t> O escudo não divide espaço com selo, etiqueta ou moldura decorativa.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799173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8375780"/>
            <a:ext cx="6858000" cy="853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48" i="0" b="0">
                <a:solidFill>
                  <a:srgbClr val="5F6661"/>
                </a:solidFill>
                <a:latin typeface="Outfit 1 Light"/>
              </a:rPr>
              <a:t>Nenhuma sombra, nenhum contorno, nenhum efeito. </a:t>
            </a:r>
            <a:r>
              <a:rPr sz="1748" i="0" b="0">
                <a:solidFill>
                  <a:srgbClr val="2C322E"/>
                </a:solidFill>
                <a:latin typeface="Outfit 1 Semi-Bold"/>
              </a:rPr>
              <a:t>A elegância da marca está na sua contenção.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PALETA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3326" y="2214146"/>
            <a:ext cx="13330274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931920"/>
            <a:ext cx="2889504" cy="2651760"/>
          </a:xfrm>
          <a:prstGeom prst="rect">
            <a:avLst/>
          </a:prstGeom>
          <a:solidFill>
            <a:srgbClr val="4A5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85800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VERDE PROFUNDO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7205472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#4A534E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571232"/>
            <a:ext cx="2889504" cy="762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A cor da marca. Fundo de capa, de capítulo e de assinatura.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3931920"/>
            <a:ext cx="2889504" cy="2651760"/>
          </a:xfrm>
          <a:prstGeom prst="rect">
            <a:avLst/>
          </a:prstGeom>
          <a:solidFill>
            <a:srgbClr val="C9A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685800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DOURADO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7205472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#C9A961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7571232"/>
            <a:ext cx="2889504" cy="1116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O acento. Filete, numeral e destaque — nunca em área grande.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99248" y="3931920"/>
            <a:ext cx="2889504" cy="2651760"/>
          </a:xfrm>
          <a:prstGeom prst="rect">
            <a:avLst/>
          </a:prstGeom>
          <a:solidFill>
            <a:srgbClr val="CEC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9248" y="685800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AREIA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9248" y="7205472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#CEC3B5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7571232"/>
            <a:ext cx="2889504" cy="1116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A cor de apoio. Fundos claros, papelaria e aplicações impressas.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091672" y="3931920"/>
            <a:ext cx="2889504" cy="2651760"/>
          </a:xfrm>
          <a:prstGeom prst="rect">
            <a:avLst/>
          </a:prstGeom>
          <a:solidFill>
            <a:srgbClr val="2C3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91672" y="685800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GRAFITE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7205472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#2C322E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7571232"/>
            <a:ext cx="2889504" cy="762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O texto. Títulos e corpo sobre papel.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484096" y="3931920"/>
            <a:ext cx="2889504" cy="2651760"/>
          </a:xfrm>
          <a:prstGeom prst="rect">
            <a:avLst/>
          </a:prstGeom>
          <a:solidFill>
            <a:srgbClr val="F6F4EF"/>
          </a:solidFill>
          <a:ln w="11430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84096" y="6858000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2C322E"/>
                </a:solidFill>
                <a:latin typeface="Outfit 1 Semi-Bold"/>
              </a:rPr>
              <a:t>PAPEL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84096" y="7205472"/>
            <a:ext cx="28895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75" i="0" b="0" spc="220">
                <a:solidFill>
                  <a:srgbClr val="AE8C4E"/>
                </a:solidFill>
                <a:latin typeface="Outfit 1 Light"/>
              </a:rPr>
              <a:t>#F6F4EF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84096" y="7571232"/>
            <a:ext cx="2889504" cy="762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O fundo de leitura e o texto sobre o verde.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TIPOGRAFIA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TIPOGRAFIA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383055" y="2214146"/>
            <a:ext cx="11990545" cy="12802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86200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ASSINATURA · ALLROUNDER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33672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Lucas Martini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4306824"/>
            <a:ext cx="4937760" cy="762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A serifada do logotipo. Vive no logo e na assinatura — não é fonte de texto corrido.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40680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16168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TEXTO · DM SANS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63640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0" y="6336792"/>
            <a:ext cx="4937760" cy="1116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A sem-serifa de apoio: títulos, corpo e legenda. Caixa alta espacejada nos rótulos, sempre com espacejamento largo.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7470648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7946136"/>
            <a:ext cx="1645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HIERARQUIA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8293608"/>
            <a:ext cx="11521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0">
                <a:solidFill>
                  <a:srgbClr val="2C322E"/>
                </a:solidFill>
                <a:latin typeface="Outfit 1 Semi-Bold"/>
              </a:rPr>
              <a:t>Clareza antes de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0" y="8366760"/>
            <a:ext cx="4937760" cy="1116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5F6661"/>
                </a:solidFill>
                <a:latin typeface="Outfit 1 Light"/>
              </a:rPr>
              <a:t>Título grande em peso leve; destaque em semibold. O peso marca a frase que a pessoa leva embora — nunca a frase inteira.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9500616"/>
            <a:ext cx="164592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10158984"/>
            <a:ext cx="11850624" cy="762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i="0" b="0">
                <a:solidFill>
                  <a:srgbClr val="9AA09A"/>
                </a:solidFill>
                <a:latin typeface="Outfit 1 Light"/>
              </a:rPr>
              <a:t>Os espécimes desta página estão compostos na fonte deste documento. As fontes oficiais da marca são a Allrounder, no logotipo, e a DM Sans, no texto.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lm-escudo-dourado.png"/>
          <p:cNvPicPr>
            <a:picLocks noChangeAspect="1"/>
          </p:cNvPicPr>
          <p:nvPr/>
        </p:nvPicPr>
        <p:blipFill>
          <a:blip r:embed="rId4">
            <a:alphaModFix amt="13000"/>
          </a:blip>
          <a:stretch>
            <a:fillRect/>
          </a:stretch>
        </p:blipFill>
        <p:spPr>
          <a:xfrm>
            <a:off x="11338560" y="548640"/>
            <a:ext cx="7773603" cy="8321040"/>
          </a:xfrm>
          <a:prstGeom prst="rect">
            <a:avLst/>
          </a:prstGeom>
        </p:spPr>
      </p:pic>
      <p:pic>
        <p:nvPicPr>
          <p:cNvPr id="6" name="Picture 5" descr="trama-canto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24 /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5486400" cy="957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5800" i="0" b="0">
                <a:solidFill>
                  <a:srgbClr val="E3C88B"/>
                </a:solidFill>
                <a:latin typeface="Outfit 1 Ligh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972800" cy="1157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000" i="0" b="0">
                <a:solidFill>
                  <a:srgbClr val="F2F0E9"/>
                </a:solidFill>
                <a:latin typeface="Outfit 1 Bold"/>
              </a:rPr>
              <a:t>MANIFESTO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808470"/>
            <a:ext cx="1188720" cy="16459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7046214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300">
                <a:solidFill>
                  <a:srgbClr val="F2F0E9"/>
                </a:solidFill>
                <a:latin typeface="Outfit 1 Semi-Bold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6" name="Picture 5" descr="lm-escudo-dourado.png"/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12435840" y="1463040"/>
            <a:ext cx="6833937" cy="7315200"/>
          </a:xfrm>
          <a:prstGeom prst="rect">
            <a:avLst/>
          </a:prstGeom>
        </p:spPr>
      </p:pic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E3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C8CCC6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E3C88B"/>
                </a:solidFill>
                <a:latin typeface="Outfit 1 Semi-Bold"/>
              </a:rPr>
              <a:t>25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E3C88B"/>
                </a:solidFill>
                <a:latin typeface="Outfit 1 Semi-Bold"/>
              </a:rPr>
              <a:t>MANIFESTO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14630400" cy="6304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HÁ COISAS QUE LEVAM ANOS PARA CONSTRUIR.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UMA CARREIRA. UMA FAMÍLIA. UMA EMPRESA. UM PATRIMÔNIO.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 NENHUMA DELAS DEVERIA FICAR COMPLETAMENTE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DEPENDENTE DAQUILO QUE NÃO PODEMOS CONTROLAR.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PLANEJAR NÃO É ESPERAR QUE ALGO DÊ ERRADO.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RECONHECER O VALOR DAQUILO QUE DEU CERTO.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É PENSAR ANTES. ENQUANTO EXISTE TEMPO.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ENQUANTO PODEMOS ESCOLHER.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NEM TUDO PODE SER PREVISTO. </a:t>
            </a:r>
            <a:r>
              <a:rPr sz="3100" i="0" b="0">
                <a:solidFill>
                  <a:srgbClr val="E3C88B"/>
                </a:solidFill>
                <a:latin typeface="Outfit 1 Bold"/>
              </a:rPr>
              <a:t>MAS MUITO PODE SER PREPARADO.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0E9"/>
                </a:solidFill>
                <a:latin typeface="Outfit 1 Light"/>
              </a:rPr>
              <a:t>PORQUE PROTEÇÃO NÃO EXISTE PARA PRESERVAR DINHEIRO.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E3C88B"/>
                </a:solidFill>
                <a:latin typeface="Outfit 1 Bold"/>
              </a:rPr>
              <a:t>EXISTE PARA PRESERVAR POSSIBILIDADES.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" y="603504"/>
            <a:ext cx="20117" cy="237744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4128" y="62179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i="0" b="0" spc="260">
                <a:solidFill>
                  <a:srgbClr val="9AA09A"/>
                </a:solidFill>
                <a:latin typeface="Outfit 1 Semi-Bold"/>
              </a:rPr>
              <a:t>BRAND BOOK LUCAS MARTINI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AE8C4E"/>
                </a:solidFill>
                <a:latin typeface="Outfit 1 Semi-Bold"/>
              </a:rPr>
              <a:t>26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618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SÍNTESE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A MARCA EM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2C322E"/>
                </a:solidFill>
                <a:latin typeface="Outfit 1 Light"/>
              </a:rPr>
              <a:t>UMA PÁGINA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4974065" y="3036192"/>
            <a:ext cx="3164095" cy="12802"/>
          </a:xfrm>
          <a:prstGeom prst="rect">
            <a:avLst/>
          </a:prstGeom>
          <a:solidFill>
            <a:srgbClr val="AE8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2931"/>
            <a:ext cx="6400800" cy="922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5F6661"/>
                </a:solidFill>
                <a:latin typeface="Outfit 1 Light"/>
              </a:rPr>
              <a:t>Se este documento inteiro se perdesse, bastaria esta página.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1783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AE8C4E"/>
                </a:solidFill>
                <a:latin typeface="Outfit 1 Semi-Bold"/>
              </a:rPr>
              <a:t>O ESSENCIAL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21240" y="2167128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1240" y="23545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71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313432"/>
            <a:ext cx="6355080" cy="7846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50" i="0" b="0">
                <a:solidFill>
                  <a:srgbClr val="2C322E"/>
                </a:solidFill>
                <a:latin typeface="Outfit 1 Semi-Bold"/>
              </a:rPr>
              <a:t>Crença fundadora.</a:t>
            </a:r>
            <a:r>
              <a:rPr sz="1550" i="0" b="0">
                <a:solidFill>
                  <a:srgbClr val="5F6661"/>
                </a:solidFill>
                <a:latin typeface="Outfit 1 Light"/>
              </a:rPr>
              <a:t> O que levou anos para ser construído não deveria ficar entregue ao acaso.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21240" y="3335843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1240" y="352329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71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482147"/>
            <a:ext cx="6355080" cy="438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50" i="0" b="0">
                <a:solidFill>
                  <a:srgbClr val="2C322E"/>
                </a:solidFill>
                <a:latin typeface="Outfit 1 Semi-Bold"/>
              </a:rPr>
              <a:t>Essência.</a:t>
            </a:r>
            <a:r>
              <a:rPr sz="1550" i="0" b="0">
                <a:solidFill>
                  <a:srgbClr val="5F6661"/>
                </a:solidFill>
                <a:latin typeface="Outfit 1 Light"/>
              </a:rPr>
              <a:t> Construir segurança para preservar liberdade de escolha.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21240" y="415794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434539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71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4304248"/>
            <a:ext cx="6355080" cy="438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50" i="0" b="0">
                <a:solidFill>
                  <a:srgbClr val="2C322E"/>
                </a:solidFill>
                <a:latin typeface="Outfit 1 Semi-Bold"/>
              </a:rPr>
              <a:t>Causa.</a:t>
            </a:r>
            <a:r>
              <a:rPr sz="1550" i="0" b="0">
                <a:solidFill>
                  <a:srgbClr val="5F6661"/>
                </a:solidFill>
                <a:latin typeface="Outfit 1 Light"/>
              </a:rPr>
              <a:t> Ampliar a cultura da preparação antes da urgência.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4980046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516749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71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5126350"/>
            <a:ext cx="6355080" cy="438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50" i="0" b="0">
                <a:solidFill>
                  <a:srgbClr val="2C322E"/>
                </a:solidFill>
                <a:latin typeface="Outfit 1 Semi-Bold"/>
              </a:rPr>
              <a:t>Território.</a:t>
            </a:r>
            <a:r>
              <a:rPr sz="1550" i="0" b="0">
                <a:solidFill>
                  <a:srgbClr val="5F6661"/>
                </a:solidFill>
                <a:latin typeface="Outfit 1 Light"/>
              </a:rPr>
              <a:t> Continuidade.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40" y="5802147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598959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71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5948451"/>
            <a:ext cx="6355080" cy="7846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50" i="0" b="0">
                <a:solidFill>
                  <a:srgbClr val="2C322E"/>
                </a:solidFill>
                <a:latin typeface="Outfit 1 Semi-Bold"/>
              </a:rPr>
              <a:t>Posicionamento.</a:t>
            </a:r>
            <a:r>
              <a:rPr sz="1550" i="0" b="0">
                <a:solidFill>
                  <a:srgbClr val="5F6661"/>
                </a:solidFill>
                <a:latin typeface="Outfit 1 Light"/>
              </a:rPr>
              <a:t> Especialista em proteção e sucessão para quem deseja preservar o que construiu.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6970862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715831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71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7117166"/>
            <a:ext cx="6355080" cy="438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50" i="0" b="0">
                <a:solidFill>
                  <a:srgbClr val="2C322E"/>
                </a:solidFill>
                <a:latin typeface="Outfit 1 Semi-Bold"/>
              </a:rPr>
              <a:t>Princípio de comunicação.</a:t>
            </a:r>
            <a:r>
              <a:rPr sz="1550" i="0" b="0">
                <a:solidFill>
                  <a:srgbClr val="5F6661"/>
                </a:solidFill>
                <a:latin typeface="Outfit 1 Light"/>
              </a:rPr>
              <a:t> Provar, não proclamar.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7792964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798041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71" i="0" b="0">
                <a:solidFill>
                  <a:srgbClr val="AE8C4E"/>
                </a:solidFill>
                <a:latin typeface="Outfit 1 Light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7939268"/>
            <a:ext cx="6355080" cy="438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550" i="0" b="0">
                <a:solidFill>
                  <a:srgbClr val="2C322E"/>
                </a:solidFill>
                <a:latin typeface="Outfit 1 Semi-Bold"/>
              </a:rPr>
              <a:t>Personalidade.</a:t>
            </a:r>
            <a:r>
              <a:rPr sz="1550" i="0" b="0">
                <a:solidFill>
                  <a:srgbClr val="5F6661"/>
                </a:solidFill>
                <a:latin typeface="Outfit 1 Light"/>
              </a:rPr>
              <a:t> Autoridade discreta.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8615065"/>
            <a:ext cx="6858000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534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ma-pe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m-vertical-dourado-escu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474720"/>
            <a:ext cx="6035040" cy="24110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355080"/>
            <a:ext cx="1828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62" i="0" b="0" spc="420">
                <a:solidFill>
                  <a:srgbClr val="E3C88B"/>
                </a:solidFill>
                <a:latin typeface="Outfit 1 Semi-Bold"/>
              </a:rPr>
              <a:t>PROTEÇÃO &amp; SUCESSÃO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995160"/>
            <a:ext cx="1828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50" i="0" b="0">
                <a:solidFill>
                  <a:srgbClr val="C8CCC6"/>
                </a:solidFill>
                <a:latin typeface="Outfit 1 Light"/>
              </a:rPr>
              <a:t>Método Marca com Essência ©   ·   KA | Inteligência para Marcas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