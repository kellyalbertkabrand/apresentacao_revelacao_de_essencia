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19"/>
    <p:sldId id="257" r:id="rId20"/>
    <p:sldId id="258" r:id="rId21"/>
    <p:sldId id="259" r:id="rId22"/>
    <p:sldId id="260" r:id="rId23"/>
    <p:sldId id="261" r:id="rId24"/>
    <p:sldId id="262" r:id="rId25"/>
    <p:sldId id="263" r:id="rId26"/>
    <p:sldId id="264" r:id="rId27"/>
    <p:sldId id="265" r:id="rId28"/>
    <p:sldId id="266" r:id="rId29"/>
    <p:sldId id="267" r:id="rId30"/>
    <p:sldId id="268" r:id="rId31"/>
    <p:sldId id="269" r:id="rId32"/>
    <p:sldId id="270" r:id="rId33"/>
    <p:sldId id="271" r:id="rId34"/>
    <p:sldId id="272" r:id="rId35"/>
    <p:sldId id="273" r:id="rId36"/>
    <p:sldId id="274" r:id="rId18"/>
    <p:sldId id="275" r:id="rId17"/>
    <p:sldId id="276" r:id="rId16"/>
    <p:sldId id="277" r:id="rId15"/>
    <p:sldId id="278" r:id="rId14"/>
    <p:sldId id="279" r:id="rId13"/>
    <p:sldId id="280" r:id="rId12"/>
    <p:sldId id="281" r:id="rId11"/>
    <p:sldId id="282" r:id="rId10"/>
  </p:sldIdLst>
  <p:sldSz cx="18288000" cy="10287000"/>
  <p:notesSz cx="6858000" cy="9144000"/>
  <p:embeddedFontLst>
    <p:embeddedFont>
      <p:font typeface="Koho" charset="1" panose="00000500000000000000"/>
      <p:regular r:id="rId37"/>
    </p:embeddedFont>
    <p:embeddedFont>
      <p:font typeface="Koho Medium" charset="1" panose="00000600000000000000"/>
      <p:regular r:id="rId38"/>
    </p:embeddedFont>
    <p:embeddedFont>
      <p:font typeface="Outfit 1 Medium" charset="1" panose="00000000000000000000"/>
      <p:regular r:id="rId39"/>
    </p:embeddedFont>
    <p:embeddedFont>
      <p:font typeface="IBM Plex Sans Thai" charset="1" panose="020B0503050203000203"/>
      <p:regular r:id="rId40"/>
    </p:embeddedFont>
    <p:embeddedFont>
      <p:font typeface="Outfit 2 Light" charset="1" panose="00000000000000000000"/>
      <p:regular r:id="rId41"/>
    </p:embeddedFont>
    <p:embeddedFont>
      <p:font typeface="Outfit 2 Medium" charset="1" panose="00000000000000000000"/>
      <p:regular r:id="rId42"/>
    </p:embeddedFont>
    <p:embeddedFont>
      <p:font typeface="Outfit 2 Semi-Bold" charset="1" panose="00000000000000000000"/>
      <p:regular r:id="rId43"/>
    </p:embeddedFont>
    <p:embeddedFont>
      <p:font typeface="Playfair Display" charset="1" panose="02000503000000020003"/>
      <p:regular r:id="rId44"/>
    </p:embeddedFont>
    <p:embeddedFont>
      <p:font typeface="Outfit 1 Bold" charset="1" panose="00000000000000000000"/>
      <p:regular r:id="rId45"/>
    </p:embeddedFont>
    <p:embeddedFont>
      <p:font typeface="Outfit 1" charset="1" panose="00000000000000000000"/>
      <p:regular r:id="rId46"/>
    </p:embeddedFont>
    <p:embeddedFont>
      <p:font typeface="Outfit 1 Semi-Bold" charset="1" panose="00000000000000000000"/>
      <p:regular r:id="rId47"/>
    </p:embeddedFont>
    <p:embeddedFont>
      <p:font typeface="Outfit 1 Light" charset="1" panose="00000000000000000000"/>
      <p:regular r:id="rId48"/>
    </p:embeddedFont>
    <p:embeddedFont>
      <p:font typeface="Outfit 1 Ultra-Bold" charset="1" panose="00000000000000000000"/>
      <p:regular r:id="rId4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0" Type="http://schemas.openxmlformats.org/officeDocument/2006/relationships/slide" Target="slides/slide27.xml"/><Relationship Id="rId11" Type="http://schemas.openxmlformats.org/officeDocument/2006/relationships/slide" Target="slides/slide26.xml"/><Relationship Id="rId12" Type="http://schemas.openxmlformats.org/officeDocument/2006/relationships/slide" Target="slides/slide25.xml"/><Relationship Id="rId13" Type="http://schemas.openxmlformats.org/officeDocument/2006/relationships/slide" Target="slides/slide24.xml"/><Relationship Id="rId14" Type="http://schemas.openxmlformats.org/officeDocument/2006/relationships/slide" Target="slides/slide23.xml"/><Relationship Id="rId15" Type="http://schemas.openxmlformats.org/officeDocument/2006/relationships/slide" Target="slides/slide22.xml"/><Relationship Id="rId16" Type="http://schemas.openxmlformats.org/officeDocument/2006/relationships/slide" Target="slides/slide21.xml"/><Relationship Id="rId17" Type="http://schemas.openxmlformats.org/officeDocument/2006/relationships/slide" Target="slides/slide20.xml"/><Relationship Id="rId18" Type="http://schemas.openxmlformats.org/officeDocument/2006/relationships/slide" Target="slides/slide19.xml"/><Relationship Id="rId19" Type="http://schemas.openxmlformats.org/officeDocument/2006/relationships/slide" Target="slides/slide1.xml"/><Relationship Id="rId20" Type="http://schemas.openxmlformats.org/officeDocument/2006/relationships/slide" Target="slides/slide2.xml"/><Relationship Id="rId21" Type="http://schemas.openxmlformats.org/officeDocument/2006/relationships/slide" Target="slides/slide3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8.xml"/><Relationship Id="rId27" Type="http://schemas.openxmlformats.org/officeDocument/2006/relationships/slide" Target="slides/slide9.xml"/><Relationship Id="rId28" Type="http://schemas.openxmlformats.org/officeDocument/2006/relationships/slide" Target="slides/slide10.xml"/><Relationship Id="rId29" Type="http://schemas.openxmlformats.org/officeDocument/2006/relationships/slide" Target="slides/slide11.xml"/><Relationship Id="rId30" Type="http://schemas.openxmlformats.org/officeDocument/2006/relationships/slide" Target="slides/slide12.xml"/><Relationship Id="rId31" Type="http://schemas.openxmlformats.org/officeDocument/2006/relationships/slide" Target="slides/slide13.xml"/><Relationship Id="rId32" Type="http://schemas.openxmlformats.org/officeDocument/2006/relationships/slide" Target="slides/slide14.xml"/><Relationship Id="rId33" Type="http://schemas.openxmlformats.org/officeDocument/2006/relationships/slide" Target="slides/slide15.xml"/><Relationship Id="rId34" Type="http://schemas.openxmlformats.org/officeDocument/2006/relationships/slide" Target="slides/slide16.xml"/><Relationship Id="rId35" Type="http://schemas.openxmlformats.org/officeDocument/2006/relationships/slide" Target="slides/slide17.xml"/><Relationship Id="rId36" Type="http://schemas.openxmlformats.org/officeDocument/2006/relationships/slide" Target="slides/slide18.xml"/><Relationship Id="rId37" Type="http://schemas.openxmlformats.org/officeDocument/2006/relationships/font" Target="fonts/font37.fntdata"/><Relationship Id="rId38" Type="http://schemas.openxmlformats.org/officeDocument/2006/relationships/font" Target="fonts/font38.fntdata"/><Relationship Id="rId39" Type="http://schemas.openxmlformats.org/officeDocument/2006/relationships/font" Target="fonts/font39.fntdata"/><Relationship Id="rId40" Type="http://schemas.openxmlformats.org/officeDocument/2006/relationships/font" Target="fonts/font40.fntdata"/><Relationship Id="rId41" Type="http://schemas.openxmlformats.org/officeDocument/2006/relationships/font" Target="fonts/font41.fntdata"/><Relationship Id="rId42" Type="http://schemas.openxmlformats.org/officeDocument/2006/relationships/font" Target="fonts/font42.fntdata"/><Relationship Id="rId43" Type="http://schemas.openxmlformats.org/officeDocument/2006/relationships/font" Target="fonts/font43.fntdata"/><Relationship Id="rId44" Type="http://schemas.openxmlformats.org/officeDocument/2006/relationships/font" Target="fonts/font44.fntdata"/><Relationship Id="rId45" Type="http://schemas.openxmlformats.org/officeDocument/2006/relationships/font" Target="fonts/font45.fntdata"/><Relationship Id="rId46" Type="http://schemas.openxmlformats.org/officeDocument/2006/relationships/font" Target="fonts/font46.fntdata"/><Relationship Id="rId47" Type="http://schemas.openxmlformats.org/officeDocument/2006/relationships/font" Target="fonts/font47.fntdata"/><Relationship Id="rId48" Type="http://schemas.openxmlformats.org/officeDocument/2006/relationships/font" Target="fonts/font48.fntdata"/><Relationship Id="rId49" Type="http://schemas.openxmlformats.org/officeDocument/2006/relationships/font" Target="fonts/font49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534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Picture 2" descr="trama-canto.png"/>
          <p:cNvPicPr>
            <a:picLocks noChangeAspect="1"/>
          </p:cNvPicPr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" name="Picture 1" descr="trama-direita.png"/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Picture 3" descr="lm-vertical-dourado-escu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0" y="2788920"/>
            <a:ext cx="6949440" cy="277636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6172200"/>
            <a:ext cx="182880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2100" i="0" b="0" spc="700">
                <a:solidFill>
                  <a:srgbClr val="F2F0E9"/>
                </a:solidFill>
                <a:latin typeface="Outfit 1 Light"/>
              </a:rPr>
              <a:t>BRAND 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739128"/>
            <a:ext cx="182880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250" i="0" b="0" spc="400">
                <a:solidFill>
                  <a:srgbClr val="E3C88B"/>
                </a:solidFill>
                <a:latin typeface="Outfit 1 Semi-Bold"/>
              </a:rPr>
              <a:t>EDIÇÃO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02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8095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ANTES DE COMEÇAR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56446"/>
            <a:ext cx="8412480" cy="17355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PARA QUE SERVE</a:t>
            </a:r>
          </a:p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ESTE BRAND BOOK</a:t>
            </a:r>
          </a:p>
        </p:txBody>
      </p:sp>
      <p:sp>
        <p:nvSpPr>
          <p:cNvPr id="7" name="Rectangle 6"/>
          <p:cNvSpPr/>
          <p:nvPr/>
        </p:nvSpPr>
        <p:spPr>
          <a:xfrm>
            <a:off x="6729984" y="3955278"/>
            <a:ext cx="1408176" cy="12802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21240" y="2793606"/>
            <a:ext cx="6858000" cy="14934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Este documento reúne, em um só lugar, a </a:t>
            </a:r>
            <a:r>
              <a:rPr sz="2100" i="0" b="0">
                <a:solidFill>
                  <a:srgbClr val="2C322E"/>
                </a:solidFill>
                <a:latin typeface="Outfit 1 Semi-Bold"/>
              </a:rPr>
              <a:t>essência, a voz, o posicionamento e a identidade visual</a:t>
            </a:r>
            <a:r>
              <a:rPr sz="2100" i="0" b="0">
                <a:solidFill>
                  <a:srgbClr val="5F6661"/>
                </a:solidFill>
                <a:latin typeface="Outfit 1 Light"/>
              </a:rPr>
              <a:t> da marca Lucas Martini | Proteção &amp; Sucessão.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21240" y="4543082"/>
            <a:ext cx="6858000" cy="14934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Ele existe para garantir a </a:t>
            </a:r>
            <a:r>
              <a:rPr sz="2100" i="0" b="0">
                <a:solidFill>
                  <a:srgbClr val="2C322E"/>
                </a:solidFill>
                <a:latin typeface="Outfit 1 Semi-Bold"/>
              </a:rPr>
              <a:t>unidade da marca</a:t>
            </a:r>
            <a:r>
              <a:rPr sz="2100" i="0" b="0">
                <a:solidFill>
                  <a:srgbClr val="5F6661"/>
                </a:solidFill>
                <a:latin typeface="Outfit 1 Light"/>
              </a:rPr>
              <a:t>: todo ponto de contato com a mesma consistência visual e verbal, não importa quem produza.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21240" y="6292558"/>
            <a:ext cx="6858000" cy="14934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Use como guia antes de criar, aprovar ou contratar qualquer material. </a:t>
            </a:r>
            <a:r>
              <a:rPr sz="2100" i="0" b="0">
                <a:solidFill>
                  <a:srgbClr val="2C322E"/>
                </a:solidFill>
                <a:latin typeface="Outfit 1 Semi-Bold"/>
              </a:rPr>
              <a:t>Marca consistente é marca reconhecida.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03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8412480" cy="913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CONTEÚDO</a:t>
            </a:r>
          </a:p>
        </p:txBody>
      </p:sp>
      <p:sp>
        <p:nvSpPr>
          <p:cNvPr id="6" name="Rectangle 5"/>
          <p:cNvSpPr/>
          <p:nvPr/>
        </p:nvSpPr>
        <p:spPr>
          <a:xfrm>
            <a:off x="4727319" y="2214146"/>
            <a:ext cx="3410841" cy="12802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3392424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1005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37" i="0" b="0" spc="240">
                <a:solidFill>
                  <a:srgbClr val="AE8C4E"/>
                </a:solidFill>
                <a:latin typeface="Outfit 1 Semi-Bol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3502152"/>
            <a:ext cx="64008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i="0" b="0" spc="60">
                <a:solidFill>
                  <a:srgbClr val="2C322E"/>
                </a:solidFill>
                <a:latin typeface="Outfit 1 Light"/>
              </a:rPr>
              <a:t>A MARCA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21240" y="3538728"/>
            <a:ext cx="6858000" cy="534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O que ela é, no que acredita e onde se coloca.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581144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800600"/>
            <a:ext cx="1005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37" i="0" b="0" spc="240">
                <a:solidFill>
                  <a:srgbClr val="AE8C4E"/>
                </a:solidFill>
                <a:latin typeface="Outfit 1 Semi-Bol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4690872"/>
            <a:ext cx="64008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i="0" b="0" spc="60">
                <a:solidFill>
                  <a:srgbClr val="2C322E"/>
                </a:solidFill>
                <a:latin typeface="Outfit 1 Light"/>
              </a:rPr>
              <a:t>PÚBLICO E TERRITÓRIO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21240" y="4727448"/>
            <a:ext cx="6858000" cy="534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Para quem ela fala e sobre o que ela fala.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5769864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989320"/>
            <a:ext cx="1005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37" i="0" b="0" spc="240">
                <a:solidFill>
                  <a:srgbClr val="AE8C4E"/>
                </a:solidFill>
                <a:latin typeface="Outfit 1 Semi-Bold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60" y="5879592"/>
            <a:ext cx="64008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i="0" b="0" spc="60">
                <a:solidFill>
                  <a:srgbClr val="2C322E"/>
                </a:solidFill>
                <a:latin typeface="Outfit 1 Light"/>
              </a:rPr>
              <a:t>VOZ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21240" y="5916168"/>
            <a:ext cx="6858000" cy="534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Como ela se comporta e como ela escreve.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6958584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7178040"/>
            <a:ext cx="1005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37" i="0" b="0" spc="240">
                <a:solidFill>
                  <a:srgbClr val="AE8C4E"/>
                </a:solidFill>
                <a:latin typeface="Outfit 1 Semi-Bold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7068312"/>
            <a:ext cx="64008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i="0" b="0" spc="60">
                <a:solidFill>
                  <a:srgbClr val="2C322E"/>
                </a:solidFill>
                <a:latin typeface="Outfit 1 Light"/>
              </a:rPr>
              <a:t>IDENTIDADE VISUAL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7104888"/>
            <a:ext cx="6858000" cy="1013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O logo, as cores e a tipografia — e o que preserva tudo isso.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" y="8147304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8366760"/>
            <a:ext cx="1005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37" i="0" b="0" spc="240">
                <a:solidFill>
                  <a:srgbClr val="AE8C4E"/>
                </a:solidFill>
                <a:latin typeface="Outfit 1 Semi-Bold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94560" y="8257032"/>
            <a:ext cx="64008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i="0" b="0" spc="60">
                <a:solidFill>
                  <a:srgbClr val="2C322E"/>
                </a:solidFill>
                <a:latin typeface="Outfit 1 Light"/>
              </a:rPr>
              <a:t>MANIFESTO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40" y="8293608"/>
            <a:ext cx="6858000" cy="534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A marca em palavras, e a marca em uma página.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534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lm-escudo-dourado.png"/>
          <p:cNvPicPr>
            <a:picLocks noChangeAspect="1"/>
          </p:cNvPicPr>
          <p:nvPr/>
        </p:nvPicPr>
        <p:blipFill>
          <a:blip r:embed="rId4">
            <a:alphaModFix amt="13000"/>
          </a:blip>
          <a:stretch>
            <a:fillRect/>
          </a:stretch>
        </p:blipFill>
        <p:spPr>
          <a:xfrm>
            <a:off x="11338560" y="548640"/>
            <a:ext cx="7773603" cy="8321040"/>
          </a:xfrm>
          <a:prstGeom prst="rect">
            <a:avLst/>
          </a:prstGeom>
        </p:spPr>
      </p:pic>
      <p:pic>
        <p:nvPicPr>
          <p:cNvPr id="6" name="Picture 5" descr="trama-canto.png"/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" name="Picture 1" descr="trama-direita.png"/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E3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C8CCC6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E3C88B"/>
                </a:solidFill>
                <a:latin typeface="Outfit 1 Semi-Bold"/>
              </a:rPr>
              <a:t>04 / 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160520"/>
            <a:ext cx="5486400" cy="957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5800" i="0" b="0">
                <a:solidFill>
                  <a:srgbClr val="E3C88B"/>
                </a:solidFill>
                <a:latin typeface="Outfit 1 Light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94960"/>
            <a:ext cx="10972800" cy="11574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7000" i="0" b="0">
                <a:solidFill>
                  <a:srgbClr val="F2F0E9"/>
                </a:solidFill>
                <a:latin typeface="Outfit 1 Bold"/>
              </a:rPr>
              <a:t>A MARCA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6808470"/>
            <a:ext cx="1188720" cy="16459"/>
          </a:xfrm>
          <a:prstGeom prst="rect">
            <a:avLst/>
          </a:prstGeom>
          <a:solidFill>
            <a:srgbClr val="E3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7046214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300">
                <a:solidFill>
                  <a:srgbClr val="F2F0E9"/>
                </a:solidFill>
                <a:latin typeface="Outfit 1 Semi-Bold"/>
              </a:rPr>
              <a:t>O QUE LEVOU ANOS PARA SER CONSTRUÍDO TEM UM NOME.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05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41195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DEFINIÇÃO CENTRAL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16683"/>
            <a:ext cx="8412480" cy="17355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O QUE ESTA</a:t>
            </a:r>
          </a:p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MARCA É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5673" y="3715515"/>
            <a:ext cx="3382487" cy="12802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472254"/>
            <a:ext cx="6400800" cy="1013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Lucas não começa pelo produto. Começa pela realidade de quem está na frente dele.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16523"/>
            <a:ext cx="6400800" cy="8257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805" i="0" b="0" spc="160">
                <a:solidFill>
                  <a:srgbClr val="2C322E"/>
                </a:solidFill>
                <a:latin typeface="Outfit 1 Semi-Bold"/>
              </a:rPr>
              <a:t>A PROTEÇÃO É CONSEQUÊNCIA</a:t>
            </a:r>
          </a:p>
          <a:p>
            <a:pPr algn="l">
              <a:lnSpc>
                <a:spcPct val="145000"/>
              </a:lnSpc>
            </a:pPr>
            <a:r>
              <a:rPr sz="1805" i="0" b="0" spc="160">
                <a:solidFill>
                  <a:srgbClr val="2C322E"/>
                </a:solidFill>
                <a:latin typeface="Outfit 1 Semi-Bold"/>
              </a:rPr>
              <a:t>DO DIAGNÓSTICO.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21240" y="2553843"/>
            <a:ext cx="6858000" cy="14934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2C322E"/>
                </a:solidFill>
                <a:latin typeface="Outfit 1 Semi-Bold"/>
              </a:rPr>
              <a:t>Lucas Martini estrutura proteção e sucessão para preservar possibilidades quando a vida, a família ou a empresa entram em transição.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21240" y="4303319"/>
            <a:ext cx="6858000" cy="14934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Produto: seguro e soluções de proteção. Serviço: planejamento. Valor estratégico: continuidade. Valor humano: capacidade de escolha.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21240" y="6052795"/>
            <a:ext cx="6858000" cy="19729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A marca já existia antes da comunicação: experiência, resultado, recomendação, confiança e histórico de atendimento. Primeiro veio a reputação. </a:t>
            </a:r>
            <a:r>
              <a:rPr sz="2100" i="0" b="0">
                <a:solidFill>
                  <a:srgbClr val="2C322E"/>
                </a:solidFill>
                <a:latin typeface="Outfit 1 Semi-Bold"/>
              </a:rPr>
              <a:t>Agora a marca precisa torná-la visível.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534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ama-direita.png"/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E3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C8CCC6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E3C88B"/>
                </a:solidFill>
                <a:latin typeface="Outfit 1 Semi-Bold"/>
              </a:rPr>
              <a:t>06 / 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118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E3C88B"/>
                </a:solidFill>
                <a:latin typeface="Outfit 1 Semi-Bold"/>
              </a:rPr>
              <a:t>A CRENÇA FUNDADORA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60520"/>
            <a:ext cx="14630400" cy="1978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5000" i="0" b="0">
                <a:solidFill>
                  <a:srgbClr val="F2F0E9"/>
                </a:solidFill>
                <a:latin typeface="Outfit 1 Light"/>
              </a:rPr>
              <a:t>O QUE LEVOU ANOS PARA SER CONSTRUÍDO</a:t>
            </a:r>
          </a:p>
          <a:p>
            <a:pPr algn="l">
              <a:lnSpc>
                <a:spcPct val="114000"/>
              </a:lnSpc>
            </a:pPr>
            <a:r>
              <a:rPr sz="5000" i="0" b="0">
                <a:solidFill>
                  <a:srgbClr val="E3C88B"/>
                </a:solidFill>
                <a:latin typeface="Outfit 1 Bold"/>
              </a:rPr>
              <a:t>NÃO DEVERIA FICAR ENTREGUE AO ACASO.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458712"/>
            <a:ext cx="10972800" cy="1013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C8CCC6"/>
                </a:solidFill>
                <a:latin typeface="Outfit 1 Light"/>
              </a:rPr>
              <a:t>Não porque todos os riscos possam ser eliminados, mas porque muitos dos seus impactos podem ser preparados.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7728661"/>
            <a:ext cx="10972800" cy="534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C8CCC6"/>
                </a:solidFill>
                <a:latin typeface="Outfit 1 Light"/>
              </a:rPr>
              <a:t>Nem tudo pode ser previsto. Mas muito pode ser preparado.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07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O NÚCLEO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38528"/>
            <a:ext cx="8412480" cy="913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ESSÊNCIA DA MARCA</a:t>
            </a:r>
          </a:p>
        </p:txBody>
      </p:sp>
      <p:sp>
        <p:nvSpPr>
          <p:cNvPr id="7" name="Rectangle 6"/>
          <p:cNvSpPr/>
          <p:nvPr/>
        </p:nvSpPr>
        <p:spPr>
          <a:xfrm>
            <a:off x="7249653" y="2415314"/>
            <a:ext cx="10123947" cy="12802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270248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ESSÊNCIA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636008"/>
            <a:ext cx="5059680" cy="570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2C322E"/>
                </a:solidFill>
                <a:latin typeface="Outfit 1 Light"/>
              </a:rPr>
              <a:t>CONSTRUIR SEGURANÇA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5187950"/>
            <a:ext cx="505968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443982"/>
            <a:ext cx="5059680" cy="9371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Preservar liberdade de escolha. É o princípio que conecta a história, o método e a entrega.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14160" y="4270248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RAZÃO DE 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4160" y="4636008"/>
            <a:ext cx="5059680" cy="570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2C322E"/>
                </a:solidFill>
                <a:latin typeface="Outfit 1 Light"/>
              </a:rPr>
              <a:t>PRESERVAR A ESCOLHA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14160" y="5187950"/>
            <a:ext cx="505968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14160" y="5443982"/>
            <a:ext cx="5059680" cy="9371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Manter a capacidade de decidir quando a vida tira a previsibilidade de alguém.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13920" y="4270248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CAUSA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13920" y="4636008"/>
            <a:ext cx="5059680" cy="570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2C322E"/>
                </a:solidFill>
                <a:latin typeface="Outfit 1 Light"/>
              </a:rPr>
              <a:t>PREPARAR ANTES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313920" y="5187950"/>
            <a:ext cx="505968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13920" y="5443982"/>
            <a:ext cx="5059680" cy="13783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Ampliar a cultura da preparação antes da urgência. De resolver depois para pensar antes.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7526427"/>
            <a:ext cx="12179808" cy="1013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O que a marca combate não é a morte nem a incerteza: é o improviso, o adiamento, a falta de liquidez e a decisão tomada sob pressão.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08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GOLDEN CIRCLE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38528"/>
            <a:ext cx="8412480" cy="913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POR QUÊ, COMO E O QUÊ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7575" y="2415314"/>
            <a:ext cx="8866025" cy="12802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270248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636008"/>
            <a:ext cx="5059680" cy="570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2C322E"/>
                </a:solidFill>
                <a:latin typeface="Outfit 1 Light"/>
              </a:rPr>
              <a:t>POR QUÊ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5187950"/>
            <a:ext cx="505968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443982"/>
            <a:ext cx="5059680" cy="13783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Porque o que levou anos para ser construído não deveria perder sua continuidade por falta de preparação.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14160" y="4270248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4160" y="4636008"/>
            <a:ext cx="5059680" cy="570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2C322E"/>
                </a:solidFill>
                <a:latin typeface="Outfit 1 Light"/>
              </a:rPr>
              <a:t>COMO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14160" y="5187950"/>
            <a:ext cx="505968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14160" y="5443982"/>
            <a:ext cx="5059680" cy="22606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Entendendo a realidade do cliente, identificando vulnerabilidades, projetando impactos e estruturando proteção de forma personalizada, com acompanhamento de longo prazo.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13920" y="4270248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13920" y="4636008"/>
            <a:ext cx="5059680" cy="570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2C322E"/>
                </a:solidFill>
                <a:latin typeface="Outfit 1 Light"/>
              </a:rPr>
              <a:t>O QUÊ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313920" y="5187950"/>
            <a:ext cx="505968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13920" y="5443982"/>
            <a:ext cx="5059680" cy="13783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Proteção de renda, familiar e empresarial. Pessoa-chave. Planejamento sucessório. Liquidez para sucessão e inventário.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8408756"/>
            <a:ext cx="12179808" cy="534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Não começar pelo produto. </a:t>
            </a:r>
            <a:r>
              <a:rPr sz="2100" i="0" b="0">
                <a:solidFill>
                  <a:srgbClr val="2C322E"/>
                </a:solidFill>
                <a:latin typeface="Outfit 1 Semi-Bold"/>
              </a:rPr>
              <a:t>Começar pela consequência.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09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41195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POSICIONAMENTO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16683"/>
            <a:ext cx="8412480" cy="913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POSICIONAMENTO</a:t>
            </a:r>
          </a:p>
        </p:txBody>
      </p:sp>
      <p:sp>
        <p:nvSpPr>
          <p:cNvPr id="7" name="Rectangle 6"/>
          <p:cNvSpPr/>
          <p:nvPr/>
        </p:nvSpPr>
        <p:spPr>
          <a:xfrm>
            <a:off x="6618034" y="2893469"/>
            <a:ext cx="1520126" cy="12802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650209"/>
            <a:ext cx="6400800" cy="19729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O produto não diferencia. A diferenciação está na combinação de diagnóstico, personalização, conhecimento técnico, confiança, pós-venda e relação de longo prazo.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53531"/>
            <a:ext cx="6400800" cy="8257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805" i="0" b="0" spc="160">
                <a:solidFill>
                  <a:srgbClr val="2C322E"/>
                </a:solidFill>
                <a:latin typeface="Outfit 1 Semi-Bold"/>
              </a:rPr>
              <a:t>PREPARAR ANTES PARA</a:t>
            </a:r>
          </a:p>
          <a:p>
            <a:pPr algn="l">
              <a:lnSpc>
                <a:spcPct val="145000"/>
              </a:lnSpc>
            </a:pPr>
            <a:r>
              <a:rPr sz="1805" i="0" b="0" spc="160">
                <a:solidFill>
                  <a:srgbClr val="2C322E"/>
                </a:solidFill>
                <a:latin typeface="Outfit 1 Semi-Bold"/>
              </a:rPr>
              <a:t>PRESERVAR ESCOLHAS DEPOIS.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21240" y="2553843"/>
            <a:ext cx="6858000" cy="19729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2C322E"/>
                </a:solidFill>
                <a:latin typeface="Outfit 1 Semi-Bold"/>
              </a:rPr>
              <a:t>Lucas Martini é especialista em proteção e sucessão para pessoas, famílias e empresas que desejam preservar o que construíram e manter possibilidades diante do imprevisto.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21240" y="4782845"/>
            <a:ext cx="6858000" cy="19729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A promessa: estruturar proteção e sucessão de forma personalizada para que famílias, profissionais e empresas mantenham recursos, possibilidades e continuidade diante de imprevistos.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21240" y="7011848"/>
            <a:ext cx="6858000" cy="1013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A melhor proteção não é a maior. </a:t>
            </a:r>
            <a:r>
              <a:rPr sz="2100" i="0" b="0">
                <a:solidFill>
                  <a:srgbClr val="2C322E"/>
                </a:solidFill>
                <a:latin typeface="Outfit 1 Semi-Bold"/>
              </a:rPr>
              <a:t>É a que faz sentido para aquela realidade.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10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ARQUITETURA DE MARCA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38528"/>
            <a:ext cx="8412480" cy="913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O NOME NO CENTRO</a:t>
            </a:r>
          </a:p>
        </p:txBody>
      </p:sp>
      <p:sp>
        <p:nvSpPr>
          <p:cNvPr id="7" name="Rectangle 6"/>
          <p:cNvSpPr/>
          <p:nvPr/>
        </p:nvSpPr>
        <p:spPr>
          <a:xfrm>
            <a:off x="7248580" y="2415314"/>
            <a:ext cx="10125020" cy="12802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407408"/>
            <a:ext cx="3634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FRENTE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73168"/>
            <a:ext cx="3634740" cy="1049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2C322E"/>
                </a:solidFill>
                <a:latin typeface="Outfit 1 Light"/>
              </a:rPr>
              <a:t>PROTEÇÃO PESSOAL E FAMILIAR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5803900"/>
            <a:ext cx="363474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059932"/>
            <a:ext cx="3634740" cy="9371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Renda, família e pilares financeiros.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9220" y="4407408"/>
            <a:ext cx="3634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FRENTE 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89220" y="4773168"/>
            <a:ext cx="3634740" cy="1049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2C322E"/>
                </a:solidFill>
                <a:latin typeface="Outfit 1 Light"/>
              </a:rPr>
              <a:t>PROTEÇÃO EMPRESARIAL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89220" y="5803900"/>
            <a:ext cx="363474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89220" y="6059932"/>
            <a:ext cx="3634740" cy="9371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Pessoa-chave e continuidade do negócio.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4040" y="4407408"/>
            <a:ext cx="3634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FRENTE 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64040" y="4773168"/>
            <a:ext cx="3634740" cy="570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2C322E"/>
                </a:solidFill>
                <a:latin typeface="Outfit 1 Light"/>
              </a:rPr>
              <a:t>SUCESSÃO FAMILIAR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464040" y="5803900"/>
            <a:ext cx="363474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64040" y="6059932"/>
            <a:ext cx="3634740" cy="9371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Transferência, liquidez e inventário.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38860" y="4407408"/>
            <a:ext cx="3634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FRENTE 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38860" y="4773168"/>
            <a:ext cx="3634740" cy="1049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2C322E"/>
                </a:solidFill>
                <a:latin typeface="Outfit 1 Light"/>
              </a:rPr>
              <a:t>SUCESSÃO EMPRESARIAL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738860" y="5803900"/>
            <a:ext cx="363474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38860" y="6059932"/>
            <a:ext cx="3634740" cy="9371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Passagem de responsabilidade e sociedade.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7701213"/>
            <a:ext cx="12179808" cy="1013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A confiança está associada à pessoa: a indicação chega pelo nome e o relacionamento acontece com Lucas. </a:t>
            </a:r>
            <a:r>
              <a:rPr sz="2100" i="0" b="0">
                <a:solidFill>
                  <a:srgbClr val="2C322E"/>
                </a:solidFill>
                <a:latin typeface="Outfit 1 Semi-Bold"/>
              </a:rPr>
              <a:t>A seguradora entrega o instrumento. Lucas constrói a estratégia.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534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lm-escudo-dourado.png"/>
          <p:cNvPicPr>
            <a:picLocks noChangeAspect="1"/>
          </p:cNvPicPr>
          <p:nvPr/>
        </p:nvPicPr>
        <p:blipFill>
          <a:blip r:embed="rId4">
            <a:alphaModFix amt="13000"/>
          </a:blip>
          <a:stretch>
            <a:fillRect/>
          </a:stretch>
        </p:blipFill>
        <p:spPr>
          <a:xfrm>
            <a:off x="11338560" y="548640"/>
            <a:ext cx="7773603" cy="8321040"/>
          </a:xfrm>
          <a:prstGeom prst="rect">
            <a:avLst/>
          </a:prstGeom>
        </p:spPr>
      </p:pic>
      <p:pic>
        <p:nvPicPr>
          <p:cNvPr id="6" name="Picture 5" descr="trama-canto.png"/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" name="Picture 1" descr="trama-direita.png"/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E3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C8CCC6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E3C88B"/>
                </a:solidFill>
                <a:latin typeface="Outfit 1 Semi-Bold"/>
              </a:rPr>
              <a:t>11 / 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160520"/>
            <a:ext cx="5486400" cy="957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5800" i="0" b="0">
                <a:solidFill>
                  <a:srgbClr val="E3C88B"/>
                </a:solidFill>
                <a:latin typeface="Outfit 1 Light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94960"/>
            <a:ext cx="10972800" cy="2314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7000" i="0" b="0">
                <a:solidFill>
                  <a:srgbClr val="F2F0E9"/>
                </a:solidFill>
                <a:latin typeface="Outfit 1 Bold"/>
              </a:rPr>
              <a:t>PÚBLICO</a:t>
            </a:r>
          </a:p>
          <a:p>
            <a:pPr algn="l">
              <a:lnSpc>
                <a:spcPct val="105000"/>
              </a:lnSpc>
            </a:pPr>
            <a:r>
              <a:rPr sz="7000" i="0" b="0">
                <a:solidFill>
                  <a:srgbClr val="F2F0E9"/>
                </a:solidFill>
                <a:latin typeface="Outfit 1 Bold"/>
              </a:rPr>
              <a:t>E TERRITÓRIO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7965948"/>
            <a:ext cx="1188720" cy="16459"/>
          </a:xfrm>
          <a:prstGeom prst="rect">
            <a:avLst/>
          </a:prstGeom>
          <a:solidFill>
            <a:srgbClr val="E3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8203692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300">
                <a:solidFill>
                  <a:srgbClr val="F2F0E9"/>
                </a:solidFill>
                <a:latin typeface="Outfit 1 Semi-Bold"/>
              </a:rPr>
              <a:t>PARA QUEM A MARCA FALA, E SOBRE O QUE ELA FALA.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12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PÚBLICO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38528"/>
            <a:ext cx="8412480" cy="17355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QUEM CARREGA</a:t>
            </a:r>
          </a:p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RESPONSABILIDADE</a:t>
            </a:r>
          </a:p>
        </p:txBody>
      </p:sp>
      <p:sp>
        <p:nvSpPr>
          <p:cNvPr id="7" name="Rectangle 6"/>
          <p:cNvSpPr/>
          <p:nvPr/>
        </p:nvSpPr>
        <p:spPr>
          <a:xfrm>
            <a:off x="7030694" y="3237360"/>
            <a:ext cx="1107466" cy="12802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94099"/>
            <a:ext cx="6400800" cy="14934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Quatro perfis diferentes com uma coisa em comum: existe algo ou alguém que depende das decisões de cada 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21240" y="23042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A TRIBO</a:t>
            </a:r>
          </a:p>
        </p:txBody>
      </p:sp>
      <p:sp>
        <p:nvSpPr>
          <p:cNvPr id="10" name="Rectangle 9"/>
          <p:cNvSpPr/>
          <p:nvPr/>
        </p:nvSpPr>
        <p:spPr>
          <a:xfrm>
            <a:off x="9921240" y="2688336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21240" y="287578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2834640"/>
            <a:ext cx="6355080" cy="829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50" i="0" b="0">
                <a:solidFill>
                  <a:srgbClr val="2C322E"/>
                </a:solidFill>
                <a:latin typeface="Outfit 1 Semi-Bold"/>
              </a:rPr>
              <a:t>Quem produz a própria renda</a:t>
            </a:r>
            <a:r>
              <a:rPr sz="1650" i="0" b="0">
                <a:solidFill>
                  <a:srgbClr val="5F6661"/>
                </a:solidFill>
                <a:latin typeface="Outfit 1 Light"/>
              </a:rPr>
              <a:t> — profissionais liberais, autônomos, executivos e especialistas;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921240" y="3901775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21240" y="4089227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4048079"/>
            <a:ext cx="6355080" cy="829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50" i="0" b="0">
                <a:solidFill>
                  <a:srgbClr val="2C322E"/>
                </a:solidFill>
                <a:latin typeface="Outfit 1 Semi-Bold"/>
              </a:rPr>
              <a:t>Quem sustenta outras pessoas</a:t>
            </a:r>
            <a:r>
              <a:rPr sz="1650" i="0" b="0">
                <a:solidFill>
                  <a:srgbClr val="5F6661"/>
                </a:solidFill>
                <a:latin typeface="Outfit 1 Light"/>
              </a:rPr>
              <a:t> — pilares financeiros da família, cuja ausência alteraria a estrutura econômica de casa;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921240" y="5115215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21240" y="5302667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5261519"/>
            <a:ext cx="6355080" cy="829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50" i="0" b="0">
                <a:solidFill>
                  <a:srgbClr val="2C322E"/>
                </a:solidFill>
                <a:latin typeface="Outfit 1 Semi-Bold"/>
              </a:rPr>
              <a:t>Quem responde por uma empresa</a:t>
            </a:r>
            <a:r>
              <a:rPr sz="1650" i="0" b="0">
                <a:solidFill>
                  <a:srgbClr val="5F6661"/>
                </a:solidFill>
                <a:latin typeface="Outfit 1 Light"/>
              </a:rPr>
              <a:t> — empresários, sócios e pessoas-chave de negócios dependentes de indivíduos específicos;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921240" y="6328654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21240" y="651610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474958"/>
            <a:ext cx="6355080" cy="829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50" i="0" b="0">
                <a:solidFill>
                  <a:srgbClr val="2C322E"/>
                </a:solidFill>
                <a:latin typeface="Outfit 1 Semi-Bold"/>
              </a:rPr>
              <a:t>Quem construiu patrimônio</a:t>
            </a:r>
            <a:r>
              <a:rPr sz="1650" i="0" b="0">
                <a:solidFill>
                  <a:srgbClr val="5F6661"/>
                </a:solidFill>
                <a:latin typeface="Outfit 1 Light"/>
              </a:rPr>
              <a:t> — famílias e sócios que precisam organizar transferência, liquidez e sucessão.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921240" y="7542093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21240" y="7926141"/>
            <a:ext cx="6858000" cy="808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50" i="0" b="0">
                <a:solidFill>
                  <a:srgbClr val="5F6661"/>
                </a:solidFill>
                <a:latin typeface="Outfit 1 Light"/>
              </a:rPr>
              <a:t>São pessoas que decidem com responsabilidade sobre outros. </a:t>
            </a:r>
            <a:r>
              <a:rPr sz="1650" i="0" b="0">
                <a:solidFill>
                  <a:srgbClr val="2C322E"/>
                </a:solidFill>
                <a:latin typeface="Outfit 1 Semi-Bold"/>
              </a:rPr>
              <a:t>Falar com elas é falar de consequência, nunca de medo.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13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TERRITÓRIOS DE COMUNICAÇÃO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38528"/>
            <a:ext cx="8412480" cy="17355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CONTINUIDADE</a:t>
            </a:r>
          </a:p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É O TERRITÓRIO</a:t>
            </a:r>
          </a:p>
        </p:txBody>
      </p:sp>
      <p:sp>
        <p:nvSpPr>
          <p:cNvPr id="7" name="Rectangle 6"/>
          <p:cNvSpPr/>
          <p:nvPr/>
        </p:nvSpPr>
        <p:spPr>
          <a:xfrm>
            <a:off x="5891114" y="3237360"/>
            <a:ext cx="2247046" cy="12802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94099"/>
            <a:ext cx="6400800" cy="14934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Todo conteúdo da marca nasce de um destes cinco territórios. Fora deles, a marca está falando de outra coisa.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21240" y="23042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DO QUE A MARCA FALA</a:t>
            </a:r>
          </a:p>
        </p:txBody>
      </p:sp>
      <p:sp>
        <p:nvSpPr>
          <p:cNvPr id="10" name="Rectangle 9"/>
          <p:cNvSpPr/>
          <p:nvPr/>
        </p:nvSpPr>
        <p:spPr>
          <a:xfrm>
            <a:off x="9921240" y="2688336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21240" y="287578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84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2834640"/>
            <a:ext cx="6355080" cy="955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932" i="0" b="0">
                <a:solidFill>
                  <a:srgbClr val="2C322E"/>
                </a:solidFill>
                <a:latin typeface="Outfit 1 Semi-Bold"/>
              </a:rPr>
              <a:t>Continuidade</a:t>
            </a:r>
            <a:r>
              <a:rPr sz="1932" i="0" b="0">
                <a:solidFill>
                  <a:srgbClr val="5F6661"/>
                </a:solidFill>
                <a:latin typeface="Outfit 1 Light"/>
              </a:rPr>
              <a:t> — o que precisa seguir existindo: renda, família, empresa, patrimônio, projetos e legado;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921240" y="4027898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21240" y="421535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84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4174202"/>
            <a:ext cx="6355080" cy="955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932" i="0" b="0">
                <a:solidFill>
                  <a:srgbClr val="2C322E"/>
                </a:solidFill>
                <a:latin typeface="Outfit 1 Semi-Bold"/>
              </a:rPr>
              <a:t>Proteção</a:t>
            </a:r>
            <a:r>
              <a:rPr sz="1932" i="0" b="0">
                <a:solidFill>
                  <a:srgbClr val="5F6661"/>
                </a:solidFill>
                <a:latin typeface="Outfit 1 Light"/>
              </a:rPr>
              <a:t> — os recursos e estruturas que sustentam essa continuidade;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921240" y="5367460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21240" y="5554912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84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5513764"/>
            <a:ext cx="6355080" cy="955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932" i="0" b="0">
                <a:solidFill>
                  <a:srgbClr val="2C322E"/>
                </a:solidFill>
                <a:latin typeface="Outfit 1 Semi-Bold"/>
              </a:rPr>
              <a:t>Sucessão</a:t>
            </a:r>
            <a:r>
              <a:rPr sz="1932" i="0" b="0">
                <a:solidFill>
                  <a:srgbClr val="5F6661"/>
                </a:solidFill>
                <a:latin typeface="Outfit 1 Light"/>
              </a:rPr>
              <a:t> — a preparação para a passagem de responsabilidade e patrimônio;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921240" y="6707022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21240" y="689447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84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853326"/>
            <a:ext cx="6355080" cy="955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932" i="0" b="0">
                <a:solidFill>
                  <a:srgbClr val="2C322E"/>
                </a:solidFill>
                <a:latin typeface="Outfit 1 Semi-Bold"/>
              </a:rPr>
              <a:t>Dignidade financeira</a:t>
            </a:r>
            <a:r>
              <a:rPr sz="1932" i="0" b="0">
                <a:solidFill>
                  <a:srgbClr val="5F6661"/>
                </a:solidFill>
                <a:latin typeface="Outfit 1 Light"/>
              </a:rPr>
              <a:t> — a preservação de alternativas em momentos difíceis;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921240" y="8046583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21240" y="8234035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84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8192887"/>
            <a:ext cx="6355080" cy="955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932" i="0" b="0">
                <a:solidFill>
                  <a:srgbClr val="2C322E"/>
                </a:solidFill>
                <a:latin typeface="Outfit 1 Semi-Bold"/>
              </a:rPr>
              <a:t>Escolha e responsabilidade</a:t>
            </a:r>
            <a:r>
              <a:rPr sz="1932" i="0" b="0">
                <a:solidFill>
                  <a:srgbClr val="5F6661"/>
                </a:solidFill>
                <a:latin typeface="Outfit 1 Light"/>
              </a:rPr>
              <a:t> — decidir sem ser dominado pela urgência.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921240" y="9386145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14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096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COMO A MARCA ATUA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86584"/>
            <a:ext cx="8412480" cy="913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OS CINCO PILARES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34388" y="2963370"/>
            <a:ext cx="10839212" cy="12802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092624"/>
            <a:ext cx="2838298" cy="726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4400" i="0" b="0">
                <a:solidFill>
                  <a:srgbClr val="AE8C4E"/>
                </a:solidFill>
                <a:latin typeface="Outfit 1 Light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873928"/>
            <a:ext cx="2838298" cy="3378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i="0" b="0" spc="220">
                <a:solidFill>
                  <a:srgbClr val="2C322E"/>
                </a:solidFill>
                <a:latin typeface="Outfit 1 Semi-Bold"/>
              </a:rPr>
              <a:t>ANTECIPAÇÃO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6303188"/>
            <a:ext cx="2838298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577508"/>
            <a:ext cx="2838298" cy="9371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Decisões são melhores sem urgência.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9626" y="5092624"/>
            <a:ext cx="2838298" cy="726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4400" i="0" b="0">
                <a:solidFill>
                  <a:srgbClr val="AE8C4E"/>
                </a:solidFill>
                <a:latin typeface="Outfit 1 Light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9626" y="5873928"/>
            <a:ext cx="2838298" cy="3378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i="0" b="0" spc="220">
                <a:solidFill>
                  <a:srgbClr val="2C322E"/>
                </a:solidFill>
                <a:latin typeface="Outfit 1 Semi-Bold"/>
              </a:rPr>
              <a:t>PERSONALIZAÇÃO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9626" y="6303188"/>
            <a:ext cx="2838298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19626" y="6577508"/>
            <a:ext cx="2838298" cy="9371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Não existe proteção ideal fora de contexto.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24851" y="5092624"/>
            <a:ext cx="2838298" cy="726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4400" i="0" b="0">
                <a:solidFill>
                  <a:srgbClr val="AE8C4E"/>
                </a:solidFill>
                <a:latin typeface="Outfit 1 Light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4851" y="5873928"/>
            <a:ext cx="2838298" cy="3378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i="0" b="0" spc="220">
                <a:solidFill>
                  <a:srgbClr val="2C322E"/>
                </a:solidFill>
                <a:latin typeface="Outfit 1 Semi-Bold"/>
              </a:rPr>
              <a:t>CONFIANÇA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24851" y="6303188"/>
            <a:ext cx="2838298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24851" y="6577508"/>
            <a:ext cx="2838298" cy="13783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Transparência e consistência ao longo dos anos.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30077" y="5092624"/>
            <a:ext cx="2838298" cy="726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4400" i="0" b="0">
                <a:solidFill>
                  <a:srgbClr val="AE8C4E"/>
                </a:solidFill>
                <a:latin typeface="Outfit 1 Light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30077" y="5873928"/>
            <a:ext cx="2838298" cy="3378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i="0" b="0" spc="220">
                <a:solidFill>
                  <a:srgbClr val="2C322E"/>
                </a:solidFill>
                <a:latin typeface="Outfit 1 Semi-Bold"/>
              </a:rPr>
              <a:t>CONTINUIDADE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130077" y="6303188"/>
            <a:ext cx="2838298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30077" y="6577508"/>
            <a:ext cx="2838298" cy="9371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A proteção não termina na contratação.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535302" y="5092624"/>
            <a:ext cx="2838298" cy="726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4400" i="0" b="0">
                <a:solidFill>
                  <a:srgbClr val="AE8C4E"/>
                </a:solidFill>
                <a:latin typeface="Outfit 1 Light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535302" y="5873928"/>
            <a:ext cx="2838298" cy="3378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i="0" b="0" spc="220">
                <a:solidFill>
                  <a:srgbClr val="2C322E"/>
                </a:solidFill>
                <a:latin typeface="Outfit 1 Semi-Bold"/>
              </a:rPr>
              <a:t>EXCELÊNCIA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535302" y="6303188"/>
            <a:ext cx="2838298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535302" y="6577508"/>
            <a:ext cx="2838298" cy="9371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Menos discurso, mais padrão de execução.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534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lm-escudo-dourado.png"/>
          <p:cNvPicPr>
            <a:picLocks noChangeAspect="1"/>
          </p:cNvPicPr>
          <p:nvPr/>
        </p:nvPicPr>
        <p:blipFill>
          <a:blip r:embed="rId4">
            <a:alphaModFix amt="13000"/>
          </a:blip>
          <a:stretch>
            <a:fillRect/>
          </a:stretch>
        </p:blipFill>
        <p:spPr>
          <a:xfrm>
            <a:off x="11338560" y="548640"/>
            <a:ext cx="7773603" cy="8321040"/>
          </a:xfrm>
          <a:prstGeom prst="rect">
            <a:avLst/>
          </a:prstGeom>
        </p:spPr>
      </p:pic>
      <p:pic>
        <p:nvPicPr>
          <p:cNvPr id="6" name="Picture 5" descr="trama-canto.png"/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" name="Picture 1" descr="trama-direita.png"/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E3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C8CCC6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E3C88B"/>
                </a:solidFill>
                <a:latin typeface="Outfit 1 Semi-Bold"/>
              </a:rPr>
              <a:t>15 / 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160520"/>
            <a:ext cx="5486400" cy="957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5800" i="0" b="0">
                <a:solidFill>
                  <a:srgbClr val="E3C88B"/>
                </a:solidFill>
                <a:latin typeface="Outfit 1 Light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94960"/>
            <a:ext cx="10972800" cy="11574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7000" i="0" b="0">
                <a:solidFill>
                  <a:srgbClr val="F2F0E9"/>
                </a:solidFill>
                <a:latin typeface="Outfit 1 Bold"/>
              </a:rPr>
              <a:t>VOZ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6808470"/>
            <a:ext cx="1188720" cy="16459"/>
          </a:xfrm>
          <a:prstGeom prst="rect">
            <a:avLst/>
          </a:prstGeom>
          <a:solidFill>
            <a:srgbClr val="E3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7046214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300">
                <a:solidFill>
                  <a:srgbClr val="F2F0E9"/>
                </a:solidFill>
                <a:latin typeface="Outfit 1 Semi-Bold"/>
              </a:rPr>
              <a:t>AUTORIDADE DISCRETA: PROVAR, NÃO PROCLAMAR.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16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05173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PERSONALIDADE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80661"/>
            <a:ext cx="8412480" cy="913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AUTORIDADE DISCRETA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4263" y="2857447"/>
            <a:ext cx="9369337" cy="12802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712381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POSTURA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078141"/>
            <a:ext cx="5059680" cy="570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2C322E"/>
                </a:solidFill>
                <a:latin typeface="Outfit 1 Light"/>
              </a:rPr>
              <a:t>SEGURO E PREPARADO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5630083"/>
            <a:ext cx="505968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886115"/>
            <a:ext cx="5059680" cy="9371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Transmite domínio sem precisar provar o tempo todo. Estuda antes de orientar.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14160" y="4712381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RELAÇÃO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4160" y="5078141"/>
            <a:ext cx="5059680" cy="570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2C322E"/>
                </a:solidFill>
                <a:latin typeface="Outfit 1 Light"/>
              </a:rPr>
              <a:t>CONSULTIVO E HUMANO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14160" y="5630083"/>
            <a:ext cx="505968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14160" y="5886115"/>
            <a:ext cx="5059680" cy="9371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Pergunta antes de oferecer e entende o que existe por trás dos números.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13920" y="4712381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FORMA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13920" y="5078141"/>
            <a:ext cx="5059680" cy="570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2C322E"/>
                </a:solidFill>
                <a:latin typeface="Outfit 1 Light"/>
              </a:rPr>
              <a:t>ELEGANTE E ACESSÍVEL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313920" y="5630083"/>
            <a:ext cx="505968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13920" y="5886115"/>
            <a:ext cx="5059680" cy="9371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Sofisticação sem ostentação. Torna o complexo compreensível.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7527396"/>
            <a:ext cx="12179808" cy="534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2C322E"/>
                </a:solidFill>
                <a:latin typeface="Outfit 1 Semi-Bold"/>
              </a:rPr>
              <a:t>Nunca:</a:t>
            </a:r>
            <a:r>
              <a:rPr sz="2100" i="0" b="0">
                <a:solidFill>
                  <a:srgbClr val="5F6661"/>
                </a:solidFill>
                <a:latin typeface="Outfit 1 Light"/>
              </a:rPr>
              <a:t> alarmista, exibicionista, técnica demais, comercial demais ou genérica.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17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TOM DE VOZ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38528"/>
            <a:ext cx="8412480" cy="17355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PROVAR,</a:t>
            </a:r>
          </a:p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NÃO PROCLAMAR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916" y="3237360"/>
            <a:ext cx="1737244" cy="12802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94099"/>
            <a:ext cx="6400800" cy="1013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A marca não precisa assustar para ser ouvida, nem anunciar para ser reconhecida.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264048"/>
            <a:ext cx="6400800" cy="534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A autoridade aparece na qualidade da pergunta.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921240" y="1847088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21240" y="2029968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9AA09A"/>
                </a:solidFill>
                <a:latin typeface="Outfit 1 Semi-Bold"/>
              </a:rPr>
              <a:t>EM VEZ 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21240" y="2340864"/>
            <a:ext cx="6858000" cy="537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995" i="0" b="0" strike="sngStrike">
                <a:solidFill>
                  <a:srgbClr val="AE8C4E"/>
                </a:solidFill>
                <a:latin typeface="Outfit 1 Light"/>
              </a:rPr>
              <a:t>Você pode morrer amanhã.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21240" y="3061309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PREFERE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21240" y="3372205"/>
            <a:ext cx="6858000" cy="537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995" i="0" b="0">
                <a:solidFill>
                  <a:srgbClr val="2C322E"/>
                </a:solidFill>
                <a:latin typeface="Outfit 1 Light"/>
              </a:rPr>
              <a:t>Quem depende financeiramente de você hoje?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921240" y="4184090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21240" y="4366970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9AA09A"/>
                </a:solidFill>
                <a:latin typeface="Outfit 1 Semi-Bold"/>
              </a:rPr>
              <a:t>EM VEZ 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21240" y="4677866"/>
            <a:ext cx="6858000" cy="537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995" i="0" b="0" strike="sngStrike">
                <a:solidFill>
                  <a:srgbClr val="AE8C4E"/>
                </a:solidFill>
                <a:latin typeface="Outfit 1 Light"/>
              </a:rPr>
              <a:t>Você precisa contratar um seguro de vida.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21240" y="5398311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PREFERE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21240" y="5709207"/>
            <a:ext cx="6858000" cy="9836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995" i="0" b="0">
                <a:solidFill>
                  <a:srgbClr val="2C322E"/>
                </a:solidFill>
                <a:latin typeface="Outfit 1 Light"/>
              </a:rPr>
              <a:t>Antes do produto, precisamos entender o impacto financeiro que uma ausência produziria.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21240" y="6967217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21240" y="7150097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9AA09A"/>
                </a:solidFill>
                <a:latin typeface="Outfit 1 Semi-Bold"/>
              </a:rPr>
              <a:t>EM VEZ 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7460993"/>
            <a:ext cx="6858000" cy="537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995" i="0" b="0" strike="sngStrike">
                <a:solidFill>
                  <a:srgbClr val="AE8C4E"/>
                </a:solidFill>
                <a:latin typeface="Outfit 1 Light"/>
              </a:rPr>
              <a:t>Olha onde eu cheguei.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40" y="8181439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PREFERE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21240" y="8492335"/>
            <a:ext cx="6858000" cy="9836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995" i="0" b="0">
                <a:solidFill>
                  <a:srgbClr val="2C322E"/>
                </a:solidFill>
                <a:latin typeface="Outfit 1 Light"/>
              </a:rPr>
              <a:t>Esse reconhecimento representa dez anos de consistência e confiança de clientes.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18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VOCABULÁRIO E ESTILO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38528"/>
            <a:ext cx="8412480" cy="913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AS PALAVRAS DA MARCA</a:t>
            </a:r>
          </a:p>
        </p:txBody>
      </p:sp>
      <p:sp>
        <p:nvSpPr>
          <p:cNvPr id="7" name="Rectangle 6"/>
          <p:cNvSpPr/>
          <p:nvPr/>
        </p:nvSpPr>
        <p:spPr>
          <a:xfrm>
            <a:off x="8253313" y="2415314"/>
            <a:ext cx="9120287" cy="12802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270248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VERBOS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636008"/>
            <a:ext cx="5059680" cy="570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2C322E"/>
                </a:solidFill>
                <a:latin typeface="Outfit 1 Light"/>
              </a:rPr>
              <a:t>PREPARAR · ESTRUTURAR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5187950"/>
            <a:ext cx="505968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443982"/>
            <a:ext cx="5059680" cy="13783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Preservar · antecipar · organizar · traduzir · acompanhar. São verbos de preparação: a marca conduz, não assiste.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14160" y="4270248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PALAVRAS PRÓPRIAS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4160" y="4636008"/>
            <a:ext cx="5059680" cy="570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2C322E"/>
                </a:solidFill>
                <a:latin typeface="Outfit 1 Light"/>
              </a:rPr>
              <a:t>CONTINUIDADE · ESCOLHA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14160" y="5187950"/>
            <a:ext cx="505968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14160" y="5443982"/>
            <a:ext cx="5059680" cy="13783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F6661"/>
                </a:solidFill>
                <a:latin typeface="Outfit 1 Light"/>
              </a:rPr>
              <a:t>Proteção · sucessão · dignidade financeira · liquidez · possibilidades · responsabilidade · consequência.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13920" y="4270248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NUNCA USAMOS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13920" y="4636008"/>
            <a:ext cx="5059680" cy="570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 strike="sngStrike">
                <a:solidFill>
                  <a:srgbClr val="2C322E"/>
                </a:solidFill>
                <a:latin typeface="Outfit 1 Light"/>
              </a:rPr>
              <a:t>TRAGÉDIA · URGÊNCIA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313920" y="5187950"/>
            <a:ext cx="505968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13920" y="5443982"/>
            <a:ext cx="5059680" cy="13783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 strike="sngStrike">
                <a:solidFill>
                  <a:srgbClr val="5F6661"/>
                </a:solidFill>
                <a:latin typeface="Outfit 1 Light"/>
              </a:rPr>
              <a:t>Fatalidade · desespero · oportunidade imperdível · a melhor proteção do mercado.</a:t>
            </a:r>
            <a:r>
              <a:rPr sz="1932" i="0" b="0">
                <a:solidFill>
                  <a:srgbClr val="5F6661"/>
                </a:solidFill>
                <a:latin typeface="Outfit 1 Light"/>
              </a:rPr>
              <a:t> Nada que venda pelo susto.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7526427"/>
            <a:ext cx="12179808" cy="1013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Frases curtas. Ponto final. Argumento concreto. A comunicação acompanha o comportamento da marca: </a:t>
            </a:r>
            <a:r>
              <a:rPr sz="2100" i="0" b="0">
                <a:solidFill>
                  <a:srgbClr val="2C322E"/>
                </a:solidFill>
                <a:latin typeface="Outfit 1 Semi-Bold"/>
              </a:rPr>
              <a:t>escuta, entende e vai ao ponto.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534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lm-escudo-dourado.png"/>
          <p:cNvPicPr>
            <a:picLocks noChangeAspect="1"/>
          </p:cNvPicPr>
          <p:nvPr/>
        </p:nvPicPr>
        <p:blipFill>
          <a:blip r:embed="rId4">
            <a:alphaModFix amt="13000"/>
          </a:blip>
          <a:stretch>
            <a:fillRect/>
          </a:stretch>
        </p:blipFill>
        <p:spPr>
          <a:xfrm>
            <a:off x="11338560" y="548640"/>
            <a:ext cx="7773603" cy="8321040"/>
          </a:xfrm>
          <a:prstGeom prst="rect">
            <a:avLst/>
          </a:prstGeom>
        </p:spPr>
      </p:pic>
      <p:pic>
        <p:nvPicPr>
          <p:cNvPr id="6" name="Picture 5" descr="trama-canto.png"/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" name="Picture 1" descr="trama-direita.png"/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E3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C8CCC6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E3C88B"/>
                </a:solidFill>
                <a:latin typeface="Outfit 1 Semi-Bold"/>
              </a:rPr>
              <a:t>19 / 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160520"/>
            <a:ext cx="5486400" cy="957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5800" i="0" b="0">
                <a:solidFill>
                  <a:srgbClr val="E3C88B"/>
                </a:solidFill>
                <a:latin typeface="Outfit 1 Light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94960"/>
            <a:ext cx="10972800" cy="2314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7000" i="0" b="0">
                <a:solidFill>
                  <a:srgbClr val="F2F0E9"/>
                </a:solidFill>
                <a:latin typeface="Outfit 1 Bold"/>
              </a:rPr>
              <a:t>IDENTIDADE</a:t>
            </a:r>
          </a:p>
          <a:p>
            <a:pPr algn="l">
              <a:lnSpc>
                <a:spcPct val="105000"/>
              </a:lnSpc>
            </a:pPr>
            <a:r>
              <a:rPr sz="7000" i="0" b="0">
                <a:solidFill>
                  <a:srgbClr val="F2F0E9"/>
                </a:solidFill>
                <a:latin typeface="Outfit 1 Bold"/>
              </a:rPr>
              <a:t>VISUAL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7965948"/>
            <a:ext cx="1188720" cy="16459"/>
          </a:xfrm>
          <a:prstGeom prst="rect">
            <a:avLst/>
          </a:prstGeom>
          <a:solidFill>
            <a:srgbClr val="E3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8203692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300">
                <a:solidFill>
                  <a:srgbClr val="F2F0E9"/>
                </a:solidFill>
                <a:latin typeface="Outfit 1 Semi-Bold"/>
              </a:rPr>
              <a:t>O ESCUDO, O VERDE E O DOURADO.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20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70901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LOGOTIPO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46389"/>
            <a:ext cx="8412480" cy="913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AS VERSÕES DA MARCA</a:t>
            </a:r>
          </a:p>
        </p:txBody>
      </p:sp>
      <p:sp>
        <p:nvSpPr>
          <p:cNvPr id="7" name="Rectangle 6"/>
          <p:cNvSpPr/>
          <p:nvPr/>
        </p:nvSpPr>
        <p:spPr>
          <a:xfrm>
            <a:off x="7961290" y="2523175"/>
            <a:ext cx="9412310" cy="12802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4286669"/>
            <a:ext cx="3703320" cy="2697480"/>
          </a:xfrm>
          <a:prstGeom prst="rect">
            <a:avLst/>
          </a:prstGeom>
          <a:solidFill>
            <a:srgbClr val="4A5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m-horizontal-dour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8031" y="4938601"/>
            <a:ext cx="2296058" cy="77555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4400" y="7240181"/>
            <a:ext cx="37033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75" i="0" b="0" spc="220">
                <a:solidFill>
                  <a:srgbClr val="2C322E"/>
                </a:solidFill>
                <a:latin typeface="Outfit 1 Semi-Bold"/>
              </a:rPr>
              <a:t>PRINCIPAL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7587653"/>
            <a:ext cx="3703320" cy="808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50" i="0" b="0">
                <a:solidFill>
                  <a:srgbClr val="5F6661"/>
                </a:solidFill>
                <a:latin typeface="Outfit 1 Light"/>
              </a:rPr>
              <a:t>Dourado sobre o verde da marca. É a versão de assinatura.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66360" y="4286669"/>
            <a:ext cx="3703320" cy="2697480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m-horizontal-pre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9991" y="4929398"/>
            <a:ext cx="2296058" cy="7939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166360" y="7240181"/>
            <a:ext cx="37033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75" i="0" b="0" spc="220">
                <a:solidFill>
                  <a:srgbClr val="2C322E"/>
                </a:solidFill>
                <a:latin typeface="Outfit 1 Semi-Bold"/>
              </a:rPr>
              <a:t>MONOCROMÁTICA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7587653"/>
            <a:ext cx="3703320" cy="808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50" i="0" b="0">
                <a:solidFill>
                  <a:srgbClr val="5F6661"/>
                </a:solidFill>
                <a:latin typeface="Outfit 1 Light"/>
              </a:rPr>
              <a:t>Preto sobre papel. Documento, contrato, impressão em uma cor.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418320" y="4286669"/>
            <a:ext cx="3703320" cy="2697480"/>
          </a:xfrm>
          <a:prstGeom prst="rect">
            <a:avLst/>
          </a:prstGeom>
          <a:solidFill>
            <a:srgbClr val="CEC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m-vertical-pret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21951" y="4910176"/>
            <a:ext cx="2296058" cy="8324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418320" y="7240181"/>
            <a:ext cx="37033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75" i="0" b="0" spc="220">
                <a:solidFill>
                  <a:srgbClr val="2C322E"/>
                </a:solidFill>
                <a:latin typeface="Outfit 1 Semi-Bold"/>
              </a:rPr>
              <a:t>VERTICAL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7587653"/>
            <a:ext cx="3703320" cy="808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50" i="0" b="0">
                <a:solidFill>
                  <a:srgbClr val="5F6661"/>
                </a:solidFill>
                <a:latin typeface="Outfit 1 Light"/>
              </a:rPr>
              <a:t>Para espaços estreitos: avatar, carimbo, assinatura de e-mail.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670280" y="4286669"/>
            <a:ext cx="3703320" cy="2697480"/>
          </a:xfrm>
          <a:prstGeom prst="rect">
            <a:avLst/>
          </a:prstGeom>
          <a:solidFill>
            <a:srgbClr val="2C3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lm-vertical-clar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373911" y="4903422"/>
            <a:ext cx="2296058" cy="84591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3670280" y="7240181"/>
            <a:ext cx="37033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75" i="0" b="0" spc="220">
                <a:solidFill>
                  <a:srgbClr val="2C322E"/>
                </a:solidFill>
                <a:latin typeface="Outfit 1 Semi-Bold"/>
              </a:rPr>
              <a:t>SOBRE FOTOGRAFIA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670280" y="7587653"/>
            <a:ext cx="3703320" cy="808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50" i="0" b="0">
                <a:solidFill>
                  <a:srgbClr val="5F6661"/>
                </a:solidFill>
                <a:latin typeface="Outfit 1 Light"/>
              </a:rPr>
              <a:t>Versão clara, só quando o fundo for escuro o bastante.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21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USOS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38528"/>
            <a:ext cx="8412480" cy="913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O QUE PRESERVA A MARCA</a:t>
            </a:r>
          </a:p>
        </p:txBody>
      </p:sp>
      <p:sp>
        <p:nvSpPr>
          <p:cNvPr id="7" name="Rectangle 6"/>
          <p:cNvSpPr/>
          <p:nvPr/>
        </p:nvSpPr>
        <p:spPr>
          <a:xfrm>
            <a:off x="8866638" y="2415314"/>
            <a:ext cx="-728478" cy="12802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172054"/>
            <a:ext cx="6400800" cy="1013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O escudo é o ativo mais permanente da identidade. Tudo o que o deforma, enfraquece a marca inteira.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21240" y="23042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SEMPRE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9921240" y="2688336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21240" y="287578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2834640"/>
            <a:ext cx="6355080" cy="829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50" i="0" b="0">
                <a:solidFill>
                  <a:srgbClr val="2C322E"/>
                </a:solidFill>
                <a:latin typeface="Outfit 1 Semi-Bold"/>
              </a:rPr>
              <a:t>Respiro.</a:t>
            </a:r>
            <a:r>
              <a:rPr sz="1650" i="0" b="0">
                <a:solidFill>
                  <a:srgbClr val="5F6661"/>
                </a:solidFill>
                <a:latin typeface="Outfit 1 Light"/>
              </a:rPr>
              <a:t> Deixar em volta do logo, livre, pelo menos a altura do escudo;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921240" y="3901775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21240" y="4089227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4048079"/>
            <a:ext cx="6355080" cy="829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50" i="0" b="0">
                <a:solidFill>
                  <a:srgbClr val="2C322E"/>
                </a:solidFill>
                <a:latin typeface="Outfit 1 Semi-Bold"/>
              </a:rPr>
              <a:t>Contraste.</a:t>
            </a:r>
            <a:r>
              <a:rPr sz="1650" i="0" b="0">
                <a:solidFill>
                  <a:srgbClr val="5F6661"/>
                </a:solidFill>
                <a:latin typeface="Outfit 1 Light"/>
              </a:rPr>
              <a:t> Dourado sobre verde ou escuro; preto sobre papel ou areia. Dourado sobre claro, nunca;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921240" y="5115215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21240" y="5302667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5261519"/>
            <a:ext cx="6355080" cy="460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50" i="0" b="0">
                <a:solidFill>
                  <a:srgbClr val="2C322E"/>
                </a:solidFill>
                <a:latin typeface="Outfit 1 Semi-Bold"/>
              </a:rPr>
              <a:t>Proporção.</a:t>
            </a:r>
            <a:r>
              <a:rPr sz="1650" i="0" b="0">
                <a:solidFill>
                  <a:srgbClr val="5F6661"/>
                </a:solidFill>
                <a:latin typeface="Outfit 1 Light"/>
              </a:rPr>
              <a:t> O logo nunca é esticado, inclinado ou recortado;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921240" y="5959678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21240" y="614713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105982"/>
            <a:ext cx="6355080" cy="460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50" i="0" b="0">
                <a:solidFill>
                  <a:srgbClr val="2C322E"/>
                </a:solidFill>
                <a:latin typeface="Outfit 1 Semi-Bold"/>
              </a:rPr>
              <a:t>Tamanho mínimo.</a:t>
            </a:r>
            <a:r>
              <a:rPr sz="1650" i="0" b="0">
                <a:solidFill>
                  <a:srgbClr val="5F6661"/>
                </a:solidFill>
                <a:latin typeface="Outfit 1 Light"/>
              </a:rPr>
              <a:t> Abaixo de 2 cm de largura, usar só o escudo;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921240" y="6804142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21240" y="699159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6950446"/>
            <a:ext cx="6355080" cy="829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50" i="0" b="0">
                <a:solidFill>
                  <a:srgbClr val="2C322E"/>
                </a:solidFill>
                <a:latin typeface="Outfit 1 Semi-Bold"/>
              </a:rPr>
              <a:t>Uma marca por peça.</a:t>
            </a:r>
            <a:r>
              <a:rPr sz="1650" i="0" b="0">
                <a:solidFill>
                  <a:srgbClr val="5F6661"/>
                </a:solidFill>
                <a:latin typeface="Outfit 1 Light"/>
              </a:rPr>
              <a:t> O escudo não divide espaço com selo, etiqueta ou moldura decorativa.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921240" y="8017581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21240" y="8401629"/>
            <a:ext cx="6858000" cy="808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50" i="0" b="0">
                <a:solidFill>
                  <a:srgbClr val="5F6661"/>
                </a:solidFill>
                <a:latin typeface="Outfit 1 Light"/>
              </a:rPr>
              <a:t>Nenhuma sombra, nenhum contorno, nenhum efeito. </a:t>
            </a:r>
            <a:r>
              <a:rPr sz="1650" i="0" b="0">
                <a:solidFill>
                  <a:srgbClr val="2C322E"/>
                </a:solidFill>
                <a:latin typeface="Outfit 1 Semi-Bold"/>
              </a:rPr>
              <a:t>A elegância da marca está na sua contenção.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22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CORES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38528"/>
            <a:ext cx="8412480" cy="913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A PALETA</a:t>
            </a:r>
          </a:p>
        </p:txBody>
      </p:sp>
      <p:sp>
        <p:nvSpPr>
          <p:cNvPr id="7" name="Rectangle 6"/>
          <p:cNvSpPr/>
          <p:nvPr/>
        </p:nvSpPr>
        <p:spPr>
          <a:xfrm>
            <a:off x="4043326" y="2415314"/>
            <a:ext cx="13330274" cy="12802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4133088"/>
            <a:ext cx="2889504" cy="2651760"/>
          </a:xfrm>
          <a:prstGeom prst="rect">
            <a:avLst/>
          </a:prstGeom>
          <a:solidFill>
            <a:srgbClr val="4A5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7059168"/>
            <a:ext cx="28895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75" i="0" b="0" spc="220">
                <a:solidFill>
                  <a:srgbClr val="2C322E"/>
                </a:solidFill>
                <a:latin typeface="Outfit 1 Semi-Bold"/>
              </a:rPr>
              <a:t>VERDE PROFUNDO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7406640"/>
            <a:ext cx="28895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75" i="0" b="0" spc="220">
                <a:solidFill>
                  <a:srgbClr val="AE8C4E"/>
                </a:solidFill>
                <a:latin typeface="Outfit 1 Light"/>
              </a:rPr>
              <a:t>#4A534E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7772400"/>
            <a:ext cx="2889504" cy="1185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50" i="0" b="0">
                <a:solidFill>
                  <a:srgbClr val="5F6661"/>
                </a:solidFill>
                <a:latin typeface="Outfit 1 Light"/>
              </a:rPr>
              <a:t>A cor da marca. Fundo de capa, de capítulo e de assinatura.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06824" y="4133088"/>
            <a:ext cx="2889504" cy="265176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06824" y="7059168"/>
            <a:ext cx="28895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75" i="0" b="0" spc="220">
                <a:solidFill>
                  <a:srgbClr val="2C322E"/>
                </a:solidFill>
                <a:latin typeface="Outfit 1 Semi-Bold"/>
              </a:rPr>
              <a:t>DOURADO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6824" y="7406640"/>
            <a:ext cx="28895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75" i="0" b="0" spc="220">
                <a:solidFill>
                  <a:srgbClr val="AE8C4E"/>
                </a:solidFill>
                <a:latin typeface="Outfit 1 Light"/>
              </a:rPr>
              <a:t>#C9A961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6824" y="7772400"/>
            <a:ext cx="2889504" cy="1185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50" i="0" b="0">
                <a:solidFill>
                  <a:srgbClr val="5F6661"/>
                </a:solidFill>
                <a:latin typeface="Outfit 1 Light"/>
              </a:rPr>
              <a:t>O acento. Filete, numeral e destaque — nunca em área grande.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99248" y="4133088"/>
            <a:ext cx="2889504" cy="2651760"/>
          </a:xfrm>
          <a:prstGeom prst="rect">
            <a:avLst/>
          </a:prstGeom>
          <a:solidFill>
            <a:srgbClr val="CEC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99248" y="7059168"/>
            <a:ext cx="28895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75" i="0" b="0" spc="220">
                <a:solidFill>
                  <a:srgbClr val="2C322E"/>
                </a:solidFill>
                <a:latin typeface="Outfit 1 Semi-Bold"/>
              </a:rPr>
              <a:t>AREIA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99248" y="7406640"/>
            <a:ext cx="28895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75" i="0" b="0" spc="220">
                <a:solidFill>
                  <a:srgbClr val="AE8C4E"/>
                </a:solidFill>
                <a:latin typeface="Outfit 1 Light"/>
              </a:rPr>
              <a:t>#CEC3B5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99248" y="7772400"/>
            <a:ext cx="2889504" cy="1185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50" i="0" b="0">
                <a:solidFill>
                  <a:srgbClr val="5F6661"/>
                </a:solidFill>
                <a:latin typeface="Outfit 1 Light"/>
              </a:rPr>
              <a:t>A cor de apoio. Fundos claros, papelaria e aplicações impressas.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091672" y="4133088"/>
            <a:ext cx="2889504" cy="2651760"/>
          </a:xfrm>
          <a:prstGeom prst="rect">
            <a:avLst/>
          </a:prstGeom>
          <a:solidFill>
            <a:srgbClr val="2C3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091672" y="7059168"/>
            <a:ext cx="28895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75" i="0" b="0" spc="220">
                <a:solidFill>
                  <a:srgbClr val="2C322E"/>
                </a:solidFill>
                <a:latin typeface="Outfit 1 Semi-Bold"/>
              </a:rPr>
              <a:t>GRAFITE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1672" y="7406640"/>
            <a:ext cx="28895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75" i="0" b="0" spc="220">
                <a:solidFill>
                  <a:srgbClr val="AE8C4E"/>
                </a:solidFill>
                <a:latin typeface="Outfit 1 Light"/>
              </a:rPr>
              <a:t>#2C322E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91672" y="7772400"/>
            <a:ext cx="2889504" cy="808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50" i="0" b="0">
                <a:solidFill>
                  <a:srgbClr val="5F6661"/>
                </a:solidFill>
                <a:latin typeface="Outfit 1 Light"/>
              </a:rPr>
              <a:t>O texto. Títulos e corpo sobre papel.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484096" y="4133088"/>
            <a:ext cx="2889504" cy="2651760"/>
          </a:xfrm>
          <a:prstGeom prst="rect">
            <a:avLst/>
          </a:prstGeom>
          <a:solidFill>
            <a:srgbClr val="F6F4EF"/>
          </a:solidFill>
          <a:ln w="11430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84096" y="7059168"/>
            <a:ext cx="28895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75" i="0" b="0" spc="220">
                <a:solidFill>
                  <a:srgbClr val="2C322E"/>
                </a:solidFill>
                <a:latin typeface="Outfit 1 Semi-Bold"/>
              </a:rPr>
              <a:t>PAPEL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484096" y="7406640"/>
            <a:ext cx="28895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75" i="0" b="0" spc="220">
                <a:solidFill>
                  <a:srgbClr val="AE8C4E"/>
                </a:solidFill>
                <a:latin typeface="Outfit 1 Light"/>
              </a:rPr>
              <a:t>#F6F4EF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484096" y="7772400"/>
            <a:ext cx="2889504" cy="808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50" i="0" b="0">
                <a:solidFill>
                  <a:srgbClr val="5F6661"/>
                </a:solidFill>
                <a:latin typeface="Outfit 1 Light"/>
              </a:rPr>
              <a:t>O fundo de leitura e o texto sobre o verde.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23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TIPOGRAFIA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38528"/>
            <a:ext cx="8412480" cy="913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A TIPOGRAFIA</a:t>
            </a:r>
          </a:p>
        </p:txBody>
      </p:sp>
      <p:sp>
        <p:nvSpPr>
          <p:cNvPr id="7" name="Rectangle 6"/>
          <p:cNvSpPr/>
          <p:nvPr/>
        </p:nvSpPr>
        <p:spPr>
          <a:xfrm>
            <a:off x="5383055" y="2415314"/>
            <a:ext cx="11990545" cy="12802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087368"/>
            <a:ext cx="1645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ASSINATURA · ALLROUNDER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34840"/>
            <a:ext cx="115214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i="0" b="0">
                <a:solidFill>
                  <a:srgbClr val="2C322E"/>
                </a:solidFill>
                <a:latin typeface="Outfit 1 Light"/>
              </a:rPr>
              <a:t>Lucas Martini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435840" y="4507992"/>
            <a:ext cx="4937760" cy="808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50" i="0" b="0">
                <a:solidFill>
                  <a:srgbClr val="5F6661"/>
                </a:solidFill>
                <a:latin typeface="Outfit 1 Light"/>
              </a:rPr>
              <a:t>A serifada do logotipo. Vive no logo e na assinatura — não é fonte de texto corrido.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5568696"/>
            <a:ext cx="164592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1645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TEXTO · DM SANS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336792"/>
            <a:ext cx="115214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i="0" b="0">
                <a:solidFill>
                  <a:srgbClr val="2C322E"/>
                </a:solidFill>
                <a:latin typeface="Outfit 1 Light"/>
              </a:rPr>
              <a:t>Proteção &amp; Sucessão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435840" y="6409944"/>
            <a:ext cx="4937760" cy="1185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50" i="0" b="0">
                <a:solidFill>
                  <a:srgbClr val="5F6661"/>
                </a:solidFill>
                <a:latin typeface="Outfit 1 Light"/>
              </a:rPr>
              <a:t>A sem-serifa de apoio: títulos, corpo e legenda. Caixa alta espacejada nos rótulos, sempre com espacejamento largo.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7470648"/>
            <a:ext cx="164592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7891272"/>
            <a:ext cx="1645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HIERARQUIA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8238744"/>
            <a:ext cx="115214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i="0" b="0">
                <a:solidFill>
                  <a:srgbClr val="2C322E"/>
                </a:solidFill>
                <a:latin typeface="Outfit 1 Semi-Bold"/>
              </a:rPr>
              <a:t>Clareza antes de volume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435840" y="8311896"/>
            <a:ext cx="4937760" cy="1185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50" i="0" b="0">
                <a:solidFill>
                  <a:srgbClr val="5F6661"/>
                </a:solidFill>
                <a:latin typeface="Outfit 1 Light"/>
              </a:rPr>
              <a:t>Título grande em peso leve; destaque em semibold. O peso marca a frase que a pessoa leva embora — nunca a frase inteira.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9372600"/>
            <a:ext cx="164592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9976104"/>
            <a:ext cx="11850624" cy="808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50" i="0" b="0">
                <a:solidFill>
                  <a:srgbClr val="9AA09A"/>
                </a:solidFill>
                <a:latin typeface="Outfit 1 Light"/>
              </a:rPr>
              <a:t>Os espécimes desta página estão compostos na fonte deste documento. As fontes oficiais da marca são a Allrounder, no logotipo, e a DM Sans, no texto.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534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lm-escudo-dourado.png"/>
          <p:cNvPicPr>
            <a:picLocks noChangeAspect="1"/>
          </p:cNvPicPr>
          <p:nvPr/>
        </p:nvPicPr>
        <p:blipFill>
          <a:blip r:embed="rId4">
            <a:alphaModFix amt="13000"/>
          </a:blip>
          <a:stretch>
            <a:fillRect/>
          </a:stretch>
        </p:blipFill>
        <p:spPr>
          <a:xfrm>
            <a:off x="11338560" y="548640"/>
            <a:ext cx="7773603" cy="8321040"/>
          </a:xfrm>
          <a:prstGeom prst="rect">
            <a:avLst/>
          </a:prstGeom>
        </p:spPr>
      </p:pic>
      <p:pic>
        <p:nvPicPr>
          <p:cNvPr id="6" name="Picture 5" descr="trama-canto.png"/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" name="Picture 1" descr="trama-direita.png"/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E3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C8CCC6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E3C88B"/>
                </a:solidFill>
                <a:latin typeface="Outfit 1 Semi-Bold"/>
              </a:rPr>
              <a:t>24 / 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160520"/>
            <a:ext cx="5486400" cy="957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5800" i="0" b="0">
                <a:solidFill>
                  <a:srgbClr val="E3C88B"/>
                </a:solidFill>
                <a:latin typeface="Outfit 1 Light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94960"/>
            <a:ext cx="10972800" cy="11574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7000" i="0" b="0">
                <a:solidFill>
                  <a:srgbClr val="F2F0E9"/>
                </a:solidFill>
                <a:latin typeface="Outfit 1 Bold"/>
              </a:rPr>
              <a:t>MANIFESTO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6808470"/>
            <a:ext cx="1188720" cy="16459"/>
          </a:xfrm>
          <a:prstGeom prst="rect">
            <a:avLst/>
          </a:prstGeom>
          <a:solidFill>
            <a:srgbClr val="E3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7046214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300">
                <a:solidFill>
                  <a:srgbClr val="F2F0E9"/>
                </a:solidFill>
                <a:latin typeface="Outfit 1 Semi-Bold"/>
              </a:rPr>
              <a:t>A MARCA EM PALAVRAS, E A MARCA EM UMA PÁGINA.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534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6" name="Picture 5" descr="lm-escudo-dourado.png"/>
          <p:cNvPicPr>
            <a:picLocks noChangeAspect="1"/>
          </p:cNvPicPr>
          <p:nvPr/>
        </p:nvPicPr>
        <p:blipFill>
          <a:blip r:embed="rId3">
            <a:alphaModFix amt="10000"/>
          </a:blip>
          <a:stretch>
            <a:fillRect/>
          </a:stretch>
        </p:blipFill>
        <p:spPr>
          <a:xfrm>
            <a:off x="12435840" y="1463040"/>
            <a:ext cx="6833937" cy="7315200"/>
          </a:xfrm>
          <a:prstGeom prst="rect">
            <a:avLst/>
          </a:prstGeom>
        </p:spPr>
      </p:pic>
      <p:pic>
        <p:nvPicPr>
          <p:cNvPr id="2" name="Picture 1" descr="trama-direita.png"/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E3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C8CCC6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E3C88B"/>
                </a:solidFill>
                <a:latin typeface="Outfit 1 Semi-Bold"/>
              </a:rPr>
              <a:t>25 /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E3C88B"/>
                </a:solidFill>
                <a:latin typeface="Outfit 1 Semi-Bold"/>
              </a:rPr>
              <a:t>MANIFESTO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97480"/>
            <a:ext cx="14630400" cy="63047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100" i="0" b="0">
                <a:solidFill>
                  <a:srgbClr val="F2F0E9"/>
                </a:solidFill>
                <a:latin typeface="Outfit 1 Light"/>
              </a:rPr>
              <a:t>HÁ COISAS QUE LEVAM ANOS PARA CONSTRUIR.</a:t>
            </a:r>
          </a:p>
          <a:p>
            <a:pPr algn="l">
              <a:lnSpc>
                <a:spcPct val="114000"/>
              </a:lnSpc>
            </a:pPr>
            <a:r>
              <a:rPr sz="3100" i="0" b="0">
                <a:solidFill>
                  <a:srgbClr val="F2F0E9"/>
                </a:solidFill>
                <a:latin typeface="Outfit 1 Light"/>
              </a:rPr>
              <a:t>UMA CARREIRA. UMA FAMÍLIA. UMA EMPRESA. UM PATRIMÔNIO.</a:t>
            </a:r>
          </a:p>
          <a:p>
            <a:pPr algn="l">
              <a:lnSpc>
                <a:spcPct val="114000"/>
              </a:lnSpc>
            </a:pPr>
            <a:r>
              <a:rPr sz="3100" i="0" b="0">
                <a:solidFill>
                  <a:srgbClr val="F2F0E9"/>
                </a:solidFill>
                <a:latin typeface="Outfit 1 Light"/>
              </a:rPr>
              <a:t>E NENHUMA DELAS DEVERIA FICAR COMPLETAMENTE</a:t>
            </a:r>
          </a:p>
          <a:p>
            <a:pPr algn="l">
              <a:lnSpc>
                <a:spcPct val="114000"/>
              </a:lnSpc>
            </a:pPr>
            <a:r>
              <a:rPr sz="3100" i="0" b="0">
                <a:solidFill>
                  <a:srgbClr val="F2F0E9"/>
                </a:solidFill>
                <a:latin typeface="Outfit 1 Light"/>
              </a:rPr>
              <a:t>DEPENDENTE DAQUILO QUE NÃO PODEMOS CONTROLAR.</a:t>
            </a:r>
          </a:p>
          <a:p>
            <a:pPr algn="l">
              <a:lnSpc>
                <a:spcPct val="114000"/>
              </a:lnSpc>
            </a:pPr>
            <a:r>
              <a:rPr sz="3100" i="0" b="0">
                <a:solidFill>
                  <a:srgbClr val="F2F0E9"/>
                </a:solidFill>
                <a:latin typeface="Outfit 1 Light"/>
              </a:rPr>
              <a:t>PLANEJAR NÃO É ESPERAR QUE ALGO DÊ ERRADO.</a:t>
            </a:r>
          </a:p>
          <a:p>
            <a:pPr algn="l">
              <a:lnSpc>
                <a:spcPct val="114000"/>
              </a:lnSpc>
            </a:pPr>
            <a:r>
              <a:rPr sz="3100" i="0" b="0">
                <a:solidFill>
                  <a:srgbClr val="F2F0E9"/>
                </a:solidFill>
                <a:latin typeface="Outfit 1 Light"/>
              </a:rPr>
              <a:t>É RECONHECER O VALOR DAQUILO QUE DEU CERTO.</a:t>
            </a:r>
          </a:p>
          <a:p>
            <a:pPr algn="l">
              <a:lnSpc>
                <a:spcPct val="114000"/>
              </a:lnSpc>
            </a:pPr>
            <a:r>
              <a:rPr sz="3100" i="0" b="0">
                <a:solidFill>
                  <a:srgbClr val="F2F0E9"/>
                </a:solidFill>
                <a:latin typeface="Outfit 1 Light"/>
              </a:rPr>
              <a:t>É PENSAR ANTES. ENQUANTO EXISTE TEMPO.</a:t>
            </a:r>
          </a:p>
          <a:p>
            <a:pPr algn="l">
              <a:lnSpc>
                <a:spcPct val="114000"/>
              </a:lnSpc>
            </a:pPr>
            <a:r>
              <a:rPr sz="3100" i="0" b="0">
                <a:solidFill>
                  <a:srgbClr val="F2F0E9"/>
                </a:solidFill>
                <a:latin typeface="Outfit 1 Light"/>
              </a:rPr>
              <a:t>ENQUANTO PODEMOS ESCOLHER.</a:t>
            </a:r>
          </a:p>
          <a:p>
            <a:pPr algn="l">
              <a:lnSpc>
                <a:spcPct val="114000"/>
              </a:lnSpc>
            </a:pPr>
            <a:r>
              <a:rPr sz="3100" i="0" b="0">
                <a:solidFill>
                  <a:srgbClr val="F2F0E9"/>
                </a:solidFill>
                <a:latin typeface="Outfit 1 Light"/>
              </a:rPr>
              <a:t>NEM TUDO PODE SER PREVISTO. </a:t>
            </a:r>
            <a:r>
              <a:rPr sz="3100" i="0" b="0">
                <a:solidFill>
                  <a:srgbClr val="E3C88B"/>
                </a:solidFill>
                <a:latin typeface="Outfit 1 Bold"/>
              </a:rPr>
              <a:t>MAS MUITO PODE SER PREPARADO.</a:t>
            </a:r>
          </a:p>
          <a:p>
            <a:pPr algn="l">
              <a:lnSpc>
                <a:spcPct val="114000"/>
              </a:lnSpc>
            </a:pPr>
            <a:r>
              <a:rPr sz="3100" i="0" b="0">
                <a:solidFill>
                  <a:srgbClr val="F2F0E9"/>
                </a:solidFill>
                <a:latin typeface="Outfit 1 Light"/>
              </a:rPr>
              <a:t>PORQUE PROTEÇÃO NÃO EXISTE PARA PRESERVAR DINHEIRO.</a:t>
            </a:r>
          </a:p>
          <a:p>
            <a:pPr algn="l">
              <a:lnSpc>
                <a:spcPct val="114000"/>
              </a:lnSpc>
            </a:pPr>
            <a:r>
              <a:rPr sz="3100" i="0" b="0">
                <a:solidFill>
                  <a:srgbClr val="E3C88B"/>
                </a:solidFill>
                <a:latin typeface="Outfit 1 Bold"/>
              </a:rPr>
              <a:t>EXISTE PARA PRESERVAR POSSIBILIDADES.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26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SÍNTESE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38528"/>
            <a:ext cx="8412480" cy="17355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A MARCA EM</a:t>
            </a:r>
          </a:p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UMA PÁGINA</a:t>
            </a:r>
          </a:p>
        </p:txBody>
      </p:sp>
      <p:sp>
        <p:nvSpPr>
          <p:cNvPr id="7" name="Rectangle 6"/>
          <p:cNvSpPr/>
          <p:nvPr/>
        </p:nvSpPr>
        <p:spPr>
          <a:xfrm>
            <a:off x="4974065" y="3237360"/>
            <a:ext cx="3164095" cy="12802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94099"/>
            <a:ext cx="6400800" cy="1013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F6661"/>
                </a:solidFill>
                <a:latin typeface="Outfit 1 Light"/>
              </a:rPr>
              <a:t>Se este documento inteiro se perdesse, bastaria esta página.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21240" y="198424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O ESSENCIAL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9921240" y="2368296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21240" y="25557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2514600"/>
            <a:ext cx="6355080" cy="829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50" i="0" b="0">
                <a:solidFill>
                  <a:srgbClr val="2C322E"/>
                </a:solidFill>
                <a:latin typeface="Outfit 1 Semi-Bold"/>
              </a:rPr>
              <a:t>Crença fundadora.</a:t>
            </a:r>
            <a:r>
              <a:rPr sz="1650" i="0" b="0">
                <a:solidFill>
                  <a:srgbClr val="5F6661"/>
                </a:solidFill>
                <a:latin typeface="Outfit 1 Light"/>
              </a:rPr>
              <a:t> O que levou anos para ser construído não deveria ficar entregue ao acaso.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921240" y="3581735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21240" y="3769187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3728039"/>
            <a:ext cx="6355080" cy="829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50" i="0" b="0">
                <a:solidFill>
                  <a:srgbClr val="2C322E"/>
                </a:solidFill>
                <a:latin typeface="Outfit 1 Semi-Bold"/>
              </a:rPr>
              <a:t>Essência.</a:t>
            </a:r>
            <a:r>
              <a:rPr sz="1650" i="0" b="0">
                <a:solidFill>
                  <a:srgbClr val="5F6661"/>
                </a:solidFill>
                <a:latin typeface="Outfit 1 Light"/>
              </a:rPr>
              <a:t> Construir segurança para preservar liberdade de escolha.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921240" y="4795175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21240" y="4982627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4941479"/>
            <a:ext cx="6355080" cy="460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50" i="0" b="0">
                <a:solidFill>
                  <a:srgbClr val="2C322E"/>
                </a:solidFill>
                <a:latin typeface="Outfit 1 Semi-Bold"/>
              </a:rPr>
              <a:t>Causa.</a:t>
            </a:r>
            <a:r>
              <a:rPr sz="1650" i="0" b="0">
                <a:solidFill>
                  <a:srgbClr val="5F6661"/>
                </a:solidFill>
                <a:latin typeface="Outfit 1 Light"/>
              </a:rPr>
              <a:t> Ampliar a cultura da preparação antes da urgência.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921240" y="5639638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21240" y="582709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5785942"/>
            <a:ext cx="6355080" cy="460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50" i="0" b="0">
                <a:solidFill>
                  <a:srgbClr val="2C322E"/>
                </a:solidFill>
                <a:latin typeface="Outfit 1 Semi-Bold"/>
              </a:rPr>
              <a:t>Território.</a:t>
            </a:r>
            <a:r>
              <a:rPr sz="1650" i="0" b="0">
                <a:solidFill>
                  <a:srgbClr val="5F6661"/>
                </a:solidFill>
                <a:latin typeface="Outfit 1 Light"/>
              </a:rPr>
              <a:t> Continuidade.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921240" y="6484102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21240" y="667155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6630406"/>
            <a:ext cx="6355080" cy="829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50" i="0" b="0">
                <a:solidFill>
                  <a:srgbClr val="2C322E"/>
                </a:solidFill>
                <a:latin typeface="Outfit 1 Semi-Bold"/>
              </a:rPr>
              <a:t>Posicionamento.</a:t>
            </a:r>
            <a:r>
              <a:rPr sz="1650" i="0" b="0">
                <a:solidFill>
                  <a:srgbClr val="5F6661"/>
                </a:solidFill>
                <a:latin typeface="Outfit 1 Light"/>
              </a:rPr>
              <a:t> Especialista em proteção e sucessão para quem deseja preservar o que construiu.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921240" y="7697541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21240" y="7884993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7843845"/>
            <a:ext cx="6355080" cy="460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50" i="0" b="0">
                <a:solidFill>
                  <a:srgbClr val="2C322E"/>
                </a:solidFill>
                <a:latin typeface="Outfit 1 Semi-Bold"/>
              </a:rPr>
              <a:t>Princípio de comunicação.</a:t>
            </a:r>
            <a:r>
              <a:rPr sz="1650" i="0" b="0">
                <a:solidFill>
                  <a:srgbClr val="5F6661"/>
                </a:solidFill>
                <a:latin typeface="Outfit 1 Light"/>
              </a:rPr>
              <a:t> Provar, não proclamar.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921240" y="8542005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21240" y="8729457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8688309"/>
            <a:ext cx="6355080" cy="460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50" i="0" b="0">
                <a:solidFill>
                  <a:srgbClr val="2C322E"/>
                </a:solidFill>
                <a:latin typeface="Outfit 1 Semi-Bold"/>
              </a:rPr>
              <a:t>Personalidade.</a:t>
            </a:r>
            <a:r>
              <a:rPr sz="1650" i="0" b="0">
                <a:solidFill>
                  <a:srgbClr val="5F6661"/>
                </a:solidFill>
                <a:latin typeface="Outfit 1 Light"/>
              </a:rPr>
              <a:t> Autoridade discreta.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921240" y="9386468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6355080"/>
            <a:ext cx="182880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687" i="0" b="0" spc="420">
                <a:solidFill>
                  <a:srgbClr val="AE8C4E"/>
                </a:solidFill>
                <a:latin typeface="Outfit 1 Semi-Bold"/>
              </a:rPr>
              <a:t>PROTEÇÃO &amp; SUCESSÃO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7013448"/>
            <a:ext cx="18288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650" i="0" b="0">
                <a:solidFill>
                  <a:srgbClr val="9AA09A"/>
                </a:solidFill>
                <a:latin typeface="Outfit 1 Light"/>
              </a:rPr>
              <a:t>Método Marca com Essência ©   ·   KA | Inteligência para Marcas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DAHVOuCspjk</dc:identifier>
  <dcterms:modified xsi:type="dcterms:W3CDTF">2011-08-01T06:04:30Z</dcterms:modified>
  <cp:revision>1</cp:revision>
  <dc:title>Revelacao-de-Essencia-Flavia-Pereira-Muccelin.pptx</dc:title>
</cp:coreProperties>
</file>