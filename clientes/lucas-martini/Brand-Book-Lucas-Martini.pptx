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trama-canto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Picture 3" descr="lm-vertical-ouro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788920"/>
            <a:ext cx="6949440" cy="2526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17220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940"/>
              </a:lnSpc>
            </a:pPr>
            <a:r>
              <a:rPr sz="2100" i="0" b="0" spc="700">
                <a:solidFill>
                  <a:srgbClr val="F2F0E9"/>
                </a:solidFill>
                <a:latin typeface="Outfit 1 Light"/>
              </a:rPr>
              <a:t>BRAND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39128"/>
            <a:ext cx="18288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750"/>
              </a:lnSpc>
            </a:pPr>
            <a:r>
              <a:rPr sz="1250" i="0" b="0" spc="400">
                <a:solidFill>
                  <a:srgbClr val="E3C88B"/>
                </a:solidFill>
                <a:latin typeface="Outfit 1 Semi-Bold"/>
              </a:rPr>
              <a:t>EDIÇÃO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9861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ANTES DE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7409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PARA QUE SERVE</a:t>
            </a:r>
          </a:p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ESTE BRAND 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9984" y="4372930"/>
            <a:ext cx="140817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3211258"/>
            <a:ext cx="6858000" cy="1215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Este documento reúne, em um só lugar,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essência, a voz, o posicionamento e a identidade visual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da marca Lucas Martini | Proteção &amp; Sucessão.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4682299"/>
            <a:ext cx="6858000" cy="1215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Ele existe para garantir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unidade da marca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: todo ponto de contato com a mesma consistência visual e verbal, não importa quem produza.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153340"/>
            <a:ext cx="6858000" cy="1215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Use como guia antes de criar, aprovar ou contratar qualquer material.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Marca consistente é marca reconhecida.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7319" y="2214146"/>
            <a:ext cx="3410841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39242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2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50215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4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A MARCA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3538728"/>
            <a:ext cx="6858000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ela é, no que acredita e onde se coloca.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8114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2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69087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4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PÚBLICO E TERRITÓRIO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4727448"/>
            <a:ext cx="6858000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Para quem ela fala e sobre o que ela fala.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76986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8932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2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587959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4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VOZ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916168"/>
            <a:ext cx="6858000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Como ela se comporta e como ela escreve.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95858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17804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2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06831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4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IDENTIDADE VISUAL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104888"/>
            <a:ext cx="6858000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logo, as cores e a tipografia — e o que preserva tudo isso.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14730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836676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2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825703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4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MANIFESTO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8293608"/>
            <a:ext cx="6858000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119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35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A MARCA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QUE LEVOU ANOS PARA SER CONSTRUÍDO TEM UM 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0525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741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ESTA</a:t>
            </a:r>
          </a:p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MARCA É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5673" y="4179573"/>
            <a:ext cx="3382487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36312"/>
            <a:ext cx="6400800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Lucas não começa pelo produto. Começa pela realidade de quem está na frente dele.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94958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18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A PROTEÇÃO É CONSEQUÊNCIA</a:t>
            </a:r>
          </a:p>
          <a:p>
            <a:pPr algn="l">
              <a:lnSpc>
                <a:spcPts val="2618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DO DIAGNÓSTICO.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3017901"/>
            <a:ext cx="6858000" cy="1215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estrutura proteção e sucessão para preservar possibilidades quando a vida, a família ou a empresa entram em transição.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488942"/>
            <a:ext cx="6858000" cy="1215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Produto: seguro e soluções de proteção. Serviço: planejamento. Valor estratégico: continuidade. Valor humano: capacidade de escolha.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5959983"/>
            <a:ext cx="6858000" cy="1601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já existia antes da comunicação: experiência, resultado, recomendação, confiança e histórico de atendimento. Primeiro veio a reputação.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Agora a marca precisa torná-la visível.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06 /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4630400" cy="1978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F2F0E9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E3C88B"/>
                </a:solidFill>
                <a:latin typeface="Outfit 1 Bold"/>
              </a:rPr>
              <a:t>NÃO DEVERIA FICAR ENTREGUE AO ACASO.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58712"/>
            <a:ext cx="10972800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Não porque todos os riscos possam ser eliminados, mas porque muitos dos seus impactos podem ser preparados.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543038"/>
            <a:ext cx="10972800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Nem tudo pode ser previsto. Mas muito pode ser preparado.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657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NÚCLEO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120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9653" y="2617994"/>
            <a:ext cx="1012394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7292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ESSÊNCIA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3868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39063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646662"/>
            <a:ext cx="505968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liberdade de escolha. É o princípio que conecta a história, o método e a entrega.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47292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RAZÃO DE 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83868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PRESERVAR A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39063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646662"/>
            <a:ext cx="505968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Manter a capacidade de decidir quando a vida tira a previsibilidade de alguém.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47292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CAUSA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83868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ANTES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39063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646662"/>
            <a:ext cx="5059680" cy="1122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Ampliar a cultura da preparação antes da urgência. De resolver depois para pensar antes.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472947"/>
            <a:ext cx="12179808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a marca combate não é a morte nem a incerteza: é o improviso, o adiamento, a falta de liquidez e a decisão tomada sob pressão.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3299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GOLDEN CIRCLE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78787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POR QUÊ, COMO E O QUÊ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7575" y="2455573"/>
            <a:ext cx="886602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10507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76267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POR QUÊ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228209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84241"/>
            <a:ext cx="5059680" cy="1122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Porque o que levou anos para ser construído não deveria perder sua continuidade por falta de preparação.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310507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76267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228209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84241"/>
            <a:ext cx="5059680" cy="18337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Entendendo a realidade do cliente, identificando vulnerabilidades, projetando impactos e estruturando proteção de forma personalizada, com acompanhamento de longo prazo.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310507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76267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O QUÊ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228209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84241"/>
            <a:ext cx="5059680" cy="1122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de renda, familiar e empresarial. Pessoa-chave. Planejamento sucessório. Liquidez para sucessão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8022082"/>
            <a:ext cx="12179808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Não começar pelo produto.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Começar pela consequência.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0525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741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POSICIONAMENTO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8034" y="3357527"/>
            <a:ext cx="152012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267"/>
            <a:ext cx="6400800" cy="1601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produto não diferencia. A diferenciação está na combinação de diagnóstico, personalização, conhecimento técnico, confiança, pós-venda e relação de longo prazo.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46343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18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PREPARAR ANTES PARA</a:t>
            </a:r>
          </a:p>
          <a:p>
            <a:pPr algn="l">
              <a:lnSpc>
                <a:spcPts val="2618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PRESERVAR ESCOLHAS DEPOIS.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3017901"/>
            <a:ext cx="6858000" cy="1601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é especialista em proteção e sucessão para pessoas, famílias e empresas que desejam preservar o que construíram e manter possibilidades diante do imprevisto.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875657"/>
            <a:ext cx="6858000" cy="1601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promessa: estruturar proteção e sucessão de forma personalizada para que famílias, profissionais e empresas mantenham recursos, possibilidades e continuidade diante de imprevistos.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733413"/>
            <a:ext cx="6858000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melhor proteção não é a maior.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É a que faz sentido para aquela realidade.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3563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ARQUITETURA DE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121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NOME NO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8580" y="2487907"/>
            <a:ext cx="1012502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001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5761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PESSOAL E FAMILIAR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876493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32525"/>
            <a:ext cx="363474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Renda, família e pilares financeiros.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220" y="4480001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9220" y="4845761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EMPRESARIAL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5876493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9220" y="6132525"/>
            <a:ext cx="363474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Pessoa-chave e continuidade do negócio.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4480001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4845761"/>
            <a:ext cx="363474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FAMILIAR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4040" y="5876493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6132525"/>
            <a:ext cx="363474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Transferência, liquidez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38860" y="4480001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38860" y="4845761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EMPRESARIAL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38860" y="5876493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38860" y="6132525"/>
            <a:ext cx="363474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Passagem de responsabilidade e sociedade.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603033"/>
            <a:ext cx="12179808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confiança está associada à pessoa: a indicação chega pelo nome e o relacionamento acontece com Lucas.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 seguradora entrega o instrumento. Lucas constrói a estratégia.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119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35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PÚBLICO</a:t>
            </a:r>
          </a:p>
          <a:p>
            <a:pPr algn="l">
              <a:lnSpc>
                <a:spcPts val="735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E TERRITÓRIO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PARA QUEM A MARCA FALA, E SOBRE O QUE ELA FALA.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0630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81796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QUEM CARREGA</a:t>
            </a:r>
          </a:p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RESPONSABILIDADE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030694" y="3480628"/>
            <a:ext cx="110746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37367"/>
            <a:ext cx="6400800" cy="1215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Quatro perfis diferentes com uma coisa em comum: existe algo ou alguém que depende das decisões de cada 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5475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 TRIBO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93160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311905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077908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produz a própria renda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profissionais liberais, autônomos, executivos e especialistas;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400221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18966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148518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sustenta outras pessoas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pilares financeiros da família, cuja ausência alteraria a estrutura econômica de casa;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07282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2602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19128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responde por uma empresa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empresários, sócios e pessoas-chave de negócios dependentes de indivíduos específicos;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14343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33088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289738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construiu patrimônio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famílias e sócios que precisam organizar transferência, liquidez e sucessão.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721404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7598092"/>
            <a:ext cx="6858000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São pessoas que decidem com responsabilidade sobre outros.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Falar com elas é falar de consequência, nunca de medo.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TERRITÓRIOS DE 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CONTINUIDADE</a:t>
            </a:r>
          </a:p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É O TERRITÓRIO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1114" y="3237360"/>
            <a:ext cx="224704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215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Todo conteúdo da marca nasce de um destes cinco territórios. Fora deles, a marca está falando de outra coisa.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DO QUE A MARCA FALA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0"/>
              </a:lnSpc>
            </a:pPr>
            <a:r>
              <a:rPr sz="1722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1227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Continuidade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— o que precisa seguir existindo: renda, família, empresa, patrimônio, projetos e legado;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429996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48741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0"/>
              </a:lnSpc>
            </a:pPr>
            <a:r>
              <a:rPr sz="1722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446270"/>
            <a:ext cx="6355080" cy="848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Proteção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— os recursos e estruturas que sustentam essa continuidade;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53288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72033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0"/>
              </a:lnSpc>
            </a:pPr>
            <a:r>
              <a:rPr sz="1722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679186"/>
            <a:ext cx="6355080" cy="848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Sucessão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— a preparação para a passagem de responsabilidade e patrimônio;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76579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95325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0"/>
              </a:lnSpc>
            </a:pPr>
            <a:r>
              <a:rPr sz="1722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912102"/>
            <a:ext cx="6355080" cy="848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Dignidade financeira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— a preservação de alternativas em momentos difíceis;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799871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818616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0"/>
              </a:lnSpc>
            </a:pPr>
            <a:r>
              <a:rPr sz="1722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8145018"/>
            <a:ext cx="6355080" cy="848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Escolha e responsabilidade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— decidir sem ser dominado pela urgência.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923163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917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COMO A MARCA ATUA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14663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OS CINCO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4388" y="3091449"/>
            <a:ext cx="10839212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20703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159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02007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3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ANTECIPAÇÃO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431267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705587"/>
            <a:ext cx="2838298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Decisões são melhores sem urgência.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626" y="5220703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159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9626" y="6002007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3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9626" y="6431267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9626" y="6705587"/>
            <a:ext cx="2838298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Não existe proteção ideal fora de contexto.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4851" y="5220703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159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4851" y="6002007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3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CONFIANÇA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4851" y="6431267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4851" y="6705587"/>
            <a:ext cx="2838298" cy="1122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Transparência e consistência ao longo dos 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30077" y="5220703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159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0077" y="6002007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3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130077" y="6431267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30077" y="6705587"/>
            <a:ext cx="2838298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 proteção não termina na contratação.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35302" y="5220703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159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5302" y="6002007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3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EXCELÊNCIA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35302" y="6431267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35302" y="6705587"/>
            <a:ext cx="2838298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Menos discurso, mais padrão de execução.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119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35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VOZ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AUTORIDADE DISCRETA: PROVAR, NÃO PROCLAMAR.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3696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PERSONALIDADE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2453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AUTORIDADE DISCRETA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4263" y="2989239"/>
            <a:ext cx="936933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44173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09933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SEGURO E PREPARADO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761875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17907"/>
            <a:ext cx="505968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Transmite domínio sem precisar provar o tempo todo. Estuda antes de orientar.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844173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RELAÇÃO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5209933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CONSULTIVO E HUMANO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761875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6017907"/>
            <a:ext cx="505968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Pergunta antes de oferecer e entende o que existe por trás dos números.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844173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5209933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ELEGANTE E ACESSÍVEL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761875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6017907"/>
            <a:ext cx="5059680" cy="766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Sofisticação sem ostentação. Torna o complexo compreensível.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488415"/>
            <a:ext cx="12179808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Nunca: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alarmista, exibicionista, técnica demais, comercial demais ou genérica.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TOM DE VOZ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PROVAR,</a:t>
            </a:r>
          </a:p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NÃO PROCLAMAR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916" y="3237360"/>
            <a:ext cx="1737244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não precisa assustar para ser ouvida, nem anunciar para ser reconhecida.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78425"/>
            <a:ext cx="6400800" cy="441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autoridade aparece na qualidade da pergunta.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184708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02996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2340864"/>
            <a:ext cx="6858000" cy="4512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pode morrer amanhã.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2974962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285858"/>
            <a:ext cx="6858000" cy="4512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Quem depende financeiramente de você hoje?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4011397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4194277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4505173"/>
            <a:ext cx="6858000" cy="4512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precisa contratar um seguro de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139271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5450167"/>
            <a:ext cx="6858000" cy="8109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Antes do produto, precisamos entender o impacto financeiro que uma ausência produziria.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653548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671836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029260"/>
            <a:ext cx="6858000" cy="4512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Olha onde eu cheguei.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766335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7974254"/>
            <a:ext cx="6858000" cy="8109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Esse reconhecimento representa dez anos de consistência e confiança de clientes.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657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VOCABULÁRIO E ESTILO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120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PALAVRAS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53313" y="2617994"/>
            <a:ext cx="912028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7292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VERBOS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3868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· ESTRUTURAR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39063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646662"/>
            <a:ext cx="5059680" cy="1122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· antecipar · organizar · traduzir · acompanhar. São verbos de preparação: a marca conduz, não assiste.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47292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PALAVRAS PRÓPRIAS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83868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CONTINUIDADE ·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39063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646662"/>
            <a:ext cx="5059680" cy="1122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· sucessão · dignidade financeira · liquidez · possibilidades · responsabilidade · consequência.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47292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NUNCA USAR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83868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 strike="sngStrike">
                <a:solidFill>
                  <a:srgbClr val="2C322E"/>
                </a:solidFill>
                <a:latin typeface="Outfit 1 Light"/>
              </a:rPr>
              <a:t>TRAGÉDIA · URGÊNCIA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39063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646662"/>
            <a:ext cx="5059680" cy="1122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 strike="sngStrike">
                <a:solidFill>
                  <a:srgbClr val="5F6661"/>
                </a:solidFill>
                <a:latin typeface="Outfit 1 Light"/>
              </a:rPr>
              <a:t>Fatalidade · desespero · oportunidade imperdível · a melhor proteção do mercado.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Nada que venda pelo susto.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472947"/>
            <a:ext cx="12179808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Frases curtas. Ponto final. Argumento concreto. A comunicação acompanha o comportamento da marca: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escuta, entende e vai ao ponto.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119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35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IDENTIDADE</a:t>
            </a:r>
          </a:p>
          <a:p>
            <a:pPr algn="l">
              <a:lnSpc>
                <a:spcPts val="735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VISUAL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ESCUDO, O VERDE E O DOURADO.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38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LOGOTIPO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19312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VERSÕES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961290" y="2596098"/>
            <a:ext cx="941231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359592"/>
            <a:ext cx="3703320" cy="269748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m-horizontal-ouro-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031" y="4931223"/>
            <a:ext cx="2296058" cy="7903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7313104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660576"/>
            <a:ext cx="3703320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Dourado sobre o verde da marca. É a versão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4359592"/>
            <a:ext cx="3703320" cy="26974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m-horizontal-p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4931223"/>
            <a:ext cx="2296058" cy="790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6360" y="7313104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MONOCROMÁTICA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7660576"/>
            <a:ext cx="3703320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Preto sobre papel. Documento, contrato, impressão em uma cor.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4359592"/>
            <a:ext cx="3703320" cy="269748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m-vertical-pre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951" y="4908967"/>
            <a:ext cx="2296058" cy="8348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18320" y="7313104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7660576"/>
            <a:ext cx="3703320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Para espaços estreitos: avatar, carimbo, assinatura de e-mail.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70280" y="4359592"/>
            <a:ext cx="3703320" cy="269748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m-vertical-br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73911" y="4908967"/>
            <a:ext cx="2296058" cy="83482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670280" y="7313104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SOBRE FOTOGRAFIA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70280" y="7660576"/>
            <a:ext cx="3703320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Versão clara, só quando o fundo for escuro o bastante.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85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USOS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44052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PRESERVA 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6638" y="2420838"/>
            <a:ext cx="-728478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77578"/>
            <a:ext cx="6400800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escudo é o ativo mais permanente da identidade. Tudo o que o deforma, enfraquece a marca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981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SEMPRE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9386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8131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40164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Respiro.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Deixar em volta do logo, livre, pelo menos a altura do escudo;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76447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95192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910774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Contraste.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Dourado sobre verde ou escuro; preto sobre papel ou areia. Dourado sobre claro, nunca;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483508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02253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4981384"/>
            <a:ext cx="6355080" cy="389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Proporção.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logo nunca é esticado, inclinado ou recortado;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608129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579558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5754433"/>
            <a:ext cx="6355080" cy="389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Tamanho mínimo.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Abaixo de 2 cm de largura, usar só o escudo;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38117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56863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27482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Uma marca por peça.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escudo não divide espaço com selo, etiqueta ou moldura decorativa.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745178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7835836"/>
            <a:ext cx="6858000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Nenhuma sombra, nenhum contorno, nenhum efeito.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A elegância da marca está na sua contenção.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PALETA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3326" y="2415314"/>
            <a:ext cx="13330274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33088"/>
            <a:ext cx="2889504" cy="265176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VERDE PROFUNDO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#4A534E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772400"/>
            <a:ext cx="2889504" cy="966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da marca. Fundo de capa, de capítulo e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4133088"/>
            <a:ext cx="2889504" cy="26517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DOURADO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#C9A961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7772400"/>
            <a:ext cx="2889504" cy="966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acento. Filete, numeral e destaque — nunca em área grande.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99248" y="4133088"/>
            <a:ext cx="2889504" cy="265176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9248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AREIA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#CEC3B5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7772400"/>
            <a:ext cx="2889504" cy="966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de apoio. Fundos claros, papelaria e aplicações impressas.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91672" y="4133088"/>
            <a:ext cx="2889504" cy="265176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1672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GRAFITE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#2C322E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7772400"/>
            <a:ext cx="2889504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texto. Títulos e corpo sobre papel.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84096" y="4133088"/>
            <a:ext cx="2889504" cy="2651760"/>
          </a:xfrm>
          <a:prstGeom prst="rect">
            <a:avLst/>
          </a:prstGeom>
          <a:solidFill>
            <a:srgbClr val="F6F4EF"/>
          </a:solidFill>
          <a:ln w="11430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84096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PAPEL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84096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5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#F6F4EF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84096" y="7772400"/>
            <a:ext cx="2889504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fundo de leitura e o texto sobre o verde.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TIPOGRAFIA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3055" y="2415314"/>
            <a:ext cx="1199054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87368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ASSINATURA · ALLROUNDER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4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Lucas Martini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4507992"/>
            <a:ext cx="4937760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serifada do logotipo. Vive no logo e na assinatura — não é fonte de texto corrido.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568696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TEXTO · DM SANS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336792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4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0" y="6409944"/>
            <a:ext cx="4937760" cy="966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sem-serifa de apoio: títulos, corpo e legenda. Caixa alta espacejada nos rótulos, sempre com espacejamento largo.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470648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891272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HIERARQUIA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8238744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40"/>
              </a:lnSpc>
            </a:pPr>
            <a:r>
              <a:rPr sz="4400" i="0" b="0">
                <a:solidFill>
                  <a:srgbClr val="2C322E"/>
                </a:solidFill>
                <a:latin typeface="Outfit 1 Semi-Bold"/>
              </a:rPr>
              <a:t>Clareza antes de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0" y="8311896"/>
            <a:ext cx="4937760" cy="966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Título grande em peso leve; destaque em semibold. O peso marca a frase que a pessoa leva embora — nunca a frase inteira.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9372600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9976104"/>
            <a:ext cx="11850624" cy="662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Os espécimes desta página estão compostos na fonte deste documento. As fontes oficiais da marca são a Allrounder, no logotipo, e a DM Sans, no texto.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119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35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MANIFESTO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6" name="Picture 5" descr="lm-escudo-ouro-claro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12435840" y="1463040"/>
            <a:ext cx="7016620" cy="73152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MANIFESTO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14630400" cy="6304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HÁ COISAS QUE LEVAM ANOS PARA CONSTRUIR.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UMA CARREIRA. UMA FAMÍLIA. UMA EMPRESA. UM PATRIMÔNIO.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 NENHUMA DELAS DEVERIA FICAR COMPLETAMENTE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DEPENDENTE DAQUILO QUE NÃO PODEMOS CONTROLAR.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PLANEJAR NÃO É ESPERAR QUE ALGO DÊ ERRADO.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RECONHECER O VALOR DAQUILO QUE DEU CERTO.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PENSAR ANTES. ENQUANTO EXISTE TEMPO.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ENQUANTO PODEMOS ESCOLHER.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NEM TUDO PODE SER PREVISTO. </a:t>
            </a:r>
            <a:r>
              <a:rPr sz="3100" i="0" b="0">
                <a:solidFill>
                  <a:srgbClr val="E3C88B"/>
                </a:solidFill>
                <a:latin typeface="Outfit 1 Bold"/>
              </a:rPr>
              <a:t>MAS MUITO PODE SER PREPARADO.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PORQUE PROTEÇÃO NÃO EXISTE PARA PRESERVAR DINHEIRO.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E3C88B"/>
                </a:solidFill>
                <a:latin typeface="Outfit 1 Bold"/>
              </a:rPr>
              <a:t>EXISTE PARA PRESERVAR POSSIBILIDADES.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9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09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MARCA EM</a:t>
            </a:r>
          </a:p>
          <a:p>
            <a:pPr algn="l">
              <a:lnSpc>
                <a:spcPts val="522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UMA PÁGINA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974065" y="3237360"/>
            <a:ext cx="3164095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828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Se este documento inteiro se perdesse, bastaria esta página.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9842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5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ESSENCIAL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36829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5557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514600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Crença fundadora.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que levou anos para ser construído não deveria ficar entregue ao acaso.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43890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62635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585210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Essência.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Construir segurança para preservar liberdade de escolha.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450951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46969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4655820"/>
            <a:ext cx="6355080" cy="389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Causa.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Ampliar a cultura da preparação antes da urgência.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28256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547001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5428869"/>
            <a:ext cx="6355080" cy="389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Território.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Continuidade.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05561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24306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201918"/>
            <a:ext cx="6355080" cy="68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Posicionamento.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Especialista em proteção e sucessão para quem deseja preservar o que construiu.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712622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73136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7272528"/>
            <a:ext cx="6355080" cy="389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Princípio de comunicação.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Provar, não proclamar.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789927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808672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4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8045577"/>
            <a:ext cx="6355080" cy="389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Personalidade.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Autoridade discreta.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867232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35508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362"/>
              </a:lnSpc>
            </a:pPr>
            <a:r>
              <a:rPr sz="1687" i="0" b="0" spc="420">
                <a:solidFill>
                  <a:srgbClr val="AE8C4E"/>
                </a:solidFill>
                <a:latin typeface="Outfit 1 Semi-Bold"/>
              </a:rPr>
              <a:t>PROTEÇÃO &amp; SUCESSÃO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013448"/>
            <a:ext cx="1828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31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Método Marca com Essência ©   ·   KA | Inteligência para Marcas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