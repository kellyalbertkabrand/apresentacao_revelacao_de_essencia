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  <p:sldId id="279" r:id="rId13"/>
    <p:sldId id="280" r:id="rId12"/>
    <p:sldId id="281" r:id="rId11"/>
    <p:sldId id="282" r:id="rId10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27.xml"/><Relationship Id="rId11" Type="http://schemas.openxmlformats.org/officeDocument/2006/relationships/slide" Target="slides/slide26.xml"/><Relationship Id="rId12" Type="http://schemas.openxmlformats.org/officeDocument/2006/relationships/slide" Target="slides/slide25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Picture 2" descr="trama-canto.png"/>
          <p:cNvPicPr>
            <a:picLocks noChangeAspect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Picture 3" descr="lm-vertical-ouro-cla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2788920"/>
            <a:ext cx="6949440" cy="2526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6172200"/>
            <a:ext cx="182880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2100" i="0" b="0" spc="700">
                <a:solidFill>
                  <a:srgbClr val="F2F0E9"/>
                </a:solidFill>
                <a:latin typeface="Outfit 1 Light"/>
              </a:rPr>
              <a:t>BRAND 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739128"/>
            <a:ext cx="18288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50" i="0" b="0" spc="400">
                <a:solidFill>
                  <a:srgbClr val="E3C88B"/>
                </a:solidFill>
                <a:latin typeface="Outfit 1 Semi-Bold"/>
              </a:rPr>
              <a:t>EDIÇÃO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02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8095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ANTES DE COMEÇAR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56446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PARA QUE SERVE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ESTE BRAND BOOK</a:t>
            </a:r>
          </a:p>
        </p:txBody>
      </p:sp>
      <p:sp>
        <p:nvSpPr>
          <p:cNvPr id="7" name="Rectangle 6"/>
          <p:cNvSpPr/>
          <p:nvPr/>
        </p:nvSpPr>
        <p:spPr>
          <a:xfrm>
            <a:off x="6729984" y="3955278"/>
            <a:ext cx="1408176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793606"/>
            <a:ext cx="6858000" cy="14934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Este documento reúne, em um só lugar, a </a:t>
            </a:r>
            <a:r>
              <a:rPr sz="2100" i="0" b="0">
                <a:solidFill>
                  <a:srgbClr val="2C322E"/>
                </a:solidFill>
                <a:latin typeface="Outfit 1 Semi-Bold"/>
              </a:rPr>
              <a:t>essência, a voz, o posicionamento e a identidade visual</a:t>
            </a:r>
            <a:r>
              <a:rPr sz="2100" i="0" b="0">
                <a:solidFill>
                  <a:srgbClr val="5F6661"/>
                </a:solidFill>
                <a:latin typeface="Outfit 1 Light"/>
              </a:rPr>
              <a:t> da marca Lucas Martini | Proteção &amp; Sucessão.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21240" y="4543082"/>
            <a:ext cx="6858000" cy="14934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Ele existe para garantir a </a:t>
            </a:r>
            <a:r>
              <a:rPr sz="2100" i="0" b="0">
                <a:solidFill>
                  <a:srgbClr val="2C322E"/>
                </a:solidFill>
                <a:latin typeface="Outfit 1 Semi-Bold"/>
              </a:rPr>
              <a:t>unidade da marca</a:t>
            </a:r>
            <a:r>
              <a:rPr sz="2100" i="0" b="0">
                <a:solidFill>
                  <a:srgbClr val="5F6661"/>
                </a:solidFill>
                <a:latin typeface="Outfit 1 Light"/>
              </a:rPr>
              <a:t>: todo ponto de contato com a mesma consistência visual e verbal, não importa quem produza.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21240" y="6292558"/>
            <a:ext cx="6858000" cy="14934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Use como guia antes de criar, aprovar ou contratar qualquer material. </a:t>
            </a:r>
            <a:r>
              <a:rPr sz="2100" i="0" b="0">
                <a:solidFill>
                  <a:srgbClr val="2C322E"/>
                </a:solidFill>
                <a:latin typeface="Outfit 1 Semi-Bold"/>
              </a:rPr>
              <a:t>Marca consistente é marca reconhecida.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03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CONTEÚDO</a:t>
            </a:r>
          </a:p>
        </p:txBody>
      </p:sp>
      <p:sp>
        <p:nvSpPr>
          <p:cNvPr id="6" name="Rectangle 5"/>
          <p:cNvSpPr/>
          <p:nvPr/>
        </p:nvSpPr>
        <p:spPr>
          <a:xfrm>
            <a:off x="4727319" y="2214146"/>
            <a:ext cx="3410841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3392424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05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7" i="0" b="0" spc="240">
                <a:solidFill>
                  <a:srgbClr val="AE8C4E"/>
                </a:solidFill>
                <a:latin typeface="Outfit 1 Semi-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502152"/>
            <a:ext cx="6400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i="0" b="0" spc="60">
                <a:solidFill>
                  <a:srgbClr val="2C322E"/>
                </a:solidFill>
                <a:latin typeface="Outfit 1 Light"/>
              </a:rPr>
              <a:t>A MARCA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21240" y="3538728"/>
            <a:ext cx="6858000" cy="534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O que ela é, no que acredita e onde se coloca.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581144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800600"/>
            <a:ext cx="1005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7" i="0" b="0" spc="240">
                <a:solidFill>
                  <a:srgbClr val="AE8C4E"/>
                </a:solidFill>
                <a:latin typeface="Outfit 1 Semi-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4690872"/>
            <a:ext cx="6400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i="0" b="0" spc="60">
                <a:solidFill>
                  <a:srgbClr val="2C322E"/>
                </a:solidFill>
                <a:latin typeface="Outfit 1 Light"/>
              </a:rPr>
              <a:t>PÚBLICO E TERRITÓRIO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4727448"/>
            <a:ext cx="6858000" cy="534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Para quem ela fala e sobre o que ela fala.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769864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989320"/>
            <a:ext cx="1005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7" i="0" b="0" spc="240">
                <a:solidFill>
                  <a:srgbClr val="AE8C4E"/>
                </a:solidFill>
                <a:latin typeface="Outfit 1 Semi-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5879592"/>
            <a:ext cx="6400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i="0" b="0" spc="60">
                <a:solidFill>
                  <a:srgbClr val="2C322E"/>
                </a:solidFill>
                <a:latin typeface="Outfit 1 Light"/>
              </a:rPr>
              <a:t>VOZ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1240" y="5916168"/>
            <a:ext cx="6858000" cy="534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Como ela se comporta e como ela escreve.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6958584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7178040"/>
            <a:ext cx="1005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7" i="0" b="0" spc="240">
                <a:solidFill>
                  <a:srgbClr val="AE8C4E"/>
                </a:solidFill>
                <a:latin typeface="Outfit 1 Semi-Bol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7068312"/>
            <a:ext cx="6400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i="0" b="0" spc="60">
                <a:solidFill>
                  <a:srgbClr val="2C322E"/>
                </a:solidFill>
                <a:latin typeface="Outfit 1 Light"/>
              </a:rPr>
              <a:t>IDENTIDADE VISUAL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7104888"/>
            <a:ext cx="6858000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O logo, as cores e a tipografia — e o que preserva tudo isso.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8147304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8366760"/>
            <a:ext cx="1005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7" i="0" b="0" spc="240">
                <a:solidFill>
                  <a:srgbClr val="AE8C4E"/>
                </a:solidFill>
                <a:latin typeface="Outfit 1 Semi-Bold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8257032"/>
            <a:ext cx="6400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i="0" b="0" spc="60">
                <a:solidFill>
                  <a:srgbClr val="2C322E"/>
                </a:solidFill>
                <a:latin typeface="Outfit 1 Light"/>
              </a:rPr>
              <a:t>MANIFESTO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40" y="8293608"/>
            <a:ext cx="6858000" cy="534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A marca em palavras, e a marca em uma página.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lm-escudo-ouro-claro.png"/>
          <p:cNvPicPr>
            <a:picLocks noChangeAspect="1"/>
          </p:cNvPicPr>
          <p:nvPr/>
        </p:nvPicPr>
        <p:blipFill>
          <a:blip r:embed="rId4">
            <a:alphaModFix amt="13000"/>
          </a:blip>
          <a:stretch>
            <a:fillRect/>
          </a:stretch>
        </p:blipFill>
        <p:spPr>
          <a:xfrm>
            <a:off x="11338560" y="548640"/>
            <a:ext cx="7981406" cy="8321040"/>
          </a:xfrm>
          <a:prstGeom prst="rect">
            <a:avLst/>
          </a:prstGeom>
        </p:spPr>
      </p:pic>
      <p:pic>
        <p:nvPicPr>
          <p:cNvPr id="6" name="Picture 5" descr="trama-canto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04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5486400" cy="957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5800" i="0" b="0">
                <a:solidFill>
                  <a:srgbClr val="E3C88B"/>
                </a:solidFill>
                <a:latin typeface="Outfit 1 Ligh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972800" cy="11574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A MARCA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808470"/>
            <a:ext cx="1188720" cy="16459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7046214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300">
                <a:solidFill>
                  <a:srgbClr val="F2F0E9"/>
                </a:solidFill>
                <a:latin typeface="Outfit 1 Semi-Bold"/>
              </a:rPr>
              <a:t>O QUE LEVOU ANOS PARA SER CONSTRUÍDO TEM UM NOME.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05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41195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DEFINIÇÃO CENTRAL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16683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O QUE ESTA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MARCA É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5673" y="3715515"/>
            <a:ext cx="3382487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472254"/>
            <a:ext cx="6400800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Lucas não começa pelo produto. Começa pela realidade de quem está na frente dele.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16523"/>
            <a:ext cx="6400800" cy="8257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05" i="0" b="0" spc="160">
                <a:solidFill>
                  <a:srgbClr val="2C322E"/>
                </a:solidFill>
                <a:latin typeface="Outfit 1 Semi-Bold"/>
              </a:rPr>
              <a:t>A PROTEÇÃO É CONSEQUÊNCIA</a:t>
            </a:r>
          </a:p>
          <a:p>
            <a:pPr algn="l">
              <a:lnSpc>
                <a:spcPct val="145000"/>
              </a:lnSpc>
            </a:pPr>
            <a:r>
              <a:rPr sz="1805" i="0" b="0" spc="160">
                <a:solidFill>
                  <a:srgbClr val="2C322E"/>
                </a:solidFill>
                <a:latin typeface="Outfit 1 Semi-Bold"/>
              </a:rPr>
              <a:t>DO DIAGNÓSTICO.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21240" y="2553843"/>
            <a:ext cx="6858000" cy="14934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2C322E"/>
                </a:solidFill>
                <a:latin typeface="Outfit 1 Semi-Bold"/>
              </a:rPr>
              <a:t>Lucas Martini estrutura proteção e sucessão para preservar possibilidades quando a vida, a família ou a empresa entram em transição.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1240" y="4303319"/>
            <a:ext cx="6858000" cy="14934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Produto: seguro e soluções de proteção. Serviço: planejamento. Valor estratégico: continuidade. Valor humano: capacidade de escolha.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21240" y="6052795"/>
            <a:ext cx="6858000" cy="19729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A marca já existia antes da comunicação: experiência, resultado, recomendação, confiança e histórico de atendimento. Primeiro veio a reputação. </a:t>
            </a:r>
            <a:r>
              <a:rPr sz="2100" i="0" b="0">
                <a:solidFill>
                  <a:srgbClr val="2C322E"/>
                </a:solidFill>
                <a:latin typeface="Outfit 1 Semi-Bold"/>
              </a:rPr>
              <a:t>Agora a marca precisa torná-la visível.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06 / 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118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E3C88B"/>
                </a:solidFill>
                <a:latin typeface="Outfit 1 Semi-Bold"/>
              </a:rPr>
              <a:t>A CRENÇA FUNDADORA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60520"/>
            <a:ext cx="14630400" cy="1978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000" i="0" b="0">
                <a:solidFill>
                  <a:srgbClr val="F2F0E9"/>
                </a:solidFill>
                <a:latin typeface="Outfit 1 Light"/>
              </a:rPr>
              <a:t>O QUE LEVOU ANOS PARA SER CONSTRUÍDO</a:t>
            </a:r>
          </a:p>
          <a:p>
            <a:pPr algn="l">
              <a:lnSpc>
                <a:spcPct val="114000"/>
              </a:lnSpc>
            </a:pPr>
            <a:r>
              <a:rPr sz="5000" i="0" b="0">
                <a:solidFill>
                  <a:srgbClr val="E3C88B"/>
                </a:solidFill>
                <a:latin typeface="Outfit 1 Bold"/>
              </a:rPr>
              <a:t>NÃO DEVERIA FICAR ENTREGUE AO ACASO.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458712"/>
            <a:ext cx="10972800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C8CCC6"/>
                </a:solidFill>
                <a:latin typeface="Outfit 1 Light"/>
              </a:rPr>
              <a:t>Não porque todos os riscos possam ser eliminados, mas porque muitos dos seus impactos podem ser preparados.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7728661"/>
            <a:ext cx="10972800" cy="534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C8CCC6"/>
                </a:solidFill>
                <a:latin typeface="Outfit 1 Light"/>
              </a:rPr>
              <a:t>Nem tudo pode ser previsto. Mas muito pode ser preparado.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07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O NÚCLEO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ESSÊNCIA DA MARCA</a:t>
            </a:r>
          </a:p>
        </p:txBody>
      </p:sp>
      <p:sp>
        <p:nvSpPr>
          <p:cNvPr id="7" name="Rectangle 6"/>
          <p:cNvSpPr/>
          <p:nvPr/>
        </p:nvSpPr>
        <p:spPr>
          <a:xfrm>
            <a:off x="7249653" y="2415314"/>
            <a:ext cx="10123947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70248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ESSÊNCIA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636008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CONSTRUIR SEGURANÇA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187950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443982"/>
            <a:ext cx="5059680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Preservar liberdade de escolha. É o princípio que conecta a história, o método e a entrega.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4160" y="4270248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RAZÃO DE 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4160" y="4636008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PRESERVAR A ESCOLHA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14160" y="5187950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14160" y="5443982"/>
            <a:ext cx="5059680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Manter a capacidade de decidir quando a vida tira a previsibilidade de alguém.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13920" y="4270248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CAUSA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13920" y="4636008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PREPARAR ANTES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13920" y="5187950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13920" y="5443982"/>
            <a:ext cx="5059680" cy="13783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Ampliar a cultura da preparação antes da urgência. De resolver depois para pensar antes.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7526427"/>
            <a:ext cx="12179808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O que a marca combate não é a morte nem a incerteza: é o improviso, o adiamento, a falta de liquidez e a decisão tomada sob pressão.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08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GOLDEN CIRCLE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POR QUÊ, COMO E O QUÊ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7575" y="2415314"/>
            <a:ext cx="8866025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70248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636008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POR QUÊ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187950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443982"/>
            <a:ext cx="5059680" cy="13783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Porque o que levou anos para ser construído não deveria perder sua continuidade por falta de preparação.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4160" y="4270248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4160" y="4636008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COMO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14160" y="5187950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14160" y="5443982"/>
            <a:ext cx="5059680" cy="22606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Entendendo a realidade do cliente, identificando vulnerabilidades, projetando impactos e estruturando proteção de forma personalizada, com acompanhamento de longo prazo.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13920" y="4270248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13920" y="4636008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O QUÊ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13920" y="5187950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13920" y="5443982"/>
            <a:ext cx="5059680" cy="13783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Proteção de renda, familiar e empresarial. Pessoa-chave. Planejamento sucessório. Liquidez para sucessão e inventário.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8408756"/>
            <a:ext cx="12179808" cy="534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Não começar pelo produto. </a:t>
            </a:r>
            <a:r>
              <a:rPr sz="2100" i="0" b="0">
                <a:solidFill>
                  <a:srgbClr val="2C322E"/>
                </a:solidFill>
                <a:latin typeface="Outfit 1 Semi-Bold"/>
              </a:rPr>
              <a:t>Começar pela consequência.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09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41195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POSICIONAMENTO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16683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POSICIONAMENTO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6618034" y="2893469"/>
            <a:ext cx="1520126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50209"/>
            <a:ext cx="6400800" cy="19729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O produto não diferencia. A diferenciação está na combinação de diagnóstico, personalização, conhecimento técnico, confiança, pós-venda e relação de longo prazo.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53531"/>
            <a:ext cx="6400800" cy="8257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05" i="0" b="0" spc="160">
                <a:solidFill>
                  <a:srgbClr val="2C322E"/>
                </a:solidFill>
                <a:latin typeface="Outfit 1 Semi-Bold"/>
              </a:rPr>
              <a:t>PREPARAR ANTES PARA</a:t>
            </a:r>
          </a:p>
          <a:p>
            <a:pPr algn="l">
              <a:lnSpc>
                <a:spcPct val="145000"/>
              </a:lnSpc>
            </a:pPr>
            <a:r>
              <a:rPr sz="1805" i="0" b="0" spc="160">
                <a:solidFill>
                  <a:srgbClr val="2C322E"/>
                </a:solidFill>
                <a:latin typeface="Outfit 1 Semi-Bold"/>
              </a:rPr>
              <a:t>PRESERVAR ESCOLHAS DEPOIS.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21240" y="2553843"/>
            <a:ext cx="6858000" cy="19729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2C322E"/>
                </a:solidFill>
                <a:latin typeface="Outfit 1 Semi-Bold"/>
              </a:rPr>
              <a:t>Lucas Martini é especialista em proteção e sucessão para pessoas, famílias e empresas que desejam preservar o que construíram e manter possibilidades diante do imprevisto.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1240" y="4782845"/>
            <a:ext cx="6858000" cy="19729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A promessa: estruturar proteção e sucessão de forma personalizada para que famílias, profissionais e empresas mantenham recursos, possibilidades e continuidade diante de imprevistos.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21240" y="7011848"/>
            <a:ext cx="6858000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A melhor proteção não é a maior. </a:t>
            </a:r>
            <a:r>
              <a:rPr sz="2100" i="0" b="0">
                <a:solidFill>
                  <a:srgbClr val="2C322E"/>
                </a:solidFill>
                <a:latin typeface="Outfit 1 Semi-Bold"/>
              </a:rPr>
              <a:t>É a que faz sentido para aquela realidade.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10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ARQUITETURA DE MARCA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O NOME NO CENTRO</a:t>
            </a:r>
          </a:p>
        </p:txBody>
      </p:sp>
      <p:sp>
        <p:nvSpPr>
          <p:cNvPr id="7" name="Rectangle 6"/>
          <p:cNvSpPr/>
          <p:nvPr/>
        </p:nvSpPr>
        <p:spPr>
          <a:xfrm>
            <a:off x="7248580" y="2415314"/>
            <a:ext cx="10125020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407408"/>
            <a:ext cx="3634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FRENTE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73168"/>
            <a:ext cx="3634740" cy="1049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PROTEÇÃO PESSOAL E FAMILIAR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803900"/>
            <a:ext cx="363474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059932"/>
            <a:ext cx="3634740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Renda, família e pilares financeiros.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9220" y="4407408"/>
            <a:ext cx="3634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FRENTE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9220" y="4773168"/>
            <a:ext cx="3634740" cy="1049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PROTEÇÃO EMPRESARIAL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9220" y="5803900"/>
            <a:ext cx="363474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89220" y="6059932"/>
            <a:ext cx="3634740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Pessoa-chave e continuidade do negócio.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40" y="4407408"/>
            <a:ext cx="3634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FRENTE 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4773168"/>
            <a:ext cx="363474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SUCESSÃO FAMILIAR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64040" y="5803900"/>
            <a:ext cx="363474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64040" y="6059932"/>
            <a:ext cx="3634740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Transferência, liquidez e inventário.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38860" y="4407408"/>
            <a:ext cx="3634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FRENTE 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38860" y="4773168"/>
            <a:ext cx="3634740" cy="1049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SUCESSÃO EMPRESARIAL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738860" y="5803900"/>
            <a:ext cx="363474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38860" y="6059932"/>
            <a:ext cx="3634740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Passagem de responsabilidade e sociedade.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7701213"/>
            <a:ext cx="12179808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A confiança está associada à pessoa: a indicação chega pelo nome e o relacionamento acontece com Lucas. </a:t>
            </a:r>
            <a:r>
              <a:rPr sz="2100" i="0" b="0">
                <a:solidFill>
                  <a:srgbClr val="2C322E"/>
                </a:solidFill>
                <a:latin typeface="Outfit 1 Semi-Bold"/>
              </a:rPr>
              <a:t>A seguradora entrega o instrumento. Lucas constrói a estratégia.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lm-escudo-ouro-claro.png"/>
          <p:cNvPicPr>
            <a:picLocks noChangeAspect="1"/>
          </p:cNvPicPr>
          <p:nvPr/>
        </p:nvPicPr>
        <p:blipFill>
          <a:blip r:embed="rId4">
            <a:alphaModFix amt="13000"/>
          </a:blip>
          <a:stretch>
            <a:fillRect/>
          </a:stretch>
        </p:blipFill>
        <p:spPr>
          <a:xfrm>
            <a:off x="11338560" y="548640"/>
            <a:ext cx="7981406" cy="8321040"/>
          </a:xfrm>
          <a:prstGeom prst="rect">
            <a:avLst/>
          </a:prstGeom>
        </p:spPr>
      </p:pic>
      <p:pic>
        <p:nvPicPr>
          <p:cNvPr id="6" name="Picture 5" descr="trama-canto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11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5486400" cy="957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5800" i="0" b="0">
                <a:solidFill>
                  <a:srgbClr val="E3C88B"/>
                </a:solidFill>
                <a:latin typeface="Outfit 1 Ligh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972800" cy="2314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PÚBLICO</a:t>
            </a:r>
          </a:p>
          <a:p>
            <a:pPr algn="l">
              <a:lnSpc>
                <a:spcPct val="10500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E TERRITÓRIO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7965948"/>
            <a:ext cx="1188720" cy="16459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8203692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300">
                <a:solidFill>
                  <a:srgbClr val="F2F0E9"/>
                </a:solidFill>
                <a:latin typeface="Outfit 1 Semi-Bold"/>
              </a:rPr>
              <a:t>PARA QUEM A MARCA FALA, E SOBRE O QUE ELA FALA.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12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PÚBLICO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QUEM CARREGA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RESPONSABILIDADE</a:t>
            </a:r>
          </a:p>
        </p:txBody>
      </p:sp>
      <p:sp>
        <p:nvSpPr>
          <p:cNvPr id="7" name="Rectangle 6"/>
          <p:cNvSpPr/>
          <p:nvPr/>
        </p:nvSpPr>
        <p:spPr>
          <a:xfrm>
            <a:off x="7030694" y="3237360"/>
            <a:ext cx="1107466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94099"/>
            <a:ext cx="6400800" cy="14934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Quatro perfis diferentes com uma coisa em comum: existe algo ou alguém que depende das decisões de cada 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21240" y="23042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A TRIBO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21240" y="2688336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21240" y="287578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834640"/>
            <a:ext cx="6355080" cy="82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Quem produz a própria renda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— profissionais liberais, autônomos, executivos e especialistas;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21240" y="3901775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21240" y="4089227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4048079"/>
            <a:ext cx="6355080" cy="82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Quem sustenta outras pessoas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— pilares financeiros da família, cuja ausência alteraria a estrutura econômica de casa;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21240" y="5115215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21240" y="5302667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5261519"/>
            <a:ext cx="6355080" cy="82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Quem responde por uma empresa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— empresários, sócios e pessoas-chave de negócios dependentes de indivíduos específicos;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21240" y="6328654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21240" y="651610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74958"/>
            <a:ext cx="6355080" cy="82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Quem construiu patrimônio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— famílias e sócios que precisam organizar transferência, liquidez e sucessão.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21240" y="7542093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21240" y="7926141"/>
            <a:ext cx="6858000" cy="808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São pessoas que decidem com responsabilidade sobre outros. </a:t>
            </a:r>
            <a:r>
              <a:rPr sz="1650" i="0" b="0">
                <a:solidFill>
                  <a:srgbClr val="2C322E"/>
                </a:solidFill>
                <a:latin typeface="Outfit 1 Semi-Bold"/>
              </a:rPr>
              <a:t>Falar com elas é falar de consequência, nunca de medo.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13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TERRITÓRIOS DE COMUNICAÇÃO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CONTINUIDADE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É O TERRITÓRIO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91114" y="3237360"/>
            <a:ext cx="2247046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94099"/>
            <a:ext cx="6400800" cy="14934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Todo conteúdo da marca nasce de um destes cinco territórios. Fora deles, a marca está falando de outra coisa.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21240" y="23042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DO QUE A MARCA FALA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21240" y="2688336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21240" y="287578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84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834640"/>
            <a:ext cx="6355080" cy="955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32" i="0" b="0">
                <a:solidFill>
                  <a:srgbClr val="2C322E"/>
                </a:solidFill>
                <a:latin typeface="Outfit 1 Semi-Bold"/>
              </a:rPr>
              <a:t>Continuidade</a:t>
            </a:r>
            <a:r>
              <a:rPr sz="1932" i="0" b="0">
                <a:solidFill>
                  <a:srgbClr val="5F6661"/>
                </a:solidFill>
                <a:latin typeface="Outfit 1 Light"/>
              </a:rPr>
              <a:t> — o que precisa seguir existindo: renda, família, empresa, patrimônio, projetos e legado;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21240" y="4027898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21240" y="421535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84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4174202"/>
            <a:ext cx="6355080" cy="955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32" i="0" b="0">
                <a:solidFill>
                  <a:srgbClr val="2C322E"/>
                </a:solidFill>
                <a:latin typeface="Outfit 1 Semi-Bold"/>
              </a:rPr>
              <a:t>Proteção</a:t>
            </a:r>
            <a:r>
              <a:rPr sz="1932" i="0" b="0">
                <a:solidFill>
                  <a:srgbClr val="5F6661"/>
                </a:solidFill>
                <a:latin typeface="Outfit 1 Light"/>
              </a:rPr>
              <a:t> — os recursos e estruturas que sustentam essa continuidade;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21240" y="5367460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21240" y="555491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84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5513764"/>
            <a:ext cx="6355080" cy="955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32" i="0" b="0">
                <a:solidFill>
                  <a:srgbClr val="2C322E"/>
                </a:solidFill>
                <a:latin typeface="Outfit 1 Semi-Bold"/>
              </a:rPr>
              <a:t>Sucessão</a:t>
            </a:r>
            <a:r>
              <a:rPr sz="1932" i="0" b="0">
                <a:solidFill>
                  <a:srgbClr val="5F6661"/>
                </a:solidFill>
                <a:latin typeface="Outfit 1 Light"/>
              </a:rPr>
              <a:t> — a preparação para a passagem de responsabilidade e patrimônio;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21240" y="6707022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21240" y="689447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84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853326"/>
            <a:ext cx="6355080" cy="955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32" i="0" b="0">
                <a:solidFill>
                  <a:srgbClr val="2C322E"/>
                </a:solidFill>
                <a:latin typeface="Outfit 1 Semi-Bold"/>
              </a:rPr>
              <a:t>Dignidade financeira</a:t>
            </a:r>
            <a:r>
              <a:rPr sz="1932" i="0" b="0">
                <a:solidFill>
                  <a:srgbClr val="5F6661"/>
                </a:solidFill>
                <a:latin typeface="Outfit 1 Light"/>
              </a:rPr>
              <a:t> — a preservação de alternativas em momentos difíceis;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21240" y="8046583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21240" y="8234035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84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8192887"/>
            <a:ext cx="6355080" cy="955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32" i="0" b="0">
                <a:solidFill>
                  <a:srgbClr val="2C322E"/>
                </a:solidFill>
                <a:latin typeface="Outfit 1 Semi-Bold"/>
              </a:rPr>
              <a:t>Escolha e responsabilidade</a:t>
            </a:r>
            <a:r>
              <a:rPr sz="1932" i="0" b="0">
                <a:solidFill>
                  <a:srgbClr val="5F6661"/>
                </a:solidFill>
                <a:latin typeface="Outfit 1 Light"/>
              </a:rPr>
              <a:t> — decidir sem ser dominado pela urgência.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21240" y="9386145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14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09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COMO A MARCA ATUA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86584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OS CINCO PILARES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4388" y="2963370"/>
            <a:ext cx="10839212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92624"/>
            <a:ext cx="2838298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4400" i="0" b="0">
                <a:solidFill>
                  <a:srgbClr val="AE8C4E"/>
                </a:solidFill>
                <a:latin typeface="Outfit 1 Ligh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873928"/>
            <a:ext cx="2838298" cy="337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i="0" b="0" spc="220">
                <a:solidFill>
                  <a:srgbClr val="2C322E"/>
                </a:solidFill>
                <a:latin typeface="Outfit 1 Semi-Bold"/>
              </a:rPr>
              <a:t>ANTECIPAÇÃO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303188"/>
            <a:ext cx="2838298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577508"/>
            <a:ext cx="2838298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Decisões são melhores sem urgência.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9626" y="5092624"/>
            <a:ext cx="2838298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4400" i="0" b="0">
                <a:solidFill>
                  <a:srgbClr val="AE8C4E"/>
                </a:solidFill>
                <a:latin typeface="Outfit 1 Light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9626" y="5873928"/>
            <a:ext cx="2838298" cy="337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i="0" b="0" spc="220">
                <a:solidFill>
                  <a:srgbClr val="2C322E"/>
                </a:solidFill>
                <a:latin typeface="Outfit 1 Semi-Bold"/>
              </a:rPr>
              <a:t>PERSONALIZAÇÃO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9626" y="6303188"/>
            <a:ext cx="2838298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19626" y="6577508"/>
            <a:ext cx="2838298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Não existe proteção ideal fora de contexto.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4851" y="5092624"/>
            <a:ext cx="2838298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4400" i="0" b="0">
                <a:solidFill>
                  <a:srgbClr val="AE8C4E"/>
                </a:solidFill>
                <a:latin typeface="Outfit 1 Light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4851" y="5873928"/>
            <a:ext cx="2838298" cy="337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i="0" b="0" spc="220">
                <a:solidFill>
                  <a:srgbClr val="2C322E"/>
                </a:solidFill>
                <a:latin typeface="Outfit 1 Semi-Bold"/>
              </a:rPr>
              <a:t>CONFIANÇA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24851" y="6303188"/>
            <a:ext cx="2838298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24851" y="6577508"/>
            <a:ext cx="2838298" cy="13783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Transparência e consistência ao longo dos anos.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30077" y="5092624"/>
            <a:ext cx="2838298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4400" i="0" b="0">
                <a:solidFill>
                  <a:srgbClr val="AE8C4E"/>
                </a:solidFill>
                <a:latin typeface="Outfit 1 Light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30077" y="5873928"/>
            <a:ext cx="2838298" cy="337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i="0" b="0" spc="220">
                <a:solidFill>
                  <a:srgbClr val="2C322E"/>
                </a:solidFill>
                <a:latin typeface="Outfit 1 Semi-Bold"/>
              </a:rPr>
              <a:t>CONTINUIDADE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130077" y="6303188"/>
            <a:ext cx="2838298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30077" y="6577508"/>
            <a:ext cx="2838298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A proteção não termina na contratação.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535302" y="5092624"/>
            <a:ext cx="2838298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4400" i="0" b="0">
                <a:solidFill>
                  <a:srgbClr val="AE8C4E"/>
                </a:solidFill>
                <a:latin typeface="Outfit 1 Light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535302" y="5873928"/>
            <a:ext cx="2838298" cy="337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i="0" b="0" spc="220">
                <a:solidFill>
                  <a:srgbClr val="2C322E"/>
                </a:solidFill>
                <a:latin typeface="Outfit 1 Semi-Bold"/>
              </a:rPr>
              <a:t>EXCELÊNCIA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535302" y="6303188"/>
            <a:ext cx="2838298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535302" y="6577508"/>
            <a:ext cx="2838298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Menos discurso, mais padrão de execução.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lm-escudo-ouro-claro.png"/>
          <p:cNvPicPr>
            <a:picLocks noChangeAspect="1"/>
          </p:cNvPicPr>
          <p:nvPr/>
        </p:nvPicPr>
        <p:blipFill>
          <a:blip r:embed="rId4">
            <a:alphaModFix amt="13000"/>
          </a:blip>
          <a:stretch>
            <a:fillRect/>
          </a:stretch>
        </p:blipFill>
        <p:spPr>
          <a:xfrm>
            <a:off x="11338560" y="548640"/>
            <a:ext cx="7981406" cy="8321040"/>
          </a:xfrm>
          <a:prstGeom prst="rect">
            <a:avLst/>
          </a:prstGeom>
        </p:spPr>
      </p:pic>
      <p:pic>
        <p:nvPicPr>
          <p:cNvPr id="6" name="Picture 5" descr="trama-canto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15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5486400" cy="957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5800" i="0" b="0">
                <a:solidFill>
                  <a:srgbClr val="E3C88B"/>
                </a:solidFill>
                <a:latin typeface="Outfit 1 Light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972800" cy="11574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VOZ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808470"/>
            <a:ext cx="1188720" cy="16459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7046214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300">
                <a:solidFill>
                  <a:srgbClr val="F2F0E9"/>
                </a:solidFill>
                <a:latin typeface="Outfit 1 Semi-Bold"/>
              </a:rPr>
              <a:t>AUTORIDADE DISCRETA: PROVAR, NÃO PROCLAMAR.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16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05173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PERSONALIDADE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80661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AUTORIDADE DISCRETA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4263" y="2857447"/>
            <a:ext cx="9369337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12381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POSTURA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78141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SEGURO E PREPARADO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630083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886115"/>
            <a:ext cx="5059680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Transmite domínio sem precisar provar o tempo todo. Estuda antes de orientar.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4160" y="4712381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RELAÇÃO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4160" y="5078141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CONSULTIVO E HUMANO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14160" y="5630083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14160" y="5886115"/>
            <a:ext cx="5059680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Pergunta antes de oferecer e entende o que existe por trás dos números.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13920" y="4712381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FORMA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13920" y="5078141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ELEGANTE E ACESSÍVEL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13920" y="5630083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13920" y="5886115"/>
            <a:ext cx="5059680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Sofisticação sem ostentação. Torna o complexo compreensível.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7527396"/>
            <a:ext cx="12179808" cy="534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2C322E"/>
                </a:solidFill>
                <a:latin typeface="Outfit 1 Semi-Bold"/>
              </a:rPr>
              <a:t>Nunca:</a:t>
            </a:r>
            <a:r>
              <a:rPr sz="2100" i="0" b="0">
                <a:solidFill>
                  <a:srgbClr val="5F6661"/>
                </a:solidFill>
                <a:latin typeface="Outfit 1 Light"/>
              </a:rPr>
              <a:t> alarmista, exibicionista, técnica demais, comercial demais ou genérica.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17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TOM DE VOZ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PROVAR,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NÃO PROCLAMAR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916" y="3237360"/>
            <a:ext cx="1737244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94099"/>
            <a:ext cx="6400800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A marca não precisa assustar para ser ouvida, nem anunciar para ser reconhecida.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264048"/>
            <a:ext cx="6400800" cy="534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A autoridade aparece na qualidade da pergunta.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21240" y="1847088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21240" y="202996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9AA09A"/>
                </a:solidFill>
                <a:latin typeface="Outfit 1 Semi-Bold"/>
              </a:rPr>
              <a:t>EM VEZ 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21240" y="2340864"/>
            <a:ext cx="6858000" cy="537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95" i="0" b="0" strike="sngStrike">
                <a:solidFill>
                  <a:srgbClr val="AE8C4E"/>
                </a:solidFill>
                <a:latin typeface="Outfit 1 Light"/>
              </a:rPr>
              <a:t>Você pode morrer amanhã.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21240" y="3061309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PREFERE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3372205"/>
            <a:ext cx="6858000" cy="537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95" i="0" b="0">
                <a:solidFill>
                  <a:srgbClr val="2C322E"/>
                </a:solidFill>
                <a:latin typeface="Outfit 1 Light"/>
              </a:rPr>
              <a:t>Quem depende financeiramente de você hoje?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21240" y="4184090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21240" y="436697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9AA09A"/>
                </a:solidFill>
                <a:latin typeface="Outfit 1 Semi-Bold"/>
              </a:rPr>
              <a:t>EM VEZ 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21240" y="4677866"/>
            <a:ext cx="6858000" cy="537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95" i="0" b="0" strike="sngStrike">
                <a:solidFill>
                  <a:srgbClr val="AE8C4E"/>
                </a:solidFill>
                <a:latin typeface="Outfit 1 Light"/>
              </a:rPr>
              <a:t>Você precisa contratar um seguro de vida.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1240" y="5398311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PREFERE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5709207"/>
            <a:ext cx="6858000" cy="9836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95" i="0" b="0">
                <a:solidFill>
                  <a:srgbClr val="2C322E"/>
                </a:solidFill>
                <a:latin typeface="Outfit 1 Light"/>
              </a:rPr>
              <a:t>Antes do produto, precisamos entender o impacto financeiro que uma ausência produziria.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21240" y="6967217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21240" y="7150097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9AA09A"/>
                </a:solidFill>
                <a:latin typeface="Outfit 1 Semi-Bold"/>
              </a:rPr>
              <a:t>EM VEZ 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7460993"/>
            <a:ext cx="6858000" cy="537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95" i="0" b="0" strike="sngStrike">
                <a:solidFill>
                  <a:srgbClr val="AE8C4E"/>
                </a:solidFill>
                <a:latin typeface="Outfit 1 Light"/>
              </a:rPr>
              <a:t>Olha onde eu cheguei.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8181439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PREFERE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21240" y="8492335"/>
            <a:ext cx="6858000" cy="9836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95" i="0" b="0">
                <a:solidFill>
                  <a:srgbClr val="2C322E"/>
                </a:solidFill>
                <a:latin typeface="Outfit 1 Light"/>
              </a:rPr>
              <a:t>Esse reconhecimento representa dez anos de consistência e confiança de clientes.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18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VOCABULÁRIO E ESTILO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AS PALAVRAS DA MARCA</a:t>
            </a:r>
          </a:p>
        </p:txBody>
      </p:sp>
      <p:sp>
        <p:nvSpPr>
          <p:cNvPr id="7" name="Rectangle 6"/>
          <p:cNvSpPr/>
          <p:nvPr/>
        </p:nvSpPr>
        <p:spPr>
          <a:xfrm>
            <a:off x="8253313" y="2415314"/>
            <a:ext cx="9120287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70248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VERBOS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636008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PREPARAR · ESTRUTURAR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187950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443982"/>
            <a:ext cx="5059680" cy="13783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Preservar · antecipar · organizar · traduzir · acompanhar. São verbos de preparação: a marca conduz, não assiste.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4160" y="4270248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PALAVRAS PRÓPRIAS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4160" y="4636008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CONTINUIDADE · ESCOLHA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14160" y="5187950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14160" y="5443982"/>
            <a:ext cx="5059680" cy="13783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Proteção · sucessão · dignidade financeira · liquidez · possibilidades · responsabilidade · consequência.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13920" y="4270248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NUNCA USAMOS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13920" y="4636008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 strike="sngStrike">
                <a:solidFill>
                  <a:srgbClr val="2C322E"/>
                </a:solidFill>
                <a:latin typeface="Outfit 1 Light"/>
              </a:rPr>
              <a:t>TRAGÉDIA · URGÊNCIA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13920" y="5187950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13920" y="5443982"/>
            <a:ext cx="5059680" cy="13783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 strike="sngStrike">
                <a:solidFill>
                  <a:srgbClr val="5F6661"/>
                </a:solidFill>
                <a:latin typeface="Outfit 1 Light"/>
              </a:rPr>
              <a:t>Fatalidade · desespero · oportunidade imperdível · a melhor proteção do mercado.</a:t>
            </a:r>
            <a:r>
              <a:rPr sz="1932" i="0" b="0">
                <a:solidFill>
                  <a:srgbClr val="5F6661"/>
                </a:solidFill>
                <a:latin typeface="Outfit 1 Light"/>
              </a:rPr>
              <a:t> Nada que venda pelo susto.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7526427"/>
            <a:ext cx="12179808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Frases curtas. Ponto final. Argumento concreto. A comunicação acompanha o comportamento da marca: </a:t>
            </a:r>
            <a:r>
              <a:rPr sz="2100" i="0" b="0">
                <a:solidFill>
                  <a:srgbClr val="2C322E"/>
                </a:solidFill>
                <a:latin typeface="Outfit 1 Semi-Bold"/>
              </a:rPr>
              <a:t>escuta, entende e vai ao ponto.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lm-escudo-ouro-claro.png"/>
          <p:cNvPicPr>
            <a:picLocks noChangeAspect="1"/>
          </p:cNvPicPr>
          <p:nvPr/>
        </p:nvPicPr>
        <p:blipFill>
          <a:blip r:embed="rId4">
            <a:alphaModFix amt="13000"/>
          </a:blip>
          <a:stretch>
            <a:fillRect/>
          </a:stretch>
        </p:blipFill>
        <p:spPr>
          <a:xfrm>
            <a:off x="11338560" y="548640"/>
            <a:ext cx="7981406" cy="8321040"/>
          </a:xfrm>
          <a:prstGeom prst="rect">
            <a:avLst/>
          </a:prstGeom>
        </p:spPr>
      </p:pic>
      <p:pic>
        <p:nvPicPr>
          <p:cNvPr id="6" name="Picture 5" descr="trama-canto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19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5486400" cy="957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5800" i="0" b="0">
                <a:solidFill>
                  <a:srgbClr val="E3C88B"/>
                </a:solidFill>
                <a:latin typeface="Outfit 1 Light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972800" cy="2314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IDENTIDADE</a:t>
            </a:r>
          </a:p>
          <a:p>
            <a:pPr algn="l">
              <a:lnSpc>
                <a:spcPct val="10500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VISUAL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7965948"/>
            <a:ext cx="1188720" cy="16459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8203692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300">
                <a:solidFill>
                  <a:srgbClr val="F2F0E9"/>
                </a:solidFill>
                <a:latin typeface="Outfit 1 Semi-Bold"/>
              </a:rPr>
              <a:t>O ESCUDO, O VERDE E O DOURADO.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20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70901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LOGOTIPO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46389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AS VERSÕES DA MARCA</a:t>
            </a:r>
          </a:p>
        </p:txBody>
      </p:sp>
      <p:sp>
        <p:nvSpPr>
          <p:cNvPr id="7" name="Rectangle 6"/>
          <p:cNvSpPr/>
          <p:nvPr/>
        </p:nvSpPr>
        <p:spPr>
          <a:xfrm>
            <a:off x="7961290" y="2523175"/>
            <a:ext cx="9412310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4286669"/>
            <a:ext cx="3703320" cy="2697480"/>
          </a:xfrm>
          <a:prstGeom prst="rect">
            <a:avLst/>
          </a:prstGeom>
          <a:solidFill>
            <a:srgbClr val="4A5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m-horizontal-ouro-cla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031" y="4931223"/>
            <a:ext cx="2296058" cy="79031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7240181"/>
            <a:ext cx="37033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PRINCIPAL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7587653"/>
            <a:ext cx="3703320" cy="808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Dourado sobre o verde da marca. É a versão de assinatura.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66360" y="4286669"/>
            <a:ext cx="3703320" cy="269748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m-horizontal-pre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9991" y="4931223"/>
            <a:ext cx="2296058" cy="79031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166360" y="7240181"/>
            <a:ext cx="37033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MONOCROMÁTICA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7587653"/>
            <a:ext cx="3703320" cy="808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Preto sobre papel. Documento, contrato, impressão em uma cor.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18320" y="4286669"/>
            <a:ext cx="3703320" cy="2697480"/>
          </a:xfrm>
          <a:prstGeom prst="rect">
            <a:avLst/>
          </a:prstGeom>
          <a:solidFill>
            <a:srgbClr val="CEC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m-vertical-pre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21951" y="4908967"/>
            <a:ext cx="2296058" cy="83482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418320" y="7240181"/>
            <a:ext cx="37033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VERTICAL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7587653"/>
            <a:ext cx="3703320" cy="808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Para espaços estreitos: avatar, carimbo, assinatura de e-mail.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670280" y="4286669"/>
            <a:ext cx="3703320" cy="2697480"/>
          </a:xfrm>
          <a:prstGeom prst="rect">
            <a:avLst/>
          </a:prstGeom>
          <a:solidFill>
            <a:srgbClr val="2C3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m-vertical-bran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73911" y="4908967"/>
            <a:ext cx="2296058" cy="83482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3670280" y="7240181"/>
            <a:ext cx="37033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SOBRE FOTOGRAFIA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670280" y="7587653"/>
            <a:ext cx="3703320" cy="808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Versão clara, só quando o fundo for escuro o bastante.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21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USOS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O QUE PRESERVA A MARCA</a:t>
            </a:r>
          </a:p>
        </p:txBody>
      </p:sp>
      <p:sp>
        <p:nvSpPr>
          <p:cNvPr id="7" name="Rectangle 6"/>
          <p:cNvSpPr/>
          <p:nvPr/>
        </p:nvSpPr>
        <p:spPr>
          <a:xfrm>
            <a:off x="8866638" y="2415314"/>
            <a:ext cx="-728478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172054"/>
            <a:ext cx="6400800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O escudo é o ativo mais permanente da identidade. Tudo o que o deforma, enfraquece a marca inteira.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21240" y="23042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SEMPRE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21240" y="2688336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21240" y="287578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834640"/>
            <a:ext cx="6355080" cy="82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Respiro.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Deixar em volta do logo, livre, pelo menos a altura do escudo;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21240" y="3901775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21240" y="4089227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4048079"/>
            <a:ext cx="6355080" cy="82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Contraste.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Dourado sobre verde ou escuro; preto sobre papel ou areia. Dourado sobre claro, nunca;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21240" y="5115215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21240" y="5302667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5261519"/>
            <a:ext cx="6355080" cy="460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Proporção.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O logo nunca é esticado, inclinado ou recortado;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21240" y="5959678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21240" y="614713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105982"/>
            <a:ext cx="6355080" cy="460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Tamanho mínimo.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Abaixo de 2 cm de largura, usar só o escudo;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21240" y="6804142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21240" y="699159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950446"/>
            <a:ext cx="6355080" cy="82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Uma marca por peça.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O escudo não divide espaço com selo, etiqueta ou moldura decorativa.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21240" y="8017581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21240" y="8401629"/>
            <a:ext cx="6858000" cy="808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Nenhuma sombra, nenhum contorno, nenhum efeito. </a:t>
            </a:r>
            <a:r>
              <a:rPr sz="1650" i="0" b="0">
                <a:solidFill>
                  <a:srgbClr val="2C322E"/>
                </a:solidFill>
                <a:latin typeface="Outfit 1 Semi-Bold"/>
              </a:rPr>
              <a:t>A elegância da marca está na sua contenção.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22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CORES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A PALETA</a:t>
            </a:r>
          </a:p>
        </p:txBody>
      </p:sp>
      <p:sp>
        <p:nvSpPr>
          <p:cNvPr id="7" name="Rectangle 6"/>
          <p:cNvSpPr/>
          <p:nvPr/>
        </p:nvSpPr>
        <p:spPr>
          <a:xfrm>
            <a:off x="4043326" y="2415314"/>
            <a:ext cx="13330274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4133088"/>
            <a:ext cx="2889504" cy="2651760"/>
          </a:xfrm>
          <a:prstGeom prst="rect">
            <a:avLst/>
          </a:prstGeom>
          <a:solidFill>
            <a:srgbClr val="4A5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7059168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VERDE PROFUNDO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7406640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AE8C4E"/>
                </a:solidFill>
                <a:latin typeface="Outfit 1 Light"/>
              </a:rPr>
              <a:t>#4A534E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7772400"/>
            <a:ext cx="2889504" cy="1185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A cor da marca. Fundo de capa, de capítulo e de assinatura.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06824" y="4133088"/>
            <a:ext cx="2889504" cy="26517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6824" y="7059168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DOURADO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6824" y="7406640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AE8C4E"/>
                </a:solidFill>
                <a:latin typeface="Outfit 1 Light"/>
              </a:rPr>
              <a:t>#C9A961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6824" y="7772400"/>
            <a:ext cx="2889504" cy="1185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O acento. Filete, numeral e destaque — nunca em área grande.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99248" y="4133088"/>
            <a:ext cx="2889504" cy="2651760"/>
          </a:xfrm>
          <a:prstGeom prst="rect">
            <a:avLst/>
          </a:prstGeom>
          <a:solidFill>
            <a:srgbClr val="CEC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99248" y="7059168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AREIA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9248" y="7406640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AE8C4E"/>
                </a:solidFill>
                <a:latin typeface="Outfit 1 Light"/>
              </a:rPr>
              <a:t>#CEC3B5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9248" y="7772400"/>
            <a:ext cx="2889504" cy="1185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A cor de apoio. Fundos claros, papelaria e aplicações impressas.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091672" y="4133088"/>
            <a:ext cx="2889504" cy="2651760"/>
          </a:xfrm>
          <a:prstGeom prst="rect">
            <a:avLst/>
          </a:prstGeom>
          <a:solidFill>
            <a:srgbClr val="2C3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91672" y="7059168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GRAFITE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1672" y="7406640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AE8C4E"/>
                </a:solidFill>
                <a:latin typeface="Outfit 1 Light"/>
              </a:rPr>
              <a:t>#2C322E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1672" y="7772400"/>
            <a:ext cx="2889504" cy="808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O texto. Títulos e corpo sobre papel.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484096" y="4133088"/>
            <a:ext cx="2889504" cy="2651760"/>
          </a:xfrm>
          <a:prstGeom prst="rect">
            <a:avLst/>
          </a:prstGeom>
          <a:solidFill>
            <a:srgbClr val="F6F4EF"/>
          </a:solidFill>
          <a:ln w="11430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84096" y="7059168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PAPEL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84096" y="7406640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AE8C4E"/>
                </a:solidFill>
                <a:latin typeface="Outfit 1 Light"/>
              </a:rPr>
              <a:t>#F6F4EF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84096" y="7772400"/>
            <a:ext cx="2889504" cy="808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O fundo de leitura e o texto sobre o verde.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23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TIPOGRAFIA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A TIPOGRAFIA</a:t>
            </a:r>
          </a:p>
        </p:txBody>
      </p:sp>
      <p:sp>
        <p:nvSpPr>
          <p:cNvPr id="7" name="Rectangle 6"/>
          <p:cNvSpPr/>
          <p:nvPr/>
        </p:nvSpPr>
        <p:spPr>
          <a:xfrm>
            <a:off x="5383055" y="2415314"/>
            <a:ext cx="11990545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87368"/>
            <a:ext cx="1645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ASSINATURA · ALLROUNDER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34840"/>
            <a:ext cx="11521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i="0" b="0">
                <a:solidFill>
                  <a:srgbClr val="2C322E"/>
                </a:solidFill>
                <a:latin typeface="Outfit 1 Light"/>
              </a:rPr>
              <a:t>Lucas Martini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0" y="4507992"/>
            <a:ext cx="4937760" cy="808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A serifada do logotipo. Vive no logo e na assinatura — não é fonte de texto corrido.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568696"/>
            <a:ext cx="164592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645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TEXTO · DM SANS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336792"/>
            <a:ext cx="11521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i="0" b="0">
                <a:solidFill>
                  <a:srgbClr val="2C322E"/>
                </a:solidFill>
                <a:latin typeface="Outfit 1 Light"/>
              </a:rPr>
              <a:t>Proteção &amp; Sucessão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35840" y="6409944"/>
            <a:ext cx="4937760" cy="1185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A sem-serifa de apoio: títulos, corpo e legenda. Caixa alta espacejada nos rótulos, sempre com espacejamento largo.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7470648"/>
            <a:ext cx="164592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7891272"/>
            <a:ext cx="1645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HIERARQUIA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8238744"/>
            <a:ext cx="11521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i="0" b="0">
                <a:solidFill>
                  <a:srgbClr val="2C322E"/>
                </a:solidFill>
                <a:latin typeface="Outfit 1 Semi-Bold"/>
              </a:rPr>
              <a:t>Clareza antes de volume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435840" y="8311896"/>
            <a:ext cx="4937760" cy="1185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Título grande em peso leve; destaque em semibold. O peso marca a frase que a pessoa leva embora — nunca a frase inteira.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9372600"/>
            <a:ext cx="164592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9976104"/>
            <a:ext cx="11850624" cy="808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9AA09A"/>
                </a:solidFill>
                <a:latin typeface="Outfit 1 Light"/>
              </a:rPr>
              <a:t>Os espécimes desta página estão compostos na fonte deste documento. As fontes oficiais da marca são a Allrounder, no logotipo, e a DM Sans, no texto.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lm-escudo-ouro-claro.png"/>
          <p:cNvPicPr>
            <a:picLocks noChangeAspect="1"/>
          </p:cNvPicPr>
          <p:nvPr/>
        </p:nvPicPr>
        <p:blipFill>
          <a:blip r:embed="rId4">
            <a:alphaModFix amt="13000"/>
          </a:blip>
          <a:stretch>
            <a:fillRect/>
          </a:stretch>
        </p:blipFill>
        <p:spPr>
          <a:xfrm>
            <a:off x="11338560" y="548640"/>
            <a:ext cx="7981406" cy="8321040"/>
          </a:xfrm>
          <a:prstGeom prst="rect">
            <a:avLst/>
          </a:prstGeom>
        </p:spPr>
      </p:pic>
      <p:pic>
        <p:nvPicPr>
          <p:cNvPr id="6" name="Picture 5" descr="trama-canto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24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5486400" cy="957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5800" i="0" b="0">
                <a:solidFill>
                  <a:srgbClr val="E3C88B"/>
                </a:solidFill>
                <a:latin typeface="Outfit 1 Light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972800" cy="11574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MANIFESTO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808470"/>
            <a:ext cx="1188720" cy="16459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7046214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300">
                <a:solidFill>
                  <a:srgbClr val="F2F0E9"/>
                </a:solidFill>
                <a:latin typeface="Outfit 1 Semi-Bold"/>
              </a:rPr>
              <a:t>A MARCA EM PALAVRAS, E A MARCA EM UMA PÁGINA.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6" name="Picture 5" descr="lm-escudo-ouro-claro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>
            <a:off x="12435840" y="1463040"/>
            <a:ext cx="7016620" cy="73152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25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E3C88B"/>
                </a:solidFill>
                <a:latin typeface="Outfit 1 Semi-Bold"/>
              </a:rPr>
              <a:t>MANIFESTO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14630400" cy="63047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HÁ COISAS QUE LEVAM ANOS PARA CONSTRUIR.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UMA CARREIRA. UMA FAMÍLIA. UMA EMPRESA. UM PATRIMÔNIO.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E NENHUMA DELAS DEVERIA FICAR COMPLETAMENTE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DEPENDENTE DAQUILO QUE NÃO PODEMOS CONTROLAR.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PLANEJAR NÃO É ESPERAR QUE ALGO DÊ ERRADO.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É RECONHECER O VALOR DAQUILO QUE DEU CERTO.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É PENSAR ANTES. ENQUANTO EXISTE TEMPO.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ENQUANTO PODEMOS ESCOLHER.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NEM TUDO PODE SER PREVISTO. </a:t>
            </a:r>
            <a:r>
              <a:rPr sz="3100" i="0" b="0">
                <a:solidFill>
                  <a:srgbClr val="E3C88B"/>
                </a:solidFill>
                <a:latin typeface="Outfit 1 Bold"/>
              </a:rPr>
              <a:t>MAS MUITO PODE SER PREPARADO.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PORQUE PROTEÇÃO NÃO EXISTE PARA PRESERVAR DINHEIRO.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E3C88B"/>
                </a:solidFill>
                <a:latin typeface="Outfit 1 Bold"/>
              </a:rPr>
              <a:t>EXISTE PARA PRESERVAR POSSIBILIDADES.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26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SÍNTESE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A MARCA EM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UMA PÁGINA</a:t>
            </a:r>
          </a:p>
        </p:txBody>
      </p:sp>
      <p:sp>
        <p:nvSpPr>
          <p:cNvPr id="7" name="Rectangle 6"/>
          <p:cNvSpPr/>
          <p:nvPr/>
        </p:nvSpPr>
        <p:spPr>
          <a:xfrm>
            <a:off x="4974065" y="3237360"/>
            <a:ext cx="3164095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94099"/>
            <a:ext cx="6400800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Se este documento inteiro se perdesse, bastaria esta página.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21240" y="198424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O ESSENCIAL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21240" y="2368296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21240" y="25557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514600"/>
            <a:ext cx="6355080" cy="82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Crença fundadora.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O que levou anos para ser construído não deveria ficar entregue ao acaso.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21240" y="3581735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21240" y="3769187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3728039"/>
            <a:ext cx="6355080" cy="82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Essência.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Construir segurança para preservar liberdade de escolha.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21240" y="4795175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21240" y="4982627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4941479"/>
            <a:ext cx="6355080" cy="460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Causa.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Ampliar a cultura da preparação antes da urgência.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21240" y="5639638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21240" y="582709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5785942"/>
            <a:ext cx="6355080" cy="460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Território.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Continuidade.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21240" y="6484102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21240" y="667155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630406"/>
            <a:ext cx="6355080" cy="82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Posicionamento.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Especialista em proteção e sucessão para quem deseja preservar o que construiu.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21240" y="7697541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21240" y="7884993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7843845"/>
            <a:ext cx="6355080" cy="460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Princípio de comunicação.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Provar, não proclamar.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21240" y="8542005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21240" y="8729457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8688309"/>
            <a:ext cx="6355080" cy="460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Personalidade.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Autoridade discreta.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21240" y="9386468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6355080"/>
            <a:ext cx="182880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687" i="0" b="0" spc="420">
                <a:solidFill>
                  <a:srgbClr val="AE8C4E"/>
                </a:solidFill>
                <a:latin typeface="Outfit 1 Semi-Bold"/>
              </a:rPr>
              <a:t>PROTEÇÃO &amp; SUCESSÃO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7013448"/>
            <a:ext cx="1828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650" i="0" b="0">
                <a:solidFill>
                  <a:srgbClr val="9AA09A"/>
                </a:solidFill>
                <a:latin typeface="Outfit 1 Light"/>
              </a:rPr>
              <a:t>Método Marca com Essência ©   ·   KA | Inteligência para Marcas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