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  <p:sldId id="280" r:id="rId12"/>
    <p:sldId id="281" r:id="rId11"/>
    <p:sldId id="282" r:id="rId10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27.xml"/><Relationship Id="rId11" Type="http://schemas.openxmlformats.org/officeDocument/2006/relationships/slide" Target="slides/slide26.xml"/><Relationship Id="rId12" Type="http://schemas.openxmlformats.org/officeDocument/2006/relationships/slide" Target="slides/slide25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3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trama-canto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Picture 1" descr="trama-direita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Picture 3" descr="lm-vertical-ouro-cla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788920"/>
            <a:ext cx="6949440" cy="2526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6172200"/>
            <a:ext cx="18288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i="0" b="0" spc="700">
                <a:solidFill>
                  <a:srgbClr val="F2F0E9"/>
                </a:solidFill>
                <a:latin typeface="Outfit 1 Light"/>
              </a:rPr>
              <a:t>BRAND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739128"/>
            <a:ext cx="18288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1750"/>
              </a:lnSpc>
            </a:pPr>
            <a:r>
              <a:rPr sz="1250" i="0" b="0" spc="400">
                <a:solidFill>
                  <a:srgbClr val="E3C88B"/>
                </a:solidFill>
                <a:latin typeface="Outfit 1 Semi-Bold"/>
              </a:rPr>
              <a:t>EDIÇÃO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02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9861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ANTES DE COMEÇAR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74098"/>
            <a:ext cx="8412480" cy="1735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PARA QUE SERVE</a:t>
            </a:r>
          </a:p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ESTE BRAND 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9984" y="4372930"/>
            <a:ext cx="1408176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21240" y="3211258"/>
            <a:ext cx="6858000" cy="1215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Este documento reúne, em um só lugar, a </a:t>
            </a:r>
            <a:r>
              <a:rPr sz="2100" i="0" b="0">
                <a:solidFill>
                  <a:srgbClr val="2C322E"/>
                </a:solidFill>
                <a:latin typeface="Outfit 1 Semi-Bold"/>
              </a:rPr>
              <a:t>essência, a voz, o posicionamento e a identidade visual</a:t>
            </a:r>
            <a:r>
              <a:rPr sz="2100" i="0" b="0">
                <a:solidFill>
                  <a:srgbClr val="5F6661"/>
                </a:solidFill>
                <a:latin typeface="Outfit 1 Light"/>
              </a:rPr>
              <a:t> da marca Lucas Martini | Proteção &amp; Sucessão.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4682299"/>
            <a:ext cx="6858000" cy="1215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Ele existe para garantir a </a:t>
            </a:r>
            <a:r>
              <a:rPr sz="2100" i="0" b="0">
                <a:solidFill>
                  <a:srgbClr val="2C322E"/>
                </a:solidFill>
                <a:latin typeface="Outfit 1 Semi-Bold"/>
              </a:rPr>
              <a:t>unidade da marca</a:t>
            </a:r>
            <a:r>
              <a:rPr sz="2100" i="0" b="0">
                <a:solidFill>
                  <a:srgbClr val="5F6661"/>
                </a:solidFill>
                <a:latin typeface="Outfit 1 Light"/>
              </a:rPr>
              <a:t>: todo ponto de contato com a mesma consistência visual e verbal, não importa quem produza.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6153340"/>
            <a:ext cx="6858000" cy="1215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Use como guia antes de criar, aprovar ou contratar qualquer material. </a:t>
            </a:r>
            <a:r>
              <a:rPr sz="2100" i="0" b="0">
                <a:solidFill>
                  <a:srgbClr val="2C322E"/>
                </a:solidFill>
                <a:latin typeface="Outfit 1 Semi-Bold"/>
              </a:rPr>
              <a:t>Marca consistente é marca reconhecida.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03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CONTEÚDO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27319" y="2214146"/>
            <a:ext cx="3410841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39242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12"/>
              </a:lnSpc>
            </a:pPr>
            <a:r>
              <a:rPr sz="1437" i="0" b="0" spc="240">
                <a:solidFill>
                  <a:srgbClr val="AE8C4E"/>
                </a:solidFill>
                <a:latin typeface="Outfit 1 Semi-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502152"/>
            <a:ext cx="6400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40"/>
              </a:lnSpc>
            </a:pPr>
            <a:r>
              <a:rPr sz="2600" i="0" b="0" spc="60">
                <a:solidFill>
                  <a:srgbClr val="2C322E"/>
                </a:solidFill>
                <a:latin typeface="Outfit 1 Light"/>
              </a:rPr>
              <a:t>A MARCA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3538728"/>
            <a:ext cx="6858000" cy="441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O que ela é, no que acredita e onde se coloca.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58114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12"/>
              </a:lnSpc>
            </a:pPr>
            <a:r>
              <a:rPr sz="1437" i="0" b="0" spc="240">
                <a:solidFill>
                  <a:srgbClr val="AE8C4E"/>
                </a:solidFill>
                <a:latin typeface="Outfit 1 Semi-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690872"/>
            <a:ext cx="6400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40"/>
              </a:lnSpc>
            </a:pPr>
            <a:r>
              <a:rPr sz="2600" i="0" b="0" spc="60">
                <a:solidFill>
                  <a:srgbClr val="2C322E"/>
                </a:solidFill>
                <a:latin typeface="Outfit 1 Light"/>
              </a:rPr>
              <a:t>PÚBLICO E TERRITÓRIO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4727448"/>
            <a:ext cx="6858000" cy="441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Para quem ela fala e sobre o que ela fala.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76986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12"/>
              </a:lnSpc>
            </a:pPr>
            <a:r>
              <a:rPr sz="1437" i="0" b="0" spc="240">
                <a:solidFill>
                  <a:srgbClr val="AE8C4E"/>
                </a:solidFill>
                <a:latin typeface="Outfit 1 Semi-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879592"/>
            <a:ext cx="6400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40"/>
              </a:lnSpc>
            </a:pPr>
            <a:r>
              <a:rPr sz="2600" i="0" b="0" spc="60">
                <a:solidFill>
                  <a:srgbClr val="2C322E"/>
                </a:solidFill>
                <a:latin typeface="Outfit 1 Light"/>
              </a:rPr>
              <a:t>VOZ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5916168"/>
            <a:ext cx="6858000" cy="441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Como ela se comporta e como ela escreve.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695858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7178040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12"/>
              </a:lnSpc>
            </a:pPr>
            <a:r>
              <a:rPr sz="1437" i="0" b="0" spc="240">
                <a:solidFill>
                  <a:srgbClr val="AE8C4E"/>
                </a:solidFill>
                <a:latin typeface="Outfit 1 Semi-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7068312"/>
            <a:ext cx="6400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40"/>
              </a:lnSpc>
            </a:pPr>
            <a:r>
              <a:rPr sz="2600" i="0" b="0" spc="60">
                <a:solidFill>
                  <a:srgbClr val="2C322E"/>
                </a:solidFill>
                <a:latin typeface="Outfit 1 Light"/>
              </a:rPr>
              <a:t>IDENTIDADE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7104888"/>
            <a:ext cx="6858000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O logo, as cores e a tipografia — e o que preserva tudo isso.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14730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8366760"/>
            <a:ext cx="1005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12"/>
              </a:lnSpc>
            </a:pPr>
            <a:r>
              <a:rPr sz="1437" i="0" b="0" spc="240">
                <a:solidFill>
                  <a:srgbClr val="AE8C4E"/>
                </a:solidFill>
                <a:latin typeface="Outfit 1 Semi-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8257032"/>
            <a:ext cx="6400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40"/>
              </a:lnSpc>
            </a:pPr>
            <a:r>
              <a:rPr sz="2600" i="0" b="0" spc="60">
                <a:solidFill>
                  <a:srgbClr val="2C322E"/>
                </a:solidFill>
                <a:latin typeface="Outfit 1 Light"/>
              </a:rPr>
              <a:t>MANIFESTO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8293608"/>
            <a:ext cx="6858000" cy="441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A marca em palavras, e a marca em uma página.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3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lm-escudo-ouro-claro.png"/>
          <p:cNvPicPr>
            <a:picLocks noChangeAspect="1"/>
          </p:cNvPicPr>
          <p:nvPr/>
        </p:nvPicPr>
        <p:blipFill>
          <a:blip r:embed="rId4">
            <a:alphaModFix amt="13000"/>
          </a:blip>
          <a:stretch>
            <a:fillRect/>
          </a:stretch>
        </p:blipFill>
        <p:spPr>
          <a:xfrm>
            <a:off x="11338560" y="548640"/>
            <a:ext cx="7981406" cy="8321040"/>
          </a:xfrm>
          <a:prstGeom prst="rect">
            <a:avLst/>
          </a:prstGeom>
        </p:spPr>
      </p:pic>
      <p:pic>
        <p:nvPicPr>
          <p:cNvPr id="6" name="Picture 5" descr="trama-cant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Picture 1" descr="trama-direita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C8CCC6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E3C88B"/>
                </a:solidFill>
                <a:latin typeface="Outfit 1 Semi-Bold"/>
              </a:rPr>
              <a:t>04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5486400" cy="957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119"/>
              </a:lnSpc>
            </a:pPr>
            <a:r>
              <a:rPr sz="5800" i="0" b="0">
                <a:solidFill>
                  <a:srgbClr val="E3C88B"/>
                </a:solidFill>
                <a:latin typeface="Outfit 1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972800" cy="11574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350"/>
              </a:lnSpc>
            </a:pPr>
            <a:r>
              <a:rPr sz="7000" i="0" b="0">
                <a:solidFill>
                  <a:srgbClr val="F2F0E9"/>
                </a:solidFill>
                <a:latin typeface="Outfit 1 Bold"/>
              </a:rPr>
              <a:t>A MARCA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808470"/>
            <a:ext cx="1188720" cy="16459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704621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300">
                <a:solidFill>
                  <a:srgbClr val="F2F0E9"/>
                </a:solidFill>
                <a:latin typeface="Outfit 1 Semi-Bold"/>
              </a:rPr>
              <a:t>O QUE LEVOU ANOS PARA SER CONSTRUÍDO TEM UM NOME.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05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5253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DEFINIÇÃO CENTRAL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741"/>
            <a:ext cx="8412480" cy="1735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O QUE ESTA</a:t>
            </a:r>
          </a:p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MARCA É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5673" y="4179573"/>
            <a:ext cx="3382487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36312"/>
            <a:ext cx="6400800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Lucas não começa pelo produto. Começa pela realidade de quem está na frente dele.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94958"/>
            <a:ext cx="6400800" cy="825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18"/>
              </a:lnSpc>
            </a:pPr>
            <a:r>
              <a:rPr sz="1805" i="0" b="0" spc="160">
                <a:solidFill>
                  <a:srgbClr val="2C322E"/>
                </a:solidFill>
                <a:latin typeface="Outfit 1 Semi-Bold"/>
              </a:rPr>
              <a:t>A PROTEÇÃO É CONSEQUÊNCIA</a:t>
            </a:r>
          </a:p>
          <a:p>
            <a:pPr algn="l">
              <a:lnSpc>
                <a:spcPts val="2618"/>
              </a:lnSpc>
            </a:pPr>
            <a:r>
              <a:rPr sz="1805" i="0" b="0" spc="160">
                <a:solidFill>
                  <a:srgbClr val="2C322E"/>
                </a:solidFill>
                <a:latin typeface="Outfit 1 Semi-Bold"/>
              </a:rPr>
              <a:t>DO DIAGNÓSTICO.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3017901"/>
            <a:ext cx="6858000" cy="1215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2C322E"/>
                </a:solidFill>
                <a:latin typeface="Outfit 1 Semi-Bold"/>
              </a:rPr>
              <a:t>Lucas Martini estrutura proteção e sucessão para preservar possibilidades quando a vida, a família ou a empresa entram em transição.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4488942"/>
            <a:ext cx="6858000" cy="1215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Produto: seguro e soluções de proteção. Serviço: planejamento. Valor estratégico: continuidade. Valor humano: capacidade de escolha.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5959983"/>
            <a:ext cx="6858000" cy="1601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A marca já existia antes da comunicação: experiência, resultado, recomendação, confiança e histórico de atendimento. Primeiro veio a reputação. </a:t>
            </a:r>
            <a:r>
              <a:rPr sz="2100" i="0" b="0">
                <a:solidFill>
                  <a:srgbClr val="2C322E"/>
                </a:solidFill>
                <a:latin typeface="Outfit 1 Semi-Bold"/>
              </a:rPr>
              <a:t>Agora a marca precisa torná-la visível.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3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ma-direita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C8CCC6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E3C88B"/>
                </a:solidFill>
                <a:latin typeface="Outfit 1 Semi-Bold"/>
              </a:rPr>
              <a:t>06 / 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E3C88B"/>
                </a:solidFill>
                <a:latin typeface="Outfit 1 Semi-Bold"/>
              </a:rPr>
              <a:t>A CRENÇA FUNDADORA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4630400" cy="1978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000" i="0" b="0">
                <a:solidFill>
                  <a:srgbClr val="F2F0E9"/>
                </a:solidFill>
                <a:latin typeface="Outfit 1 Light"/>
              </a:rPr>
              <a:t>O QUE LEVOU ANOS PARA SER CONSTRUÍDO</a:t>
            </a:r>
          </a:p>
          <a:p>
            <a:pPr algn="l">
              <a:lnSpc>
                <a:spcPct val="114000"/>
              </a:lnSpc>
            </a:pPr>
            <a:r>
              <a:rPr sz="5000" i="0" b="0">
                <a:solidFill>
                  <a:srgbClr val="E3C88B"/>
                </a:solidFill>
                <a:latin typeface="Outfit 1 Bold"/>
              </a:rPr>
              <a:t>NÃO DEVERIA FICAR ENTREGUE AO ACASO.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58712"/>
            <a:ext cx="10972800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C8CCC6"/>
                </a:solidFill>
                <a:latin typeface="Outfit 1 Light"/>
              </a:rPr>
              <a:t>Não porque todos os riscos possam ser eliminados, mas porque muitos dos seus impactos podem ser preparados.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543038"/>
            <a:ext cx="10972800" cy="441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C8CCC6"/>
                </a:solidFill>
                <a:latin typeface="Outfit 1 Light"/>
              </a:rPr>
              <a:t>Nem tudo pode ser previsto. Mas muito pode ser preparado.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07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57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O NÚCLEO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1208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ESSÊNCIA DA MARCA</a:t>
            </a:r>
          </a:p>
        </p:txBody>
      </p:sp>
      <p:sp>
        <p:nvSpPr>
          <p:cNvPr id="7" name="Rectangle 6"/>
          <p:cNvSpPr/>
          <p:nvPr/>
        </p:nvSpPr>
        <p:spPr>
          <a:xfrm>
            <a:off x="7249653" y="2617994"/>
            <a:ext cx="10123947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72928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ESSÊNCIA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38688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CONSTRUIR SEGURANÇA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90630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46662"/>
            <a:ext cx="505968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Preservar liberdade de escolha. É o princípio que conecta a história, o método e a entrega.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4160" y="4472928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RAZÃO DE 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4160" y="4838688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PRESERVAR A ESCOLHA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4160" y="5390630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4160" y="5646662"/>
            <a:ext cx="505968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Manter a capacidade de decidir quando a vida tira a previsibilidade de alguém.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3920" y="4472928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CAUSA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13920" y="4838688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PREPARAR ANTES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13920" y="5390630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3920" y="5646662"/>
            <a:ext cx="5059680" cy="1122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Ampliar a cultura da preparação antes da urgência. De resolver depois para pensar antes.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472947"/>
            <a:ext cx="12179808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O que a marca combate não é a morte nem a incerteza: é o improviso, o adiamento, a falta de liquidez e a decisão tomada sob pressão.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08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3299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GOLDEN CIRCLE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78787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POR QUÊ, COMO E O QUÊ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7575" y="2455573"/>
            <a:ext cx="8866025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310507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76267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POR QUÊ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228209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84241"/>
            <a:ext cx="5059680" cy="1122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Porque o que levou anos para ser construído não deveria perder sua continuidade por falta de preparação.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4160" y="4310507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4160" y="4676267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COMO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4160" y="5228209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4160" y="5484241"/>
            <a:ext cx="5059680" cy="18337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Entendendo a realidade do cliente, identificando vulnerabilidades, projetando impactos e estruturando proteção de forma personalizada, com acompanhamento de longo prazo.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3920" y="4310507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13920" y="4676267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O QUÊ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13920" y="5228209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3920" y="5484241"/>
            <a:ext cx="5059680" cy="1122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Proteção de renda, familiar e empresarial. Pessoa-chave. Planejamento sucessório. Liquidez para sucessão e inventário.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8022082"/>
            <a:ext cx="12179808" cy="441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Não começar pelo produto. </a:t>
            </a:r>
            <a:r>
              <a:rPr sz="2100" i="0" b="0">
                <a:solidFill>
                  <a:srgbClr val="2C322E"/>
                </a:solidFill>
                <a:latin typeface="Outfit 1 Semi-Bold"/>
              </a:rPr>
              <a:t>Começar pela consequência.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09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05253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POSICIONAMENTO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741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POSICIONAMENTO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618034" y="3357527"/>
            <a:ext cx="1520126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267"/>
            <a:ext cx="6400800" cy="1601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O produto não diferencia. A diferenciação está na combinação de diagnóstico, personalização, conhecimento técnico, confiança, pós-venda e relação de longo prazo.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46343"/>
            <a:ext cx="6400800" cy="825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618"/>
              </a:lnSpc>
            </a:pPr>
            <a:r>
              <a:rPr sz="1805" i="0" b="0" spc="160">
                <a:solidFill>
                  <a:srgbClr val="2C322E"/>
                </a:solidFill>
                <a:latin typeface="Outfit 1 Semi-Bold"/>
              </a:rPr>
              <a:t>PREPARAR ANTES PARA</a:t>
            </a:r>
          </a:p>
          <a:p>
            <a:pPr algn="l">
              <a:lnSpc>
                <a:spcPts val="2618"/>
              </a:lnSpc>
            </a:pPr>
            <a:r>
              <a:rPr sz="1805" i="0" b="0" spc="160">
                <a:solidFill>
                  <a:srgbClr val="2C322E"/>
                </a:solidFill>
                <a:latin typeface="Outfit 1 Semi-Bold"/>
              </a:rPr>
              <a:t>PRESERVAR ESCOLHAS DEPOIS.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21240" y="3017901"/>
            <a:ext cx="6858000" cy="1601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2C322E"/>
                </a:solidFill>
                <a:latin typeface="Outfit 1 Semi-Bold"/>
              </a:rPr>
              <a:t>Lucas Martini é especialista em proteção e sucessão para pessoas, famílias e empresas que desejam preservar o que construíram e manter possibilidades diante do imprevisto.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1240" y="4875657"/>
            <a:ext cx="6858000" cy="16017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A promessa: estruturar proteção e sucessão de forma personalizada para que famílias, profissionais e empresas mantenham recursos, possibilidades e continuidade diante de imprevistos.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6733413"/>
            <a:ext cx="6858000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A melhor proteção não é a maior. </a:t>
            </a:r>
            <a:r>
              <a:rPr sz="2100" i="0" b="0">
                <a:solidFill>
                  <a:srgbClr val="2C322E"/>
                </a:solidFill>
                <a:latin typeface="Outfit 1 Semi-Bold"/>
              </a:rPr>
              <a:t>É a que faz sentido para aquela realidade.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10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35633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ARQUITETURA DE MARCA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121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O NOME NO CENTRO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248580" y="2487907"/>
            <a:ext cx="10125020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001"/>
            <a:ext cx="3634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FRENTE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5761"/>
            <a:ext cx="3634740" cy="1049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PROTEÇÃO PESSOAL E FAMILIAR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876493"/>
            <a:ext cx="363474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132525"/>
            <a:ext cx="363474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Renda, família e pilares financeiros.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9220" y="4480001"/>
            <a:ext cx="3634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FRENTE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9220" y="4845761"/>
            <a:ext cx="3634740" cy="1049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PROTEÇÃO EMPRESARIAL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89220" y="5876493"/>
            <a:ext cx="363474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9220" y="6132525"/>
            <a:ext cx="363474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Pessoa-chave e continuidade do negócio.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4480001"/>
            <a:ext cx="3634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FRENTE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4845761"/>
            <a:ext cx="363474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SUCESSÃO FAMILIAR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5876493"/>
            <a:ext cx="363474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6132525"/>
            <a:ext cx="363474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Transferência, liquidez e inventário.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38860" y="4480001"/>
            <a:ext cx="36347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FRENTE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38860" y="4845761"/>
            <a:ext cx="3634740" cy="1049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SUCESSÃO EMPRESARIAL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38860" y="5876493"/>
            <a:ext cx="363474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38860" y="6132525"/>
            <a:ext cx="363474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Passagem de responsabilidade e sociedade.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603033"/>
            <a:ext cx="12179808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A confiança está associada à pessoa: a indicação chega pelo nome e o relacionamento acontece com Lucas. </a:t>
            </a:r>
            <a:r>
              <a:rPr sz="2100" i="0" b="0">
                <a:solidFill>
                  <a:srgbClr val="2C322E"/>
                </a:solidFill>
                <a:latin typeface="Outfit 1 Semi-Bold"/>
              </a:rPr>
              <a:t>A seguradora entrega o instrumento. Lucas constrói a estratégia.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3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lm-escudo-ouro-claro.png"/>
          <p:cNvPicPr>
            <a:picLocks noChangeAspect="1"/>
          </p:cNvPicPr>
          <p:nvPr/>
        </p:nvPicPr>
        <p:blipFill>
          <a:blip r:embed="rId4">
            <a:alphaModFix amt="13000"/>
          </a:blip>
          <a:stretch>
            <a:fillRect/>
          </a:stretch>
        </p:blipFill>
        <p:spPr>
          <a:xfrm>
            <a:off x="11338560" y="548640"/>
            <a:ext cx="7981406" cy="8321040"/>
          </a:xfrm>
          <a:prstGeom prst="rect">
            <a:avLst/>
          </a:prstGeom>
        </p:spPr>
      </p:pic>
      <p:pic>
        <p:nvPicPr>
          <p:cNvPr id="6" name="Picture 5" descr="trama-cant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Picture 1" descr="trama-direita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C8CCC6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E3C88B"/>
                </a:solidFill>
                <a:latin typeface="Outfit 1 Semi-Bold"/>
              </a:rPr>
              <a:t>11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5486400" cy="957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119"/>
              </a:lnSpc>
            </a:pPr>
            <a:r>
              <a:rPr sz="5800" i="0" b="0">
                <a:solidFill>
                  <a:srgbClr val="E3C88B"/>
                </a:solidFill>
                <a:latin typeface="Outfit 1 Ligh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972800" cy="2314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350"/>
              </a:lnSpc>
            </a:pPr>
            <a:r>
              <a:rPr sz="7000" i="0" b="0">
                <a:solidFill>
                  <a:srgbClr val="F2F0E9"/>
                </a:solidFill>
                <a:latin typeface="Outfit 1 Bold"/>
              </a:rPr>
              <a:t>PÚBLICO</a:t>
            </a:r>
          </a:p>
          <a:p>
            <a:pPr algn="l">
              <a:lnSpc>
                <a:spcPts val="7350"/>
              </a:lnSpc>
            </a:pPr>
            <a:r>
              <a:rPr sz="7000" i="0" b="0">
                <a:solidFill>
                  <a:srgbClr val="F2F0E9"/>
                </a:solidFill>
                <a:latin typeface="Outfit 1 Bold"/>
              </a:rPr>
              <a:t>E TERRITÓRIO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7965948"/>
            <a:ext cx="1188720" cy="16459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8203692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300">
                <a:solidFill>
                  <a:srgbClr val="F2F0E9"/>
                </a:solidFill>
                <a:latin typeface="Outfit 1 Semi-Bold"/>
              </a:rPr>
              <a:t>PARA QUEM A MARCA FALA, E SOBRE O QUE ELA FALA.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12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0630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PÚBLICO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81796"/>
            <a:ext cx="8412480" cy="1735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QUEM CARREGA</a:t>
            </a:r>
          </a:p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RESPONSABILIDADE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030694" y="3480628"/>
            <a:ext cx="1107466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37367"/>
            <a:ext cx="6400800" cy="1215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Quatro perfis diferentes com uma coisa em comum: existe algo ou alguém que depende das decisões de cada 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254755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A TRIBO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1240" y="293160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311905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3077908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Quem produz a própria renda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— profissionais liberais, autônomos, executivos e especialistas;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400221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418966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4148518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Quem sustenta outras pessoas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— pilares financeiros da família, cuja ausência alteraria a estrutura econômica de casa;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507282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52602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5219128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Quem responde por uma empresa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— empresários, sócios e pessoas-chave de negócios dependentes de indivíduos específicos;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614343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633088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289738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Quem construiu patrimônio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— famílias e sócios que precisam organizar transferência, liquidez e sucessão.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721404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7598092"/>
            <a:ext cx="6858000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São pessoas que decidem com responsabilidade sobre outros. </a:t>
            </a:r>
            <a:r>
              <a:rPr sz="1650" i="0" b="0">
                <a:solidFill>
                  <a:srgbClr val="2C322E"/>
                </a:solidFill>
                <a:latin typeface="Outfit 1 Semi-Bold"/>
              </a:rPr>
              <a:t>Falar com elas é falar de consequência, nunca de medo.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13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TERRITÓRIOS DE COMUNICAÇÃO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8412480" cy="1735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CONTINUIDADE</a:t>
            </a:r>
          </a:p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É O TERRITÓRIO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891114" y="3237360"/>
            <a:ext cx="2247046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4099"/>
            <a:ext cx="6400800" cy="121500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Todo conteúdo da marca nasce de um destes cinco territórios. Fora deles, a marca está falando de outra coisa.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230428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DO QUE A MARCA FALA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1240" y="2688336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287578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10"/>
              </a:lnSpc>
            </a:pPr>
            <a:r>
              <a:rPr sz="1722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834640"/>
            <a:ext cx="6355080" cy="12275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i="0" b="0">
                <a:solidFill>
                  <a:srgbClr val="2C322E"/>
                </a:solidFill>
                <a:latin typeface="Outfit 1 Semi-Bold"/>
              </a:rPr>
              <a:t>Continuidade</a:t>
            </a:r>
            <a:r>
              <a:rPr sz="2100" i="0" b="0">
                <a:solidFill>
                  <a:srgbClr val="5F6661"/>
                </a:solidFill>
                <a:latin typeface="Outfit 1 Light"/>
              </a:rPr>
              <a:t> — o que precisa seguir existindo: renda, família, empresa, patrimônio, projetos e legado;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4299966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448741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10"/>
              </a:lnSpc>
            </a:pPr>
            <a:r>
              <a:rPr sz="1722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4446270"/>
            <a:ext cx="6355080" cy="848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i="0" b="0">
                <a:solidFill>
                  <a:srgbClr val="2C322E"/>
                </a:solidFill>
                <a:latin typeface="Outfit 1 Semi-Bold"/>
              </a:rPr>
              <a:t>Proteção</a:t>
            </a:r>
            <a:r>
              <a:rPr sz="2100" i="0" b="0">
                <a:solidFill>
                  <a:srgbClr val="5F6661"/>
                </a:solidFill>
                <a:latin typeface="Outfit 1 Light"/>
              </a:rPr>
              <a:t> — os recursos e estruturas que sustentam essa continuidade;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5532882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572033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10"/>
              </a:lnSpc>
            </a:pPr>
            <a:r>
              <a:rPr sz="1722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5679186"/>
            <a:ext cx="6355080" cy="848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i="0" b="0">
                <a:solidFill>
                  <a:srgbClr val="2C322E"/>
                </a:solidFill>
                <a:latin typeface="Outfit 1 Semi-Bold"/>
              </a:rPr>
              <a:t>Sucessão</a:t>
            </a:r>
            <a:r>
              <a:rPr sz="2100" i="0" b="0">
                <a:solidFill>
                  <a:srgbClr val="5F6661"/>
                </a:solidFill>
                <a:latin typeface="Outfit 1 Light"/>
              </a:rPr>
              <a:t> — a preparação para a passagem de responsabilidade e patrimônio;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6765798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695325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10"/>
              </a:lnSpc>
            </a:pPr>
            <a:r>
              <a:rPr sz="1722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912102"/>
            <a:ext cx="6355080" cy="848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i="0" b="0">
                <a:solidFill>
                  <a:srgbClr val="2C322E"/>
                </a:solidFill>
                <a:latin typeface="Outfit 1 Semi-Bold"/>
              </a:rPr>
              <a:t>Dignidade financeira</a:t>
            </a:r>
            <a:r>
              <a:rPr sz="2100" i="0" b="0">
                <a:solidFill>
                  <a:srgbClr val="5F6661"/>
                </a:solidFill>
                <a:latin typeface="Outfit 1 Light"/>
              </a:rPr>
              <a:t> — a preservação de alternativas em momentos difíceis;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799871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818616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10"/>
              </a:lnSpc>
            </a:pPr>
            <a:r>
              <a:rPr sz="1722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8145018"/>
            <a:ext cx="6355080" cy="8488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i="0" b="0">
                <a:solidFill>
                  <a:srgbClr val="2C322E"/>
                </a:solidFill>
                <a:latin typeface="Outfit 1 Semi-Bold"/>
              </a:rPr>
              <a:t>Escolha e responsabilidade</a:t>
            </a:r>
            <a:r>
              <a:rPr sz="2100" i="0" b="0">
                <a:solidFill>
                  <a:srgbClr val="5F6661"/>
                </a:solidFill>
                <a:latin typeface="Outfit 1 Light"/>
              </a:rPr>
              <a:t> — decidir sem ser dominado pela urgência.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9231630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14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39175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COMO A MARCA ATUA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14663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OS CINCO PILARES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4388" y="3091449"/>
            <a:ext cx="10839212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220703"/>
            <a:ext cx="2838298" cy="726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159"/>
              </a:lnSpc>
            </a:pPr>
            <a:r>
              <a:rPr sz="4400" i="0" b="0">
                <a:solidFill>
                  <a:srgbClr val="AE8C4E"/>
                </a:solidFill>
                <a:latin typeface="Outfit 1 Ligh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002007"/>
            <a:ext cx="2838298" cy="337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i="0" b="0" spc="220">
                <a:solidFill>
                  <a:srgbClr val="2C322E"/>
                </a:solidFill>
                <a:latin typeface="Outfit 1 Semi-Bold"/>
              </a:rPr>
              <a:t>ANTECIPAÇÃO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431267"/>
            <a:ext cx="2838298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705587"/>
            <a:ext cx="2838298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Decisões são melhores sem urgência.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9626" y="5220703"/>
            <a:ext cx="2838298" cy="726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159"/>
              </a:lnSpc>
            </a:pPr>
            <a:r>
              <a:rPr sz="4400" i="0" b="0">
                <a:solidFill>
                  <a:srgbClr val="AE8C4E"/>
                </a:solidFill>
                <a:latin typeface="Outfit 1 Ligh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9626" y="6002007"/>
            <a:ext cx="2838298" cy="337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i="0" b="0" spc="220">
                <a:solidFill>
                  <a:srgbClr val="2C322E"/>
                </a:solidFill>
                <a:latin typeface="Outfit 1 Semi-Bold"/>
              </a:rPr>
              <a:t>PERSONALIZAÇÃO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9626" y="6431267"/>
            <a:ext cx="2838298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9626" y="6705587"/>
            <a:ext cx="2838298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Não existe proteção ideal fora de contexto.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4851" y="5220703"/>
            <a:ext cx="2838298" cy="726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159"/>
              </a:lnSpc>
            </a:pPr>
            <a:r>
              <a:rPr sz="4400" i="0" b="0">
                <a:solidFill>
                  <a:srgbClr val="AE8C4E"/>
                </a:solidFill>
                <a:latin typeface="Outfit 1 Ligh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4851" y="6002007"/>
            <a:ext cx="2838298" cy="337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i="0" b="0" spc="220">
                <a:solidFill>
                  <a:srgbClr val="2C322E"/>
                </a:solidFill>
                <a:latin typeface="Outfit 1 Semi-Bold"/>
              </a:rPr>
              <a:t>CONFIANÇA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4851" y="6431267"/>
            <a:ext cx="2838298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4851" y="6705587"/>
            <a:ext cx="2838298" cy="1122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Transparência e consistência ao longo dos anos.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30077" y="5220703"/>
            <a:ext cx="2838298" cy="726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159"/>
              </a:lnSpc>
            </a:pPr>
            <a:r>
              <a:rPr sz="4400" i="0" b="0">
                <a:solidFill>
                  <a:srgbClr val="AE8C4E"/>
                </a:solidFill>
                <a:latin typeface="Outfit 1 Light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30077" y="6002007"/>
            <a:ext cx="2838298" cy="337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i="0" b="0" spc="220">
                <a:solidFill>
                  <a:srgbClr val="2C322E"/>
                </a:solidFill>
                <a:latin typeface="Outfit 1 Semi-Bold"/>
              </a:rPr>
              <a:t>CONTINUIDADE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30077" y="6431267"/>
            <a:ext cx="2838298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30077" y="6705587"/>
            <a:ext cx="2838298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A proteção não termina na contratação.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35302" y="5220703"/>
            <a:ext cx="2838298" cy="726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159"/>
              </a:lnSpc>
            </a:pPr>
            <a:r>
              <a:rPr sz="4400" i="0" b="0">
                <a:solidFill>
                  <a:srgbClr val="AE8C4E"/>
                </a:solidFill>
                <a:latin typeface="Outfit 1 Light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535302" y="6002007"/>
            <a:ext cx="2838298" cy="3378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30"/>
              </a:lnSpc>
            </a:pPr>
            <a:r>
              <a:rPr sz="1400" i="0" b="0" spc="220">
                <a:solidFill>
                  <a:srgbClr val="2C322E"/>
                </a:solidFill>
                <a:latin typeface="Outfit 1 Semi-Bold"/>
              </a:rPr>
              <a:t>EXCELÊNCIA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535302" y="6431267"/>
            <a:ext cx="2838298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535302" y="6705587"/>
            <a:ext cx="2838298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Menos discurso, mais padrão de execução.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3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lm-escudo-ouro-claro.png"/>
          <p:cNvPicPr>
            <a:picLocks noChangeAspect="1"/>
          </p:cNvPicPr>
          <p:nvPr/>
        </p:nvPicPr>
        <p:blipFill>
          <a:blip r:embed="rId4">
            <a:alphaModFix amt="13000"/>
          </a:blip>
          <a:stretch>
            <a:fillRect/>
          </a:stretch>
        </p:blipFill>
        <p:spPr>
          <a:xfrm>
            <a:off x="11338560" y="548640"/>
            <a:ext cx="7981406" cy="8321040"/>
          </a:xfrm>
          <a:prstGeom prst="rect">
            <a:avLst/>
          </a:prstGeom>
        </p:spPr>
      </p:pic>
      <p:pic>
        <p:nvPicPr>
          <p:cNvPr id="6" name="Picture 5" descr="trama-cant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Picture 1" descr="trama-direita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C8CCC6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E3C88B"/>
                </a:solidFill>
                <a:latin typeface="Outfit 1 Semi-Bold"/>
              </a:rPr>
              <a:t>15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5486400" cy="957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119"/>
              </a:lnSpc>
            </a:pPr>
            <a:r>
              <a:rPr sz="5800" i="0" b="0">
                <a:solidFill>
                  <a:srgbClr val="E3C88B"/>
                </a:solidFill>
                <a:latin typeface="Outfit 1 Light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972800" cy="11574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350"/>
              </a:lnSpc>
            </a:pPr>
            <a:r>
              <a:rPr sz="7000" i="0" b="0">
                <a:solidFill>
                  <a:srgbClr val="F2F0E9"/>
                </a:solidFill>
                <a:latin typeface="Outfit 1 Bold"/>
              </a:rPr>
              <a:t>VOZ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808470"/>
            <a:ext cx="1188720" cy="16459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704621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300">
                <a:solidFill>
                  <a:srgbClr val="F2F0E9"/>
                </a:solidFill>
                <a:latin typeface="Outfit 1 Semi-Bold"/>
              </a:rPr>
              <a:t>AUTORIDADE DISCRETA: PROVAR, NÃO PROCLAMAR.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16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36965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PERSONALIDADE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2453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AUTORIDADE DISCRETA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4263" y="2989239"/>
            <a:ext cx="9369337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44173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POSTURA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09933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SEGURO E PREPARADO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761875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017907"/>
            <a:ext cx="505968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Transmite domínio sem precisar provar o tempo todo. Estuda antes de orientar.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4160" y="4844173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RELAÇÃO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4160" y="5209933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CONSULTIVO E HUMANO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4160" y="5761875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4160" y="6017907"/>
            <a:ext cx="505968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Pergunta antes de oferecer e entende o que existe por trás dos números.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3920" y="4844173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FORMA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13920" y="5209933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ELEGANTE E ACESSÍVEL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13920" y="5761875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3920" y="6017907"/>
            <a:ext cx="5059680" cy="766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Sofisticação sem ostentação. Torna o complexo compreensível.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488415"/>
            <a:ext cx="12179808" cy="441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2C322E"/>
                </a:solidFill>
                <a:latin typeface="Outfit 1 Semi-Bold"/>
              </a:rPr>
              <a:t>Nunca:</a:t>
            </a:r>
            <a:r>
              <a:rPr sz="2100" i="0" b="0">
                <a:solidFill>
                  <a:srgbClr val="5F6661"/>
                </a:solidFill>
                <a:latin typeface="Outfit 1 Light"/>
              </a:rPr>
              <a:t> alarmista, exibicionista, técnica demais, comercial demais ou genérica.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17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TOM DE VOZ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8412480" cy="1735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PROVAR,</a:t>
            </a:r>
          </a:p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NÃO PROCLAMAR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916" y="3237360"/>
            <a:ext cx="1737244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4099"/>
            <a:ext cx="6400800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A marca não precisa assustar para ser ouvida, nem anunciar para ser reconhecida.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8425"/>
            <a:ext cx="6400800" cy="4415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A autoridade aparece na qualidade da pergunta.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1240" y="1847088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20299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9AA09A"/>
                </a:solidFill>
                <a:latin typeface="Outfit 1 Semi-Bold"/>
              </a:rPr>
              <a:t>EM VEZ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2340864"/>
            <a:ext cx="6858000" cy="4512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95" i="0" b="0" strike="sngStrike">
                <a:solidFill>
                  <a:srgbClr val="AE8C4E"/>
                </a:solidFill>
                <a:latin typeface="Outfit 1 Light"/>
              </a:rPr>
              <a:t>Você pode morrer amanhã.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240" y="2974962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PREFERE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3285858"/>
            <a:ext cx="6858000" cy="4512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95" i="0" b="0">
                <a:solidFill>
                  <a:srgbClr val="2C322E"/>
                </a:solidFill>
                <a:latin typeface="Outfit 1 Light"/>
              </a:rPr>
              <a:t>Quem depende financeiramente de você hoje?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4011397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4194277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9AA09A"/>
                </a:solidFill>
                <a:latin typeface="Outfit 1 Semi-Bold"/>
              </a:rPr>
              <a:t>EM VEZ 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4505173"/>
            <a:ext cx="6858000" cy="4512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95" i="0" b="0" strike="sngStrike">
                <a:solidFill>
                  <a:srgbClr val="AE8C4E"/>
                </a:solidFill>
                <a:latin typeface="Outfit 1 Light"/>
              </a:rPr>
              <a:t>Você precisa contratar um seguro de vida.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5139271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PREFERE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5450167"/>
            <a:ext cx="6858000" cy="8109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95" i="0" b="0">
                <a:solidFill>
                  <a:srgbClr val="2C322E"/>
                </a:solidFill>
                <a:latin typeface="Outfit 1 Light"/>
              </a:rPr>
              <a:t>Antes do produto, precisamos entender o impacto financeiro que uma ausência produziria.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653548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67183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9AA09A"/>
                </a:solidFill>
                <a:latin typeface="Outfit 1 Semi-Bold"/>
              </a:rPr>
              <a:t>EM VEZ 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7029260"/>
            <a:ext cx="6858000" cy="4512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95" i="0" b="0" strike="sngStrike">
                <a:solidFill>
                  <a:srgbClr val="AE8C4E"/>
                </a:solidFill>
                <a:latin typeface="Outfit 1 Light"/>
              </a:rPr>
              <a:t>Olha onde eu cheguei.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766335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PREFERE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7974254"/>
            <a:ext cx="6858000" cy="8109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95" i="0" b="0">
                <a:solidFill>
                  <a:srgbClr val="2C322E"/>
                </a:solidFill>
                <a:latin typeface="Outfit 1 Light"/>
              </a:rPr>
              <a:t>Esse reconhecimento representa dez anos de consistência e confiança de clientes.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18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657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VOCABULÁRIO E ESTILO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1208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AS PALAVRAS DA MARCA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53313" y="2617994"/>
            <a:ext cx="9120287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72928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VERBOS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38688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PREPARAR · ESTRUTURAR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90630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46662"/>
            <a:ext cx="5059680" cy="1122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Preservar · antecipar · organizar · traduzir · acompanhar. São verbos de preparação: a marca conduz, não assiste.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4160" y="4472928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PALAVRAS PRÓPRIAS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4160" y="4838688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>
                <a:solidFill>
                  <a:srgbClr val="2C322E"/>
                </a:solidFill>
                <a:latin typeface="Outfit 1 Light"/>
              </a:rPr>
              <a:t>CONTINUIDADE · ESCOLHA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4160" y="5390630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4160" y="5646662"/>
            <a:ext cx="5059680" cy="1122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>
                <a:solidFill>
                  <a:srgbClr val="5F6661"/>
                </a:solidFill>
                <a:latin typeface="Outfit 1 Light"/>
              </a:rPr>
              <a:t>Proteção · sucessão · dignidade financeira · liquidez · possibilidades · responsabilidade · consequência.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13920" y="4472928"/>
            <a:ext cx="5059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NUNCA USAR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13920" y="4838688"/>
            <a:ext cx="5059680" cy="5702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i="0" b="0" spc="40" strike="sngStrike">
                <a:solidFill>
                  <a:srgbClr val="2C322E"/>
                </a:solidFill>
                <a:latin typeface="Outfit 1 Light"/>
              </a:rPr>
              <a:t>TRAGÉDIA · URGÊNCIA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13920" y="5390630"/>
            <a:ext cx="5059680" cy="10973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13920" y="5646662"/>
            <a:ext cx="5059680" cy="11221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932" i="0" b="0" strike="sngStrike">
                <a:solidFill>
                  <a:srgbClr val="5F6661"/>
                </a:solidFill>
                <a:latin typeface="Outfit 1 Light"/>
              </a:rPr>
              <a:t>Fatalidade · desespero · oportunidade imperdível · a melhor proteção do mercado.</a:t>
            </a:r>
            <a:r>
              <a:rPr sz="1932" i="0" b="0">
                <a:solidFill>
                  <a:srgbClr val="5F6661"/>
                </a:solidFill>
                <a:latin typeface="Outfit 1 Light"/>
              </a:rPr>
              <a:t> Nada que venda pelo susto.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7472947"/>
            <a:ext cx="12179808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Frases curtas. Ponto final. Argumento concreto. A comunicação acompanha o comportamento da marca: </a:t>
            </a:r>
            <a:r>
              <a:rPr sz="2100" i="0" b="0">
                <a:solidFill>
                  <a:srgbClr val="2C322E"/>
                </a:solidFill>
                <a:latin typeface="Outfit 1 Semi-Bold"/>
              </a:rPr>
              <a:t>escuta, entende e vai ao ponto.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3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lm-escudo-ouro-claro.png"/>
          <p:cNvPicPr>
            <a:picLocks noChangeAspect="1"/>
          </p:cNvPicPr>
          <p:nvPr/>
        </p:nvPicPr>
        <p:blipFill>
          <a:blip r:embed="rId4">
            <a:alphaModFix amt="13000"/>
          </a:blip>
          <a:stretch>
            <a:fillRect/>
          </a:stretch>
        </p:blipFill>
        <p:spPr>
          <a:xfrm>
            <a:off x="11338560" y="548640"/>
            <a:ext cx="7981406" cy="8321040"/>
          </a:xfrm>
          <a:prstGeom prst="rect">
            <a:avLst/>
          </a:prstGeom>
        </p:spPr>
      </p:pic>
      <p:pic>
        <p:nvPicPr>
          <p:cNvPr id="6" name="Picture 5" descr="trama-cant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Picture 1" descr="trama-direita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C8CCC6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E3C88B"/>
                </a:solidFill>
                <a:latin typeface="Outfit 1 Semi-Bold"/>
              </a:rPr>
              <a:t>19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5486400" cy="957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119"/>
              </a:lnSpc>
            </a:pPr>
            <a:r>
              <a:rPr sz="5800" i="0" b="0">
                <a:solidFill>
                  <a:srgbClr val="E3C88B"/>
                </a:solidFill>
                <a:latin typeface="Outfit 1 Light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972800" cy="2314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350"/>
              </a:lnSpc>
            </a:pPr>
            <a:r>
              <a:rPr sz="7000" i="0" b="0">
                <a:solidFill>
                  <a:srgbClr val="F2F0E9"/>
                </a:solidFill>
                <a:latin typeface="Outfit 1 Bold"/>
              </a:rPr>
              <a:t>IDENTIDADE</a:t>
            </a:r>
          </a:p>
          <a:p>
            <a:pPr algn="l">
              <a:lnSpc>
                <a:spcPts val="7350"/>
              </a:lnSpc>
            </a:pPr>
            <a:r>
              <a:rPr sz="7000" i="0" b="0">
                <a:solidFill>
                  <a:srgbClr val="F2F0E9"/>
                </a:solidFill>
                <a:latin typeface="Outfit 1 Bold"/>
              </a:rPr>
              <a:t>VISUAL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7965948"/>
            <a:ext cx="1188720" cy="16459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8203692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300">
                <a:solidFill>
                  <a:srgbClr val="F2F0E9"/>
                </a:solidFill>
                <a:latin typeface="Outfit 1 Semi-Bold"/>
              </a:rPr>
              <a:t>O ESCUDO, O VERDE E O DOURADO.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20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38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LOGOTIPO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19312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AS VERSÕES DA MARCA</a:t>
            </a:r>
          </a:p>
        </p:txBody>
      </p:sp>
      <p:sp>
        <p:nvSpPr>
          <p:cNvPr id="7" name="Rectangle 6"/>
          <p:cNvSpPr/>
          <p:nvPr/>
        </p:nvSpPr>
        <p:spPr>
          <a:xfrm>
            <a:off x="7961290" y="2596098"/>
            <a:ext cx="9412310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359592"/>
            <a:ext cx="3703320" cy="2697480"/>
          </a:xfrm>
          <a:prstGeom prst="rect">
            <a:avLst/>
          </a:prstGeom>
          <a:solidFill>
            <a:srgbClr val="4A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m-horizontal-ouro-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31" y="4931223"/>
            <a:ext cx="2296058" cy="7903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7313104"/>
            <a:ext cx="3703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660576"/>
            <a:ext cx="3703320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Dourado sobre o verde da marca. É a versão de assinatura.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4359592"/>
            <a:ext cx="3703320" cy="2697480"/>
          </a:xfrm>
          <a:prstGeom prst="rect">
            <a:avLst/>
          </a:prstGeom>
          <a:solidFill>
            <a:srgbClr val="F6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m-horizontal-p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991" y="4931223"/>
            <a:ext cx="2296058" cy="7903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66360" y="7313104"/>
            <a:ext cx="3703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MONOCROMÁTICA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7660576"/>
            <a:ext cx="3703320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Preto sobre papel. Documento, contrato, impressão em uma cor.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0" y="4359592"/>
            <a:ext cx="3703320" cy="2697480"/>
          </a:xfrm>
          <a:prstGeom prst="rect">
            <a:avLst/>
          </a:prstGeom>
          <a:solidFill>
            <a:srgbClr val="CEC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m-vertical-pret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1951" y="4908967"/>
            <a:ext cx="2296058" cy="8348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18320" y="7313104"/>
            <a:ext cx="3703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VERTICAL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7660576"/>
            <a:ext cx="3703320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Para espaços estreitos: avatar, carimbo, assinatura de e-mail.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670280" y="4359592"/>
            <a:ext cx="3703320" cy="2697480"/>
          </a:xfrm>
          <a:prstGeom prst="rect">
            <a:avLst/>
          </a:prstGeom>
          <a:solidFill>
            <a:srgbClr val="2C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m-vertical-br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73911" y="4908967"/>
            <a:ext cx="2296058" cy="83482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670280" y="7313104"/>
            <a:ext cx="3703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SOBRE FOTOGRAFIA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670280" y="7660576"/>
            <a:ext cx="3703320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Versão clara, só quando o fundo for escuro o bastante.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21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85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USOS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44052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O QUE PRESERVA A MARCA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6638" y="2420838"/>
            <a:ext cx="-728478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77578"/>
            <a:ext cx="6400800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O escudo é o ativo mais permanente da identidade. Tudo o que o deforma, enfraquece a marca inteira.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230981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SEMPRE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1240" y="2693860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288131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840164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Respiro.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Deixar em volta do logo, livre, pelo menos a altura do escudo;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3764470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395192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3910774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Contraste.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Dourado sobre verde ou escuro; preto sobre papel ou areia. Dourado sobre claro, nunca;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4835080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502253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4981384"/>
            <a:ext cx="6355080" cy="389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Proporção.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O logo nunca é esticado, inclinado ou recortado;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5608129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5795581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5754433"/>
            <a:ext cx="6355080" cy="389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Tamanho mínimo.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Abaixo de 2 cm de largura, usar só o escudo;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6381178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656863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27482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Uma marca por peça.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O escudo não divide espaço com selo, etiqueta ou moldura decorativa.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7451788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7835836"/>
            <a:ext cx="6858000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Nenhuma sombra, nenhum contorno, nenhum efeito. </a:t>
            </a:r>
            <a:r>
              <a:rPr sz="1650" i="0" b="0">
                <a:solidFill>
                  <a:srgbClr val="2C322E"/>
                </a:solidFill>
                <a:latin typeface="Outfit 1 Semi-Bold"/>
              </a:rPr>
              <a:t>A elegância da marca está na sua contenção.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22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A PALETA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3326" y="2415314"/>
            <a:ext cx="13330274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133088"/>
            <a:ext cx="2889504" cy="2651760"/>
          </a:xfrm>
          <a:prstGeom prst="rect">
            <a:avLst/>
          </a:prstGeom>
          <a:solidFill>
            <a:srgbClr val="4A5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7059168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VERDE PROFUNDO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406640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AE8C4E"/>
                </a:solidFill>
                <a:latin typeface="Outfit 1 Light"/>
              </a:rPr>
              <a:t>#4A534E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772400"/>
            <a:ext cx="2889504" cy="966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A cor da marca. Fundo de capa, de capítulo e de assinatura.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4133088"/>
            <a:ext cx="2889504" cy="265176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7059168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DOURADO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6824" y="7406640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AE8C4E"/>
                </a:solidFill>
                <a:latin typeface="Outfit 1 Light"/>
              </a:rPr>
              <a:t>#C9A961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7772400"/>
            <a:ext cx="2889504" cy="966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O acento. Filete, numeral e destaque — nunca em área grande.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9248" y="4133088"/>
            <a:ext cx="2889504" cy="2651760"/>
          </a:xfrm>
          <a:prstGeom prst="rect">
            <a:avLst/>
          </a:prstGeom>
          <a:solidFill>
            <a:srgbClr val="CEC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7059168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AREIA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7406640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AE8C4E"/>
                </a:solidFill>
                <a:latin typeface="Outfit 1 Light"/>
              </a:rPr>
              <a:t>#CEC3B5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7772400"/>
            <a:ext cx="2889504" cy="966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A cor de apoio. Fundos claros, papelaria e aplicações impressas.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91672" y="4133088"/>
            <a:ext cx="2889504" cy="2651760"/>
          </a:xfrm>
          <a:prstGeom prst="rect">
            <a:avLst/>
          </a:prstGeom>
          <a:solidFill>
            <a:srgbClr val="2C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91672" y="7059168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GRAFITE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7406640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AE8C4E"/>
                </a:solidFill>
                <a:latin typeface="Outfit 1 Light"/>
              </a:rPr>
              <a:t>#2C322E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1672" y="7772400"/>
            <a:ext cx="2889504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O texto. Títulos e corpo sobre papel.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484096" y="4133088"/>
            <a:ext cx="2889504" cy="2651760"/>
          </a:xfrm>
          <a:prstGeom prst="rect">
            <a:avLst/>
          </a:prstGeom>
          <a:solidFill>
            <a:srgbClr val="F6F4EF"/>
          </a:solidFill>
          <a:ln w="11430">
            <a:solidFill>
              <a:srgbClr val="DCD8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84096" y="7059168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2C322E"/>
                </a:solidFill>
                <a:latin typeface="Outfit 1 Semi-Bold"/>
              </a:rPr>
              <a:t>PAPEL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84096" y="7406640"/>
            <a:ext cx="2889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925"/>
              </a:lnSpc>
            </a:pPr>
            <a:r>
              <a:rPr sz="1375" i="0" b="0" spc="220">
                <a:solidFill>
                  <a:srgbClr val="AE8C4E"/>
                </a:solidFill>
                <a:latin typeface="Outfit 1 Light"/>
              </a:rPr>
              <a:t>#F6F4EF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84096" y="7772400"/>
            <a:ext cx="2889504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O fundo de leitura e o texto sobre o verde.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23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TIPOGRAFIA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8412480" cy="9134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A TIPOGRAFIA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383055" y="2415314"/>
            <a:ext cx="11990545" cy="12802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87368"/>
            <a:ext cx="1645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ASSINATURA · ALLROUNDER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11521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840"/>
              </a:lnSpc>
            </a:pPr>
            <a:r>
              <a:rPr sz="4400" i="0" b="0">
                <a:solidFill>
                  <a:srgbClr val="2C322E"/>
                </a:solidFill>
                <a:latin typeface="Outfit 1 Light"/>
              </a:rPr>
              <a:t>Lucas Martini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0" y="4507992"/>
            <a:ext cx="4937760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A serifada do logotipo. Vive no logo e na assinatura — não é fonte de texto corrido.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568696"/>
            <a:ext cx="164592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645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TEXTO · DM SANS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36792"/>
            <a:ext cx="11521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840"/>
              </a:lnSpc>
            </a:pPr>
            <a:r>
              <a:rPr sz="4400" i="0" b="0">
                <a:solidFill>
                  <a:srgbClr val="2C322E"/>
                </a:solidFill>
                <a:latin typeface="Outfit 1 Light"/>
              </a:rPr>
              <a:t>Proteção &amp; Sucessão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0" y="6409944"/>
            <a:ext cx="4937760" cy="966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A sem-serifa de apoio: títulos, corpo e legenda. Caixa alta espacejada nos rótulos, sempre com espacejamento largo.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7470648"/>
            <a:ext cx="164592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7891272"/>
            <a:ext cx="1645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HIERARQUIA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238744"/>
            <a:ext cx="11521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840"/>
              </a:lnSpc>
            </a:pPr>
            <a:r>
              <a:rPr sz="4400" i="0" b="0">
                <a:solidFill>
                  <a:srgbClr val="2C322E"/>
                </a:solidFill>
                <a:latin typeface="Outfit 1 Semi-Bold"/>
              </a:rPr>
              <a:t>Clareza antes de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0" y="8311896"/>
            <a:ext cx="4937760" cy="966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5F6661"/>
                </a:solidFill>
                <a:latin typeface="Outfit 1 Light"/>
              </a:rPr>
              <a:t>Título grande em peso leve; destaque em semibold. O peso marca a frase que a pessoa leva embora — nunca a frase inteira.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9372600"/>
            <a:ext cx="164592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9976104"/>
            <a:ext cx="11850624" cy="662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i="0" b="0">
                <a:solidFill>
                  <a:srgbClr val="9AA09A"/>
                </a:solidFill>
                <a:latin typeface="Outfit 1 Light"/>
              </a:rPr>
              <a:t>Os espécimes desta página estão compostos na fonte deste documento. As fontes oficiais da marca são a Allrounder, no logotipo, e a DM Sans, no texto.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3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lm-escudo-ouro-claro.png"/>
          <p:cNvPicPr>
            <a:picLocks noChangeAspect="1"/>
          </p:cNvPicPr>
          <p:nvPr/>
        </p:nvPicPr>
        <p:blipFill>
          <a:blip r:embed="rId4">
            <a:alphaModFix amt="13000"/>
          </a:blip>
          <a:stretch>
            <a:fillRect/>
          </a:stretch>
        </p:blipFill>
        <p:spPr>
          <a:xfrm>
            <a:off x="11338560" y="548640"/>
            <a:ext cx="7981406" cy="8321040"/>
          </a:xfrm>
          <a:prstGeom prst="rect">
            <a:avLst/>
          </a:prstGeom>
        </p:spPr>
      </p:pic>
      <p:pic>
        <p:nvPicPr>
          <p:cNvPr id="6" name="Picture 5" descr="trama-canto.pn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2" name="Picture 1" descr="trama-direita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C8CCC6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E3C88B"/>
                </a:solidFill>
                <a:latin typeface="Outfit 1 Semi-Bold"/>
              </a:rPr>
              <a:t>24 / 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5486400" cy="9575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119"/>
              </a:lnSpc>
            </a:pPr>
            <a:r>
              <a:rPr sz="5800" i="0" b="0">
                <a:solidFill>
                  <a:srgbClr val="E3C88B"/>
                </a:solidFill>
                <a:latin typeface="Outfit 1 Light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972800" cy="11574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7350"/>
              </a:lnSpc>
            </a:pPr>
            <a:r>
              <a:rPr sz="7000" i="0" b="0">
                <a:solidFill>
                  <a:srgbClr val="F2F0E9"/>
                </a:solidFill>
                <a:latin typeface="Outfit 1 Bold"/>
              </a:rPr>
              <a:t>MANIFESTO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808470"/>
            <a:ext cx="1188720" cy="16459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7046214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300">
                <a:solidFill>
                  <a:srgbClr val="F2F0E9"/>
                </a:solidFill>
                <a:latin typeface="Outfit 1 Semi-Bold"/>
              </a:rPr>
              <a:t>A MARCA EM PALAVRAS, E A MARCA EM UMA PÁGINA.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534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6" name="Picture 5" descr="lm-escudo-ouro-claro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2435840" y="1463040"/>
            <a:ext cx="7016620" cy="7315200"/>
          </a:xfrm>
          <a:prstGeom prst="rect">
            <a:avLst/>
          </a:prstGeom>
        </p:spPr>
      </p:pic>
      <p:pic>
        <p:nvPicPr>
          <p:cNvPr id="2" name="Picture 1" descr="trama-direita.png"/>
          <p:cNvPicPr>
            <a:picLocks noChangeAspect="1"/>
          </p:cNvPicPr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E3C8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C8CCC6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E3C88B"/>
                </a:solidFill>
                <a:latin typeface="Outfit 1 Semi-Bold"/>
              </a:rPr>
              <a:t>25 /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E3C88B"/>
                </a:solidFill>
                <a:latin typeface="Outfit 1 Semi-Bold"/>
              </a:rPr>
              <a:t>MANIFESTO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4630400" cy="63047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HÁ COISAS QUE LEVAM ANOS PARA CONSTRUIR.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UMA CARREIRA. UMA FAMÍLIA. UMA EMPRESA. UM PATRIMÔNIO.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E NENHUMA DELAS DEVERIA FICAR COMPLETAMENTE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DEPENDENTE DAQUILO QUE NÃO PODEMOS CONTROLAR.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PLANEJAR NÃO É ESPERAR QUE ALGO DÊ ERRADO.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É RECONHECER O VALOR DAQUILO QUE DEU CERTO.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É PENSAR ANTES. ENQUANTO EXISTE TEMPO.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ENQUANTO PODEMOS ESCOLHER.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NEM TUDO PODE SER PREVISTO. </a:t>
            </a:r>
            <a:r>
              <a:rPr sz="3100" i="0" b="0">
                <a:solidFill>
                  <a:srgbClr val="E3C88B"/>
                </a:solidFill>
                <a:latin typeface="Outfit 1 Bold"/>
              </a:rPr>
              <a:t>MAS MUITO PODE SER PREPARADO.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F2F0E9"/>
                </a:solidFill>
                <a:latin typeface="Outfit 1 Light"/>
              </a:rPr>
              <a:t>PORQUE PROTEÇÃO NÃO EXISTE PARA PRESERVAR DINHEIRO.</a:t>
            </a:r>
          </a:p>
          <a:p>
            <a:pPr algn="l">
              <a:lnSpc>
                <a:spcPct val="114000"/>
              </a:lnSpc>
            </a:pPr>
            <a:r>
              <a:rPr sz="3100" i="0" b="0">
                <a:solidFill>
                  <a:srgbClr val="E3C88B"/>
                </a:solidFill>
                <a:latin typeface="Outfit 1 Bold"/>
              </a:rPr>
              <a:t>EXISTE PARA PRESERVAR POSSIBILIDADES.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" y="603504"/>
            <a:ext cx="20117" cy="237744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" y="6217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09"/>
              </a:lnSpc>
            </a:pPr>
            <a:r>
              <a:rPr sz="1150" i="0" b="0" spc="260">
                <a:solidFill>
                  <a:srgbClr val="9AA09A"/>
                </a:solidFill>
                <a:latin typeface="Outfit 1 Semi-Bold"/>
              </a:rPr>
              <a:t>BRAND BOOK LUCAS MARTINI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0" y="6217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09"/>
              </a:lnSpc>
            </a:pPr>
            <a:r>
              <a:rPr sz="1150" i="0" b="0" spc="260">
                <a:solidFill>
                  <a:srgbClr val="AE8C4E"/>
                </a:solidFill>
                <a:latin typeface="Outfit 1 Semi-Bold"/>
              </a:rPr>
              <a:t>26 /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SÍNTESE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8412480" cy="17355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A MARCA EM</a:t>
            </a:r>
          </a:p>
          <a:p>
            <a:pPr algn="l">
              <a:lnSpc>
                <a:spcPts val="5220"/>
              </a:lnSpc>
            </a:pPr>
            <a:r>
              <a:rPr sz="4500" i="0" b="0" spc="60">
                <a:solidFill>
                  <a:srgbClr val="2C322E"/>
                </a:solidFill>
                <a:latin typeface="Outfit 1 Light"/>
              </a:rPr>
              <a:t>UMA PÁGINA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4974065" y="3237360"/>
            <a:ext cx="3164095" cy="12802"/>
          </a:xfrm>
          <a:prstGeom prst="rect">
            <a:avLst/>
          </a:prstGeom>
          <a:solidFill>
            <a:srgbClr val="AE8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4099"/>
            <a:ext cx="6400800" cy="8282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i="0" b="0">
                <a:solidFill>
                  <a:srgbClr val="5F6661"/>
                </a:solidFill>
                <a:latin typeface="Outfit 1 Light"/>
              </a:rPr>
              <a:t>Se este documento inteiro se perdesse, bastaria esta página.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1984248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750"/>
              </a:lnSpc>
            </a:pPr>
            <a:r>
              <a:rPr sz="1250" i="0" b="0" spc="280">
                <a:solidFill>
                  <a:srgbClr val="AE8C4E"/>
                </a:solidFill>
                <a:latin typeface="Outfit 1 Semi-Bold"/>
              </a:rPr>
              <a:t>O ESSENCIAL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1240" y="2368296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25557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514600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Crença fundadora.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O que levou anos para ser construído não deveria ficar entregue ao acaso.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21240" y="3438906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1240" y="362635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3585210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Essência.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Construir segurança para preservar liberdade de escolha.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21240" y="4509516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46969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4655820"/>
            <a:ext cx="6355080" cy="389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Causa.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Ampliar a cultura da preparação antes da urgência.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21240" y="5282565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40" y="547001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5428869"/>
            <a:ext cx="6355080" cy="389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Território.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Continuidade.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605561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624306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201918"/>
            <a:ext cx="6355080" cy="6865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Posicionamento.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Especialista em proteção e sucessão para quem deseja preservar o que construiu.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21240" y="7126224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731367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7272528"/>
            <a:ext cx="6355080" cy="389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Princípio de comunicação.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Provar, não proclamar.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7899273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8086725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894"/>
              </a:lnSpc>
            </a:pPr>
            <a:r>
              <a:rPr sz="1353" i="0" b="0">
                <a:solidFill>
                  <a:srgbClr val="AE8C4E"/>
                </a:solidFill>
                <a:latin typeface="Outfit 1 Light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8045577"/>
            <a:ext cx="6355080" cy="389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50" i="0" b="0">
                <a:solidFill>
                  <a:srgbClr val="2C322E"/>
                </a:solidFill>
                <a:latin typeface="Outfit 1 Semi-Bold"/>
              </a:rPr>
              <a:t>Personalidade.</a:t>
            </a:r>
            <a:r>
              <a:rPr sz="1650" i="0" b="0">
                <a:solidFill>
                  <a:srgbClr val="5F6661"/>
                </a:solidFill>
                <a:latin typeface="Outfit 1 Light"/>
              </a:rPr>
              <a:t> Autoridade discreta.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8672322"/>
            <a:ext cx="6858000" cy="7315"/>
          </a:xfrm>
          <a:prstGeom prst="rect">
            <a:avLst/>
          </a:prstGeom>
          <a:solidFill>
            <a:srgbClr val="DCD8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6355080"/>
            <a:ext cx="182880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362"/>
              </a:lnSpc>
            </a:pPr>
            <a:r>
              <a:rPr sz="1687" i="0" b="0" spc="420">
                <a:solidFill>
                  <a:srgbClr val="AE8C4E"/>
                </a:solidFill>
                <a:latin typeface="Outfit 1 Semi-Bold"/>
              </a:rPr>
              <a:t>PROTEÇÃO &amp; SUCESSÃO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7013448"/>
            <a:ext cx="1828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i="0" b="0">
                <a:solidFill>
                  <a:srgbClr val="9AA09A"/>
                </a:solidFill>
                <a:latin typeface="Outfit 1 Light"/>
              </a:rPr>
              <a:t>Método Marca com Essência ©   ·   KA | Inteligência para Marcas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