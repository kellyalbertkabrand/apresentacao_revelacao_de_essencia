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PLANO DE</a:t>
            </a:r>
          </a:p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CONTEÚDO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Lucas Martini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Proteção &amp; Sucessão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426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Objetivo do conteúdo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54656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802598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692870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Linha editorial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39565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651683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541955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Distribuição do conteúdo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24473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500769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391041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Formatos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09382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349855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6240127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Cronograma de publicações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942909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198941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7089213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Ciclo mensal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779199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8048026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7938298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Regra central e direção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4241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retrato_lucas_corredor.png"/>
          <p:cNvPicPr>
            <a:picLocks noChangeAspect="1"/>
          </p:cNvPicPr>
          <p:nvPr/>
        </p:nvPicPr>
        <p:blipFill>
          <a:blip r:embed="rId3"/>
          <a:srcRect l="26814" r="30163"/>
          <a:stretch>
            <a:fillRect/>
          </a:stretch>
        </p:blipFill>
        <p:spPr>
          <a:xfrm>
            <a:off x="10424160" y="0"/>
            <a:ext cx="78638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2853873"/>
            <a:ext cx="75438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OBJETIVO DO CONTEÚDO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90767"/>
            <a:ext cx="75438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138239"/>
            <a:ext cx="7543800" cy="1149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Transformar a experiência e o conhecimento que já existem em autoridade percebida.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525689"/>
            <a:ext cx="754380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A lógica não é produzir conteúdo para volume de leads, mas fortalecer uma atuação que hoje já acontece fortemente por recomendação.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O CONTEÚDO PRECISA FAZER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26861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3723528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3616086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Educar antes de vender.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4537710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430268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Despertar necessidades que muitas vezes não são percebidas.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535189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524445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Reforçar confiança.</a:t>
            </a:r>
          </a:p>
        </p:txBody>
      </p:sp>
      <p:sp>
        <p:nvSpPr>
          <p:cNvPr id="12" name="Oval 11"/>
          <p:cNvSpPr/>
          <p:nvPr/>
        </p:nvSpPr>
        <p:spPr>
          <a:xfrm>
            <a:off x="2018538" y="616607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605863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Manter-se presente na memória de clientes e indicações.</a:t>
            </a:r>
          </a:p>
        </p:txBody>
      </p:sp>
      <p:sp>
        <p:nvSpPr>
          <p:cNvPr id="14" name="Oval 13"/>
          <p:cNvSpPr/>
          <p:nvPr/>
        </p:nvSpPr>
        <p:spPr>
          <a:xfrm>
            <a:off x="2018538" y="6980255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6872813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Gerar conversas qualificadas.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LINHA EDITORIAL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6053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4701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01 · DESPERTAR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396996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Proteção antes do imprevisto.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9252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3026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02 · AMPLIAR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357116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Sucessão e continuidade.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15264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3903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03 · DEMONSTRAR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317236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Planejamento na prática.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11276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3505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04 · EDUCAR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277356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Proteção em vida.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707288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73106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05 · PROVAR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7237476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Prova e autoridade.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3_lucas_ouvindo_casal.png"/>
          <p:cNvPicPr>
            <a:picLocks noChangeAspect="1"/>
          </p:cNvPicPr>
          <p:nvPr/>
        </p:nvPicPr>
        <p:blipFill>
          <a:blip r:embed="rId3"/>
          <a:srcRect l="43759" r="18221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3154344"/>
            <a:ext cx="96012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01 · PROTEÇÃO ANTES DO IMPREVISTO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4019427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4366899"/>
            <a:ext cx="9601200" cy="1149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Conteúdos que façam a pessoa perceber vulnerabilidades que normalmente só seriam consideradas quando algo acontece.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5754349"/>
            <a:ext cx="9601200" cy="1149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Temas: renda, incapacidade, doenças, acidentes, dependência financeira e proteção familiar. O papel deste eixo é despertar.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017185"/>
            <a:ext cx="1426464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02 · SUCESSÃO E CONTINUIDADE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8226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29740"/>
            <a:ext cx="1225296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Mostrar que patrimônio e empresa precisam de estratégia para continuar.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088057"/>
            <a:ext cx="1225296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Temas: sucessão familiar, sucessão empresarial, liquidez, inventário, cotas, pessoa-chave e continuidade da empresa. O papel deste eixo é ampliar a percepção sobre o trabalho de Lucas.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lucas_analisando_documentos.png"/>
          <p:cNvPicPr>
            <a:picLocks noChangeAspect="1"/>
          </p:cNvPicPr>
          <p:nvPr/>
        </p:nvPicPr>
        <p:blipFill>
          <a:blip r:embed="rId3"/>
          <a:srcRect l="30810" r="31169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2889779"/>
            <a:ext cx="84582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03 · PLANEJAMENTO NA PRÁTICA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54862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102334"/>
            <a:ext cx="8458200" cy="1149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Traduzir situações complexas para decisões simples e compreensíveis.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489784"/>
            <a:ext cx="845820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Temas: como avaliar uma proteção, perguntas que precisam ser feitas, erros de planejamento, cenários e decisões. O papel deste eixo é demonstrar conhecimento consultivo.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752618"/>
            <a:ext cx="1426464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04 · PROTEÇÃO EM VIDA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61770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65173"/>
            <a:ext cx="1225296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Romper a associação de seguro apenas com morte. O próprio Lucas destaca que o seguro de vida também é proteção em vida, e que essa dimensão ainda é pouco compreendida.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881756"/>
            <a:ext cx="12252960" cy="1149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Temas: acidentes, invalidez, doença, perda de capacidade de trabalho, manutenção de renda e dignidade financeira. O papel deste eixo é educar e mudar percepção.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8_lucas_aperto_de_maos_cliente.png"/>
          <p:cNvPicPr>
            <a:picLocks noChangeAspect="1"/>
          </p:cNvPicPr>
          <p:nvPr/>
        </p:nvPicPr>
        <p:blipFill>
          <a:blip r:embed="rId3"/>
          <a:srcRect l="38526" r="23454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2889779"/>
            <a:ext cx="9601200" cy="8244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i="0" b="0">
                <a:solidFill>
                  <a:srgbClr val="1C1C1A"/>
                </a:solidFill>
                <a:latin typeface="Outfit 1 Light"/>
              </a:rPr>
              <a:t>05 · PROVA E AUTORIDADE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3754862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4102334"/>
            <a:ext cx="9601200" cy="11497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Mostrar aquilo que já foi construído sem transformar a comunicação em autopromoção.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5489784"/>
            <a:ext cx="960120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Temas: reconhecimentos, eventos, estudos, bastidores, aprendizados, casos possíveis de serem compartilhados e depoimentos. O papel deste eixo é provar, não proclamar.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DISTRIBUIÇÃO DO CONTEÚDO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6053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4701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396996"/>
            <a:ext cx="9144000" cy="63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Educação e planejamento: proteção, riscos, escolhas e tomada de decisão.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0323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340977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267825"/>
            <a:ext cx="9144000" cy="63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Sucessão e continuidade: família, patrimônio e empresa.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97406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21180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138654"/>
            <a:ext cx="9144000" cy="63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Proteção em vida: acidente, doença, invalidez e renda.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5844891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082635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009483"/>
            <a:ext cx="9144000" cy="63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Autoridade: reconhecimentos, eventos e conhecimento adquirido.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6715719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6953463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880311"/>
            <a:ext cx="9144000" cy="10795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Bastidores e relacionamento: rotina, atendimento, estudos e visão pessoal sobre o trabalho.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FORMATOS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26861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616086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72118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Reels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62795"/>
            <a:ext cx="3188970" cy="2406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principal formato. Vídeos curtos e diretos, com uma pergunta ou uma situação real como ponto de partida.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03570" y="3616086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03570" y="3872118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Carrossel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3570" y="4562795"/>
            <a:ext cx="3188970" cy="2406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Para organizar raciocínio: sucessão, planejamento, erros, checklists, comparações e passo a passo.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5460" y="3616086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5460" y="3872118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Card único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5460" y="4562795"/>
            <a:ext cx="318897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Para uma ideia forte, sozinha na página.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087350" y="3616086"/>
            <a:ext cx="318897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87350" y="3872118"/>
            <a:ext cx="318897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Stories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87350" y="4562795"/>
            <a:ext cx="3188970" cy="28693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parte espontânea: bastidores, agenda, eventos, perguntas de clientes, estudos e reuniões — sem virar reality show.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16332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565657"/>
            <a:ext cx="14081760" cy="2615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900" i="0" b="0">
                <a:solidFill>
                  <a:srgbClr val="1C1C1A"/>
                </a:solidFill>
                <a:latin typeface="Outfit 1 Light"/>
              </a:rPr>
              <a:t>Se você ficasse seis meses sem trabalhar,</a:t>
            </a:r>
          </a:p>
          <a:p>
            <a:pPr algn="l">
              <a:lnSpc>
                <a:spcPct val="126000"/>
              </a:lnSpc>
            </a:pPr>
            <a:r>
              <a:rPr sz="5900" i="0" b="0">
                <a:solidFill>
                  <a:srgbClr val="1C1C1A"/>
                </a:solidFill>
                <a:latin typeface="Outfit 1 Light"/>
              </a:rPr>
              <a:t>sua renda continuaria existindo?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066328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ponto de partida de um reel é sempre uma pergunta ou uma situação real — nunca um produto.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553341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CRONOGRAMA DE PUBLICAÇÕES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90235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837707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093739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Segunda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784416"/>
            <a:ext cx="44196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Reel educativo, para despertar.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837707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4093739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Quarta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4784416"/>
            <a:ext cx="44196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Carrossel ou card, para aprofundar.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3837707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4093739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Sexta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4784416"/>
            <a:ext cx="44196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Reel, caso ou autoridade, para construir confiança.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213318"/>
            <a:ext cx="122529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Três conteúdos por semana — suficiente para construir presença sem criar uma rotina impossível. Stories em três a cinco dias por semana, aproveitando situações reais da rotina.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86669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CICLO MENSAL · SEMANA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2356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427847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4171035"/>
            <a:ext cx="11448288" cy="1098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Reel: você sabe quanto tempo sua família manteria o padrão de vida sem a sua renda?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5614233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5506791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Carrossel: cinco riscos financeiros que uma família normalmente não calcula.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642841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6320973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Reel: seguro de vida não é só sobre morte.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86669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CICLO MENSAL · SEMANA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2356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427847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4171035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Reel: sua empresa continuaria funcionando sem você?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509265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4985217"/>
            <a:ext cx="11448288" cy="10980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Carrossel: o que acontece com uma empresa quando uma pessoa-chave sai da operação?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642841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6320973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Autoridade: bastidor, reunião, estudo ou experiência profissional.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47456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CICLO MENSAL · SEMANA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8435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453926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443182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Reel: ter patrimônio não significa ter liquidez.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5353446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5246004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Carrossel: holding resolve toda a sucessão?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6167628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6060186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Reel: o que precisa ser pensado antes de um inventário.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47456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CICLO MENSAL · SEMANA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8435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453926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443182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Reel: o imprevisto pode ser um problema — ou não.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5353446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5246004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Carrossel: o que analisar antes de contratar uma proteção.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6167628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6060186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Prova: caso, aprendizado, reconhecimento ou depoimento.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0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lucas_consulta_individual.png"/>
          <p:cNvPicPr>
            <a:picLocks noChangeAspect="1"/>
          </p:cNvPicPr>
          <p:nvPr/>
        </p:nvPicPr>
        <p:blipFill>
          <a:blip r:embed="rId3"/>
          <a:srcRect l="44403" r="15575"/>
          <a:stretch>
            <a:fillRect/>
          </a:stretch>
        </p:blipFill>
        <p:spPr>
          <a:xfrm>
            <a:off x="10972800" y="0"/>
            <a:ext cx="731520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2589307"/>
            <a:ext cx="80924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REGRA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526201"/>
            <a:ext cx="80924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73673"/>
            <a:ext cx="809244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O conteúdo de Lucas não deve começar pelo produto. Deve começar por uma situação, uma pergunta ou uma consequência que faça o cliente pensar.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790256"/>
            <a:ext cx="8092440" cy="1678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É a mesma ordem do seu processo: primeiro entender a realidade e despertar a necessidade; depois estruturar a solução.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64992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EM VEZ DE, PREFIRA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30188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78231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00176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EM VEZ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294376"/>
            <a:ext cx="493776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1" b="0">
                <a:solidFill>
                  <a:srgbClr val="A5A49F"/>
                </a:solidFill>
                <a:latin typeface="Outfit 1 Light"/>
              </a:rPr>
              <a:t>“Conheça este seguro.”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5001768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PREFIRA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5294376"/>
            <a:ext cx="832104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“Se você não pudesse trabalhar amanhã, por quanto tempo sua estrutura financeira continuaria funcionando?”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DIREÇÃO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6053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4701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DESPERTAR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396996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Para aquilo que ainda não foi pensado.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43255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67029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EXPLICAR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97146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 que parece complexo.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63270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8704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PROVAR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797296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autoridade construída.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83285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07059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PERMANECER PRESENTE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997446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Para que, quando surgir a necessidade, Lucas seja lembrado.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