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PLANO DE</a:t>
            </a:r>
          </a:p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CONTEÚDO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Lucas Martini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Proteção &amp; Sucessão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729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4264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78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SUMÁRIO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Objetivo do conteúdo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3546566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3802598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692870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Linha editorial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39565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651683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4541955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Distribuição do conteúdo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524473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500769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391041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Formatos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09382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349855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6240127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Cronograma de publicações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94290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198941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7089213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Ciclo mensal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779199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8048026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7938298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Regra central e direção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11680" y="86410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4241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4_retrato_lucas_corredor.png"/>
          <p:cNvPicPr>
            <a:picLocks noChangeAspect="1"/>
          </p:cNvPicPr>
          <p:nvPr/>
        </p:nvPicPr>
        <p:blipFill>
          <a:blip r:embed="rId3"/>
          <a:srcRect l="26814" r="30163"/>
          <a:stretch>
            <a:fillRect/>
          </a:stretch>
        </p:blipFill>
        <p:spPr>
          <a:xfrm>
            <a:off x="10424160" y="0"/>
            <a:ext cx="78638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3077083"/>
            <a:ext cx="75438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OBJETIVO DO CONTEÚDO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990721"/>
            <a:ext cx="75438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38193"/>
            <a:ext cx="75438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Transformar a experiência e o conhecimento que já existem em autoridade percebida.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556377"/>
            <a:ext cx="75438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lógica não é produzir conteúdo para volume de leads, mas fortalecer uma atuação que hoje já acontece fortemente por recomendação.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331720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O CONTEÚDO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PRECISA FAZER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245358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5338" y="3766566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8374" y="3592830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Educar antes de vender.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5338" y="4592574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8374" y="4418838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Despertar necessidades que muitas vezes não são percebidas.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5338" y="5418582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38374" y="5244846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Reforçar confiança.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5338" y="6244590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38374" y="6070854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Manter-se presente na memória de clientes e indicações.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5338" y="7070598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38374" y="6896862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Gerar conversas qualificadas.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LINHA EDITORIAL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3728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067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01 · DESPERTAR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3357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Proteção antes do imprevisto.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9252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4668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02 · AMPLIAR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39369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Sucessão e continuidade.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15264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42696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03 · DEMONSTRAR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35381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Planejamento na prática.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11276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638708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04 · EDUCAR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31393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Proteção em vida.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707288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73472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05 · PROVAR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727405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Prova e autoridade.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3_lucas_ouvindo_casal.png"/>
          <p:cNvPicPr>
            <a:picLocks noChangeAspect="1"/>
          </p:cNvPicPr>
          <p:nvPr/>
        </p:nvPicPr>
        <p:blipFill>
          <a:blip r:embed="rId3"/>
          <a:srcRect l="43759" r="18221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3334131"/>
            <a:ext cx="960120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01 · </a:t>
            </a:r>
            <a:r>
              <a:rPr sz="3800" i="0" b="0">
                <a:solidFill>
                  <a:srgbClr val="1C1C1A"/>
                </a:solidFill>
                <a:latin typeface="Outfit 1 Bold"/>
              </a:rPr>
              <a:t>PROTEÇÃO</a:t>
            </a:r>
            <a:r>
              <a:rPr sz="3800" i="0" b="0">
                <a:solidFill>
                  <a:srgbClr val="1C1C1A"/>
                </a:solidFill>
                <a:latin typeface="Outfit 1 Light"/>
              </a:rPr>
              <a:t> ANTES DO IMPREVISTO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4178173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525645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Conteúdos que façam a pessoa perceber vulnerabilidades que normalmente só seriam consideradas quando algo acontece.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743829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Temas: renda, incapacidade, doenças, acidentes, dependência financeira e proteção familiar. O papel deste eixo é despertar.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96971"/>
            <a:ext cx="1426464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02 · </a:t>
            </a:r>
            <a:r>
              <a:rPr sz="3800" i="0" b="0">
                <a:solidFill>
                  <a:srgbClr val="1C1C1A"/>
                </a:solidFill>
                <a:latin typeface="Outfit 1 Bold"/>
              </a:rPr>
              <a:t>SUCESSÃO</a:t>
            </a:r>
            <a:r>
              <a:rPr sz="3800" i="0" b="0">
                <a:solidFill>
                  <a:srgbClr val="1C1C1A"/>
                </a:solidFill>
                <a:latin typeface="Outfit 1 Light"/>
              </a:rPr>
              <a:t> E CONTINUIDADE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4101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388485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Mostrar que patrimônio e empresa precisam de estratégia para continuar.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162169"/>
            <a:ext cx="122529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Temas: sucessão familiar, sucessão empresarial, liquidez, inventário, cotas, pessoa-chave e continuidade da empresa. O papel deste eixo é ampliar a percepção sobre o trabalho de Lucas.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lucas_analisando_documentos.png"/>
          <p:cNvPicPr>
            <a:picLocks noChangeAspect="1"/>
          </p:cNvPicPr>
          <p:nvPr/>
        </p:nvPicPr>
        <p:blipFill>
          <a:blip r:embed="rId3"/>
          <a:srcRect l="30810" r="31169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889631"/>
            <a:ext cx="845820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03 · </a:t>
            </a:r>
            <a:r>
              <a:rPr sz="3800" i="0" b="0">
                <a:solidFill>
                  <a:srgbClr val="1C1C1A"/>
                </a:solidFill>
                <a:latin typeface="Outfit 1 Bold"/>
              </a:rPr>
              <a:t>PLANEJAMENTO</a:t>
            </a:r>
            <a:r>
              <a:rPr sz="3800" i="0" b="0">
                <a:solidFill>
                  <a:srgbClr val="1C1C1A"/>
                </a:solidFill>
                <a:latin typeface="Outfit 1 Light"/>
              </a:rPr>
              <a:t> NA PRÁTICA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733673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81145"/>
            <a:ext cx="8458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Traduzir situações complexas para decisões simples e compreensíveis.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299329"/>
            <a:ext cx="84582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Temas: como avaliar uma proteção, perguntas que precisam ser feitas, erros de planejamento, cenários e decisões. O papel deste eixo é demonstrar conhecimento consultivo.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74721"/>
            <a:ext cx="1426464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04 · </a:t>
            </a:r>
            <a:r>
              <a:rPr sz="3800" i="0" b="0">
                <a:solidFill>
                  <a:srgbClr val="1C1C1A"/>
                </a:solidFill>
                <a:latin typeface="Outfit 1 Bold"/>
              </a:rPr>
              <a:t>PROTEÇÃO EM VIDA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81876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166235"/>
            <a:ext cx="122529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Romper a associação de seguro apenas com morte. O próprio Lucas destaca que o seguro de vida também é proteção em vida, e que essa dimensão ainda é pouco compreendida.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828919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Temas: acidentes, invalidez, doença, perda de capacidade de trabalho, manutenção de renda e dignidade financeira. O papel deste eixo é educar e mudar percepção.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8_lucas_aperto_de_maos_cliente.png"/>
          <p:cNvPicPr>
            <a:picLocks noChangeAspect="1"/>
          </p:cNvPicPr>
          <p:nvPr/>
        </p:nvPicPr>
        <p:blipFill>
          <a:blip r:embed="rId3"/>
          <a:srcRect l="38526" r="23454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3111881"/>
            <a:ext cx="960120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05 · </a:t>
            </a:r>
            <a:r>
              <a:rPr sz="3800" i="0" b="0">
                <a:solidFill>
                  <a:srgbClr val="1C1C1A"/>
                </a:solidFill>
                <a:latin typeface="Outfit 1 Bold"/>
              </a:rPr>
              <a:t>PROVA</a:t>
            </a:r>
            <a:r>
              <a:rPr sz="3800" i="0" b="0">
                <a:solidFill>
                  <a:srgbClr val="1C1C1A"/>
                </a:solidFill>
                <a:latin typeface="Outfit 1 Light"/>
              </a:rPr>
              <a:t> E AUTORIDADE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3955923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303395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Mostrar aquilo que já foi construído sem transformar a comunicação em autopromoção.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521579"/>
            <a:ext cx="96012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Temas: reconhecimentos, eventos, estudos, bastidores, aprendizados, casos possíveis de serem compartilhados e depoimentos. O papel deste eixo é provar, não proclamar.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DISTRIBUIÇÃO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DO CONTEÚDO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3728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067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3357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Educação e planejamento: proteção, riscos, escolhas e tomada de decisão.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9252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4668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25%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39369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Sucessão e continuidade: família, patrimônio e empresa.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15264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42696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15%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35381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Proteção em vida: acidente, doença, invalidez e renda.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11276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638708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10%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31393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Autoridade: reconhecimentos, eventos e conhecimento adquirido.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707288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73472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727405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Bastidores e relacionamento: rotina, atendimento, estudos e visão pessoal sobre o trabalho.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37655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FORMATOS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29018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637661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911981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Reels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49089"/>
            <a:ext cx="3188970" cy="275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principal formato. Vídeos curtos e diretos, com uma pergunta ou uma situação real como ponto de partida.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03570" y="3637661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3570" y="3911981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Carrossel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03570" y="4649089"/>
            <a:ext cx="3188970" cy="275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Para organizar raciocínio: sucessão, planejamento, erros, checklists, comparações e passo a passo.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5460" y="3637661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5460" y="3911981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Card único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5460" y="4649089"/>
            <a:ext cx="318897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Para uma ideia forte, sozinha na página.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087350" y="3637661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87350" y="3911981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Stories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87350" y="4649089"/>
            <a:ext cx="3188970" cy="275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parte espontânea: bastidores, agenda, eventos, perguntas de clientes, estudos e reuniões — sem virar reality show.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421253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823589"/>
            <a:ext cx="14081760" cy="159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Se você ficasse seis meses sem trabalhar,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sua renda continuaria existindo?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382387"/>
            <a:ext cx="11887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ponto de partida de um reel é sempre uma pergunta ou uma situação real — nunca um produto.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6961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CRONOGRAMA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DE PUBLICAÇÕES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8325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530727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05047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Segunda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42155"/>
            <a:ext cx="44196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Reel educativo, para despertar.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3530727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3805047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Quarta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4542155"/>
            <a:ext cx="44196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Carrossel ou card, para aprofundar.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3530727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3805047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Sexta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4542155"/>
            <a:ext cx="44196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Reel, caso ou autoridade, para construir confiança.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6784" y="6089523"/>
            <a:ext cx="10314432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Três conteúdos por semana — suficiente para construir presença sem criar uma rotina impossível. Stories em três a cinco dias por semana, aproveitando situações reais da rotina.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607945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CICLO MENSAL · SEMANA 1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52158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5338" y="4042791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8374" y="3869055"/>
            <a:ext cx="11360506" cy="1121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Reel: você sabe quanto tempo sua família manteria o padrão de vida sem a sua renda?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5338" y="5402199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8374" y="5228463"/>
            <a:ext cx="11360506" cy="1121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Carrossel: cinco riscos financeiros que uma família normalmente não calcula.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5338" y="6761607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38374" y="6587871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Reel: seguro de vida não é só sobre morte.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74645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CICLO MENSAL · SEMANA 2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8828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5338" y="4309491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8374" y="4135755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Reel: sua empresa continuaria funcionando sem você?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5338" y="5135499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8374" y="4961763"/>
            <a:ext cx="11360506" cy="1121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Carrossel: o que acontece com uma empresa quando uma pessoa-chave sai da operação?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5338" y="6494907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38374" y="6321171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Autoridade: bastidor, reunião, estudo ou experiência profissional.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41345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CICLO MENSAL · SEMANA 3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5498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5338" y="4576191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8374" y="4402455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Reel: ter patrimônio não significa ter liquidez.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5338" y="5402199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8374" y="5228463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Carrossel: holding resolve toda a sucessão?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5338" y="6228207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38374" y="6054471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Reel: o que precisa ser pensado antes de um inventário.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41345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CICLO MENSAL · SEMANA 4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5498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5338" y="4576191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8374" y="4402455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Reel: o imprevisto pode ser um problema — ou não.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5338" y="5402199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8374" y="5228463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Carrossel: o que analisar antes de contratar uma proteção.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5338" y="6228207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38374" y="6054471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Prova: caso, aprendizado, reconhecimento ou depoimento.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97280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lucas_consulta_individual.png"/>
          <p:cNvPicPr>
            <a:picLocks noChangeAspect="1"/>
          </p:cNvPicPr>
          <p:nvPr/>
        </p:nvPicPr>
        <p:blipFill>
          <a:blip r:embed="rId3"/>
          <a:srcRect l="44403" r="15575"/>
          <a:stretch>
            <a:fillRect/>
          </a:stretch>
        </p:blipFill>
        <p:spPr>
          <a:xfrm>
            <a:off x="10972800" y="0"/>
            <a:ext cx="731520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854833"/>
            <a:ext cx="80924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REGRA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768471"/>
            <a:ext cx="80924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115943"/>
            <a:ext cx="809244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conteúdo de Lucas não deve começar pelo produto. Deve começar por uma situação, uma pergunta ou uma consequência que faça o cliente pensar.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778627"/>
            <a:ext cx="809244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É a mesma ordem do seu processo: primeiro entender a realidade e despertar a necessidade; depois estruturar a solução.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364992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EM VEZ DE, PREFIRA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27863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78231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00176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EM VEZ 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294376"/>
            <a:ext cx="4937760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1" b="0">
                <a:solidFill>
                  <a:srgbClr val="A5A49F"/>
                </a:solidFill>
                <a:latin typeface="Outfit 1 Light"/>
              </a:rPr>
              <a:t>“Conheça este seguro.”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0" y="5001768"/>
            <a:ext cx="8321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220">
                <a:solidFill>
                  <a:srgbClr val="CC754E"/>
                </a:solidFill>
                <a:latin typeface="Outfit 1 Semi-Bold"/>
              </a:rPr>
              <a:t>PREFIRA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5294376"/>
            <a:ext cx="8321040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“Se você não pudesse trabalhar amanhã, por quanto tempo sua estrutura financeira continuaria funcionando?”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DIREÇÃO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FINAL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3728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067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DESPERTAR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3357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aquilo que ainda não foi pensado.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43255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70687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EXPLICAR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63372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que parece complexo.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6327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9070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PROVAR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83387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autoridade construída.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83285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10717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PERMANECER PRESENTE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703402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que, quando surgir a necessidade, Lucas seja lembrado.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2651760"/>
            <a:ext cx="13716000" cy="162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0640"/>
              </a:lnSpc>
            </a:pPr>
            <a:r>
              <a:rPr sz="950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5257800"/>
            <a:ext cx="4421124" cy="105071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3445" y="5312664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