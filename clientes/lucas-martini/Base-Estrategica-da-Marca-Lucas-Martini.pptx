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BASE ESTRATÉGICA</a:t>
            </a:r>
          </a:p>
          <a:p>
            <a:pPr algn="l">
              <a:lnSpc>
                <a:spcPts val="8549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DA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729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78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546566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692870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Quem é Lucas Martini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395651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541955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Causa, liderança e tribo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244737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391041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Princípio central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093823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240127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Público-alvo e persona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942909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7089213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7791994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7938298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Pilares da marca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55480" y="26974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2843784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DNA da marca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55480" y="3546566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55480" y="3802598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3692870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Voz da marca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5480" y="4395651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55480" y="4651683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4541955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Tom de voz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55480" y="5244737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55480" y="5500769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5391041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5480" y="6093823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5480" y="6349855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240127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55480" y="6942909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55480" y="7198941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7089213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Arquitetura da marca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55480" y="7791994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5480" y="8048026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70"/>
              </a:lnSpc>
            </a:pPr>
            <a:r>
              <a:rPr sz="1550" i="0" b="0" spc="240">
                <a:solidFill>
                  <a:srgbClr val="CC754E"/>
                </a:solidFill>
                <a:latin typeface="Outfit 1 Semi-Bold"/>
              </a:rP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7938298"/>
            <a:ext cx="51206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11680" y="86410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55480" y="8641080"/>
            <a:ext cx="67208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lucas_janela_entardecer.png"/>
          <p:cNvPicPr>
            <a:picLocks noChangeAspect="1"/>
          </p:cNvPicPr>
          <p:nvPr/>
        </p:nvPicPr>
        <p:blipFill>
          <a:blip r:embed="rId3"/>
          <a:srcRect l="18819" r="431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3077083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90721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38193"/>
            <a:ext cx="8458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Construir segurança para preservar liberdade de escolha.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111877"/>
            <a:ext cx="8458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marca parte da ideia de que nem tudo pode ser previsto, mas é possível se preparar para que um imprevisto não elimine alternativas nem comprometa tudo o que foi construído.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1_retrato_corporativo_prudential.png"/>
          <p:cNvPicPr>
            <a:picLocks noChangeAspect="1"/>
          </p:cNvPicPr>
          <p:nvPr/>
        </p:nvPicPr>
        <p:blipFill>
          <a:blip r:embed="rId3"/>
          <a:srcRect l="5565" r="10021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2854833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QUEM É </a:t>
            </a:r>
            <a:r>
              <a:rPr sz="4200" i="0" b="0">
                <a:solidFill>
                  <a:srgbClr val="1C1C1A"/>
                </a:solidFill>
                <a:latin typeface="Outfit 1 Bold"/>
              </a:rPr>
              <a:t>LUCAS MARTINI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3768471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115943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Especialista em Proteção &amp; Sucessão, com mais de dez anos de atuação.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334127"/>
            <a:ext cx="9601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Sua experiência no mercado financeiro e a vivência com famílias e empresas deram origem a uma atuação consultiva, baseada em planejamento, personalização, relacionamento e acompanhamento.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59880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CAUSA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, LIDERANÇA E TRIBO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51243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859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34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Causa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87133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Ampliar a cultura de proteção e preparação antes do imprevisto.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859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134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Liderança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871339"/>
            <a:ext cx="4419600" cy="2313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Ajudar pessoas a enxergar riscos, impactos e possibilidades antes que a urgência determine as decisões.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85991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13423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Tribo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871339"/>
            <a:ext cx="44196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Pessoas que carregam responsabilidade sobre renda, família, patrimônio ou empresa.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421253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23589"/>
            <a:ext cx="14081760" cy="159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O que levou anos para ser construído</a:t>
            </a:r>
          </a:p>
          <a:p>
            <a:pPr algn="l">
              <a:lnSpc>
                <a:spcPts val="5180"/>
              </a:lnSpc>
            </a:pPr>
            <a:r>
              <a:rPr sz="3700" i="0" b="0">
                <a:solidFill>
                  <a:srgbClr val="323330"/>
                </a:solidFill>
                <a:latin typeface="Outfit 1 Light"/>
              </a:rPr>
              <a:t>não deveria ficar entregue ao acaso.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382387"/>
            <a:ext cx="11887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Planejamento é uma forma de proteger conquistas e preservar possibilidades diante do que não pode ser controlado.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854833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PÚBLICO-ALVO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E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768471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115943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Profissionais, empresários, sócios e famílias que possuem responsabilidades financeiras, patrimoniais ou sucessórias e querem proteger o que construíram.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778627"/>
            <a:ext cx="84582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persona central é alguém que entende o valor das suas conquistas e quer se preparar para que um imprevisto não comprometa sua família, seu patrimônio ou sua empresa.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Sábio ·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68808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Traduz complexidade, orienta decisões e transforma informação em planejamento.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530727"/>
            <a:ext cx="688086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3805047"/>
            <a:ext cx="68808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Cuidador · secundário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542155"/>
            <a:ext cx="688086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Protege, acompanha e assume responsabilidade sobre decisões que afetam pessoas, famílias e empresas.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33942" y="3841623"/>
            <a:ext cx="19202" cy="1979168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653402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Síntese estratégica a partir da atuação consultiva, do relacionamento e da responsabilidade descritos pelo próprio Lucas.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PILARES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37282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23240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0672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PROTEÇÃO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3357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Preservar o que foi construído.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19252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46684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PLANEJAMENTO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9369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Antecipar riscos e criar alternativas.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15264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42696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35381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Construir soluções a partir de cada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11276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38708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1C1C1A"/>
                </a:solidFill>
                <a:latin typeface="Outfit 1 Semi-Bold"/>
              </a:rPr>
              <a:t>CONFIANÇA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31393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Sustentar relações de longo prazo.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072884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347204"/>
            <a:ext cx="475488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i="0" b="0" spc="282">
                <a:solidFill>
                  <a:srgbClr val="CC754E"/>
                </a:solidFill>
                <a:latin typeface="Outfit 1 Semi-Bold"/>
              </a:rPr>
              <a:t>CONTINUIDADE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274052"/>
            <a:ext cx="9144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Permitir que família, patrimônio e empresa possam seguir.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3299333"/>
            <a:ext cx="9601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DNA DA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4212971"/>
            <a:ext cx="9601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560443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Proteção. Confiança. Responsabilidade. Personalização. Continuidade.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778627"/>
            <a:ext cx="960120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Esses são os atributos que devem permanecer presentes em qualquer expressão da marca, do atendimento à comunicação.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38442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VOZ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9806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645533"/>
            <a:ext cx="1225296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A voz de Lucas deve transmitir conhecimento sem distanciamento e segurança sem arrogância.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863717"/>
            <a:ext cx="1225296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Clara, segura, humana, elegante e consultiva.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6555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TOM DE VOZ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7918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Técnico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538089"/>
            <a:ext cx="245059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ser complicado.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65192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5192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Direto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192" y="5538089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ser frio.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8704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18704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Seguro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704" y="5538089"/>
            <a:ext cx="245059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ser arrogante.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72216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72216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Humano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72216" y="5538089"/>
            <a:ext cx="245059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dramatização.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25728" y="4526661"/>
            <a:ext cx="2450592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25728" y="4800981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Sofisticado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25728" y="5538089"/>
            <a:ext cx="2450592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sem ostentação.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lucas_caminhando_janela.png"/>
          <p:cNvPicPr>
            <a:picLocks noChangeAspect="1"/>
          </p:cNvPicPr>
          <p:nvPr/>
        </p:nvPicPr>
        <p:blipFill>
          <a:blip r:embed="rId3"/>
          <a:srcRect l="42413" r="19566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3077083"/>
            <a:ext cx="845820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POSICIONAMENTO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90721"/>
            <a:ext cx="845820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38193"/>
            <a:ext cx="84582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Lucas Martini é especialista em Proteção &amp; Sucessão para pessoas, famílias e empresas que querem preservar o que construíram e manter possibilidades diante de imprevistos e transições.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445377"/>
            <a:ext cx="84582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Proteção &amp; Sucessão para o que precisa continuar.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21051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GOLDEN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34689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08216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5648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Por quê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09358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Preservar possibilidades quando a vida foge do previsto.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408216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35648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Como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5093589"/>
            <a:ext cx="4419600" cy="1869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Com planejamento personalizado, conhecimento, relacionamento e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4082161"/>
            <a:ext cx="441960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356481"/>
            <a:ext cx="441960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quê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5093589"/>
            <a:ext cx="4419600" cy="142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Estratégias de proteção pessoal, familiar, empresarial e sucessória.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69617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Bold"/>
              </a:rPr>
              <a:t>ARQUITETURA</a:t>
            </a:r>
            <a:r>
              <a:rPr sz="4200" i="0" b="0">
                <a:solidFill>
                  <a:srgbClr val="1C1C1A"/>
                </a:solidFill>
                <a:latin typeface="Outfit 1 Light"/>
              </a:rPr>
              <a:t> 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83255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0504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Marca pessoal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42155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Lucas Martini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70357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3570" y="380504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Atuação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03570" y="4542155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546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5460" y="3805047"/>
            <a:ext cx="318897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Assinatura empresarial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5460" y="4986655"/>
            <a:ext cx="3188970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Martini | Proteção &amp; Sucessão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087350" y="3530727"/>
            <a:ext cx="3188970" cy="56693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87350" y="3805047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Monograma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87350" y="4542155"/>
            <a:ext cx="3188970" cy="535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4" y="6534023"/>
            <a:ext cx="10314432" cy="98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3500"/>
              </a:lnSpc>
            </a:pPr>
            <a:r>
              <a:rPr sz="2500" i="0" b="0">
                <a:solidFill>
                  <a:srgbClr val="6B6B66"/>
                </a:solidFill>
                <a:latin typeface="Outfit 1 Light"/>
              </a:rPr>
              <a:t>O uso de “Martini” ganha força porque é a forma pela qual Lucas já é reconhecido em seu convívio pessoal e profissional.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84183"/>
            <a:ext cx="14264640" cy="10050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54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MANIFESTO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397821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6733"/>
            <a:ext cx="6629400" cy="1472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Há coisas que levam anos para construir. Uma carreira. Uma família. Uma empresa. Um patrimônio. Uma história.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583618"/>
            <a:ext cx="6629400" cy="1012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Nem tudo pode ser previsto. Mas muito pode ser preparado.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3836733"/>
            <a:ext cx="6629400" cy="10121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Planejar é proteger o que foi construído enquanto ainda existe tempo para escolher.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5123243"/>
            <a:ext cx="6629400" cy="1472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5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Porque proteção não existe apenas para preservar patrimônio. Existe para preservar possibilidades.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705536"/>
            <a:ext cx="1188720" cy="27432"/>
          </a:xfrm>
          <a:prstGeom prst="rect">
            <a:avLst/>
          </a:prstGeom>
          <a:solidFill>
            <a:srgbClr val="CC7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6979856"/>
            <a:ext cx="1426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9"/>
              </a:lnSpc>
            </a:pPr>
            <a:r>
              <a:rPr sz="1700" i="0" b="0" spc="220">
                <a:solidFill>
                  <a:srgbClr val="A5A49F"/>
                </a:solidFill>
                <a:latin typeface="Outfit 2"/>
              </a:rPr>
              <a:t>LUCAS MARTINI  |  PROTEÇÃO &amp; SUCESSÃO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2651760"/>
            <a:ext cx="13716000" cy="162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0640"/>
              </a:lnSpc>
            </a:pPr>
            <a:r>
              <a:rPr sz="950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5257800"/>
            <a:ext cx="4421124" cy="105071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3445" y="5312664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