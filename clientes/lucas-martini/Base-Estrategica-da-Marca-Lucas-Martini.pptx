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  <p:sldId id="287" r:id="rId50"/>
    <p:sldId id="288" r:id="rId51"/>
    <p:sldId id="289" r:id="rId52"/>
    <p:sldId id="290" r:id="rId53"/>
    <p:sldId id="291" r:id="rId54"/>
    <p:sldId id="292" r:id="rId55"/>
    <p:sldId id="293" r:id="rId56"/>
    <p:sldId id="294" r:id="rId57"/>
    <p:sldId id="295" r:id="rId58"/>
    <p:sldId id="296" r:id="rId59"/>
    <p:sldId id="297" r:id="rId60"/>
    <p:sldId id="298" r:id="rId61"/>
    <p:sldId id="299" r:id="rId62"/>
    <p:sldId id="300" r:id="rId63"/>
    <p:sldId id="301" r:id="rId64"/>
    <p:sldId id="302" r:id="rId65"/>
    <p:sldId id="303" r:id="rId66"/>
    <p:sldId id="304" r:id="rId67"/>
    <p:sldId id="305" r:id="rId68"/>
    <p:sldId id="306" r:id="rId69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Relationship Id="rId59" Type="http://schemas.openxmlformats.org/officeDocument/2006/relationships/slide" Target="slides/slide41.xml"/><Relationship Id="rId60" Type="http://schemas.openxmlformats.org/officeDocument/2006/relationships/slide" Target="slides/slide42.xml"/><Relationship Id="rId61" Type="http://schemas.openxmlformats.org/officeDocument/2006/relationships/slide" Target="slides/slide43.xml"/><Relationship Id="rId62" Type="http://schemas.openxmlformats.org/officeDocument/2006/relationships/slide" Target="slides/slide44.xml"/><Relationship Id="rId63" Type="http://schemas.openxmlformats.org/officeDocument/2006/relationships/slide" Target="slides/slide45.xml"/><Relationship Id="rId64" Type="http://schemas.openxmlformats.org/officeDocument/2006/relationships/slide" Target="slides/slide46.xml"/><Relationship Id="rId65" Type="http://schemas.openxmlformats.org/officeDocument/2006/relationships/slide" Target="slides/slide47.xml"/><Relationship Id="rId66" Type="http://schemas.openxmlformats.org/officeDocument/2006/relationships/slide" Target="slides/slide48.xml"/><Relationship Id="rId67" Type="http://schemas.openxmlformats.org/officeDocument/2006/relationships/slide" Target="slides/slide49.xml"/><Relationship Id="rId68" Type="http://schemas.openxmlformats.org/officeDocument/2006/relationships/slide" Target="slides/slide50.xml"/><Relationship Id="rId69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BASE ESTRATÉGICA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Leitura do momento da marca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3578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6139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5041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Definição central da marca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0182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274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1645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6786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49347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8249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5339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55951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54853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Proposta de valor e posicionamento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999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255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61457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Arquitetura de marca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66598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69159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68061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Territórios, pilares e público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73202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0" y="7576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74665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Personalidade e tom de voz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79806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82367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8126984"/>
            <a:ext cx="1266444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Manifesto e síntese final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7939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02803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1C1C1A"/>
                </a:solidFill>
                <a:latin typeface="Outfit 1 Light"/>
              </a:rPr>
              <a:t>LEITURA DO MOMENTO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40979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68411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que a marca já tem, e o que ainda não aparece.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retrato_corporativo_prudential.png"/>
          <p:cNvPicPr>
            <a:picLocks noChangeAspect="1"/>
          </p:cNvPicPr>
          <p:nvPr/>
        </p:nvPicPr>
        <p:blipFill>
          <a:blip r:embed="rId3"/>
          <a:srcRect l="5565" r="100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918274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LEITURA DO MOMENTO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39376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AUTORIDADE JÁ EXISTE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4330656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678128"/>
            <a:ext cx="8458200" cy="1167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Dez anos de atuação, uma carteira construída por relacionamento, resultados e reconhecimento.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624845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6559354"/>
            <a:ext cx="845820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Hoje, grande parte do negócio acontece por recomendação.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96509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LEITURA DO MOMENTO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7199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ENTREGA É MAIOR DO QUE A PERCEPÇÃO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30889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65636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Na prática, existe: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07515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57655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Experiência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577492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27632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Personalização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47469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97609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Relacionamento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07515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457655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Pós-venda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577492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27632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Resultados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47469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597609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Reconhecimento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959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306800"/>
            <a:ext cx="1426464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 marca ainda não comunica tudo isso com a mesma força.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49277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A EVOLUÇÃO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343053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745389"/>
            <a:ext cx="14081760" cy="22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983" i="0" b="0">
                <a:solidFill>
                  <a:srgbClr val="1C1C1A"/>
                </a:solidFill>
                <a:latin typeface="Outfit 1 Light"/>
              </a:rPr>
              <a:t>De seguro como produto</a:t>
            </a:r>
          </a:p>
          <a:p>
            <a:pPr algn="l">
              <a:lnSpc>
                <a:spcPct val="126000"/>
              </a:lnSpc>
            </a:pPr>
            <a:r>
              <a:rPr sz="4983" i="0" b="0">
                <a:solidFill>
                  <a:srgbClr val="1C1C1A"/>
                </a:solidFill>
                <a:latin typeface="Outfit 1 Light"/>
              </a:rPr>
              <a:t>para proteção como estratégia.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917380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De corretor de seguros para especialista em Proteção &amp; Sucessão. Sua atuação já envolve realidade financeira, familiar, empresarial e patrimonial.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32520" y="257945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LEITURA DO MOMENTO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3054944"/>
            <a:ext cx="86868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AUTORIDADE DISCRETA, MAS PRESENTE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32520" y="4745852"/>
            <a:ext cx="8686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5093324"/>
            <a:ext cx="8686800" cy="638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discrição faz parte do seu perfil.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732520" y="613452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6445417"/>
            <a:ext cx="86868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desafio é tornar mais visíveis a experiência, os resultados e o conhecimento que já sustentam sua atuação.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7939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02803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1C1C1A"/>
                </a:solidFill>
                <a:latin typeface="Outfit 1 Light"/>
              </a:rPr>
              <a:t>DEFINIÇÃO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40979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68411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que Lucas entrega, abaixo do produto.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97280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lucas_consulta_individual.png"/>
          <p:cNvPicPr>
            <a:picLocks noChangeAspect="1"/>
          </p:cNvPicPr>
          <p:nvPr/>
        </p:nvPicPr>
        <p:blipFill>
          <a:blip r:embed="rId3"/>
          <a:srcRect l="44403" r="15575"/>
          <a:stretch>
            <a:fillRect/>
          </a:stretch>
        </p:blipFill>
        <p:spPr>
          <a:xfrm>
            <a:off x="10972800" y="0"/>
            <a:ext cx="731520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353079"/>
            <a:ext cx="8092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DEFINIÇÃO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28567"/>
            <a:ext cx="80924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SEGURO É PARTE DA SOLUÇÃO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4519475"/>
            <a:ext cx="80924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866947"/>
            <a:ext cx="8092440" cy="638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Seu trabalho começa antes do produto.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590814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6219040"/>
            <a:ext cx="8092440" cy="14862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Você entende a realidade do cliente, identifica vulnerabilidades e estrutura uma proteção adequada a cada situação.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8465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DEFINIÇÃO CENTRAL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06014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VOCÊ ENTREGA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704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44512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Estratégias personalizadas de proteção e sucessão para preservar: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76330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26470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Renda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46307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96447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Família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716284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66424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Patrimônio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76330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26470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Empresas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646307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96447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Possibilidades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DEFINIÇÃO CENTRAL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VALOR EM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82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0789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SEGURO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3474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Um dos instrumentos.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4302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66801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PLANEJAMENTO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59486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O método.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9038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62813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PROTEÇÃO &amp; SUCESSÃO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5498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atuação.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35050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58825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CONTINUIDADE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51510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O território.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731062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754837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LIBERDADE DE ESCOLHA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747522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Poder decidir sem que a urgência decida por você.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2_reuniao_consultiva_casal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4362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DEFINIÇÃO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003128"/>
            <a:ext cx="14081760" cy="1622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796" i="0" b="0">
                <a:solidFill>
                  <a:srgbClr val="FFFFFF"/>
                </a:solidFill>
                <a:latin typeface="Outfit 1 Light"/>
              </a:rPr>
              <a:t>Não é apenas dinheiro.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33045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604778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É a estrutura que permite que uma família, uma empresa, um patrimônio ou um projeto continue existindo mesmo quando algo foge do previsto.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CAUSA E TRIBO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No que a marca acredita, e para quem ela fala.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9934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CAUSA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931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95456"/>
            <a:ext cx="14081760" cy="1373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537" i="0" b="0">
                <a:solidFill>
                  <a:srgbClr val="1C1C1A"/>
                </a:solidFill>
                <a:latin typeface="Outfit 1 Light"/>
              </a:rPr>
              <a:t>Preparar antes de precisar.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67314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Proteção e sucessão não começam quando o problema acontece. Começam enquanto ainda existem tempo e alternativas para decidir.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02621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CAUSA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97810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MUDANÇA QUE A MARCA DEFENDE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1500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8538" y="436991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62475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Do improviso para o planejamento.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518409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5076657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Da reação para a antecipação.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5998281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890839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Do produto para a estratégia.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812463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6705021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Da urgência para a escolha.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91827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LIDERANÇA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3393762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AJUDAR A ENXERGAR ANTES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433065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4678128"/>
            <a:ext cx="9601200" cy="1167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Uma parte importante da sua atuação é fazer o cliente perceber riscos e consequências que ainda não foram considerados.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624845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6559354"/>
            <a:ext cx="960120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Não para gerar medo, mas para permitir preparação.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0182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TRIBO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27731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QUEM DEPENDE DAS SUAS DECISÕES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421421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61682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Pessoas para quem algo importante depende das suas decisões.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83569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481873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Profissionais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39068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6036863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Pilares financeiros de famílias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94567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591853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Empresários e sócios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83569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481873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Pessoas-chave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639068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6036863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Famílias com patrimônio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94567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6591853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Responsáveis por sucessões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Por quê, como e o quê — nesta ordem.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9532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POR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89102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391438"/>
            <a:ext cx="14081760" cy="146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980" i="0" b="0">
                <a:solidFill>
                  <a:srgbClr val="1C1C1A"/>
                </a:solidFill>
                <a:latin typeface="Outfit 1 Light"/>
              </a:rPr>
              <a:t>Preservar possibilidades.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734322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Para que um imprevisto não tenha poder para decidir sozinho o que acontece depois.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095531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COMO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57101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CONHECER ANTES DE RECOMENDAR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50791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8538" y="396282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3855385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Entender a realidade.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477700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4669567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Identificar vulnerabilidades.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5591191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483749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Projetar impactos.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405373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6297931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Estruturar alternativas.</a:t>
            </a:r>
          </a:p>
        </p:txBody>
      </p:sp>
      <p:sp>
        <p:nvSpPr>
          <p:cNvPr id="15" name="Oval 14"/>
          <p:cNvSpPr/>
          <p:nvPr/>
        </p:nvSpPr>
        <p:spPr>
          <a:xfrm>
            <a:off x="2018538" y="7219554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592" y="7112112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Acompanhar ao longo do tempo.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0089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02557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AS QUATRO FRENTES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6247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48809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309943"/>
            <a:ext cx="14264640" cy="607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i="0" b="0">
                <a:solidFill>
                  <a:srgbClr val="1C1C1A"/>
                </a:solidFill>
                <a:latin typeface="Outfit 1 Light"/>
              </a:rPr>
              <a:t>Proteção pessoal e familiar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565309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082103"/>
            <a:ext cx="14264640" cy="607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i="0" b="0">
                <a:solidFill>
                  <a:srgbClr val="1C1C1A"/>
                </a:solidFill>
                <a:latin typeface="Outfit 1 Light"/>
              </a:rPr>
              <a:t>Proteção empresarial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642525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854263"/>
            <a:ext cx="14264640" cy="607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i="0" b="0">
                <a:solidFill>
                  <a:srgbClr val="1C1C1A"/>
                </a:solidFill>
                <a:latin typeface="Outfit 1 Light"/>
              </a:rPr>
              <a:t>Sucessão familiar e patrimonial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719741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6626423"/>
            <a:ext cx="14264640" cy="607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i="0" b="0">
                <a:solidFill>
                  <a:srgbClr val="1C1C1A"/>
                </a:solidFill>
                <a:latin typeface="Outfit 1 Light"/>
              </a:rPr>
              <a:t>Sucessão empresarial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que a marca promete e onde ela se coloca.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459887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PROPOSTA DE VALOR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026815"/>
            <a:ext cx="14081760" cy="1564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500" i="0" b="0">
                <a:solidFill>
                  <a:srgbClr val="FFFFFF"/>
                </a:solidFill>
                <a:latin typeface="Outfit 1 Light"/>
              </a:rPr>
              <a:t>Proteção personalizada.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30677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581091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Estruturar proteção e sucessão de acordo com a realidade de cada cliente, preservando recursos e alternativas diante de imprevistos e transições.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96509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DIFERENCIAL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7199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DIFERENCIAL NÃO ESTÁ APENAS NO PRODUTO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30889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65636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Está em: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07515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57655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577492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27632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Personalização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47469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97609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Conhecimento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07515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457655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Relacionamento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577492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27632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Pós-venda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474696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5976094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Presença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959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306800"/>
            <a:ext cx="1426464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Atendimento consultivo e pós-venda são diferenciais reconhecidos pelo próprio Lucas.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lucas_aperto_de_maos_cliente.png"/>
          <p:cNvPicPr>
            <a:picLocks noChangeAspect="1"/>
          </p:cNvPicPr>
          <p:nvPr/>
        </p:nvPicPr>
        <p:blipFill>
          <a:blip r:embed="rId3"/>
          <a:srcRect l="38526" r="23454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05834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POSICIONAMENTO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28132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RELAÇÃO NÃO TERMINA NA VENDA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497223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319702"/>
            <a:ext cx="8458200" cy="638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O acompanhamento continua depois da contratação.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636089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6671795"/>
            <a:ext cx="845820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Orientação, pós-venda e presença fazem parte da entrega.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3_lucas_janela_entardecer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056195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POSICIONAMENTO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623123"/>
            <a:ext cx="14081760" cy="2320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FFFFFF"/>
                </a:solidFill>
                <a:latin typeface="Outfit 1 Light"/>
              </a:rPr>
              <a:t>Proteção &amp; Sucessão</a:t>
            </a:r>
          </a:p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FFFFFF"/>
                </a:solidFill>
                <a:latin typeface="Outfit 1 Light"/>
              </a:rPr>
              <a:t>para o que precisa continuar.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710463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984783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Lucas Martini atua com pessoas, famílias e empresas que querem preservar o que construíram e manter possibilidades diante de imprevistos e transições.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ARQUITETURA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nome no centro, e as frentes que ele sustenta.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3477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710262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LUCAS MARTINI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64715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94628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É a marca pessoal.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1342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91481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A autoridade.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11319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1458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O conhecimento.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81296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31435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A relação.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751273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701412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A voz.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1_retrato_corporativo_prudential.png"/>
          <p:cNvPicPr>
            <a:picLocks noChangeAspect="1"/>
          </p:cNvPicPr>
          <p:nvPr/>
        </p:nvPicPr>
        <p:blipFill>
          <a:blip r:embed="rId3"/>
          <a:srcRect l="5565" r="100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691897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ARQUITETURA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3167385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MARTINI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4104279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4451751"/>
            <a:ext cx="9601200" cy="1167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Martini já é a forma pela qual Lucas é reconhecido em diferentes ambientes.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602208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6332977"/>
            <a:ext cx="9601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Isso permite que o sobrenome ganhe força também como assinatura empresarial.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ARQUITETURA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82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0789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MARCA PESSOAL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34740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Lucas Martini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67029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90804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ATUAÇÃO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834890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87044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610819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ASSINATURA EMPRESARIAL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6035040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Martini | Proteção &amp; Sucessão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707059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730834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MONOGRAMA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7235190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49947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PROTEÇÃO &amp; SUCESSÃO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43723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946059"/>
            <a:ext cx="14081760" cy="2320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Primeiro proteger,</a:t>
            </a:r>
          </a:p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depois estruturar a sucessão.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6179703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ordem também expressa a lógica da atuação.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lucas_corredor_prudential.png"/>
          <p:cNvPicPr>
            <a:picLocks noChangeAspect="1"/>
          </p:cNvPicPr>
          <p:nvPr/>
        </p:nvPicPr>
        <p:blipFill>
          <a:blip r:embed="rId3"/>
          <a:srcRect l="20165" r="41815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956464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ARQUITETURA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43195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PAPEL DAS SEGURADORAS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4368846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716318"/>
            <a:ext cx="8458200" cy="638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As seguradoras fornecem instrumentos.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575751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6068411"/>
            <a:ext cx="8458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Lucas analisa, escolhe e estrutura a estratégia de acordo com a necessidade do cliente.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7939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02803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1C1C1A"/>
                </a:solidFill>
                <a:latin typeface="Outfit 1 Light"/>
              </a:rPr>
              <a:t>TERRITÓRIOS E PÚBLICO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40979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68411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Do que a marca fala, como atua e com quem.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095531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TERRITÓRIO CENTRAL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57101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CONTINUIDADE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50791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8538" y="396282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3855385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Continuar a renda.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477700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4669567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Continuar a empresa.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5591191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483749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Preservar o patrimônio.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405373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6297931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Manter a estrutura familiar.</a:t>
            </a:r>
          </a:p>
        </p:txBody>
      </p:sp>
      <p:sp>
        <p:nvSpPr>
          <p:cNvPr id="15" name="Oval 14"/>
          <p:cNvSpPr/>
          <p:nvPr/>
        </p:nvSpPr>
        <p:spPr>
          <a:xfrm>
            <a:off x="2018538" y="7219554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592" y="7112112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Dar continuidade aos projetos.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4475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TERRITÓRIOS DA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520242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DO QUE A MARCA FALA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445713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530321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80460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Proteção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600298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50437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Sucessão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670275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620414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Planejamento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5460" y="530321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5460" y="480460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Dignidade financeira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95460" y="600298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5460" y="550437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Continuidade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23060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PILARES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098548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A MARCA ATUA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035442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0" y="3607308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845052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ANTECIPAÇÃO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771900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Pensar antes.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567428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805172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732020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Construir para cada realidade.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527548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765292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RESPONSABILIDADE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5692140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Entender o peso das decisões.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487668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725412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CONFIANÇA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6652260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Construir relações de longo prazo.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447788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685532"/>
            <a:ext cx="312953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PRESENÇA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7612380"/>
            <a:ext cx="50749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Continuar depois da contratação.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840790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02621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PÚBLICO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97810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QUEM A MARCA ATENDE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1500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8538" y="436991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62475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Profissionais cuja renda depende da própria capacidade de trabalho.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518409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5076657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Pilares financeiros de famílias.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5998281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890839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Empresários e sócios.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812463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6705021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Famílias e empresas com patrimônio e questões sucessórias.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5_lucas_casal_mais_velho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33071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O QUE UNE ESSE 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299999"/>
            <a:ext cx="14081760" cy="146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980" i="0" b="0">
                <a:solidFill>
                  <a:srgbClr val="FFFFFF"/>
                </a:solidFill>
                <a:latin typeface="Outfit 1 Light"/>
              </a:rPr>
              <a:t>Não é idade ou profissão.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49657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770899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É a responsabilidade sobre algo que precisa ser protegido ou continuar.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7939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02803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1C1C1A"/>
                </a:solidFill>
                <a:latin typeface="Outfit 1 Light"/>
              </a:rPr>
              <a:t>PERSONALIDADE E VOZ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40979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68411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Como a marca se comporta e como ela fala.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16275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PERSONALIDADE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1005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12387"/>
            <a:ext cx="14081760" cy="2655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000" i="0" b="0">
                <a:solidFill>
                  <a:srgbClr val="1C1C1A"/>
                </a:solidFill>
                <a:latin typeface="Outfit 1 Light"/>
              </a:rPr>
              <a:t>Competência sem ostentação.</a:t>
            </a:r>
          </a:p>
          <a:p>
            <a:pPr algn="l">
              <a:lnSpc>
                <a:spcPct val="126000"/>
              </a:lnSpc>
            </a:pPr>
            <a:r>
              <a:rPr sz="4000" i="0" b="0">
                <a:solidFill>
                  <a:srgbClr val="1C1C1A"/>
                </a:solidFill>
                <a:latin typeface="Outfit 1 Light"/>
              </a:rPr>
              <a:t>Segurança sem arrogância.</a:t>
            </a:r>
          </a:p>
          <a:p>
            <a:pPr algn="l">
              <a:lnSpc>
                <a:spcPct val="126000"/>
              </a:lnSpc>
            </a:pPr>
            <a:r>
              <a:rPr sz="4000" i="0" b="0">
                <a:solidFill>
                  <a:srgbClr val="1C1C1A"/>
                </a:solidFill>
                <a:latin typeface="Outfit 1 Light"/>
              </a:rPr>
              <a:t>Presença sem exposição excessiva.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4475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PERSONALIDADE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520242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AUTORIDADE DISCRETA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445713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530321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80460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Seguro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600298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50437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Confiável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670275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620414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Preparado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5460" y="530321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5460" y="480460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Consultivo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95460" y="600298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5460" y="550437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Humano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95460" y="6702750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95460" y="6204148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Discreto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4444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TOM DE VOZ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1993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A MARCA FALA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5682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8538" y="3611742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3504300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Claro, sem simplificar demais.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4403521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4296079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Seguro, sem arrogância.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5195300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087858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Humano, sem dramatização.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598707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5879637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Sofisticado, sem ostentação.</a:t>
            </a:r>
          </a:p>
        </p:txBody>
      </p:sp>
      <p:sp>
        <p:nvSpPr>
          <p:cNvPr id="15" name="Oval 14"/>
          <p:cNvSpPr/>
          <p:nvPr/>
        </p:nvSpPr>
        <p:spPr>
          <a:xfrm>
            <a:off x="2018538" y="677885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592" y="6671416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Consultivo, sem burocracia.</a:t>
            </a:r>
          </a:p>
        </p:txBody>
      </p:sp>
      <p:sp>
        <p:nvSpPr>
          <p:cNvPr id="17" name="Oval 16"/>
          <p:cNvSpPr/>
          <p:nvPr/>
        </p:nvSpPr>
        <p:spPr>
          <a:xfrm>
            <a:off x="2018538" y="757063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50592" y="7463195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Direto, sem frieza.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8465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TOM DE VOZ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06014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PROVAR, NÃO PROCLAMAR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704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44512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comunicação deve mostrar a autoridade por meio 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76330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26470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Conhecimento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46307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96447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Casos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716284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66424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Resultados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76330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26470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Reconhecimentos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646307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96447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Depoimentos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7162845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6664243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Experiência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0_lucas_sala_reuniao.png"/>
          <p:cNvPicPr>
            <a:picLocks noChangeAspect="1"/>
          </p:cNvPicPr>
          <p:nvPr/>
        </p:nvPicPr>
        <p:blipFill>
          <a:blip r:embed="rId3"/>
          <a:srcRect l="25218" r="3676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170542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PAPEL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646030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NÃO É APARECER POR APARECER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582924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930396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É usar conhecimento e experiência para:</a:t>
            </a:r>
          </a:p>
        </p:txBody>
      </p:sp>
      <p:sp>
        <p:nvSpPr>
          <p:cNvPr id="9" name="Oval 8"/>
          <p:cNvSpPr/>
          <p:nvPr/>
        </p:nvSpPr>
        <p:spPr>
          <a:xfrm>
            <a:off x="7824978" y="497631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4868875"/>
            <a:ext cx="9162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Despertar</a:t>
            </a:r>
          </a:p>
        </p:txBody>
      </p:sp>
      <p:sp>
        <p:nvSpPr>
          <p:cNvPr id="11" name="Oval 10"/>
          <p:cNvSpPr/>
          <p:nvPr/>
        </p:nvSpPr>
        <p:spPr>
          <a:xfrm>
            <a:off x="7824978" y="579049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5683057"/>
            <a:ext cx="9162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Explicar</a:t>
            </a:r>
          </a:p>
        </p:txBody>
      </p:sp>
      <p:sp>
        <p:nvSpPr>
          <p:cNvPr id="13" name="Oval 12"/>
          <p:cNvSpPr/>
          <p:nvPr/>
        </p:nvSpPr>
        <p:spPr>
          <a:xfrm>
            <a:off x="7824978" y="6604681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2" y="6497239"/>
            <a:ext cx="9162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Orientar</a:t>
            </a:r>
          </a:p>
        </p:txBody>
      </p:sp>
      <p:sp>
        <p:nvSpPr>
          <p:cNvPr id="15" name="Oval 14"/>
          <p:cNvSpPr/>
          <p:nvPr/>
        </p:nvSpPr>
        <p:spPr>
          <a:xfrm>
            <a:off x="7824978" y="7418863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7311421"/>
            <a:ext cx="9162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Construir confiança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A marca em palavras, e a marca em uma página.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51811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MANIFESTO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613099"/>
            <a:ext cx="6629400" cy="6394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Há coisas que levam anos para construir.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526889"/>
            <a:ext cx="6629400" cy="11875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Uma carreira. Uma família. Uma empresa. Um patrimônio. Uma história.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988710"/>
            <a:ext cx="6629400" cy="6394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Nem tudo pode ser previsto.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3613099"/>
            <a:ext cx="6629400" cy="6394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Mas muito pode ser preparado.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4526889"/>
            <a:ext cx="6629400" cy="11875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Proteção é preservar possibilidades quando a vida foge do previsto.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73790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012229"/>
            <a:ext cx="1426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 spc="220">
                <a:solidFill>
                  <a:srgbClr val="A5A49F"/>
                </a:solidFill>
                <a:latin typeface="Outfit 2"/>
              </a:rPr>
              <a:t>LUCAS MARTINI  |  PROTEÇÃO &amp; SUCESSÃO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2789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303384"/>
            <a:ext cx="1426464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600" i="0" b="0">
                <a:solidFill>
                  <a:srgbClr val="1C1C1A"/>
                </a:solidFill>
                <a:latin typeface="Outfit 1 Light"/>
              </a:rPr>
              <a:t>LUCAS MARTINI ·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413256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4537824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738992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CRENÇA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031600"/>
            <a:ext cx="6720840" cy="9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O que levou anos para ser construído não deveria ficar entregue ao acaso.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5997664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6198832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RAZÃO DE 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491440"/>
            <a:ext cx="6720840" cy="46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Preservar possibilidades.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55480" y="4537824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4738992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TERRITÓRIO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5031600"/>
            <a:ext cx="6720840" cy="46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Continuidade.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55480" y="5551208"/>
            <a:ext cx="6720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55480" y="5752376"/>
            <a:ext cx="6720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PERSONALIDADE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6044984"/>
            <a:ext cx="6720840" cy="46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Autoridade discreta.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80773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SÍNTESE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7454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976885"/>
            <a:ext cx="14081760" cy="22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983" i="0" b="0">
                <a:solidFill>
                  <a:srgbClr val="1C1C1A"/>
                </a:solidFill>
                <a:latin typeface="Outfit 1 Light"/>
              </a:rPr>
              <a:t>Preparar antes.</a:t>
            </a:r>
          </a:p>
          <a:p>
            <a:pPr algn="l">
              <a:lnSpc>
                <a:spcPct val="126000"/>
              </a:lnSpc>
            </a:pPr>
            <a:r>
              <a:rPr sz="4983" i="0" b="0">
                <a:solidFill>
                  <a:srgbClr val="1C1C1A"/>
                </a:solidFill>
                <a:latin typeface="Outfit 1 Light"/>
              </a:rPr>
              <a:t>Proteger o que foi construído.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6148876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Preservar recursos, alternativas e possibilidades para que aquilo que importa possa continuar.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0_lucas_sala_reuniao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37514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942074"/>
            <a:ext cx="14081760" cy="2128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672" i="0" b="0">
                <a:solidFill>
                  <a:srgbClr val="FFFFFF"/>
                </a:solidFill>
                <a:latin typeface="Outfit 1 Light"/>
              </a:rPr>
              <a:t>Quando algo muda,</a:t>
            </a:r>
          </a:p>
          <a:p>
            <a:pPr algn="l">
              <a:lnSpc>
                <a:spcPct val="126000"/>
              </a:lnSpc>
            </a:pPr>
            <a:r>
              <a:rPr sz="4672" i="0" b="0">
                <a:solidFill>
                  <a:srgbClr val="FFFFFF"/>
                </a:solidFill>
                <a:latin typeface="Outfit 1 Light"/>
              </a:rPr>
              <a:t>ainda precisam existir escolhas.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85601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130334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É isso que a proteção bem estruturada torna possível.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