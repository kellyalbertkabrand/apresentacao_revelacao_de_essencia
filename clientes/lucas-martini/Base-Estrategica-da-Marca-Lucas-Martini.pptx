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Leitura do momento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357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613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5041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Definição central da marca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018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274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1645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249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339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595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4853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Proposta de valor e posicionamento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999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255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61457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Arquitetura de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68061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Territórios, pilares e público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320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576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74665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Personalidade e tom de voz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7980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8236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81269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Manifesto e síntese final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LEITURA DO MOMENTO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O que a marca já tem, e o que ainda não aparece.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lucas_sala_reuniao.png"/>
          <p:cNvPicPr>
            <a:picLocks noChangeAspect="1"/>
          </p:cNvPicPr>
          <p:nvPr/>
        </p:nvPicPr>
        <p:blipFill>
          <a:blip r:embed="rId3"/>
          <a:srcRect l="25218" r="367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LEITURA DO MOMENTO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MARCA JÁ EXISTE ANTES DA COMUNICAÇÃO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5876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242816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possui ativos que identidade visual e conteúdo não fabricam: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28873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18129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experiência, resultado e recomendação;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759162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651720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confiança, relacionamento e reconhecimento;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22958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12214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histórico de atendimento.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76591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6809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Primeiro veio a reputação. 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LEITURA DO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AUTORIDADE REAL É MAIOR QUE A PERCEBIDA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84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782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PARADOXO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05072"/>
            <a:ext cx="9144000" cy="1511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Lucas tem conquistas relevantes e dificuldade em comunicá-las. O problema não é falta de substância: é falta de tradução pública dessa substância.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58949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827243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754091"/>
            <a:ext cx="9144000" cy="1064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Sem construção própria, ele é percebido apenas como corretor de seguros, ou como alguém ligado a uma seguradora.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9206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12980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A EVOLUÇÃO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56653"/>
            <a:ext cx="9144000" cy="1511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De corretor de seguros a especialista em proteção e sucessão — e, numa camada mais estratégica, a um profissional que estrutura continuidade e preserva possibilidades.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641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DEFINIÇÃO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O que Lucas entrega, abaixo do produto.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_lucas_consulta_individual.png"/>
          <p:cNvPicPr>
            <a:picLocks noChangeAspect="1"/>
          </p:cNvPicPr>
          <p:nvPr/>
        </p:nvPicPr>
        <p:blipFill>
          <a:blip r:embed="rId3"/>
          <a:srcRect l="44403" r="15575"/>
          <a:stretch>
            <a:fillRect/>
          </a:stretch>
        </p:blipFill>
        <p:spPr>
          <a:xfrm>
            <a:off x="0" y="0"/>
            <a:ext cx="73152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0" y="0"/>
            <a:ext cx="1097280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83880" y="1783080"/>
            <a:ext cx="9235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80" y="2331720"/>
            <a:ext cx="92354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LUCAS FAZ DE VERDADE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3250692"/>
            <a:ext cx="92354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3634740"/>
            <a:ext cx="923544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Ele não começa pelo produto. Começa pela realidade:</a:t>
            </a:r>
          </a:p>
        </p:txBody>
      </p:sp>
      <p:sp>
        <p:nvSpPr>
          <p:cNvPr id="9" name="Oval 8"/>
          <p:cNvSpPr/>
          <p:nvPr/>
        </p:nvSpPr>
        <p:spPr>
          <a:xfrm>
            <a:off x="8190738" y="468066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22792" y="4573219"/>
            <a:ext cx="879652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Quem depende daquele cliente?</a:t>
            </a:r>
          </a:p>
        </p:txBody>
      </p:sp>
      <p:sp>
        <p:nvSpPr>
          <p:cNvPr id="11" name="Oval 10"/>
          <p:cNvSpPr/>
          <p:nvPr/>
        </p:nvSpPr>
        <p:spPr>
          <a:xfrm>
            <a:off x="8190738" y="549484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5387401"/>
            <a:ext cx="879652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Que impacto sua ausência produziria?</a:t>
            </a:r>
          </a:p>
        </p:txBody>
      </p:sp>
      <p:sp>
        <p:nvSpPr>
          <p:cNvPr id="13" name="Oval 12"/>
          <p:cNvSpPr/>
          <p:nvPr/>
        </p:nvSpPr>
        <p:spPr>
          <a:xfrm>
            <a:off x="8190738" y="630902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6201583"/>
            <a:ext cx="879652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Como o patrimônio seria transferido? Existe liquidez?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699747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7308372"/>
            <a:ext cx="92354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 proteção é consequência do diagnóstico.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60857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85810"/>
            <a:ext cx="14081760" cy="3241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FFFFFF"/>
                </a:solidFill>
                <a:latin typeface="Outfit 1 Light"/>
              </a:rPr>
              <a:t>Lucas Martini estrutura proteção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FFFFFF"/>
                </a:solidFill>
                <a:latin typeface="Outfit 1 Light"/>
              </a:rPr>
              <a:t>e sucessão para preservar possibilidades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FFFFFF"/>
                </a:solidFill>
                <a:latin typeface="Outfit 1 Light"/>
              </a:rPr>
              <a:t>quando a vida, a família ou a empresa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FFFFFF"/>
                </a:solidFill>
                <a:latin typeface="Outfit 1 Light"/>
              </a:rPr>
              <a:t>entram em transição.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66344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974342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CAUSA E TRIBO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No que a marca acredita, e para quem ela fala.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6784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A CAUSA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045086"/>
            <a:ext cx="14081760" cy="19225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FFFFFF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26000"/>
              </a:lnSpc>
            </a:pPr>
            <a:r>
              <a:rPr sz="4153" i="0" b="0">
                <a:solidFill>
                  <a:srgbClr val="FFFFFF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0417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15066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Não porque todos os riscos possam ser eliminados, mas porque muitos dos seus impactos podem ser preparados. Nem tudo pode ser previsto — mas muito pode ser preparado.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CAUSA E TRIBO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MARCA DEFENDE E PARA QUEM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84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782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MUDANÇA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05072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De resolver depois para pensar antes. De seguro como produto para proteção como estratégia. De sucessão como problema futuro para responsabilidade presente.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0406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27837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QUE COMBATE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05222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a morte nem a incerteza: o improviso, o adiamento, a falta de liquidez e as decisões tomadas sob pressão.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240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64785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LIDERANÇA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405372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ocupar o território do medo nem pressionar. Perguntar, traduzir risco, organizar possibilidades e estruturar decisões.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74409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767867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A TRIBO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7605522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Empresários, sócios, profissionais liberais, pilares financeiros e pessoas-chave. Há algo ou alguém que depende das suas decisões.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8641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Por quê, como e o quê — nesta ordem.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GOLDEN CIRCLE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634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90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581449"/>
            <a:ext cx="441960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3634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3890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4581449"/>
            <a:ext cx="4419600" cy="2869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3634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3890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4581449"/>
            <a:ext cx="441960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725156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Não começar pelo produto. Começar pela consequência.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O que a marca promete e onde ela se coloca.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80205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PROPOSTA DE VALOR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579293"/>
            <a:ext cx="14081760" cy="2854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FFFFFF"/>
                </a:solidFill>
                <a:latin typeface="Outfit 1 Light"/>
              </a:rPr>
              <a:t>Estruturar proteção e sucessão de forma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FFFFFF"/>
                </a:solidFill>
                <a:latin typeface="Outfit 1 Light"/>
              </a:rPr>
              <a:t>personalizada para que famílias, profissionais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FFFFFF"/>
                </a:solidFill>
                <a:latin typeface="Outfit 1 Light"/>
              </a:rPr>
              <a:t>e empresas mantenham recursos, possibilidades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FFFFFF"/>
                </a:solidFill>
                <a:latin typeface="Outfit 1 Light"/>
              </a:rPr>
              <a:t>e continuidade diante de imprevistos.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78308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31720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5069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634740"/>
            <a:ext cx="9601200" cy="1570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373124"/>
            <a:ext cx="9601200" cy="1369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 A melhor proteção não é a maior: é a que faz sentido para aquela realidade.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702186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332756"/>
            <a:ext cx="9601200" cy="544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Preparar antes para preservar escolhas depois.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ARQUITETURA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O nome no centro, e as frentes que ele sustenta.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i="0" b="0">
                <a:solidFill>
                  <a:srgbClr val="1C1C1A"/>
                </a:solidFill>
                <a:latin typeface="Outfit 1 Light"/>
              </a:rPr>
              <a:t>LUCAS MARTINI ·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638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47872"/>
            <a:ext cx="12801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confiança está associada à pessoa, a indicação chega pelo nome e o relacionamento acontece com Lucas. Ele é o principal ativo da arquitetura; o descritor explica o campo sem prender a marca a uma seguradora ou a um produto.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4891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704942"/>
            <a:ext cx="3188970" cy="960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6830263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544891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704942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6395618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44891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704942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6395618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544891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704942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6395618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81503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TERRITÓRIOS E PÚBLICO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Do que a marca fala, como atua e com quem.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TERRITÓRIOS DE COMUNICAÇÃO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CONTINUIDADE É O TERRITÓRIO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84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782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05072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precisa seguir existindo: renda, família, empresa, patrimônio, projetos e legado.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8006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03834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965192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Os recursos e estruturas que sustentam essa continuidade.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7607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99846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SUCESSÃO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925312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preparação para a passagem de responsabilidade e patrimônio.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7208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95858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DIGNIDADE FINANCEIRA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885432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preservação de alternativas em momentos difíceis.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68096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9187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ESCOLHA E RESPONSABILIDADE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845552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Decidir sem ser dominado pela urgência; pensar hoje nas consequências de amanhã.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641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PILARES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25069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0" y="384048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078224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4005072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80060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038344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965192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76072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998464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CONFIANÇA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925312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7208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958584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6885432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68096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918704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EXCELÊNCIA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7845552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Menos discurso, mais padrão de execução.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641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PÚBLICO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CARREGA RESPONSABILIDADE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63474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90772"/>
            <a:ext cx="3188970" cy="960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Quem produz a própria renda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016094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Profissionais liberais, autônomos, executivos e especialistas.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03570" y="363474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03570" y="3890772"/>
            <a:ext cx="3188970" cy="960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Quem sustenta outras pessoas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03570" y="5016094"/>
            <a:ext cx="318897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Pilares financeiros da família, cuja ausência alteraria a estrutura econômica de casa.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5460" y="363474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0" y="3890772"/>
            <a:ext cx="3188970" cy="960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Quem responde por uma empresa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5460" y="5016094"/>
            <a:ext cx="318897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Empresários, sócios e pessoas-chave de negócios dependentes de indivíduos específicos.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087350" y="3634740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87350" y="3890772"/>
            <a:ext cx="3188970" cy="960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Quem construiu patrimônio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87350" y="5016094"/>
            <a:ext cx="318897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Famílias e sócios que precisam organizar transferência, liquidez e sucessão.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7233818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Parecem diferentes, mas existe algo ou alguém que depende das decisões de cada um.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PERSONALIDADE E VOZ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Como a marca se comporta e como ela fala.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783080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31720"/>
            <a:ext cx="8686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250692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32520" y="3840480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32520" y="4078224"/>
            <a:ext cx="32141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SEGURO E PREPARADO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07240" y="4005072"/>
            <a:ext cx="521208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Transmite domínio sem precisar provar o tempo todo; estuda antes de orientar.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5040630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5278374"/>
            <a:ext cx="32141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CONSULTIVO E HUMANO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07240" y="5205222"/>
            <a:ext cx="521208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6240780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6478524"/>
            <a:ext cx="32141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ELEGANTE E ACESSÍVEL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07240" y="6405372"/>
            <a:ext cx="521208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Sofisticação sem ostentação; torna o complexo compreensível.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7440930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7678674"/>
            <a:ext cx="32141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NUNCA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07240" y="7605522"/>
            <a:ext cx="521208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Alarmista, exibicionista, técnica demais, comercial demais ou genérica.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8641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TOM DE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PROVAR, NÃO PROCLAMAR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7490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9684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261104"/>
            <a:ext cx="493776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1" b="0">
                <a:solidFill>
                  <a:srgbClr val="A5A49F"/>
                </a:solidFill>
                <a:latin typeface="Outfit 1 Light"/>
              </a:rPr>
              <a:t>“Você pode morrer amanhã.”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3968496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PREFERIR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4261104"/>
            <a:ext cx="832104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“Quem depende financeiramente de você hoje?”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3797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59917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891784"/>
            <a:ext cx="493776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1" b="0">
                <a:solidFill>
                  <a:srgbClr val="A5A49F"/>
                </a:solidFill>
                <a:latin typeface="Outfit 1 Light"/>
              </a:rPr>
              <a:t>“Você precisa contratar um seguro de vida.”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5599176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PREFERIR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5891784"/>
            <a:ext cx="832104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“Antes do produto, precisamos entender o impacto financeiro que uma ausência produziria.”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0104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22985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7522464"/>
            <a:ext cx="493776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1" b="0">
                <a:solidFill>
                  <a:srgbClr val="A5A49F"/>
                </a:solidFill>
                <a:latin typeface="Outfit 1 Light"/>
              </a:rPr>
              <a:t>“Olha onde eu cheguei.”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7229856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PREFERIR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7522464"/>
            <a:ext cx="8321040" cy="1063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“Esse reconhecimento representa dez anos de consistência e confiança de clientes.”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6294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A5A49F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MANIFESTO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17520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342333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 nenhuma delas deveria ficar completamente dependente daquilo que não podemos controlar.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67146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Planejar não é esperar que algo dê errado. É reconhecer o valor daquilo que deu certo.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017520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pensar antes. Enquanto existe tempo. Enquanto podemos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342333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5667146"/>
            <a:ext cx="6629400" cy="10504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Porque proteção não existe para preservar dinheiro. Existe para preservar possibilidades.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682736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7101688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MARCA EM UMA PÁGINA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5069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63474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3590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CRENÇA FUNDADORA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128516"/>
            <a:ext cx="6720840" cy="665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84937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05053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343146"/>
            <a:ext cx="6720840" cy="665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Preservar a capacidade de escolha quando a vida tira a previsibilidade.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06400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626516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ESSÊNCIA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557776"/>
            <a:ext cx="6720840" cy="325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93826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7139435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CAUSA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7432043"/>
            <a:ext cx="6720840" cy="325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812533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8013701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TERRITÓRIO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8306309"/>
            <a:ext cx="6720840" cy="325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5480" y="363474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383590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128516"/>
            <a:ext cx="6720840" cy="665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Especialista em proteção e sucessão para quem deseja preservar o que construiu e manter possibilidades diante do imprevisto.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55480" y="484937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505053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PROPOSTA DE VALOR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5343146"/>
            <a:ext cx="6720840" cy="665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Estruturar proteção e sucessão de forma personalizada para preservar recursos, continuidade e capacidade de escolha.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6064000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5480" y="6265168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PRINCÍPIO DE COMUNICAÇÃO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6557776"/>
            <a:ext cx="6720840" cy="325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Provar, não proclamar.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5480" y="6938267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5480" y="7139435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PERSONALIDADE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7432043"/>
            <a:ext cx="6720840" cy="325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Autoridade discreta.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