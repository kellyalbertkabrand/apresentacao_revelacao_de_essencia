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  <p:sldId id="285" r:id="rId7"/>
    <p:sldId id="286" r:id="rId6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31.xml"/><Relationship Id="rId7" Type="http://schemas.openxmlformats.org/officeDocument/2006/relationships/slide" Target="slides/slide30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slide" Target="slides/slide32.xml"/><Relationship Id="rId51" Type="http://schemas.openxmlformats.org/officeDocument/2006/relationships/slide" Target="slides/slide33.xml"/><Relationship Id="rId52" Type="http://schemas.openxmlformats.org/officeDocument/2006/relationships/slide" Target="slides/slide34.xml"/><Relationship Id="rId53" Type="http://schemas.openxmlformats.org/officeDocument/2006/relationships/slide" Target="slides/slide35.xml"/><Relationship Id="rId54" Type="http://schemas.openxmlformats.org/officeDocument/2006/relationships/slide" Target="slides/slide36.xml"/><Relationship Id="rId55" Type="http://schemas.openxmlformats.org/officeDocument/2006/relationships/slide" Target="slides/slide37.xml"/><Relationship Id="rId56" Type="http://schemas.openxmlformats.org/officeDocument/2006/relationships/slide" Target="slides/slide38.xml"/><Relationship Id="rId57" Type="http://schemas.openxmlformats.org/officeDocument/2006/relationships/slide" Target="slides/slide39.xml"/><Relationship Id="rId58" Type="http://schemas.openxmlformats.org/officeDocument/2006/relationships/slide" Target="slides/slide40.xml"/><Relationship Id="rId59" Type="http://schemas.openxmlformats.org/officeDocument/2006/relationships/slide" Target="slides/slide41.xml"/><Relationship Id="rId60" Type="http://schemas.openxmlformats.org/officeDocument/2006/relationships/slide" Target="slides/slide42.xml"/><Relationship Id="rId61" Type="http://schemas.openxmlformats.org/officeDocument/2006/relationships/slide" Target="slides/slide43.xml"/><Relationship Id="rId62" Type="http://schemas.openxmlformats.org/officeDocument/2006/relationships/slide" Target="slides/slide44.xml"/><Relationship Id="rId63" Type="http://schemas.openxmlformats.org/officeDocument/2006/relationships/slide" Target="slides/slide45.xml"/><Relationship Id="rId64" Type="http://schemas.openxmlformats.org/officeDocument/2006/relationships/slide" Target="slides/slide46.xml"/><Relationship Id="rId65" Type="http://schemas.openxmlformats.org/officeDocument/2006/relationships/slide" Target="slides/slide47.xml"/><Relationship Id="rId66" Type="http://schemas.openxmlformats.org/officeDocument/2006/relationships/slide" Target="slides/slide48.xml"/><Relationship Id="rId67" Type="http://schemas.openxmlformats.org/officeDocument/2006/relationships/slide" Target="slides/slide49.xml"/><Relationship Id="rId68" Type="http://schemas.openxmlformats.org/officeDocument/2006/relationships/slide" Target="slides/slide50.xml"/><Relationship Id="rId69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BASE ESTRATÉGICA</a:t>
            </a:r>
          </a:p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DA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Lucas Martini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Proteção &amp; Sucessão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SUMÁRIO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Leitura do momento da marca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3578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6139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5041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Definição central da marca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0182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2743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645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Causa, liderança e tribo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46786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49347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249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Golden Circle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5339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55951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4853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Proposta de valor e posicionamento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5999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6255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61457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Arquitetura de marca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66598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69159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68061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Territórios, pilares e público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11680" y="73202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75763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74665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Personalidade e tom de voz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79806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82367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8126984"/>
            <a:ext cx="12664440" cy="432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Manifesto e síntese final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1C1C1A"/>
                </a:solidFill>
                <a:latin typeface="Outfit 1 Light"/>
              </a:rPr>
              <a:t>LEITURA DO MOMENTO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O que a marca já tem, e o que ainda não aparece.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retrato_corporativo_prudential.png"/>
          <p:cNvPicPr>
            <a:picLocks noChangeAspect="1"/>
          </p:cNvPicPr>
          <p:nvPr/>
        </p:nvPicPr>
        <p:blipFill>
          <a:blip r:embed="rId3"/>
          <a:srcRect l="5565" r="10021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LEITURA DO MOMENTO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AUTORIDADE JÁ EXISTE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250692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634740"/>
            <a:ext cx="8458200" cy="1167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Dez anos de atuação, uma carteira construída por relacionamento, resultados e reconhecimento.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20507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515966"/>
            <a:ext cx="845820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Hoje, grande parte do negócio acontece por recomendação.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LEITURA DO MOMENTO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ENTREGA É MAIOR DO QUE A PERCEPÇÃO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34740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Na prática, existe: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Experiência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Personalização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Relacionamento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Pós-venda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Resultados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Reconhecimento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97428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285177"/>
            <a:ext cx="1426464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A marca ainda não comunica tudo isso com a mesma força.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205696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A EVOLUÇÃO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08032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028656"/>
            <a:ext cx="14081760" cy="22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983" i="0" b="0">
                <a:solidFill>
                  <a:srgbClr val="1C1C1A"/>
                </a:solidFill>
                <a:latin typeface="Outfit 1 Light"/>
              </a:rPr>
              <a:t>De seguro como produto</a:t>
            </a:r>
          </a:p>
          <a:p>
            <a:pPr algn="l">
              <a:lnSpc>
                <a:spcPct val="126000"/>
              </a:lnSpc>
            </a:pPr>
            <a:r>
              <a:rPr sz="4983" i="0" b="0">
                <a:solidFill>
                  <a:srgbClr val="1C1C1A"/>
                </a:solidFill>
                <a:latin typeface="Outfit 1 Light"/>
              </a:rPr>
              <a:t>para proteção como estratégia.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509402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De corretor de seguros para especialista em Proteção &amp; Sucessão. Sua atuação já envolve realidade financeira, familiar, empresarial e patrimonial.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4_retrato_lucas_corredor.png"/>
          <p:cNvPicPr>
            <a:picLocks noChangeAspect="1"/>
          </p:cNvPicPr>
          <p:nvPr/>
        </p:nvPicPr>
        <p:blipFill>
          <a:blip r:embed="rId3"/>
          <a:srcRect l="26814" r="30163"/>
          <a:stretch>
            <a:fillRect/>
          </a:stretch>
        </p:blipFill>
        <p:spPr>
          <a:xfrm>
            <a:off x="0" y="0"/>
            <a:ext cx="78638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0"/>
            <a:ext cx="104241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32520" y="178308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LEITURA DO MOMENTO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2331720"/>
            <a:ext cx="86868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AUTORIDADE DISCRETA, MAS PRESENTE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3858768"/>
            <a:ext cx="86868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4242816"/>
            <a:ext cx="8686800" cy="638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discrição faz parte do seu perfil.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5284013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5594909"/>
            <a:ext cx="86868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 desafio é tornar mais visíveis a experiência, os resultados e o conhecimento que já sustentam sua atuação.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1C1C1A"/>
                </a:solidFill>
                <a:latin typeface="Outfit 1 Light"/>
              </a:rPr>
              <a:t>DEFINIÇÃO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O que Lucas entrega, abaixo do produto.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97280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lucas_consulta_individual.png"/>
          <p:cNvPicPr>
            <a:picLocks noChangeAspect="1"/>
          </p:cNvPicPr>
          <p:nvPr/>
        </p:nvPicPr>
        <p:blipFill>
          <a:blip r:embed="rId3"/>
          <a:srcRect l="44403" r="15575"/>
          <a:stretch>
            <a:fillRect/>
          </a:stretch>
        </p:blipFill>
        <p:spPr>
          <a:xfrm>
            <a:off x="10972800" y="0"/>
            <a:ext cx="731520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8092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DEFINIÇÃO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80924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SEGURO É PARTE DA SOLUÇÃO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858768"/>
            <a:ext cx="80924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242816"/>
            <a:ext cx="8092440" cy="638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Seu trabalho começa antes do produto.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284013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594909"/>
            <a:ext cx="8092440" cy="14862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Você entende a realidade do cliente, identifica vulnerabilidades e estrutura uma proteção adequada a cada situação.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DEFINIÇÃO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QUE VOCÊ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34740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Estratégias personalizadas de proteção e sucessão para preservar: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Renda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Família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Patrimônio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Empresas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Possibilidades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DEFINIÇÃO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VALOR EM CAMADAS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3840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07822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SEGURO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005072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Um dos instrumentos.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80060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03834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PLANEJAMENTO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965192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 método.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76072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99846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PROTEÇÃO &amp; SUCESSÃO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925312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 atuação.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672084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695858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CONTINUIDADE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6885432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 território.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768096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79187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LIBERDADE DE ESCOLHA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7845552"/>
            <a:ext cx="91440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Poder decidir sem que a urgência decida por você.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864108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2_reuniao_consultiva_casal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17681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DEFINIÇÃO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194921"/>
            <a:ext cx="14081760" cy="16228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796" i="0" b="0">
                <a:solidFill>
                  <a:srgbClr val="FFFFFF"/>
                </a:solidFill>
                <a:latin typeface="Outfit 1 Light"/>
              </a:rPr>
              <a:t>Não é apenas dinheiro.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5854335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165231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É a estrutura que permite que uma família, uma empresa, um patrimônio ou um projeto continue existindo mesmo quando algo foge do previsto.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CAUSA E TRIBO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No que a marca acredita, e para quem ela fala.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645213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CAUSA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04754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468173"/>
            <a:ext cx="14081760" cy="1373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537" i="0" b="0">
                <a:solidFill>
                  <a:srgbClr val="1C1C1A"/>
                </a:solidFill>
                <a:latin typeface="Outfit 1 Light"/>
              </a:rPr>
              <a:t>Preparar antes de precisar.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069885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Proteção e sucessão não começam quando o problema acontece. Começam enquanto ainda existem tempo e alternativas para decidir.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CAUSA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MUDANÇA QUE A MARCA DEFENDE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8538" y="374218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363474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Do improviso para o planejamento.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455636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444892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Da reação para a antecipação.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5370546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263104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Do produto para a estratégia.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184727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6077285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Da urgência para a escolha.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3_lucas_ouvindo_casal.png"/>
          <p:cNvPicPr>
            <a:picLocks noChangeAspect="1"/>
          </p:cNvPicPr>
          <p:nvPr/>
        </p:nvPicPr>
        <p:blipFill>
          <a:blip r:embed="rId3"/>
          <a:srcRect l="43759" r="18221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78308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LIDERANÇA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331720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AJUDAR A ENXERGAR ANTES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250692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634740"/>
            <a:ext cx="9601200" cy="1167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Uma parte importante da sua atuação é fazer o cliente perceber riscos e consequências que ainda não foram considerados.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520507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5515966"/>
            <a:ext cx="960120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Não para gerar medo, mas para permitir preparação.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TRIBO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QUEM DEPENDE DAS SUAS DECISÕES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34740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Pessoas para quem algo importante depende das suas decisões.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90875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54931"/>
            <a:ext cx="6880860" cy="390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Profissionais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46374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109921"/>
            <a:ext cx="6880860" cy="390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Pilares financeiros de famílias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0187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664911"/>
            <a:ext cx="6880860" cy="390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Empresários e sócios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490875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554931"/>
            <a:ext cx="6880860" cy="390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Pessoas-chave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46374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109921"/>
            <a:ext cx="6880860" cy="390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Famílias com patrimônio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0187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664911"/>
            <a:ext cx="6880860" cy="3903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Responsáveis por sucessões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GOLDEN CIRCLE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Por quê, como e o quê — nesta ordem.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32756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POR 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235092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655716"/>
            <a:ext cx="14081760" cy="146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980" i="0" b="0">
                <a:solidFill>
                  <a:srgbClr val="1C1C1A"/>
                </a:solidFill>
                <a:latin typeface="Outfit 1 Light"/>
              </a:rPr>
              <a:t>Preservar possibilidades.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345332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Para que um imprevisto não tenha poder para decidir sozinho o que acontece depois.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COMO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CONHECER ANTES DE RECOMENDAR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8538" y="374218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363474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Entender a realidade.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455636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444892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Identificar vulnerabilidades.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5370546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263104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Projetar impactos.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18472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6077285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Estruturar alternativas.</a:t>
            </a:r>
          </a:p>
        </p:txBody>
      </p:sp>
      <p:sp>
        <p:nvSpPr>
          <p:cNvPr id="15" name="Oval 14"/>
          <p:cNvSpPr/>
          <p:nvPr/>
        </p:nvSpPr>
        <p:spPr>
          <a:xfrm>
            <a:off x="2018538" y="6998909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6891467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Acompanhar ao longo do tempo.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 QUÊ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AS QUATRO FRENTES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420573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634740"/>
            <a:ext cx="14264640" cy="607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i="0" b="0">
                <a:solidFill>
                  <a:srgbClr val="1C1C1A"/>
                </a:solidFill>
                <a:latin typeface="Outfit 1 Light"/>
              </a:rPr>
              <a:t>Proteção pessoal e familiar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9778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406900"/>
            <a:ext cx="14264640" cy="607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i="0" b="0">
                <a:solidFill>
                  <a:srgbClr val="1C1C1A"/>
                </a:solidFill>
                <a:latin typeface="Outfit 1 Light"/>
              </a:rPr>
              <a:t>Proteção empresarial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75005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179060"/>
            <a:ext cx="14264640" cy="607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i="0" b="0">
                <a:solidFill>
                  <a:srgbClr val="1C1C1A"/>
                </a:solidFill>
                <a:latin typeface="Outfit 1 Light"/>
              </a:rPr>
              <a:t>Sucessão familiar e patrimonial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652221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951220"/>
            <a:ext cx="14264640" cy="607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3200" i="0" b="0">
                <a:solidFill>
                  <a:srgbClr val="1C1C1A"/>
                </a:solidFill>
                <a:latin typeface="Outfit 1 Light"/>
              </a:rPr>
              <a:t>Sucessão empresarial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POSICIONAMENTO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O que a marca promete e onde ela se coloca.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2_lucas_caminhando_janela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46997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PROPOSTA DE VALOR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224237"/>
            <a:ext cx="14081760" cy="1564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6500" i="0" b="0">
                <a:solidFill>
                  <a:srgbClr val="FFFFFF"/>
                </a:solidFill>
                <a:latin typeface="Outfit 1 Light"/>
              </a:rPr>
              <a:t>Proteção personalizada.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582501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135915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Estruturar proteção e sucessão de acordo com a realidade de cada cliente, preservando recursos e alternativas diante de imprevistos e transições.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 DIFERENCIAL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DIFERENCIAL NÃO ESTÁ APENAS NO PRODUTO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34740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Está em: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Diagnóstico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Personalização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Conhecimento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Relacionamento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Pós-venda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Presença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97428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285177"/>
            <a:ext cx="1426464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Atendimento consultivo e pós-venda são diferenciais reconhecidos pelo próprio Lucas.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lucas_aperto_de_maos_cliente.png"/>
          <p:cNvPicPr>
            <a:picLocks noChangeAspect="1"/>
          </p:cNvPicPr>
          <p:nvPr/>
        </p:nvPicPr>
        <p:blipFill>
          <a:blip r:embed="rId3"/>
          <a:srcRect l="38526" r="23454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RELAÇÃO NÃO TERMINA NA VENDA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858768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242816"/>
            <a:ext cx="8458200" cy="638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 acompanhamento continua depois da contratação.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5284013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594909"/>
            <a:ext cx="8458200" cy="5807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Orientação, pós-venda e presença fazem parte da entrega.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3_lucas_janela_entardecer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068926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846166"/>
            <a:ext cx="14081760" cy="2320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FFFFFF"/>
                </a:solidFill>
                <a:latin typeface="Outfit 1 Light"/>
              </a:rPr>
              <a:t>Proteção &amp; Sucessão</a:t>
            </a:r>
          </a:p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FFFFFF"/>
                </a:solidFill>
                <a:latin typeface="Outfit 1 Light"/>
              </a:rPr>
              <a:t>para o que precisa continuar.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620309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513986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Lucas Martini atua com pessoas, famílias e empresas que querem preservar o que construíram e manter possibilidades diante de imprevistos e transições.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ARQUITETURA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O nome no centro, e as frentes que ele sustenta.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LUCAS MARTINI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34740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É a marca pessoal.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5353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54931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A autoridade.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75330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54701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O conhecimento.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5307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54471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A relação.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7152843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6654241"/>
            <a:ext cx="1426464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A voz.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1_retrato_corporativo_prudential.png"/>
          <p:cNvPicPr>
            <a:picLocks noChangeAspect="1"/>
          </p:cNvPicPr>
          <p:nvPr/>
        </p:nvPicPr>
        <p:blipFill>
          <a:blip r:embed="rId3"/>
          <a:srcRect l="5565" r="10021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78308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331720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MARTINI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250692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634740"/>
            <a:ext cx="9601200" cy="11679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Martini já é a forma pela qual Lucas é reconhecido em diferentes ambientes.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520507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5515966"/>
            <a:ext cx="96012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Isso permite que o sobrenome ganhe força também como assinatura empresarial.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ARQUITETURA DA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3840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07822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MARCA PESSOAL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4005072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Lucas Martini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04063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7837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ATUAÇÃO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205222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Proteção &amp; Sucessão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62407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647852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ASSINATURA EMPRESARIAL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405372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Martini | Proteção &amp; Sucessão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744093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767867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MONOGRAMA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7605522"/>
            <a:ext cx="9144000" cy="962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LM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864108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03091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PROTEÇÃO &amp; SUCESSÃO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80542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226051"/>
            <a:ext cx="14081760" cy="2320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1C1C1A"/>
                </a:solidFill>
                <a:latin typeface="Outfit 1 Light"/>
              </a:rPr>
              <a:t>Primeiro proteger,</a:t>
            </a:r>
          </a:p>
          <a:p>
            <a:pPr algn="l">
              <a:lnSpc>
                <a:spcPct val="126000"/>
              </a:lnSpc>
            </a:pPr>
            <a:r>
              <a:rPr sz="5155" i="0" b="0">
                <a:solidFill>
                  <a:srgbClr val="1C1C1A"/>
                </a:solidFill>
                <a:latin typeface="Outfit 1 Light"/>
              </a:rPr>
              <a:t>depois estruturar a sucessão.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774998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ordem também expressa a lógica da atuação.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lucas_corredor_prudential.png"/>
          <p:cNvPicPr>
            <a:picLocks noChangeAspect="1"/>
          </p:cNvPicPr>
          <p:nvPr/>
        </p:nvPicPr>
        <p:blipFill>
          <a:blip r:embed="rId3"/>
          <a:srcRect l="20165" r="41815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PAPEL DAS SEGURADORAS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250692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634740"/>
            <a:ext cx="8458200" cy="6388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As seguradoras fornecem instrumentos.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67593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986833"/>
            <a:ext cx="8458200" cy="10335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Lucas analisa, escolhe e estrutura a estratégia de acordo com a necessidade do cliente.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1C1C1A"/>
                </a:solidFill>
                <a:latin typeface="Outfit 1 Light"/>
              </a:rPr>
              <a:t>TERRITÓRIOS E PÚBLICO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Do que a marca fala, como atua e com quem.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 TERRITÓRIO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CONTINUIDADE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8538" y="374218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363474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Continuar a renda.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455636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444892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Continuar a empresa.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5370546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263104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Preservar o patrimônio.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18472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6077285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Manter a estrutura familiar.</a:t>
            </a:r>
          </a:p>
        </p:txBody>
      </p:sp>
      <p:sp>
        <p:nvSpPr>
          <p:cNvPr id="15" name="Oval 14"/>
          <p:cNvSpPr/>
          <p:nvPr/>
        </p:nvSpPr>
        <p:spPr>
          <a:xfrm>
            <a:off x="2018538" y="6998909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6891467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Dar continuidade aos projetos.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TERRITÓRIOS DA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DO QUE A MARCA FALA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413334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63474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Proteção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83311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33451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Sucessão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53288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03428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Planejamento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5460" y="413334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5460" y="363474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Dignidade financeira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95460" y="483311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5460" y="433451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Continuidade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lucas_analisando_documentos.png"/>
          <p:cNvPicPr>
            <a:picLocks noChangeAspect="1"/>
          </p:cNvPicPr>
          <p:nvPr/>
        </p:nvPicPr>
        <p:blipFill>
          <a:blip r:embed="rId3"/>
          <a:srcRect l="30810" r="31169"/>
          <a:stretch>
            <a:fillRect/>
          </a:stretch>
        </p:blipFill>
        <p:spPr>
          <a:xfrm>
            <a:off x="11338560" y="0"/>
            <a:ext cx="6949440" cy="1028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11680" y="1783080"/>
            <a:ext cx="8458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OS PILARES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331720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A MARCA ATUA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250692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11680" y="384048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078224"/>
            <a:ext cx="312953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ANTECIPAÇÃO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4005072"/>
            <a:ext cx="50749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Pensar antes.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80060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038344"/>
            <a:ext cx="312953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PERSONALIZAÇÃO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965192"/>
            <a:ext cx="50749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Construir para cada realidade.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76072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998464"/>
            <a:ext cx="312953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RESPONSABILIDADE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925312"/>
            <a:ext cx="50749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Entender o peso das decisões.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72084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958584"/>
            <a:ext cx="312953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CONFIANÇA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6885432"/>
            <a:ext cx="50749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Construir relações de longo prazo.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768096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918704"/>
            <a:ext cx="312953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PRESENÇA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7845552"/>
            <a:ext cx="50749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Continuar depois da contratação.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864108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PÚBLICO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QUEM A MARCA ATENDE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8538" y="374218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363474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Profissionais cuja renda depende da própria capacidade de trabalho.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4556364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4448922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Pilares financeiros de famílias.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5370546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263104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Empresários e sócios.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184727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6077285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Famílias e empresas com patrimônio e questões sucessórias.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05_lucas_casal_mais_velho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498592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O QUE UNE ESSE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4275832"/>
            <a:ext cx="14081760" cy="146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5980" i="0" b="0">
                <a:solidFill>
                  <a:srgbClr val="FFFFFF"/>
                </a:solidFill>
                <a:latin typeface="Outfit 1 Light"/>
              </a:rPr>
              <a:t>Não é idade ou profissão.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577342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08432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É a responsabilidade sobre algo que precisa ser protegido ou continuar.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1C1C1A"/>
                </a:solidFill>
                <a:latin typeface="Outfit 1 Light"/>
              </a:rPr>
              <a:t>PERSONALIDADE E VOZ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Como a marca se comporta e como ela fala.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878531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PERSONALIDADE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28086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701491"/>
            <a:ext cx="14081760" cy="2655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000" i="0" b="0">
                <a:solidFill>
                  <a:srgbClr val="1C1C1A"/>
                </a:solidFill>
                <a:latin typeface="Outfit 1 Light"/>
              </a:rPr>
              <a:t>Competência sem ostentação.</a:t>
            </a:r>
          </a:p>
          <a:p>
            <a:pPr algn="l">
              <a:lnSpc>
                <a:spcPct val="126000"/>
              </a:lnSpc>
            </a:pPr>
            <a:r>
              <a:rPr sz="4000" i="0" b="0">
                <a:solidFill>
                  <a:srgbClr val="1C1C1A"/>
                </a:solidFill>
                <a:latin typeface="Outfit 1 Light"/>
              </a:rPr>
              <a:t>Segurança sem arrogância.</a:t>
            </a:r>
          </a:p>
          <a:p>
            <a:pPr algn="l">
              <a:lnSpc>
                <a:spcPct val="126000"/>
              </a:lnSpc>
            </a:pPr>
            <a:r>
              <a:rPr sz="4000" i="0" b="0">
                <a:solidFill>
                  <a:srgbClr val="1C1C1A"/>
                </a:solidFill>
                <a:latin typeface="Outfit 1 Light"/>
              </a:rPr>
              <a:t>Presença sem exposição excessiva.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PERSONALIDADE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AUTORIDADE DISCRETA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413334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63474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Seguro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83311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33451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Confiável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553288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03428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Preparado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5460" y="413334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95460" y="363474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Consultivo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95460" y="483311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5460" y="433451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Humano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5460" y="5532882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95460" y="5034280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Discreto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TOM DE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COMO A MARCA FALA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8538" y="374218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363474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Claro, sem simplificar demais.</a:t>
            </a:r>
          </a:p>
        </p:txBody>
      </p:sp>
      <p:sp>
        <p:nvSpPr>
          <p:cNvPr id="9" name="Oval 8"/>
          <p:cNvSpPr/>
          <p:nvPr/>
        </p:nvSpPr>
        <p:spPr>
          <a:xfrm>
            <a:off x="2018538" y="453085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442341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Seguro, sem arrogância.</a:t>
            </a:r>
          </a:p>
        </p:txBody>
      </p:sp>
      <p:sp>
        <p:nvSpPr>
          <p:cNvPr id="11" name="Oval 10"/>
          <p:cNvSpPr/>
          <p:nvPr/>
        </p:nvSpPr>
        <p:spPr>
          <a:xfrm>
            <a:off x="2018538" y="531952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50592" y="521208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Humano, sem dramatização.</a:t>
            </a:r>
          </a:p>
        </p:txBody>
      </p:sp>
      <p:sp>
        <p:nvSpPr>
          <p:cNvPr id="13" name="Oval 12"/>
          <p:cNvSpPr/>
          <p:nvPr/>
        </p:nvSpPr>
        <p:spPr>
          <a:xfrm>
            <a:off x="2018538" y="610819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2" y="600075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Sofisticado, sem ostentação.</a:t>
            </a:r>
          </a:p>
        </p:txBody>
      </p:sp>
      <p:sp>
        <p:nvSpPr>
          <p:cNvPr id="15" name="Oval 14"/>
          <p:cNvSpPr/>
          <p:nvPr/>
        </p:nvSpPr>
        <p:spPr>
          <a:xfrm>
            <a:off x="2018538" y="689686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678942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Consultivo, sem burocracia.</a:t>
            </a:r>
          </a:p>
        </p:txBody>
      </p:sp>
      <p:sp>
        <p:nvSpPr>
          <p:cNvPr id="17" name="Oval 16"/>
          <p:cNvSpPr/>
          <p:nvPr/>
        </p:nvSpPr>
        <p:spPr>
          <a:xfrm>
            <a:off x="2018538" y="7685532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50592" y="7578090"/>
            <a:ext cx="11448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Direto, sem frieza.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TOM DE VOZ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PROVAR, NÃO PROCLAMAR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25069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634740"/>
            <a:ext cx="1225296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comunicação deve mostrar a autoridade por meio de: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Conhecimento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Casos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Resultados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95460" y="505353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5460" y="455493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Reconhecimentos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5460" y="575330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5460" y="525470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Depoimentos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5460" y="6453073"/>
            <a:ext cx="688086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5460" y="5954471"/>
            <a:ext cx="6880860" cy="5351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900" i="0" b="0">
                <a:solidFill>
                  <a:srgbClr val="1C1C1A"/>
                </a:solidFill>
                <a:latin typeface="Outfit 1 Light"/>
              </a:rPr>
              <a:t>Experiência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0_lucas_sala_reuniao.png"/>
          <p:cNvPicPr>
            <a:picLocks noChangeAspect="1"/>
          </p:cNvPicPr>
          <p:nvPr/>
        </p:nvPicPr>
        <p:blipFill>
          <a:blip r:embed="rId3"/>
          <a:srcRect l="25218" r="36761"/>
          <a:stretch>
            <a:fillRect/>
          </a:stretch>
        </p:blipFill>
        <p:spPr>
          <a:xfrm>
            <a:off x="0" y="0"/>
            <a:ext cx="694944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78308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O PAPEL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2331720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NÃO É APARECER POR APARECER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8120" y="3250692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3634740"/>
            <a:ext cx="9601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É usar conhecimento e experiência para:</a:t>
            </a:r>
          </a:p>
        </p:txBody>
      </p:sp>
      <p:sp>
        <p:nvSpPr>
          <p:cNvPr id="9" name="Oval 8"/>
          <p:cNvSpPr/>
          <p:nvPr/>
        </p:nvSpPr>
        <p:spPr>
          <a:xfrm>
            <a:off x="7824978" y="4680661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4573219"/>
            <a:ext cx="9162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Despertar</a:t>
            </a:r>
          </a:p>
        </p:txBody>
      </p:sp>
      <p:sp>
        <p:nvSpPr>
          <p:cNvPr id="11" name="Oval 10"/>
          <p:cNvSpPr/>
          <p:nvPr/>
        </p:nvSpPr>
        <p:spPr>
          <a:xfrm>
            <a:off x="7824978" y="5494843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5387401"/>
            <a:ext cx="9162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Explicar</a:t>
            </a:r>
          </a:p>
        </p:txBody>
      </p:sp>
      <p:sp>
        <p:nvSpPr>
          <p:cNvPr id="13" name="Oval 12"/>
          <p:cNvSpPr/>
          <p:nvPr/>
        </p:nvSpPr>
        <p:spPr>
          <a:xfrm>
            <a:off x="7824978" y="6309025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6201583"/>
            <a:ext cx="9162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Orientar</a:t>
            </a:r>
          </a:p>
        </p:txBody>
      </p:sp>
      <p:sp>
        <p:nvSpPr>
          <p:cNvPr id="15" name="Oval 14"/>
          <p:cNvSpPr/>
          <p:nvPr/>
        </p:nvSpPr>
        <p:spPr>
          <a:xfrm>
            <a:off x="7824978" y="7123206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7015764"/>
            <a:ext cx="9162288" cy="5764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Construir confiança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8404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389120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1C1C1A"/>
                </a:solidFill>
                <a:latin typeface="Outfit 1 Light"/>
              </a:rPr>
              <a:t>MANIFESTO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6355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6294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A5A49F"/>
                </a:solidFill>
                <a:latin typeface="Outfit 1 Light"/>
              </a:rPr>
              <a:t>A marca em palavras, e a marca em uma página.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MANIFESTO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017520"/>
            <a:ext cx="6629400" cy="639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Há coisas que levam anos para construir.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31310"/>
            <a:ext cx="6629400" cy="11875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Uma carreira. Uma família. Uma empresa. Um patrimônio. Uma história.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393131"/>
            <a:ext cx="6629400" cy="639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Nem tudo pode ser previsto.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3017520"/>
            <a:ext cx="6629400" cy="639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Mas muito pode ser preparado.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3931310"/>
            <a:ext cx="6629400" cy="11875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400" i="0" b="0">
                <a:solidFill>
                  <a:srgbClr val="1C1C1A"/>
                </a:solidFill>
                <a:latin typeface="Outfit 1 Light"/>
              </a:rPr>
              <a:t>Proteção é preservar possibilidades quando a vida foge do previsto.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614233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6416650"/>
            <a:ext cx="1426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 spc="220">
                <a:solidFill>
                  <a:srgbClr val="A5A49F"/>
                </a:solidFill>
                <a:latin typeface="Outfit 2"/>
              </a:rPr>
              <a:t>LUCAS MARTINI  |  PROTEÇÃO &amp; SUCESSÃO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83080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5A49F"/>
                </a:solidFill>
                <a:latin typeface="Outfit 2"/>
              </a:rPr>
              <a:t>A MARCA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331720"/>
            <a:ext cx="14264640" cy="795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600" i="0" b="0">
                <a:solidFill>
                  <a:srgbClr val="1C1C1A"/>
                </a:solidFill>
                <a:latin typeface="Outfit 1 Light"/>
              </a:rPr>
              <a:t>LUCAS MARTINI · PROTEÇÃO &amp; SUCESSÃO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16382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3566160"/>
            <a:ext cx="6720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767328"/>
            <a:ext cx="6720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CRENÇA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059936"/>
            <a:ext cx="6720840" cy="9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O que levou anos para ser construído não deveria ficar entregue ao acaso.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026000"/>
            <a:ext cx="6720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227168"/>
            <a:ext cx="6720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RAZÃO DE 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519776"/>
            <a:ext cx="6720840" cy="46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Preservar possibilidades.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55480" y="3566160"/>
            <a:ext cx="6720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3767328"/>
            <a:ext cx="6720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TERRITÓRIO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4059936"/>
            <a:ext cx="6720840" cy="46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Continuidade.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4579544"/>
            <a:ext cx="67208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4780712"/>
            <a:ext cx="6720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PERSONALIDADE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5073320"/>
            <a:ext cx="6720840" cy="464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Autoridade discreta.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2437191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SÍNTESE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839527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260151"/>
            <a:ext cx="14081760" cy="22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983" i="0" b="0">
                <a:solidFill>
                  <a:srgbClr val="1C1C1A"/>
                </a:solidFill>
                <a:latin typeface="Outfit 1 Light"/>
              </a:rPr>
              <a:t>Preparar antes.</a:t>
            </a:r>
          </a:p>
          <a:p>
            <a:pPr algn="l">
              <a:lnSpc>
                <a:spcPct val="126000"/>
              </a:lnSpc>
            </a:pPr>
            <a:r>
              <a:rPr sz="4983" i="0" b="0">
                <a:solidFill>
                  <a:srgbClr val="1C1C1A"/>
                </a:solidFill>
                <a:latin typeface="Outfit 1 Light"/>
              </a:rPr>
              <a:t>Proteger o que foi construído.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740898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Preservar recursos, alternativas e possibilidades para que aquilo que importa possa continuar.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10_lucas_sala_reuniao.png"/>
          <p:cNvPicPr>
            <a:picLocks noChangeAspect="1"/>
          </p:cNvPicPr>
          <p:nvPr/>
        </p:nvPicPr>
        <p:blipFill>
          <a:blip r:embed="rId3"/>
          <a:srcRect b="5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C1C1A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164834"/>
            <a:ext cx="1426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FFFFFF"/>
                </a:solidFill>
                <a:latin typeface="Outfit 2"/>
              </a:rPr>
              <a:t>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42074"/>
            <a:ext cx="14081760" cy="21285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672" i="0" b="0">
                <a:solidFill>
                  <a:srgbClr val="FFFFFF"/>
                </a:solidFill>
                <a:latin typeface="Outfit 1 Light"/>
              </a:rPr>
              <a:t>Quando algo muda,</a:t>
            </a:r>
          </a:p>
          <a:p>
            <a:pPr algn="l">
              <a:lnSpc>
                <a:spcPct val="126000"/>
              </a:lnSpc>
            </a:pPr>
            <a:r>
              <a:rPr sz="4672" i="0" b="0">
                <a:solidFill>
                  <a:srgbClr val="FFFFFF"/>
                </a:solidFill>
                <a:latin typeface="Outfit 1 Light"/>
              </a:rPr>
              <a:t>ainda precisam existir escolhas.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6107182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6418078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É isso que a proteção bem estruturada torna possível.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