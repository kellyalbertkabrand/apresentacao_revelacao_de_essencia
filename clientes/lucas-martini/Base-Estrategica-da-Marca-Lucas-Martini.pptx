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kelly-alb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vm-ro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52535"/>
                </a:solidFill>
                <a:latin typeface="Outfit 1 Bold"/>
              </a:rPr>
              <a:t>BASE ESTRATÉGICA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52535"/>
                </a:solidFill>
                <a:latin typeface="Outfit 1 Bold"/>
              </a:rPr>
              <a:t>DA MARCA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52535"/>
                </a:solidFill>
                <a:latin typeface="Outfit 1 Bold"/>
              </a:rPr>
              <a:t>Lucas Martini</a:t>
            </a:r>
            <a:r>
              <a:rPr sz="3000" i="0" b="0">
                <a:solidFill>
                  <a:srgbClr val="152535"/>
                </a:solidFill>
                <a:latin typeface="Outfit 1"/>
              </a:rPr>
              <a:t>  |  Proteção &amp; Sucessão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1545336" y="7790688"/>
            <a:ext cx="12802" cy="896112"/>
          </a:xfrm>
          <a:prstGeom prst="rect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764024" y="7790688"/>
            <a:ext cx="12802" cy="896112"/>
          </a:xfrm>
          <a:prstGeom prst="rect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88936" y="7790688"/>
            <a:ext cx="12802" cy="896112"/>
          </a:xfrm>
          <a:prstGeom prst="rect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7790688"/>
            <a:ext cx="12802" cy="896112"/>
          </a:xfrm>
          <a:prstGeom prst="rect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52535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52535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52535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52535"/>
                </a:solidFill>
                <a:latin typeface="Outfit 2"/>
              </a:rPr>
              <a:t>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52535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03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CONTEÚDO</a:t>
            </a:r>
          </a:p>
        </p:txBody>
      </p:sp>
      <p:sp>
        <p:nvSpPr>
          <p:cNvPr id="4" name="Rectangle 3"/>
          <p:cNvSpPr/>
          <p:nvPr/>
        </p:nvSpPr>
        <p:spPr>
          <a:xfrm>
            <a:off x="4727319" y="2214146"/>
            <a:ext cx="3410841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3438144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3566160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ESSÊNCIA DA MARCA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224528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443984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4352544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QUEM É LUCAS MARTINI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10912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30368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5138928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CAUSA, LIDERANÇA E TRIBO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97296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016752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925312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PRINCÍPIO CENTRAL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583680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803136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6711696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PÚBLICO-ALVO E PERSONA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7370064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758952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7498080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ARQUÉTIPOS DA MARCA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156448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8375904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8284464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PILARES DA MARCA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92640" y="3438144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0" y="365760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3566160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DNA DA MARCA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4224528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4443984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4200" y="4352544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VOZ DA MARCA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5010912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0" y="5230368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44200" y="5138928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TOM DE VOZ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92640" y="5797296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92640" y="6016752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44200" y="5925312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POSICIONAMENTO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640" y="6583680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92640" y="6803136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44200" y="6711696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GOLDEN CIRCLE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7370064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92640" y="7589520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4200" y="7498080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ARQUITETURA DA MARCA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8156448"/>
            <a:ext cx="768096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8375904"/>
            <a:ext cx="1005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37" i="0" b="0" spc="240">
                <a:solidFill>
                  <a:srgbClr val="C87A44"/>
                </a:solidFill>
                <a:latin typeface="Outfit 1 Semi-Bold"/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44200" y="8284464"/>
            <a:ext cx="6629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68" i="0" b="0" spc="60">
                <a:solidFill>
                  <a:srgbClr val="152535"/>
                </a:solidFill>
                <a:latin typeface="Outfit 1 Light"/>
              </a:rPr>
              <a:t>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04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55697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31185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ESSÊNCIA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458949" y="4830017"/>
            <a:ext cx="3679211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3668345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Construir segurança para preservar liberdade de escolha.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4938294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A marca parte da ideia de que nem tudo pode ser previsto, mas é possível se preparar para que um imprevisto não elimine alternativas nem comprometa tudo o que foi construído.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05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55697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31185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QUEM É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LUCAS MARTINI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134" y="4830017"/>
            <a:ext cx="2423026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3668345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Especialista em Proteção &amp; Sucessão, com mais de dez anos de atuação.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4938294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Sua experiência no mercado financeiro e a vivência com famílias e empresas deram origem a uma atuação consultiva, baseada em </a:t>
            </a:r>
            <a:r>
              <a:rPr sz="2100" i="0" b="0">
                <a:solidFill>
                  <a:srgbClr val="152535"/>
                </a:solidFill>
                <a:latin typeface="Outfit 1 Semi-Bold"/>
              </a:rPr>
              <a:t>planejamento, personalização, relacionamento e acompanhamento.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06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871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94204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CAUSA, LIDERANÇA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E TRIBO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72394" y="3793036"/>
            <a:ext cx="10501206" cy="12802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17364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CAUSA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283124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PREPARAR ANTES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313856"/>
            <a:ext cx="505968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569888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Ampliar a cultura de proteção e preparação antes do imprevisto.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4160" y="4917364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LIDERANÇA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160" y="5283124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ENXERGAR ANTES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4160" y="6313856"/>
            <a:ext cx="505968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60" y="6569888"/>
            <a:ext cx="5059680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Ajudar pessoas a enxergar riscos, impactos e possibilidades antes que a urgência determine as decisões.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13920" y="4917364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TRIBO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13920" y="5283124"/>
            <a:ext cx="505968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QUEM CARREGA RESPONSABILIDADE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13920" y="6313856"/>
            <a:ext cx="505968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13920" y="6569888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Pessoas que carregam responsabilidade sobre renda, família, patrimônio ou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07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54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7094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PRINCÍPIO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CENTRAL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252208" y="5069780"/>
            <a:ext cx="3885952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390810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O que levou anos para ser construído não deveria ficar entregue ao acaso.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5178057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Planejamento é uma forma de proteger conquistas e preservar possibilidades diante do que não pode ser controlado.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08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15933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421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PÚBLICO-ALVO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E PERSONA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3300" y="4590253"/>
            <a:ext cx="2454860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3428581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Profissionais, empresários, sócios e famílias que possuem responsabilidades financeiras, patrimoniais ou sucessórias e </a:t>
            </a:r>
            <a:r>
              <a:rPr sz="2100" i="0" b="0">
                <a:solidFill>
                  <a:srgbClr val="152535"/>
                </a:solidFill>
                <a:latin typeface="Outfit 1 Semi-Bold"/>
              </a:rPr>
              <a:t>querem proteger o que construíram.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5178057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A persona central é alguém que entende o valor das suas conquistas e quer se preparar para que um imprevisto não comprometa sua família, seu patrimônio ou sua empresa.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09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1969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17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ARQUÉTIPOS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76975" y="3394010"/>
            <a:ext cx="12296625" cy="12802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18338"/>
            <a:ext cx="7909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84098"/>
            <a:ext cx="790956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O SÁBIO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5436040"/>
            <a:ext cx="790956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92072"/>
            <a:ext cx="790956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Traduz complexidade, orienta decisões e transforma informação em planejamento.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4518338"/>
            <a:ext cx="7909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SECUNDÁRIO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4884098"/>
            <a:ext cx="790956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O CUIDADOR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5436040"/>
            <a:ext cx="790956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5692072"/>
            <a:ext cx="790956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Protege, acompanha e assume responsabilidade sobre decisões que afetam pessoas, famílias e empresas.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7333353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Os arquétipos são uma síntese estratégica a partir da atuação consultiva, do relacionamento e da responsabilidade descritos pelo próprio Lucas.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10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8823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3724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PILARES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458949" y="3762556"/>
            <a:ext cx="12914651" cy="12802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1548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C87A44"/>
                </a:solidFill>
                <a:latin typeface="Outfit 1 L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9678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152535"/>
                </a:solidFill>
                <a:latin typeface="Outfit 1 Semi-Bold"/>
              </a:rPr>
              <a:t>PROTEÇÃO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326048"/>
            <a:ext cx="2838298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60036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Preservar o que foi construído.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9626" y="511548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C87A44"/>
                </a:solidFill>
                <a:latin typeface="Outfit 1 L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9626" y="589678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152535"/>
                </a:solidFill>
                <a:latin typeface="Outfit 1 Semi-Bold"/>
              </a:rPr>
              <a:t>PLANEJAMENTO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9626" y="6326048"/>
            <a:ext cx="2838298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9626" y="660036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Antecipar riscos e criar alternativas.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4851" y="511548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C87A44"/>
                </a:solidFill>
                <a:latin typeface="Outfit 1 Ligh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4851" y="589678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152535"/>
                </a:solidFill>
                <a:latin typeface="Outfit 1 Semi-Bold"/>
              </a:rPr>
              <a:t>PERSONALIZAÇÃO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4851" y="6326048"/>
            <a:ext cx="2838298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4851" y="660036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Construir soluções a partir de cada realidade.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30077" y="511548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C87A44"/>
                </a:solidFill>
                <a:latin typeface="Outfit 1 Ligh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30077" y="589678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152535"/>
                </a:solidFill>
                <a:latin typeface="Outfit 1 Semi-Bold"/>
              </a:rPr>
              <a:t>CONFIANÇA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130077" y="6326048"/>
            <a:ext cx="2838298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077" y="6600368"/>
            <a:ext cx="2838298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Sustentar relações de longo prazo.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35302" y="5115484"/>
            <a:ext cx="2838298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4400" i="0" b="0">
                <a:solidFill>
                  <a:srgbClr val="C87A44"/>
                </a:solidFill>
                <a:latin typeface="Outfit 1 Light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535302" y="5896788"/>
            <a:ext cx="2838298" cy="3378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i="0" b="0" spc="220">
                <a:solidFill>
                  <a:srgbClr val="152535"/>
                </a:solidFill>
                <a:latin typeface="Outfit 1 Semi-Bold"/>
              </a:rPr>
              <a:t>CONTINUIDADE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535302" y="6326048"/>
            <a:ext cx="2838298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535302" y="6600368"/>
            <a:ext cx="2838298" cy="13783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Permitir que família, patrimônio e empresa possam seguir.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11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54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70948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DNA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458949" y="5069780"/>
            <a:ext cx="3679211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3908108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Proteção. Confiança. Responsabilidade. Personalização. Continuidade.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5178057"/>
            <a:ext cx="6858000" cy="14934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Esses são os atributos que devem permanecer presentes em qualquer expressão da marca, do atendimento à comunicação.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12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74986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50474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VOZ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458949" y="5549306"/>
            <a:ext cx="3679211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4387634"/>
            <a:ext cx="6858000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A voz de Lucas deve transmitir </a:t>
            </a:r>
            <a:r>
              <a:rPr sz="2100" i="0" b="0">
                <a:solidFill>
                  <a:srgbClr val="152535"/>
                </a:solidFill>
                <a:latin typeface="Outfit 1 Semi-Bold"/>
              </a:rPr>
              <a:t>conhecimento sem distanciamento</a:t>
            </a:r>
            <a:r>
              <a:rPr sz="2100" i="0" b="0">
                <a:solidFill>
                  <a:srgbClr val="5A6066"/>
                </a:solidFill>
                <a:latin typeface="Outfit 1 Light"/>
              </a:rPr>
              <a:t> e </a:t>
            </a:r>
            <a:r>
              <a:rPr sz="2100" i="0" b="0">
                <a:solidFill>
                  <a:srgbClr val="152535"/>
                </a:solidFill>
                <a:latin typeface="Outfit 1 Semi-Bold"/>
              </a:rPr>
              <a:t>segurança sem arrogância.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5657583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Clara, segura, humana, elegante e consultiva.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13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59305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34793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TOM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DE VOZ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921" y="3833625"/>
            <a:ext cx="4602239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921240" y="3174873"/>
            <a:ext cx="685800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336232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22" i="0" b="0">
                <a:solidFill>
                  <a:srgbClr val="C87A44"/>
                </a:solidFill>
                <a:latin typeface="Outfit 1 Light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3321177"/>
            <a:ext cx="6355080" cy="56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Técnico</a:t>
            </a:r>
            <a:r>
              <a:rPr sz="2100" i="0" b="0">
                <a:solidFill>
                  <a:srgbClr val="5A6066"/>
                </a:solidFill>
                <a:latin typeface="Outfit 1 Light"/>
              </a:rPr>
              <a:t>, sem ser complicado.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921240" y="4119966"/>
            <a:ext cx="685800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21240" y="430741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22" i="0" b="0">
                <a:solidFill>
                  <a:srgbClr val="C87A44"/>
                </a:solidFill>
                <a:latin typeface="Outfit 1 Light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4266270"/>
            <a:ext cx="6355080" cy="56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Direto</a:t>
            </a:r>
            <a:r>
              <a:rPr sz="2100" i="0" b="0">
                <a:solidFill>
                  <a:srgbClr val="5A6066"/>
                </a:solidFill>
                <a:latin typeface="Outfit 1 Light"/>
              </a:rPr>
              <a:t>, sem ser frio.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21240" y="5065060"/>
            <a:ext cx="685800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525251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22" i="0" b="0">
                <a:solidFill>
                  <a:srgbClr val="C87A44"/>
                </a:solidFill>
                <a:latin typeface="Outfit 1 Light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5211364"/>
            <a:ext cx="6355080" cy="56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Seguro</a:t>
            </a:r>
            <a:r>
              <a:rPr sz="2100" i="0" b="0">
                <a:solidFill>
                  <a:srgbClr val="5A6066"/>
                </a:solidFill>
                <a:latin typeface="Outfit 1 Light"/>
              </a:rPr>
              <a:t>, sem ser arrogante.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21240" y="6010153"/>
            <a:ext cx="685800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21240" y="619760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22" i="0" b="0">
                <a:solidFill>
                  <a:srgbClr val="C87A44"/>
                </a:solidFill>
                <a:latin typeface="Outfit 1 Light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156457"/>
            <a:ext cx="6355080" cy="56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Humano</a:t>
            </a:r>
            <a:r>
              <a:rPr sz="2100" i="0" b="0">
                <a:solidFill>
                  <a:srgbClr val="5A6066"/>
                </a:solidFill>
                <a:latin typeface="Outfit 1 Light"/>
              </a:rPr>
              <a:t>, sem dramatização.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21240" y="6955246"/>
            <a:ext cx="685800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21240" y="714269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22" i="0" b="0">
                <a:solidFill>
                  <a:srgbClr val="C87A44"/>
                </a:solidFill>
                <a:latin typeface="Outfit 1 Light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7101550"/>
            <a:ext cx="6355080" cy="5610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Sofisticado</a:t>
            </a:r>
            <a:r>
              <a:rPr sz="2100" i="0" b="0">
                <a:solidFill>
                  <a:srgbClr val="5A6066"/>
                </a:solidFill>
                <a:latin typeface="Outfit 1 Light"/>
              </a:rPr>
              <a:t>, sem ostentação.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7900340"/>
            <a:ext cx="6858000" cy="7315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14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954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70948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POSICIONAMENTO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618034" y="4247734"/>
            <a:ext cx="1520126" cy="12802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21240" y="3908108"/>
            <a:ext cx="6858000" cy="19729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Lucas Martini é especialista em Proteção &amp; Sucessão para pessoas, famílias e empresas que querem preservar o que construíram e manter possibilidades diante de imprevistos e transições.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21240" y="6137110"/>
            <a:ext cx="6858000" cy="5343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52535"/>
                </a:solidFill>
                <a:latin typeface="Outfit 1 Semi-Bold"/>
              </a:rPr>
              <a:t>Proteção &amp; Sucessão para o que precisa continuar.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15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3929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14786"/>
            <a:ext cx="8412480" cy="9134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GOLDEN CIRCLE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00468" y="3191572"/>
            <a:ext cx="11373132" cy="12802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137946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POR QUÊ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03706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PRESERVAR POSSIBILIDADES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534438"/>
            <a:ext cx="505968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6790470"/>
            <a:ext cx="5059680" cy="496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Quando a vida foge do previsto.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4160" y="5137946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COMO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160" y="5503706"/>
            <a:ext cx="505968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COM PLANEJAMENTO PERSONALIZADO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4160" y="6534438"/>
            <a:ext cx="505968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14160" y="6790470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Conhecimento, relacionamento e acompanhamento ao longo do tempo.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13920" y="5137946"/>
            <a:ext cx="5059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O QUÊ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13920" y="5503706"/>
            <a:ext cx="505968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ESTRATÉGIAS DE PROTEÇÃO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13920" y="6534438"/>
            <a:ext cx="505968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13920" y="6790470"/>
            <a:ext cx="5059680" cy="9371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32" i="0" b="0">
                <a:solidFill>
                  <a:srgbClr val="5A6066"/>
                </a:solidFill>
                <a:latin typeface="Outfit 1 Light"/>
              </a:rPr>
              <a:t>Proteção pessoal, familiar, empresarial e sucessória.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C87A44"/>
                </a:solidFill>
                <a:latin typeface="Outfit 1 Semi-Bold"/>
              </a:rPr>
              <a:t>16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90832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83816"/>
            <a:ext cx="8412480" cy="17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ARQUITETURA</a:t>
            </a:r>
          </a:p>
          <a:p>
            <a:pPr algn="l">
              <a:lnSpc>
                <a:spcPct val="116000"/>
              </a:lnSpc>
            </a:pPr>
            <a:r>
              <a:rPr sz="4500" i="0" b="0" spc="60">
                <a:solidFill>
                  <a:srgbClr val="152535"/>
                </a:solidFill>
                <a:latin typeface="Outfit 1 Light"/>
              </a:rPr>
              <a:t>DA MARCA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59646" y="3682648"/>
            <a:ext cx="11913954" cy="12802"/>
          </a:xfrm>
          <a:prstGeom prst="rect">
            <a:avLst/>
          </a:prstGeom>
          <a:solidFill>
            <a:srgbClr val="E2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944136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MARCA PESSOAL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9896"/>
            <a:ext cx="363474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LUCAS MARTINI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6340628"/>
            <a:ext cx="363474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89220" y="4944136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ATUAÇÃO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9220" y="5309896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PROTEÇÃO &amp; SUCESSÃO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89220" y="6340628"/>
            <a:ext cx="363474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4944136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ASSINATURA EMPRESARIAL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5309896"/>
            <a:ext cx="3634740" cy="1049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MARTINI | PROTEÇÃO &amp; SUCESSÃO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64040" y="6340628"/>
            <a:ext cx="363474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38860" y="4944136"/>
            <a:ext cx="36347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C87A44"/>
                </a:solidFill>
                <a:latin typeface="Outfit 1 Semi-Bold"/>
              </a:rPr>
              <a:t>MONOGRAMA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38860" y="5309896"/>
            <a:ext cx="3634740" cy="570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i="0" b="0" spc="40">
                <a:solidFill>
                  <a:srgbClr val="152535"/>
                </a:solidFill>
                <a:latin typeface="Outfit 1 Light"/>
              </a:rPr>
              <a:t>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38860" y="6340628"/>
            <a:ext cx="3634740" cy="10973"/>
          </a:xfrm>
          <a:prstGeom prst="rect">
            <a:avLst/>
          </a:prstGeom>
          <a:solidFill>
            <a:srgbClr val="C8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044716"/>
            <a:ext cx="12179808" cy="1013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5A6066"/>
                </a:solidFill>
                <a:latin typeface="Outfit 1 Light"/>
              </a:rPr>
              <a:t>O uso de “Martini” ganha força porque é a forma pela qual Lucas já é reconhecido em seu convívio pessoal e profissional.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53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ama-direita.png"/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0" y="6217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1150" i="0" b="0" spc="260">
                <a:solidFill>
                  <a:srgbClr val="F0A337"/>
                </a:solidFill>
                <a:latin typeface="Outfit 1 Semi-Bold"/>
              </a:rP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i="0" b="0" spc="280">
                <a:solidFill>
                  <a:srgbClr val="F0A337"/>
                </a:solidFill>
                <a:latin typeface="Outfit 1 Semi-Bold"/>
              </a:rPr>
              <a:t>14 · MANIFESTO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97480"/>
            <a:ext cx="14630400" cy="57482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HÁ COISAS QUE LEVAM ANOS PARA CONSTRUIR.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UMA CARREIRA. UMA FAMÍLIA. UMA EMPRESA.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UM PATRIMÔNIO. UMA HISTÓRIA.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NEM TUDO PODE SER PREVISTO.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MAS MUITO PODE SER PREPARADO.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PLANEJAR É PROTEGER O QUE FOI CONSTRUÍDO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ENQUANTO AINDA EXISTE TEMPO PARA ESCOLHER.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PORQUE PROTEÇÃO NÃO EXISTE APENAS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2F1EC"/>
                </a:solidFill>
                <a:latin typeface="Outfit 1 Light"/>
              </a:rPr>
              <a:t>PARA PRESERVAR PATRIMÔNIO.</a:t>
            </a:r>
          </a:p>
          <a:p>
            <a:pPr algn="l">
              <a:lnSpc>
                <a:spcPct val="114000"/>
              </a:lnSpc>
            </a:pPr>
            <a:r>
              <a:rPr sz="3100" i="0" b="0">
                <a:solidFill>
                  <a:srgbClr val="F0A337"/>
                </a:solidFill>
                <a:latin typeface="Outfit 1 Bold"/>
              </a:rPr>
              <a:t>EXISTE PARA PRESERVAR POSSIBILIDADES.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858" y="2295789"/>
            <a:ext cx="4894599" cy="48945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852160"/>
            <a:ext cx="182880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87" i="0" b="0" spc="420">
                <a:solidFill>
                  <a:srgbClr val="C87A44"/>
                </a:solidFill>
                <a:latin typeface="Outfit 1 Semi-Bold"/>
              </a:rPr>
              <a:t>OBRIGADA!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10528"/>
            <a:ext cx="1828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50" i="0" b="0">
                <a:solidFill>
                  <a:srgbClr val="9AA0A6"/>
                </a:solidFill>
                <a:latin typeface="Outfit 1 Light"/>
              </a:rPr>
              <a:t>Método Marca com Essência ©   ·   KA | Inteligência para Marcas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