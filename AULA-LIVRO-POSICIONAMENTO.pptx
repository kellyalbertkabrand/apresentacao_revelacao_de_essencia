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00:00 | Abertura. Nao se apresente ainda. Abra com a pergunta: 'quantos de voces ja leram um livro de negocios inteiro e nao mudaram uma virgula na empresa?' Essa e a dor que a aula resolve.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00:02 | Contrato da aula: 'em 70 minutos voce nao vai aprender sobre marca. Voce vai SAIR daqui com o Raio-X da sua marca preenchido.' Peca o livro aberto e caneta na mao.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00:04 | Leia a frase em voz alta e faca silencio de 3 segundos. Nao explique ainda.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00:05 | Entregaveis concretos. Isso segura a atencao ate o fim. Repita: 'voce sai com entregavel, nao com anotacao'.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00:07 | Autoridade em 90 segundos, nao em 5 minutos. Credencial que importa: resultado de cliente, nao curriculo.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00:08 | Bloco 1: o diagnostico. Objetivo: o empresario se reconhecer no problema antes de ouvir o metodo.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00:10 | Frase-chave: 'marca nao e o que voce diz que e. E o espaco que voce ocupa na cabeca de alguem.' Pergunte: 'o que dizem de voces quando voces saem da sala?'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00:13 | Leia um a um e peca levantada de mao. Isso gera identificacao publica e prepara o Exercicio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00:16 | Regra pratica: reposicionar nao e apagar. E reinterpretar. Dar 1 exemplo real de cliente (com ou sem nome).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00:18 | Este e o slide que quebra a objecao mais comum ('ja fiz rebranding ano passado'). Ferida aberta: 'quanto voce ja gastou em visual sem mudar percepcao?'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00:19 | 3 min de silencio real. Cronometre. Depois recolha 2 ou 3 respostas em voz alta. NAO corrija ninguem aqui.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00:22 | Bloco 2: a arquitetura. Aqui voce ensina a LER, nao repete o conteudo do livro.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00:24 | Base teorica: Edgar Schein (cultura organizacional). Cite sem academicismo. Frase de ouro: 'nada se inventa, tudo se traduz'.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00:26 | Slide-mapa da aula inteira. Volte nele antes de cada camada. Peca para fotografarem.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00:28 | Camada 01. Regra: 1 conceito + 1 exemplo + 1 pergunta para a plateia. Nao passe de 3 minutos por camada.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00:31 | Camada 02. Regra: 1 conceito + 1 exemplo + 1 pergunta para a plateia. Nao passe de 3 minutos por camada.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00:34 | Camada 03. Regra: 1 conceito + 1 exemplo + 1 pergunta para a plateia. Nao passe de 3 minutos por camada.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00:37 | Camada 04. Regra: 1 conceito + 1 exemplo + 1 pergunta para a plateia. Nao passe de 3 minutos por camada.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00:40 | Camada 05. Regra: 1 conceito + 1 exemplo + 1 pergunta para a plateia. Nao passe de 3 minutos por camada.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00:43 | Este e o slide que justifica a consultoria mais tarde. Plante aqui, colha no Bloco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00:44 | Bloco 3: do conceito para o protocolo. Aqui a aula vira oficina.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00:45 | Diferencial da aula: voce esta ensinando METODO DE USO, nao resumindo o livro. Diga isso em voz 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00:48 | Peca para fotografarem. Este slide costuma virar print compartilhado — e uma isca organica.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00:50 | Coracao da aula. 6 min cronometrados. Depois, 3 voluntarios leem em voz alta e VOCE devolve leitura ao vivo — e aqui que a consultoria se vende sozinha.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00:56 | Prepare o terreno da oferta sem vender ainda. 'Fazer sozinho dentro da propria cabeca' e a objecao central.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00:58 | Bloco 4: diferencial competitivo da aula. Ninguem no mercado de branding esta ensinando isso direito.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01:00 | Frase-chave: 'IA nao tem essencia. Ela tem padrao. Essencia e o que voce vive; padrao e o que todo mundo ja escreveu.'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01:02 | Oferta de bonus: os 4 prompts prontos em troca do e-mail/WhatsApp. Melhor ponto de captura de lead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01:04 | Bloco 5: a oferta. Tom de honestidade, nao de pitch. Voce esta qualificando, nao empurrando.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01:05 | Nao ataque o 'sozinho'. Valide. Quem se ve na coluna da direita se autoqualifica — e esses sao os seus clientes.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01:07 | Mostre o processo, nao o preco. Preco e conversa individual. Aqui voce so instala a percepcao de metodo.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01:09 | Fechamento do circulo aberto no Exercicio 1. Convite direto, uma vez so, sem repetir tres vezes.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01:11 | Pausa. Deixe o slide no ar enquanto abre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01:13 | Encerre no horario. Ultima frase dita em voz alta deve ser o convite, nao o agradecimento.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pape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36192" y="3383280"/>
            <a:ext cx="12070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0" b="1" i="0">
                <a:solidFill>
                  <a:srgbClr val="000000"/>
                </a:solidFill>
                <a:latin typeface="Outfit"/>
              </a:rPr>
              <a:t>COMO TRANSFORMAR O LIVRO</a:t>
            </a:r>
          </a:p>
          <a:p>
            <a:r>
              <a:rPr sz="7500" b="1" i="0" spc="100">
                <a:solidFill>
                  <a:srgbClr val="000000"/>
                </a:solidFill>
                <a:latin typeface="Outfit"/>
              </a:rPr>
              <a:t>EM UMA MARCA POSICIONADA</a:t>
            </a:r>
          </a:p>
        </p:txBody>
      </p:sp>
      <p:pic>
        <p:nvPicPr>
          <p:cNvPr id="4" name="Picture 3" descr="tra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0" y="3657600"/>
            <a:ext cx="1490472" cy="17739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36192" y="5897880"/>
            <a:ext cx="1325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1A1A1A"/>
                </a:solidFill>
                <a:latin typeface="Outfit"/>
              </a:rPr>
              <a:t>Uma aula para o empresário que quer </a:t>
            </a:r>
            <a:r>
              <a:rPr sz="3000" b="1" i="0">
                <a:solidFill>
                  <a:srgbClr val="1A1A1A"/>
                </a:solidFill>
                <a:latin typeface="Outfit"/>
              </a:rPr>
              <a:t>posicionar ou reposicionar a sua marca.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7772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0" i="0" spc="150">
                <a:solidFill>
                  <a:srgbClr val="000000"/>
                </a:solidFill>
                <a:latin typeface="Outfit"/>
              </a:rPr>
              <a:t>[MÊS/ANO]</a:t>
            </a:r>
          </a:p>
          <a:p>
            <a:r>
              <a:rPr sz="2650" b="0" i="0">
                <a:solidFill>
                  <a:srgbClr val="1A1A1A"/>
                </a:solidFill>
                <a:latin typeface="Outfit"/>
              </a:rPr>
              <a:t>Método </a:t>
            </a:r>
            <a:r>
              <a:rPr sz="2650" b="1" i="0">
                <a:solidFill>
                  <a:srgbClr val="1A1A1A"/>
                </a:solidFill>
                <a:latin typeface="Outfit"/>
              </a:rPr>
              <a:t>Marca com Essência </a:t>
            </a:r>
            <a:r>
              <a:rPr sz="1500" b="1" i="0">
                <a:solidFill>
                  <a:srgbClr val="1A1A1A"/>
                </a:solidFill>
                <a:latin typeface="Outfit"/>
              </a:rPr>
              <a:t>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pape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37360" y="82296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0" b="1" i="0">
                <a:solidFill>
                  <a:srgbClr val="000000"/>
                </a:solidFill>
                <a:latin typeface="Outfit"/>
              </a:rPr>
              <a:t>O CAMINHO DE HOJE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6517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39" y="2816352"/>
            <a:ext cx="6035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0" i="0">
                <a:solidFill>
                  <a:srgbClr val="7A7A72"/>
                </a:solidFill>
                <a:latin typeface="Outfit"/>
              </a:rPr>
              <a:t>O diagnóstico: por que marcas boas ficam invisíveis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40233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39" y="4187952"/>
            <a:ext cx="6035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0" i="0">
                <a:solidFill>
                  <a:srgbClr val="7A7A72"/>
                </a:solidFill>
                <a:latin typeface="Outfit"/>
              </a:rPr>
              <a:t>Como o livro funciona por dentro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3949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39" y="5559552"/>
            <a:ext cx="6035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0" i="0">
                <a:solidFill>
                  <a:srgbClr val="7A7A72"/>
                </a:solidFill>
                <a:latin typeface="Outfit"/>
              </a:rPr>
              <a:t>Mãos no livro: o protocolo de aplicação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26517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2816352"/>
            <a:ext cx="6035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0" i="0">
                <a:solidFill>
                  <a:srgbClr val="7A7A72"/>
                </a:solidFill>
                <a:latin typeface="Outfit"/>
              </a:rPr>
              <a:t>IA como copiloto da aplicação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40233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4187952"/>
            <a:ext cx="6035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0" i="0">
                <a:solidFill>
                  <a:srgbClr val="7A7A72"/>
                </a:solidFill>
                <a:latin typeface="Outfit"/>
              </a:rPr>
              <a:t>O que o livro resolve e o que exige acompanhamento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53949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5640" y="5559552"/>
            <a:ext cx="6035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0" i="0">
                <a:solidFill>
                  <a:srgbClr val="7A7A72"/>
                </a:solidFill>
                <a:latin typeface="Outfit"/>
              </a:rPr>
              <a:t>Seu próximo passo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18872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0" b="1" i="0">
                <a:solidFill>
                  <a:srgbClr val="1A1A1A"/>
                </a:solidFill>
                <a:latin typeface="Outfit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3108960"/>
            <a:ext cx="12344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0" i="0">
                <a:solidFill>
                  <a:srgbClr val="1A1A1A"/>
                </a:solidFill>
                <a:latin typeface="Outfit"/>
              </a:rPr>
              <a:t>[FRASE DE ABERTURA DO LIVRO — a frase que resume a tese central, </a:t>
            </a:r>
            <a:r>
              <a:rPr sz="4300" b="1" i="0">
                <a:solidFill>
                  <a:srgbClr val="1A1A1A"/>
                </a:solidFill>
                <a:latin typeface="Outfit"/>
              </a:rPr>
              <a:t>com 3 a 5 palavras em bold]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7132320"/>
            <a:ext cx="1234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 spc="200">
                <a:solidFill>
                  <a:srgbClr val="7A7A72"/>
                </a:solidFill>
                <a:latin typeface="Outfit"/>
              </a:rPr>
              <a:t>[NOME DO LIVRO]  ·  [CAPÍTULO]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9281160"/>
            <a:ext cx="1517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 spc="100">
                <a:solidFill>
                  <a:srgbClr val="C8BFA8"/>
                </a:solidFill>
                <a:latin typeface="Outfit"/>
              </a:rPr>
              <a:t>[ Escolher a frase do livro que mais provoca desconforto — não a mais bonita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8229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O QUE VOCÊ LEVA DAQUI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63040"/>
            <a:ext cx="1517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AO FINAL DESTA AULA, VOCÊ TERÁ: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3108960"/>
            <a:ext cx="7498079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364991"/>
            <a:ext cx="676655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C8BFA8"/>
                </a:solidFill>
                <a:latin typeface="Outfit"/>
              </a:rPr>
              <a:t>01.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O diagnóstico da sua marca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Qual dos quatro sintomas de marca sem posicionamento é o seu.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199" y="3108960"/>
            <a:ext cx="7498079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9" y="3364991"/>
            <a:ext cx="676655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C8BFA8"/>
                </a:solidFill>
                <a:latin typeface="Outfit"/>
              </a:rPr>
              <a:t>02.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O mapa de leitura aplicada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Qual capítulo resolve qual problema — e em que ordem abrir.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5852160"/>
            <a:ext cx="7498079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6108192"/>
            <a:ext cx="676655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C8BFA8"/>
                </a:solidFill>
                <a:latin typeface="Outfit"/>
              </a:rPr>
              <a:t>03.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O Raio-X preenchido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Três respostas que já organizam a sua narrativa de marca.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199" y="5852160"/>
            <a:ext cx="7498079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9" y="6108192"/>
            <a:ext cx="676655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C8BFA8"/>
                </a:solidFill>
                <a:latin typeface="Outfit"/>
              </a:rPr>
              <a:t>04.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Um plano de 30 dias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O que fazer semana a semana para sair do papel.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04320" y="0"/>
            <a:ext cx="6583680" cy="10287000"/>
          </a:xfrm>
          <a:prstGeom prst="rect">
            <a:avLst/>
          </a:prstGeom>
          <a:solidFill>
            <a:srgbClr val="D4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QUEM CONDUZ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100" b="1" i="0">
                <a:solidFill>
                  <a:srgbClr val="1A1A1A"/>
                </a:solidFill>
                <a:latin typeface="Outfit"/>
              </a:rPr>
              <a:t>[NOME]</a:t>
            </a:r>
          </a:p>
          <a:p>
            <a:r>
              <a:rPr sz="5100" b="1" i="0">
                <a:solidFill>
                  <a:srgbClr val="1A1A1A"/>
                </a:solidFill>
                <a:latin typeface="Outfit"/>
              </a:rPr>
              <a:t>[ASSINATURA EM UMA LINHA]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•  </a:t>
            </a:r>
            <a:r>
              <a:rPr sz="2700" b="0" i="0">
                <a:solidFill>
                  <a:srgbClr val="7A7A72"/>
                </a:solidFill>
                <a:latin typeface="Outfit"/>
              </a:rPr>
              <a:t>[Anos de estrada e o que isso te deu de leitura de mercado]</a:t>
            </a:r>
          </a:p>
          <a:p>
            <a:r>
              <a:rPr sz="2700" b="1" i="0">
                <a:solidFill>
                  <a:srgbClr val="C8BFA8"/>
                </a:solidFill>
                <a:latin typeface="Outfit"/>
              </a:rPr>
              <a:t>•  </a:t>
            </a:r>
            <a:r>
              <a:rPr sz="2700" b="0" i="0">
                <a:solidFill>
                  <a:srgbClr val="7A7A72"/>
                </a:solidFill>
                <a:latin typeface="Outfit"/>
              </a:rPr>
              <a:t>[Número de marcas atendidas / setores]</a:t>
            </a:r>
          </a:p>
          <a:p>
            <a:r>
              <a:rPr sz="2700" b="1" i="0">
                <a:solidFill>
                  <a:srgbClr val="C8BFA8"/>
                </a:solidFill>
                <a:latin typeface="Outfit"/>
              </a:rPr>
              <a:t>•  </a:t>
            </a:r>
            <a:r>
              <a:rPr sz="2700" b="0" i="0">
                <a:solidFill>
                  <a:srgbClr val="7A7A72"/>
                </a:solidFill>
                <a:latin typeface="Outfit"/>
              </a:rPr>
              <a:t>[Por que você escreveu este livro — a lacuna que viu]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694944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1">
                <a:solidFill>
                  <a:srgbClr val="1A1A1A"/>
                </a:solidFill>
                <a:latin typeface="Outfit"/>
              </a:rPr>
              <a:t>“[SUA FRASE DE AUTORIDADE — o que você acredita sobre marca]”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321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 spc="150">
                <a:solidFill>
                  <a:srgbClr val="1A1A1A"/>
                </a:solidFill>
                <a:latin typeface="Outfit"/>
              </a:rPr>
              <a:t>[ATRIBUTO]  •  [ATRIBUTO]  •  [ATRIBUTO]  •  [ATRIBUTO]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9281160"/>
            <a:ext cx="1517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 spc="100">
                <a:solidFill>
                  <a:srgbClr val="C8BFA8"/>
                </a:solidFill>
                <a:latin typeface="Outfit"/>
              </a:rPr>
              <a:t>[ Substituir foto: inserir imagem vertical no bloco verde à direita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pape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566160"/>
            <a:ext cx="15179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0" b="0" i="0">
                <a:solidFill>
                  <a:srgbClr val="000000"/>
                </a:solidFill>
                <a:latin typeface="Outfit"/>
              </a:rPr>
              <a:t>POR QUE MARCAS BOAS FICAM </a:t>
            </a:r>
            <a:r>
              <a:rPr sz="10000" b="1" i="0">
                <a:solidFill>
                  <a:srgbClr val="000000"/>
                </a:solidFill>
                <a:latin typeface="Outfit"/>
              </a:rPr>
              <a:t>INVISÍVEIS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8229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A DISTINÇÃO QUE MUDA TUDO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63040"/>
            <a:ext cx="1517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VOCÊ TEM UMA EMPRESA. VOCÊ TEM UMA MARCA?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2926080"/>
            <a:ext cx="7315200" cy="5852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2004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 i="0" spc="150">
                <a:solidFill>
                  <a:srgbClr val="7A7A72"/>
                </a:solidFill>
                <a:latin typeface="Outfit"/>
              </a:rPr>
              <a:t>EMPRESA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393192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Outfit"/>
              </a:rPr>
              <a:t>É o que você construiu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Existe no CNPJ e no operacional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Entrega produto e serviço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Concorre por preço e prazo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Você controla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2926080"/>
            <a:ext cx="7315200" cy="5852160"/>
          </a:xfrm>
          <a:prstGeom prst="rect">
            <a:avLst/>
          </a:prstGeom>
          <a:solidFill>
            <a:srgbClr val="D4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0" y="32004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 i="0" spc="150">
                <a:solidFill>
                  <a:srgbClr val="7A7A72"/>
                </a:solidFill>
                <a:latin typeface="Outfit"/>
              </a:rPr>
              <a:t>MARCA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393192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7A7A72"/>
                </a:solidFill>
                <a:latin typeface="Outfit"/>
              </a:rPr>
              <a:t>É o que dizem de você quando você sai da sala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Existe na cabeça do cliente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Entrega significado e pertencimento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Concorre por preferência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Você só influencia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9281160"/>
            <a:ext cx="1517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 spc="100">
                <a:solidFill>
                  <a:srgbClr val="C8BFA8"/>
                </a:solidFill>
                <a:latin typeface="Outfit"/>
              </a:rPr>
              <a:t>[ Puxar do capítulo do livro que trata dessa distinção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8229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DIAGNÓSTICO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63040"/>
            <a:ext cx="1517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OS 4 SINTOMAS DE UMA MARCA SEM POSICIONAMENTO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3108960"/>
            <a:ext cx="7498079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364991"/>
            <a:ext cx="676655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C8BFA8"/>
                </a:solidFill>
                <a:latin typeface="Outfit"/>
              </a:rPr>
              <a:t>01.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Marca invisível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Você é bom, entrega bem — e ninguém sabe que você existe.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199" y="3108960"/>
            <a:ext cx="7498079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9" y="3364991"/>
            <a:ext cx="676655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C8BFA8"/>
                </a:solidFill>
                <a:latin typeface="Outfit"/>
              </a:rPr>
              <a:t>02.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Marca confusa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Cada peça fala uma coisa. O cliente não consegue te explicar para outro.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5852160"/>
            <a:ext cx="7498079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6108192"/>
            <a:ext cx="676655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C8BFA8"/>
                </a:solidFill>
                <a:latin typeface="Outfit"/>
              </a:rPr>
              <a:t>03.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Marca refém do preço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Sem percepção de valor, a única conversa possível é desconto.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199" y="5852160"/>
            <a:ext cx="7498079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9" y="6108192"/>
            <a:ext cx="676655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C8BFA8"/>
                </a:solidFill>
                <a:latin typeface="Outfit"/>
              </a:rPr>
              <a:t>04.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Marca inconsistente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A promessa da comunicação não bate com a experiência real.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8229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DUAS ROTAS DIFERENTES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63040"/>
            <a:ext cx="1517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POSICIONAR OU REPOSICIONAR: QUAL É O SEU CASO?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2926080"/>
            <a:ext cx="7315200" cy="5852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2004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 i="0" spc="150">
                <a:solidFill>
                  <a:srgbClr val="7A7A72"/>
                </a:solidFill>
                <a:latin typeface="Outfit"/>
              </a:rPr>
              <a:t>+ POSICIONAR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393192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Outfit"/>
              </a:rPr>
              <a:t>Marca nova ou nunca definida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Não há percepção instalada a desfazer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O trabalho é escolher e ocupar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Risco: escolher por conveniência, não por essência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Tempo: mais curto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2926080"/>
            <a:ext cx="7315200" cy="5852160"/>
          </a:xfrm>
          <a:prstGeom prst="rect">
            <a:avLst/>
          </a:prstGeom>
          <a:solidFill>
            <a:srgbClr val="D4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0" y="32004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 i="0" spc="150">
                <a:solidFill>
                  <a:srgbClr val="7A7A72"/>
                </a:solidFill>
                <a:latin typeface="Outfit"/>
              </a:rPr>
              <a:t>× REPOSICIONAR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393192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7A7A72"/>
                </a:solidFill>
                <a:latin typeface="Outfit"/>
              </a:rPr>
              <a:t>Marca com percepção já instalada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Há memória de mercado para reconstruir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O trabalho é desconstruir antes de construir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Risco: abandonar o patrimônio que já tinha valor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Tempo: mais longo, exige transição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9281160"/>
            <a:ext cx="1517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 spc="100">
                <a:solidFill>
                  <a:srgbClr val="C8BFA8"/>
                </a:solidFill>
                <a:latin typeface="Outfit"/>
              </a:rPr>
              <a:t>[ Se o livro tem um capítulo específico sobre reposicionamento, citar aqui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03120" y="21945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O ATALHO QUE CUSTA CARO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743200"/>
            <a:ext cx="1463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0" b="0" i="0">
                <a:solidFill>
                  <a:srgbClr val="1A1A1A"/>
                </a:solidFill>
                <a:latin typeface="Outfit"/>
              </a:rPr>
              <a:t>TROCAR A </a:t>
            </a:r>
            <a:r>
              <a:rPr sz="10000" b="1" i="0">
                <a:solidFill>
                  <a:srgbClr val="1A1A1A"/>
                </a:solidFill>
                <a:latin typeface="Outfit"/>
              </a:rPr>
              <a:t>LOGO</a:t>
            </a:r>
          </a:p>
          <a:p>
            <a:r>
              <a:rPr sz="10000" b="0" i="0">
                <a:solidFill>
                  <a:srgbClr val="1A1A1A"/>
                </a:solidFill>
                <a:latin typeface="Outfit"/>
              </a:rPr>
              <a:t>NÃO É </a:t>
            </a:r>
            <a:r>
              <a:rPr sz="10000" b="1" i="0">
                <a:solidFill>
                  <a:srgbClr val="1A1A1A"/>
                </a:solidFill>
                <a:latin typeface="Outfit"/>
              </a:rPr>
              <a:t>POSICIONAR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6858000"/>
            <a:ext cx="13716000" cy="36576"/>
          </a:xfrm>
          <a:prstGeom prst="rect">
            <a:avLst/>
          </a:prstGeom>
          <a:solidFill>
            <a:srgbClr val="C8B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7223760"/>
            <a:ext cx="1371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7A7A72"/>
                </a:solidFill>
                <a:latin typeface="Outfit"/>
              </a:rPr>
              <a:t>Identidade visual é consequência de estratégia. Quando vem antes, vira gosto pessoal — e gosto pessoal não sustenta preço.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84048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0" b="1" i="0">
                <a:solidFill>
                  <a:srgbClr val="1A1A1A"/>
                </a:solidFill>
                <a:latin typeface="Outfit"/>
              </a:rPr>
              <a:t>EXERCÍCIO</a:t>
            </a:r>
          </a:p>
          <a:p>
            <a:r>
              <a:rPr sz="6800" b="1" i="0">
                <a:solidFill>
                  <a:srgbClr val="C8BFA8"/>
                </a:solidFill>
                <a:latin typeface="Outfit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3716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3 MINUTOS · LIVRO ABERTO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011680"/>
            <a:ext cx="74980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500" b="1" i="0">
                <a:solidFill>
                  <a:srgbClr val="1A1A1A"/>
                </a:solidFill>
                <a:latin typeface="Outfit"/>
              </a:rPr>
              <a:t>QUAL É O SEU SINTOMA?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0"/>
            <a:ext cx="74980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700" b="0" i="0">
                <a:solidFill>
                  <a:srgbClr val="7A7A72"/>
                </a:solidFill>
                <a:latin typeface="Outfit"/>
              </a:rPr>
              <a:t>Escreva, em uma frase, o sintoma que mais te representa hoje.</a:t>
            </a:r>
          </a:p>
          <a:p>
            <a:r>
              <a:rPr sz="27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700" b="0" i="0">
                <a:solidFill>
                  <a:srgbClr val="7A7A72"/>
                </a:solidFill>
                <a:latin typeface="Outfit"/>
              </a:rPr>
              <a:t>Escreva a última vez que um cliente te escolheu pelo preço.</a:t>
            </a:r>
          </a:p>
          <a:p>
            <a:r>
              <a:rPr sz="27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700" b="0" i="0">
                <a:solidFill>
                  <a:srgbClr val="7A7A72"/>
                </a:solidFill>
                <a:latin typeface="Outfit"/>
              </a:rPr>
              <a:t>Escreva como você explicaria a sua marca em 10 segundos.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7589520"/>
            <a:ext cx="7498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Outfit"/>
              </a:rPr>
              <a:t>Guarde essa folha. Vamos voltar nela no final.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pape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566160"/>
            <a:ext cx="15179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0" b="0" i="0">
                <a:solidFill>
                  <a:srgbClr val="000000"/>
                </a:solidFill>
                <a:latin typeface="Outfit"/>
              </a:rPr>
              <a:t>COMO O LIVRO FUNCIONA </a:t>
            </a:r>
            <a:r>
              <a:rPr sz="10000" b="1" i="0">
                <a:solidFill>
                  <a:srgbClr val="000000"/>
                </a:solidFill>
                <a:latin typeface="Outfit"/>
              </a:rPr>
              <a:t>POR DENTRO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8229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O PRINCÍPIO QUE SUSTENTA O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63040"/>
            <a:ext cx="1517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TODA MARCA FORTE NASCE DE DENTRO PARA FORA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3017520"/>
            <a:ext cx="1517904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24612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A"/>
                </a:solidFill>
                <a:latin typeface="Outfit"/>
              </a:rPr>
              <a:t>01. ESSÊNCIA DAS PESSOAS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310127"/>
            <a:ext cx="7589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7A7A72"/>
                </a:solidFill>
                <a:latin typeface="Outfit"/>
              </a:rPr>
              <a:t>Quem fundou, o que acredita, a história que originou tudo.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5029200"/>
            <a:ext cx="15179040" cy="1737360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525780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A"/>
                </a:solidFill>
                <a:latin typeface="Outfit"/>
              </a:rPr>
              <a:t>02. CULTURA DA EMPRESA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5321808"/>
            <a:ext cx="7589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7A7A72"/>
                </a:solidFill>
                <a:latin typeface="Outfit"/>
              </a:rPr>
              <a:t>O jeito que se formou por dentro, sem ninguém pedir.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7040880"/>
            <a:ext cx="15179040" cy="1737360"/>
          </a:xfrm>
          <a:prstGeom prst="rect">
            <a:avLst/>
          </a:prstGeom>
          <a:solidFill>
            <a:srgbClr val="D4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726948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A"/>
                </a:solidFill>
                <a:latin typeface="Outfit"/>
              </a:rPr>
              <a:t>03. CULTURA DA MARCA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7333488"/>
            <a:ext cx="7589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7A7A72"/>
                </a:solidFill>
                <a:latin typeface="Outfit"/>
              </a:rPr>
              <a:t>Como o mercado enxerga tudo isso de fora.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9144000"/>
            <a:ext cx="15179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Outfit"/>
              </a:rPr>
              <a:t>O livro não inventa a sua marca. Ele traduz a marca que já existe.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8229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A ARQUITETURA DO LIVRO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63040"/>
            <a:ext cx="1517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AS 5 CAMADAS — E POR QUE A ORDEM IMPORTA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3291840"/>
            <a:ext cx="283464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C8BFA8"/>
                </a:solidFill>
                <a:latin typeface="Outfit"/>
              </a:rPr>
              <a:t>01</a:t>
            </a:r>
          </a:p>
          <a:p>
            <a:r>
              <a:rPr sz="2300" b="1" i="0">
                <a:solidFill>
                  <a:srgbClr val="1A1A1A"/>
                </a:solidFill>
                <a:latin typeface="Outfit"/>
              </a:rPr>
              <a:t>ESSÊNCIA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De onde a marca vem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645152" y="3291840"/>
            <a:ext cx="2834640" cy="4206240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65192" y="356616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C8BFA8"/>
                </a:solidFill>
                <a:latin typeface="Outfit"/>
              </a:rPr>
              <a:t>02</a:t>
            </a:r>
          </a:p>
          <a:p>
            <a:r>
              <a:rPr sz="2300" b="1" i="0">
                <a:solidFill>
                  <a:srgbClr val="1A1A1A"/>
                </a:solidFill>
                <a:latin typeface="Outfit"/>
              </a:rPr>
              <a:t>ESTRATÉGIA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Que lugar ela ocupa</a:t>
            </a:r>
          </a:p>
        </p:txBody>
      </p:sp>
      <p:sp>
        <p:nvSpPr>
          <p:cNvPr id="8" name="Rectangle 7"/>
          <p:cNvSpPr/>
          <p:nvPr/>
        </p:nvSpPr>
        <p:spPr>
          <a:xfrm>
            <a:off x="7735823" y="3291840"/>
            <a:ext cx="283464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55863" y="356616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C8BFA8"/>
                </a:solidFill>
                <a:latin typeface="Outfit"/>
              </a:rPr>
              <a:t>03</a:t>
            </a:r>
          </a:p>
          <a:p>
            <a:r>
              <a:rPr sz="2300" b="1" i="0">
                <a:solidFill>
                  <a:srgbClr val="1A1A1A"/>
                </a:solidFill>
                <a:latin typeface="Outfit"/>
              </a:rPr>
              <a:t>PÚBLICO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Com quem ela fala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26496" y="3291840"/>
            <a:ext cx="2834640" cy="4206240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46536" y="356616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C8BFA8"/>
                </a:solidFill>
                <a:latin typeface="Outfit"/>
              </a:rPr>
              <a:t>04</a:t>
            </a:r>
          </a:p>
          <a:p>
            <a:r>
              <a:rPr sz="2300" b="1" i="0">
                <a:solidFill>
                  <a:srgbClr val="1A1A1A"/>
                </a:solidFill>
                <a:latin typeface="Outfit"/>
              </a:rPr>
              <a:t>VERBAL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Como ela diz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917167" y="3291840"/>
            <a:ext cx="283464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237207" y="356616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C8BFA8"/>
                </a:solidFill>
                <a:latin typeface="Outfit"/>
              </a:rPr>
              <a:t>05</a:t>
            </a:r>
          </a:p>
          <a:p>
            <a:r>
              <a:rPr sz="2300" b="1" i="0">
                <a:solidFill>
                  <a:srgbClr val="1A1A1A"/>
                </a:solidFill>
                <a:latin typeface="Outfit"/>
              </a:rPr>
              <a:t>ATIVAÇÃO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Onde ela aparece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8046720"/>
            <a:ext cx="15179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7A7A72"/>
                </a:solidFill>
                <a:latin typeface="Outfit"/>
              </a:rPr>
              <a:t>Cada camada só se sustenta sobre a anterior. </a:t>
            </a:r>
            <a:r>
              <a:rPr sz="3000" b="1" i="0">
                <a:solidFill>
                  <a:srgbClr val="1A1A1A"/>
                </a:solidFill>
                <a:latin typeface="Outfit"/>
              </a:rPr>
              <a:t>Pular uma camada é o que faz o rebranding não pegar.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9281160"/>
            <a:ext cx="1517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 spc="100">
                <a:solidFill>
                  <a:srgbClr val="C8BFA8"/>
                </a:solidFill>
                <a:latin typeface="Outfit"/>
              </a:rPr>
              <a:t>[ Mapear aqui: qual capítulo do livro cobre cada camada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50240" y="0"/>
            <a:ext cx="4937760" cy="10287000"/>
          </a:xfrm>
          <a:prstGeom prst="rect">
            <a:avLst/>
          </a:prstGeom>
          <a:solidFill>
            <a:srgbClr val="D4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807440" y="393192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0" b="1" i="0">
                <a:solidFill>
                  <a:srgbClr val="FFFFFF"/>
                </a:solidFill>
                <a:latin typeface="Outfit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CAMADA 01 · [CAPÍTULO(S) DO LIVRO]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11521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100" b="1" i="0">
                <a:solidFill>
                  <a:srgbClr val="1A1A1A"/>
                </a:solidFill>
                <a:latin typeface="Outfit"/>
              </a:rPr>
              <a:t>ESSÊNCIA</a:t>
            </a:r>
          </a:p>
          <a:p>
            <a:r>
              <a:rPr sz="3000" b="0" i="0">
                <a:solidFill>
                  <a:srgbClr val="7A7A72"/>
                </a:solidFill>
                <a:latin typeface="Outfit"/>
              </a:rPr>
              <a:t>De onde a sua marca vem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11521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500" b="0" i="0">
                <a:solidFill>
                  <a:srgbClr val="7A7A72"/>
                </a:solidFill>
                <a:latin typeface="Outfit"/>
              </a:rPr>
              <a:t>Qual a história real de origem — não a versão de site</a:t>
            </a:r>
          </a:p>
          <a:p>
            <a:r>
              <a:rPr sz="25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500" b="0" i="0">
                <a:solidFill>
                  <a:srgbClr val="7A7A72"/>
                </a:solidFill>
                <a:latin typeface="Outfit"/>
              </a:rPr>
              <a:t>Em que o fundador acredita que o mercado não acredita</a:t>
            </a:r>
          </a:p>
          <a:p>
            <a:r>
              <a:rPr sz="25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500" b="0" i="0">
                <a:solidFill>
                  <a:srgbClr val="7A7A72"/>
                </a:solidFill>
                <a:latin typeface="Outfit"/>
              </a:rPr>
              <a:t>Que fato concreto sustenta o que a marca promete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7589520"/>
            <a:ext cx="115214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781812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1A1A"/>
                </a:solidFill>
                <a:latin typeface="Outfit"/>
              </a:rPr>
              <a:t>Entregável do capítulo: a sua história de origem escrita em 5 linhas.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9281160"/>
            <a:ext cx="1517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 spc="100">
                <a:solidFill>
                  <a:srgbClr val="C8BFA8"/>
                </a:solidFill>
                <a:latin typeface="Outfit"/>
              </a:rPr>
              <a:t>[ Preencher o número do capítulo e 1 exemplo real de cliente 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50240" y="0"/>
            <a:ext cx="4937760" cy="10287000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807440" y="393192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0" b="1" i="0">
                <a:solidFill>
                  <a:srgbClr val="FFFFFF"/>
                </a:solidFill>
                <a:latin typeface="Outfit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CAMADA 02 · [CAPÍTULO(S) DO LIVRO]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11521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100" b="1" i="0">
                <a:solidFill>
                  <a:srgbClr val="1A1A1A"/>
                </a:solidFill>
                <a:latin typeface="Outfit"/>
              </a:rPr>
              <a:t>ESTRATÉGIA</a:t>
            </a:r>
          </a:p>
          <a:p>
            <a:r>
              <a:rPr sz="3000" b="0" i="0">
                <a:solidFill>
                  <a:srgbClr val="7A7A72"/>
                </a:solidFill>
                <a:latin typeface="Outfit"/>
              </a:rPr>
              <a:t>Que lugar a sua marca ocupa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11521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500" b="0" i="0">
                <a:solidFill>
                  <a:srgbClr val="7A7A72"/>
                </a:solidFill>
                <a:latin typeface="Outfit"/>
              </a:rPr>
              <a:t>Posicionamento: o espaço que você escolhe ocupar na mente do cliente</a:t>
            </a:r>
          </a:p>
          <a:p>
            <a:r>
              <a:rPr sz="25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500" b="0" i="0">
                <a:solidFill>
                  <a:srgbClr val="7A7A72"/>
                </a:solidFill>
                <a:latin typeface="Outfit"/>
              </a:rPr>
              <a:t>Golden Circle: por quê → como → o quê</a:t>
            </a:r>
          </a:p>
          <a:p>
            <a:r>
              <a:rPr sz="25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500" b="0" i="0">
                <a:solidFill>
                  <a:srgbClr val="7A7A72"/>
                </a:solidFill>
                <a:latin typeface="Outfit"/>
              </a:rPr>
              <a:t>Anti-território: o que a sua marca NÃO é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7589520"/>
            <a:ext cx="115214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781812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1A1A"/>
                </a:solidFill>
                <a:latin typeface="Outfit"/>
              </a:rPr>
              <a:t>Entregável do capítulo: uma frase de posicionamento que o seu concorrente não poderia assinar.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9281160"/>
            <a:ext cx="1517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 spc="100">
                <a:solidFill>
                  <a:srgbClr val="C8BFA8"/>
                </a:solidFill>
                <a:latin typeface="Outfit"/>
              </a:rPr>
              <a:t>[ Preencher o número do capítulo e 1 exemplo real de cliente 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50240" y="0"/>
            <a:ext cx="4937760" cy="10287000"/>
          </a:xfrm>
          <a:prstGeom prst="rect">
            <a:avLst/>
          </a:prstGeom>
          <a:solidFill>
            <a:srgbClr val="D4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807440" y="393192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0" b="1" i="0">
                <a:solidFill>
                  <a:srgbClr val="FFFFFF"/>
                </a:solidFill>
                <a:latin typeface="Outfit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CAMADA 03 · [CAPÍTULO(S) DO LIVRO]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11521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100" b="1" i="0">
                <a:solidFill>
                  <a:srgbClr val="1A1A1A"/>
                </a:solidFill>
                <a:latin typeface="Outfit"/>
              </a:rPr>
              <a:t>PÚBLICO E RELAÇÃO</a:t>
            </a:r>
          </a:p>
          <a:p>
            <a:r>
              <a:rPr sz="3000" b="0" i="0">
                <a:solidFill>
                  <a:srgbClr val="7A7A72"/>
                </a:solidFill>
                <a:latin typeface="Outfit"/>
              </a:rPr>
              <a:t>Com quem a sua marca fala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11521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500" b="0" i="0">
                <a:solidFill>
                  <a:srgbClr val="7A7A72"/>
                </a:solidFill>
                <a:latin typeface="Outfit"/>
              </a:rPr>
              <a:t>Persona: não é dado demográfico, é dor, desejo e objeção</a:t>
            </a:r>
          </a:p>
          <a:p>
            <a:r>
              <a:rPr sz="25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500" b="0" i="0">
                <a:solidFill>
                  <a:srgbClr val="7A7A72"/>
                </a:solidFill>
                <a:latin typeface="Outfit"/>
              </a:rPr>
              <a:t>Personalidade: como a marca se comporta</a:t>
            </a:r>
          </a:p>
          <a:p>
            <a:r>
              <a:rPr sz="25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500" b="0" i="0">
                <a:solidFill>
                  <a:srgbClr val="7A7A72"/>
                </a:solidFill>
                <a:latin typeface="Outfit"/>
              </a:rPr>
              <a:t>Arquétipo: o papel que ela ocupa na história do cliente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7589520"/>
            <a:ext cx="115214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781812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1A1A"/>
                </a:solidFill>
                <a:latin typeface="Outfit"/>
              </a:rPr>
              <a:t>Entregável do capítulo: as três objeções que mais travam a sua venda.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9281160"/>
            <a:ext cx="1517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 spc="100">
                <a:solidFill>
                  <a:srgbClr val="C8BFA8"/>
                </a:solidFill>
                <a:latin typeface="Outfit"/>
              </a:rPr>
              <a:t>[ Preencher o número do capítulo e 1 exemplo real de cliente 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50240" y="0"/>
            <a:ext cx="4937760" cy="10287000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807440" y="393192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0" b="1" i="0">
                <a:solidFill>
                  <a:srgbClr val="FFFFFF"/>
                </a:solidFill>
                <a:latin typeface="Outfit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CAMADA 04 · [CAPÍTULO(S) DO LIVRO]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11521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100" b="1" i="0">
                <a:solidFill>
                  <a:srgbClr val="1A1A1A"/>
                </a:solidFill>
                <a:latin typeface="Outfit"/>
              </a:rPr>
              <a:t>IDENTIDADE VERBAL</a:t>
            </a:r>
          </a:p>
          <a:p>
            <a:r>
              <a:rPr sz="3000" b="0" i="0">
                <a:solidFill>
                  <a:srgbClr val="7A7A72"/>
                </a:solidFill>
                <a:latin typeface="Outfit"/>
              </a:rPr>
              <a:t>Como a sua marca diz o que diz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11521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500" b="0" i="0">
                <a:solidFill>
                  <a:srgbClr val="7A7A72"/>
                </a:solidFill>
                <a:latin typeface="Outfit"/>
              </a:rPr>
              <a:t>Manifesto: a declaração de crença da marca</a:t>
            </a:r>
          </a:p>
          <a:p>
            <a:r>
              <a:rPr sz="25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500" b="0" i="0">
                <a:solidFill>
                  <a:srgbClr val="7A7A72"/>
                </a:solidFill>
                <a:latin typeface="Outfit"/>
              </a:rPr>
              <a:t>Tom de voz: o jeito, não o assunto</a:t>
            </a:r>
          </a:p>
          <a:p>
            <a:r>
              <a:rPr sz="25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500" b="0" i="0">
                <a:solidFill>
                  <a:srgbClr val="7A7A72"/>
                </a:solidFill>
                <a:latin typeface="Outfit"/>
              </a:rPr>
              <a:t>Bordões e vocabulário próprio: o que só você fala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7589520"/>
            <a:ext cx="115214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781812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1A1A"/>
                </a:solidFill>
                <a:latin typeface="Outfit"/>
              </a:rPr>
              <a:t>Entregável do capítulo: 5 frases que só a sua marca poderia dizer.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9281160"/>
            <a:ext cx="1517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 spc="100">
                <a:solidFill>
                  <a:srgbClr val="C8BFA8"/>
                </a:solidFill>
                <a:latin typeface="Outfit"/>
              </a:rPr>
              <a:t>[ Preencher o número do capítulo e 1 exemplo real de cliente 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50240" y="0"/>
            <a:ext cx="4937760" cy="10287000"/>
          </a:xfrm>
          <a:prstGeom prst="rect">
            <a:avLst/>
          </a:prstGeom>
          <a:solidFill>
            <a:srgbClr val="D4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807440" y="393192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0" b="1" i="0">
                <a:solidFill>
                  <a:srgbClr val="FFFFFF"/>
                </a:solidFill>
                <a:latin typeface="Outfit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CAMADA 05 · [CAPÍTULO(S) DO LIVRO]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11521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100" b="1" i="0">
                <a:solidFill>
                  <a:srgbClr val="1A1A1A"/>
                </a:solidFill>
                <a:latin typeface="Outfit"/>
              </a:rPr>
              <a:t>ATIVAÇÃO</a:t>
            </a:r>
          </a:p>
          <a:p>
            <a:r>
              <a:rPr sz="3000" b="0" i="0">
                <a:solidFill>
                  <a:srgbClr val="7A7A72"/>
                </a:solidFill>
                <a:latin typeface="Outfit"/>
              </a:rPr>
              <a:t>Onde a sua marca aparece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11521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500" b="0" i="0">
                <a:solidFill>
                  <a:srgbClr val="7A7A72"/>
                </a:solidFill>
                <a:latin typeface="Outfit"/>
              </a:rPr>
              <a:t>Pilares de conteúdo: os temas que você tem direito de ocupar</a:t>
            </a:r>
          </a:p>
          <a:p>
            <a:r>
              <a:rPr sz="25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500" b="0" i="0">
                <a:solidFill>
                  <a:srgbClr val="7A7A72"/>
                </a:solidFill>
                <a:latin typeface="Outfit"/>
              </a:rPr>
              <a:t>Consistência: a mesma marca em todos os pontos de contato</a:t>
            </a:r>
          </a:p>
          <a:p>
            <a:r>
              <a:rPr sz="25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500" b="0" i="0">
                <a:solidFill>
                  <a:srgbClr val="7A7A72"/>
                </a:solidFill>
                <a:latin typeface="Outfit"/>
              </a:rPr>
              <a:t>Percepção: o que muda na cabeça de quem te vê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7589520"/>
            <a:ext cx="115214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781812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1A1A"/>
                </a:solidFill>
                <a:latin typeface="Outfit"/>
              </a:rPr>
              <a:t>Entregável do capítulo: os 3 pilares de conteúdo da sua marca.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9281160"/>
            <a:ext cx="1517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 spc="100">
                <a:solidFill>
                  <a:srgbClr val="C8BFA8"/>
                </a:solidFill>
                <a:latin typeface="Outfit"/>
              </a:rPr>
              <a:t>[ Preencher o número do capítulo e 1 exemplo real de cliente 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03120" y="237744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A REGRA QUE SALVA 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926080"/>
            <a:ext cx="1463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0" b="0" i="0">
                <a:solidFill>
                  <a:srgbClr val="1A1A1A"/>
                </a:solidFill>
                <a:latin typeface="Outfit"/>
              </a:rPr>
              <a:t>NÃO PULE </a:t>
            </a:r>
            <a:r>
              <a:rPr sz="10000" b="1" i="0">
                <a:solidFill>
                  <a:srgbClr val="1A1A1A"/>
                </a:solidFill>
                <a:latin typeface="Outfit"/>
              </a:rPr>
              <a:t>CAMADA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5943600"/>
            <a:ext cx="13716000" cy="36576"/>
          </a:xfrm>
          <a:prstGeom prst="rect">
            <a:avLst/>
          </a:prstGeom>
          <a:solidFill>
            <a:srgbClr val="C8B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6309360"/>
            <a:ext cx="1371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7A7A72"/>
                </a:solidFill>
                <a:latin typeface="Outfit"/>
              </a:rPr>
              <a:t>Toda marca que “já tentou se posicionar e não funcionou” começou por uma camada de cima. Identidade verbal sem essência vira texto bonito. Conteúdo sem posicionamento vira volume sem lucro.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pape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566160"/>
            <a:ext cx="15179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0" b="0" i="0">
                <a:solidFill>
                  <a:srgbClr val="000000"/>
                </a:solidFill>
                <a:latin typeface="Outfit"/>
              </a:rPr>
              <a:t>MÃOS NO </a:t>
            </a:r>
            <a:r>
              <a:rPr sz="10000" b="1" i="0">
                <a:solidFill>
                  <a:srgbClr val="000000"/>
                </a:solidFill>
                <a:latin typeface="Outfit"/>
              </a:rPr>
              <a:t>LIVRO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8229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COMO LER PARA APLICAR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63040"/>
            <a:ext cx="1517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O PROTOCOLO DE LEITURA APLICADA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3108960"/>
            <a:ext cx="7498079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364991"/>
            <a:ext cx="676655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C8BFA8"/>
                </a:solidFill>
                <a:latin typeface="Outfit"/>
              </a:rPr>
              <a:t>01.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Leia com caneta, não com marca-texto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Marca-texto guarda. Caneta decide. Escreva a sua resposta na margem.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199" y="3108960"/>
            <a:ext cx="7498079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9" y="3364991"/>
            <a:ext cx="676655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C8BFA8"/>
                </a:solidFill>
                <a:latin typeface="Outfit"/>
              </a:rPr>
              <a:t>02.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Um capítulo = um entregável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Não avance sem ter produzido o entregável daquele capítulo.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5852160"/>
            <a:ext cx="7498079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6108192"/>
            <a:ext cx="676655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C8BFA8"/>
                </a:solidFill>
                <a:latin typeface="Outfit"/>
              </a:rPr>
              <a:t>03.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Responda pela marca, não por você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A pergunta não é o que você acha. É o que a marca já 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199" y="5852160"/>
            <a:ext cx="7498079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9" y="6108192"/>
            <a:ext cx="676655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C8BFA8"/>
                </a:solidFill>
                <a:latin typeface="Outfit"/>
              </a:rPr>
              <a:t>04.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Valide antes de publicar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Time, cliente antigo e cliente perdido. Nessa ordem.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8229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QUANDO TRAVAR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63040"/>
            <a:ext cx="1517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AS 6 PERGUNTAS QUE DESTRAVAM QUALQUER CAPÍTULO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3017520"/>
            <a:ext cx="731520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337560"/>
            <a:ext cx="822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39" y="3337560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Outfit"/>
              </a:rPr>
              <a:t>O que a minha marca faz que ninguém mais faz do mesmo jeito?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3017520"/>
            <a:ext cx="731520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0" y="3337560"/>
            <a:ext cx="822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3337560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Outfit"/>
              </a:rPr>
              <a:t>Se eu sumisse amanhã, o que faria falta no meu mercado?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5029200"/>
            <a:ext cx="731520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5349240"/>
            <a:ext cx="822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39" y="5349240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Outfit"/>
              </a:rPr>
              <a:t>Por que o meu melhor cliente ficou?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5029200"/>
            <a:ext cx="731520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0" y="5349240"/>
            <a:ext cx="822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5349240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Outfit"/>
              </a:rPr>
              <a:t>Por que o cliente que eu perdi foi embora?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7040880"/>
            <a:ext cx="731520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7360920"/>
            <a:ext cx="822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39" y="7360920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Outfit"/>
              </a:rPr>
              <a:t>O que eu me recuso a fazer, mesmo dando dinheiro?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7040880"/>
            <a:ext cx="731520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7360920"/>
            <a:ext cx="822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7360920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Outfit"/>
              </a:rPr>
              <a:t>O que eu quero que digam de mim quando eu não estiver na sala?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84048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0" b="1" i="0">
                <a:solidFill>
                  <a:srgbClr val="1A1A1A"/>
                </a:solidFill>
                <a:latin typeface="Outfit"/>
              </a:rPr>
              <a:t>EXERCÍCIO</a:t>
            </a:r>
          </a:p>
          <a:p>
            <a:r>
              <a:rPr sz="6800" b="1" i="0">
                <a:solidFill>
                  <a:srgbClr val="C8BFA8"/>
                </a:solidFill>
                <a:latin typeface="Outfit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1887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6 MINUTOS · O ENTREGÁVEL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00"/>
            <a:ext cx="74980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500" b="1" i="0">
                <a:solidFill>
                  <a:srgbClr val="1A1A1A"/>
                </a:solidFill>
                <a:latin typeface="Outfit"/>
              </a:rPr>
              <a:t>O RAIO-X DA SUA MARCA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657600"/>
            <a:ext cx="74980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700" b="1" i="0">
                <a:solidFill>
                  <a:srgbClr val="1A1A1A"/>
                </a:solidFill>
                <a:latin typeface="Outfit"/>
              </a:rPr>
              <a:t>ORIGEM — Por que esta marca existe, além de dar lucro?</a:t>
            </a:r>
          </a:p>
          <a:p>
            <a:r>
              <a:rPr sz="27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700" b="1" i="0">
                <a:solidFill>
                  <a:srgbClr val="1A1A1A"/>
                </a:solidFill>
                <a:latin typeface="Outfit"/>
              </a:rPr>
              <a:t>LUGAR — Que espaço só ela pode ocupar no seu mercado?</a:t>
            </a:r>
          </a:p>
          <a:p>
            <a:r>
              <a:rPr sz="27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700" b="1" i="0">
                <a:solidFill>
                  <a:srgbClr val="1A1A1A"/>
                </a:solidFill>
                <a:latin typeface="Outfit"/>
              </a:rPr>
              <a:t>PROVA — Que fato concreto sustenta isso hoje?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7315200"/>
            <a:ext cx="7498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 i="0">
                <a:solidFill>
                  <a:srgbClr val="7A7A72"/>
                </a:solidFill>
                <a:latin typeface="Outfit"/>
              </a:rPr>
              <a:t>Se você não consegue responder a terceira, o problema não é comunicação. É estratégia.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8229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O QUE TRAVA A APLICAÇÃO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63040"/>
            <a:ext cx="1517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OS 3 ERROS DE QUEM APLICA SOZINHO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2926080"/>
            <a:ext cx="7315200" cy="5852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2004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 i="0" spc="150">
                <a:solidFill>
                  <a:srgbClr val="7A7A72"/>
                </a:solidFill>
                <a:latin typeface="Outfit"/>
              </a:rPr>
              <a:t>× O ERRO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393192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Outfit"/>
              </a:rPr>
              <a:t>Responder o que soa bonito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Copiar o posicionamento do concorrente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Fazer sozinho, dentro da própria cabeça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Mudar tudo de uma vez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Parar na definição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2926080"/>
            <a:ext cx="7315200" cy="5852160"/>
          </a:xfrm>
          <a:prstGeom prst="rect">
            <a:avLst/>
          </a:prstGeom>
          <a:solidFill>
            <a:srgbClr val="D4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0" y="32004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 i="0" spc="150">
                <a:solidFill>
                  <a:srgbClr val="7A7A72"/>
                </a:solidFill>
                <a:latin typeface="Outfit"/>
              </a:rPr>
              <a:t>+ A CORREÇÃO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393192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7A7A72"/>
                </a:solidFill>
                <a:latin typeface="Outfit"/>
              </a:rPr>
              <a:t>Responder o que é verificável na operação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Procurar o espaço que o concorrente deixou vazio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Validar com quem compra e com quem não comprou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Transição com marcos e datas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Definição só vira marca quando vira rotina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pape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566160"/>
            <a:ext cx="15179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0" b="0" i="0">
                <a:solidFill>
                  <a:srgbClr val="000000"/>
                </a:solidFill>
                <a:latin typeface="Outfit"/>
              </a:rPr>
              <a:t>IA COMO COPILOTO </a:t>
            </a:r>
            <a:r>
              <a:rPr sz="10000" b="1" i="0">
                <a:solidFill>
                  <a:srgbClr val="000000"/>
                </a:solidFill>
                <a:latin typeface="Outfit"/>
              </a:rPr>
              <a:t>DA APLICAÇÃO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8229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O LIMITE CERTO DA FERRAMENTA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63040"/>
            <a:ext cx="1517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A IA ACELERA A TRADUÇÃO. ELA NÃO CRIA A ESSÊNCIA.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2926080"/>
            <a:ext cx="7315200" cy="5852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2004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 i="0" spc="150">
                <a:solidFill>
                  <a:srgbClr val="7A7A72"/>
                </a:solidFill>
                <a:latin typeface="Outfit"/>
              </a:rPr>
              <a:t>+ O QUE A IA FAZ BEM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393192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Outfit"/>
              </a:rPr>
              <a:t>Organizar respostas cruas em estrutura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Gerar 20 versões de uma frase para você escolher 1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Ler avaliações e achar padrões de percepção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Checar consistência entre peças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Simular objeções do seu cliente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2926080"/>
            <a:ext cx="7315200" cy="5852160"/>
          </a:xfrm>
          <a:prstGeom prst="rect">
            <a:avLst/>
          </a:prstGeom>
          <a:solidFill>
            <a:srgbClr val="D4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0" y="32004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 i="0" spc="150">
                <a:solidFill>
                  <a:srgbClr val="7A7A72"/>
                </a:solidFill>
                <a:latin typeface="Outfit"/>
              </a:rPr>
              <a:t>× O QUE A IA NUNCA FARÁ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393192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7A7A72"/>
                </a:solidFill>
                <a:latin typeface="Outfit"/>
              </a:rPr>
              <a:t>Saber por que você fundou a empresa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Ter acesso ao que só o seu time viveu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Decidir o que você se recusa a fazer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Assumir o risco de uma escolha de posicionamento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Substituir a validação com gente real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8229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DO LIVRO PARA A PRÁTICA, COM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63040"/>
            <a:ext cx="1517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4 USOS PRÁTICOS COM O LIVRO NA MÃO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3108960"/>
            <a:ext cx="7498079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364991"/>
            <a:ext cx="676655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C8BFA8"/>
                </a:solidFill>
                <a:latin typeface="Outfit"/>
              </a:rPr>
              <a:t>01.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Transcrever e destilar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Grave 20 min falando sobre a origem da marca. Peça à IA para extrair crenças e repetições.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199" y="3108960"/>
            <a:ext cx="7498079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9" y="3364991"/>
            <a:ext cx="676655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C8BFA8"/>
                </a:solidFill>
                <a:latin typeface="Outfit"/>
              </a:rPr>
              <a:t>02.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Espelho de percepção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Cole avaliações, prints e DMs. Peça o mapa do que o mercado já pensa de você.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5852160"/>
            <a:ext cx="7498079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6108192"/>
            <a:ext cx="676655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C8BFA8"/>
                </a:solidFill>
                <a:latin typeface="Outfit"/>
              </a:rPr>
              <a:t>03.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Gerador de variações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Dê a sua frase de posicionamento e peça 20 versões — escolha, não aceite.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199" y="5852160"/>
            <a:ext cx="7498079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9" y="6108192"/>
            <a:ext cx="676655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C8BFA8"/>
                </a:solidFill>
                <a:latin typeface="Outfit"/>
              </a:rPr>
              <a:t>04.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Auditor de consistência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Suba suas últimas 10 peças e pergunte: isso soa como a mesma marca?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9281160"/>
            <a:ext cx="1517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 spc="100">
                <a:solidFill>
                  <a:srgbClr val="C8BFA8"/>
                </a:solidFill>
                <a:latin typeface="Outfit"/>
              </a:rPr>
              <a:t>[ Se quiser, entregar os 4 prompts prontos como bônus da aula 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pape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566160"/>
            <a:ext cx="15179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0" b="0" i="0">
                <a:solidFill>
                  <a:srgbClr val="000000"/>
                </a:solidFill>
                <a:latin typeface="Outfit"/>
              </a:rPr>
              <a:t>O QUE O LIVRO RESOLVE </a:t>
            </a:r>
            <a:r>
              <a:rPr sz="10000" b="1" i="0">
                <a:solidFill>
                  <a:srgbClr val="000000"/>
                </a:solidFill>
                <a:latin typeface="Outfit"/>
              </a:rPr>
              <a:t>E O QUE NÃO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8229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HONESTIDADE SOBRE O ALCANCE DO LIVRO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63040"/>
            <a:ext cx="1517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DOIS CAMINHOS LEGÍTIMOS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2926080"/>
            <a:ext cx="7315200" cy="5852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2004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 i="0" spc="150">
                <a:solidFill>
                  <a:srgbClr val="7A7A72"/>
                </a:solidFill>
                <a:latin typeface="Outfit"/>
              </a:rPr>
              <a:t>+ O LIVRO RESOLVE SOZINHO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393192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Outfit"/>
              </a:rPr>
              <a:t>Clareza sobre o que é marca e o que não é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Diagnóstico do próprio sintoma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Primeira versão da essência e do posicionamento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Linguagem comum com o seu time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Critério para não gastar errado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2926080"/>
            <a:ext cx="7315200" cy="5852160"/>
          </a:xfrm>
          <a:prstGeom prst="rect">
            <a:avLst/>
          </a:prstGeom>
          <a:solidFill>
            <a:srgbClr val="D4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0" y="32004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 i="0" spc="150">
                <a:solidFill>
                  <a:srgbClr val="7A7A72"/>
                </a:solidFill>
                <a:latin typeface="Outfit"/>
              </a:rPr>
              <a:t>× O QUE EXIGE ACOMPANHAMENTO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393192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7A7A72"/>
                </a:solidFill>
                <a:latin typeface="Outfit"/>
              </a:rPr>
              <a:t>Enxergar o que você não consegue ver de dentro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Decidir entre dois caminhos igualmente bons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Reposicionamento com patrimônio de marca em jogo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Alinhar sócios que discordam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Transformar definição em rotina que se sustenta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8229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QUANDO FAZ SENTIDO CHAMAR O ESCRITÓRIO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63040"/>
            <a:ext cx="1517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COMO CONDUZIMOS UM PROCESSO COMPLETO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3291840"/>
            <a:ext cx="36118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56616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C8BFA8"/>
                </a:solidFill>
                <a:latin typeface="Outfit"/>
              </a:rPr>
              <a:t>01</a:t>
            </a:r>
          </a:p>
          <a:p>
            <a:r>
              <a:rPr sz="2100" b="1" i="0">
                <a:solidFill>
                  <a:srgbClr val="1A1A1A"/>
                </a:solidFill>
                <a:latin typeface="Outfit"/>
              </a:rPr>
              <a:t>LAPIDAÇÃO DE ESSÊNCIA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Entrevistas com sócios e mapeamento cultural.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22392" y="3291840"/>
            <a:ext cx="3611880" cy="4206240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88152" y="356616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C8BFA8"/>
                </a:solidFill>
                <a:latin typeface="Outfit"/>
              </a:rPr>
              <a:t>02</a:t>
            </a:r>
          </a:p>
          <a:p>
            <a:r>
              <a:rPr sz="2100" b="1" i="0">
                <a:solidFill>
                  <a:srgbClr val="1A1A1A"/>
                </a:solidFill>
                <a:latin typeface="Outfit"/>
              </a:rPr>
              <a:t>BASE ESTRATÉGICA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Causa, posicionamento, arquétipo e pilares.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290304" y="3291840"/>
            <a:ext cx="36118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56064" y="356616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C8BFA8"/>
                </a:solidFill>
                <a:latin typeface="Outfit"/>
              </a:rPr>
              <a:t>03</a:t>
            </a:r>
          </a:p>
          <a:p>
            <a:r>
              <a:rPr sz="2100" b="1" i="0">
                <a:solidFill>
                  <a:srgbClr val="1A1A1A"/>
                </a:solidFill>
                <a:latin typeface="Outfit"/>
              </a:rPr>
              <a:t>IDENTIDADE VERBAL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Manifesto, tom de voz e léxico próprio.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158216" y="3291840"/>
            <a:ext cx="3611880" cy="4206240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23976" y="356616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C8BFA8"/>
                </a:solidFill>
                <a:latin typeface="Outfit"/>
              </a:rPr>
              <a:t>04</a:t>
            </a:r>
          </a:p>
          <a:p>
            <a:r>
              <a:rPr sz="2100" b="1" i="0">
                <a:solidFill>
                  <a:srgbClr val="1A1A1A"/>
                </a:solidFill>
                <a:latin typeface="Outfit"/>
              </a:rPr>
              <a:t>PLANO DE COMUNICAÇÃO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Pilares, calendário e ativação de percepção.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8138160"/>
            <a:ext cx="15179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0" i="0">
                <a:solidFill>
                  <a:srgbClr val="7A7A72"/>
                </a:solidFill>
                <a:latin typeface="Outfit"/>
              </a:rPr>
              <a:t>[FRASE DE FECHAMENTO DO SEU MÉTODO — o resultado que o cliente leva]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9281160"/>
            <a:ext cx="1517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 spc="100">
                <a:solidFill>
                  <a:srgbClr val="C8BFA8"/>
                </a:solidFill>
                <a:latin typeface="Outfit"/>
              </a:rPr>
              <a:t>[ Ajustar as 4 etapas ao seu escopo atual e incluir prazo médio 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92640" y="0"/>
            <a:ext cx="8595360" cy="10287000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SEU PRÓXIMO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7863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100" b="1" i="0">
                <a:solidFill>
                  <a:srgbClr val="1A1A1A"/>
                </a:solidFill>
                <a:latin typeface="Outfit"/>
              </a:rPr>
              <a:t>VOLTE NA FOLHA</a:t>
            </a:r>
          </a:p>
          <a:p>
            <a:r>
              <a:rPr sz="5100" b="1" i="0">
                <a:solidFill>
                  <a:srgbClr val="1A1A1A"/>
                </a:solidFill>
                <a:latin typeface="Outfit"/>
              </a:rPr>
              <a:t>DO EXERCÍCIO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7863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700" b="0" i="0">
                <a:solidFill>
                  <a:srgbClr val="7A7A72"/>
                </a:solidFill>
                <a:latin typeface="Outfit"/>
              </a:rPr>
              <a:t>Releia o sintoma que você escreveu no começo da aula.</a:t>
            </a:r>
          </a:p>
          <a:p>
            <a:r>
              <a:rPr sz="27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700" b="0" i="0">
                <a:solidFill>
                  <a:srgbClr val="7A7A72"/>
                </a:solidFill>
                <a:latin typeface="Outfit"/>
              </a:rPr>
              <a:t>Compare com o Raio-X que você acabou de preencher.</a:t>
            </a:r>
          </a:p>
          <a:p>
            <a:r>
              <a:rPr sz="27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700" b="0" i="0">
                <a:solidFill>
                  <a:srgbClr val="7A7A72"/>
                </a:solidFill>
                <a:latin typeface="Outfit"/>
              </a:rPr>
              <a:t>A distância entre os dois é exatamente o seu trabalho de marca.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21031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SE QUISER CONDUZIR ISSO COMIGO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0"/>
            <a:ext cx="7132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[CHAMADA PARA AÇÃO]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448056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400" b="0" i="0">
                <a:solidFill>
                  <a:srgbClr val="7A7A72"/>
                </a:solidFill>
                <a:latin typeface="Outfit"/>
              </a:rPr>
              <a:t>[O que a pessoa faz agora: link, QR code, WhatsApp]</a:t>
            </a:r>
          </a:p>
          <a:p>
            <a:r>
              <a:rPr sz="24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400" b="0" i="0">
                <a:solidFill>
                  <a:srgbClr val="7A7A72"/>
                </a:solidFill>
                <a:latin typeface="Outfit"/>
              </a:rPr>
              <a:t>[O que ela recebe: diagnóstico, conversa, proposta]</a:t>
            </a:r>
          </a:p>
          <a:p>
            <a:r>
              <a:rPr sz="2400" b="1" i="0">
                <a:solidFill>
                  <a:srgbClr val="C8BFA8"/>
                </a:solidFill>
                <a:latin typeface="Outfit"/>
              </a:rPr>
              <a:t>—  </a:t>
            </a:r>
            <a:r>
              <a:rPr sz="2400" b="0" i="0">
                <a:solidFill>
                  <a:srgbClr val="7A7A72"/>
                </a:solidFill>
                <a:latin typeface="Outfit"/>
              </a:rPr>
              <a:t>[Prazo ou limite de vagas, se houver]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9281160"/>
            <a:ext cx="1517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 spc="100">
                <a:solidFill>
                  <a:srgbClr val="C8BFA8"/>
                </a:solidFill>
                <a:latin typeface="Outfit"/>
              </a:rPr>
              <a:t>[ Inserir QR code no bloco à direita 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03120" y="237744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PARA LEVAR DAQUI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926080"/>
            <a:ext cx="1463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0" b="0" i="0">
                <a:solidFill>
                  <a:srgbClr val="1A1A1A"/>
                </a:solidFill>
                <a:latin typeface="Outfit"/>
              </a:rPr>
              <a:t>MARCA NÃO SE </a:t>
            </a:r>
            <a:r>
              <a:rPr sz="10000" b="1" i="0">
                <a:solidFill>
                  <a:srgbClr val="1A1A1A"/>
                </a:solidFill>
                <a:latin typeface="Outfit"/>
              </a:rPr>
              <a:t>LÊ.</a:t>
            </a:r>
          </a:p>
          <a:p>
            <a:r>
              <a:rPr sz="10000" b="0" i="0">
                <a:solidFill>
                  <a:srgbClr val="1A1A1A"/>
                </a:solidFill>
                <a:latin typeface="Outfit"/>
              </a:rPr>
              <a:t>MARCA SE </a:t>
            </a:r>
            <a:r>
              <a:rPr sz="10000" b="1" i="0">
                <a:solidFill>
                  <a:srgbClr val="1A1A1A"/>
                </a:solidFill>
                <a:latin typeface="Outfit"/>
              </a:rPr>
              <a:t>CONSTRÓI.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6766560"/>
            <a:ext cx="13716000" cy="36576"/>
          </a:xfrm>
          <a:prstGeom prst="rect">
            <a:avLst/>
          </a:prstGeom>
          <a:solidFill>
            <a:srgbClr val="C8B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7132320"/>
            <a:ext cx="1371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7A7A72"/>
                </a:solidFill>
                <a:latin typeface="Outfit"/>
              </a:rPr>
              <a:t>O livro te dá o método. A decisão de aplicar é a única parte que ninguém faz por você.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365760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0" b="0" i="0">
                <a:solidFill>
                  <a:srgbClr val="000000"/>
                </a:solidFill>
                <a:latin typeface="Outfit"/>
              </a:rPr>
              <a:t>MUITO OBRIGADA!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5669280"/>
            <a:ext cx="1280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1A1A1A"/>
                </a:solidFill>
                <a:latin typeface="Outfit"/>
              </a:rPr>
              <a:t>Se esta aula mudou uma decisão sua sobre a sua marca, ela já pagou o tempo que você investiu aqui.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7498079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 spc="150">
                <a:solidFill>
                  <a:srgbClr val="7A7A72"/>
                </a:solidFill>
                <a:latin typeface="Outfit"/>
              </a:rPr>
              <a:t>[SEU @ · SEU SITE · SEU CONTATO]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